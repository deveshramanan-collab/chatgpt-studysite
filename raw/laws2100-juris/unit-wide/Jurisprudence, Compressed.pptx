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from the Instructions and Rubric PDFs, the Week 1-7 lecture slides, the convenor's Q&amp;A session, and the verified source dossier in this project. Every quotation on these slides is taken from the lecture slides or the assessment documents themselves. Page pinpoints in the Concept of Law are 2nd/3rd edition (same pagination).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need to read the whole unit. You need the two questions' own vocabulary, the three or four theorists each question is a conversation between, and the rubric. That is what this deck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20 promised further guidance in a Q&amp;A session; that session's content appears four slides from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tasks are marked together. Task 3 sits inside the Analysis criterion of the rubric, not in a criterion of its own - which is why a weak annotation drags the whole Analysis mark down. The annotation is also the cheapest place in this assessment to show critical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convenor: 'I am aware of X, but for this argument I focus on Y' is exactly the move he wants. Comprehensiveness is not expected.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and Research are where the thinking shows. Structure and Style are almost entirely within your control and cost nothing but care - losing marks there is the most avoidable failure in this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Credit descriptor for Analysis drops 'multiple lines of argument' entirely - so a well-written essay that simply defends one position without engaging rivals is capped at Credit on that criterion, however elegant.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9 overrides AGLC4 rule 1.1.5, which does permit discursive footnotes. The assessment wins: zero discursive text in footnotes. A forum post to the convenor would settle the bibliography ordering.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also said he deliberately did NOT want an essay on the Hart-Dworkin debate for Q1 - hence the instruction to engage with 'the methodology debate'. And he flagged that not all values are moral values, a distinction Dickson and Raz both work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convenor put this in the Q&amp;A in almost these words: listing positions for and against is knowing, not understanding, and is not enough for a strong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opened with these two questions and Week 7 closed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Week 1 slide. Hart's own Postscript claims - general and descriptive - are criteria on which to assess the theory on its own terms: that is metatheory.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theories traditionally define terms by necessary and sufficient conditions. Twining (1934-2025) argued conceptual elucidation matters as much for empirical legal studies as for legal exposition.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Hart's map metaphor at CL 14: skilled lawyers know the law but cannot explain its relations to other things, like a man who can cross a familiar town but cannot give directions. The Preface calls the book 'an essay in descriptive sociology'.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 / zoom out is the convenor's phrase from the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 1 slide gives Hart's chair as 1952-73 while the lecture said 1951, and the slides mix CL editions. Do not rely on these details - you never need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Austin's four kinds of law: divine law; human laws (positive law plus laws set by non-superiors); objects improperly so called by close analogy (positive morality, including international law); objects metaphorically termed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internal point of view is the hinge for Question 1: Hart's method gives explanatory priority to people who engage with their legal system from the inside, and Finnis's objection is that choosing that viewpoint is itself an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internal evidence that Hart's method is evaluative, from Hart's own text plus a Week 2 reading - so it satisfies the Research criterion's 'reading list' limb while doing real argumentative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Hart: the remedy for each defect 'consists in supplementing the primary rules of obligation with secondary rules which are rules of a different kind' (CL 94). The union of primary and secondary rules is 'the heart of a legal system' (CL 98).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Kelsen, 'The Pure Theory of Law and Analytical Jurisprudence' (1941) 55 Harvard Law Review 44. Hart at CL 293: one reason for saying 'rule of recognition' rather than 'basic norm' is to avoid commitment to Kelsen's view of the conflict between law and morals.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Week 3 slide. Hart separately identifies five meanings of 'positivism' in his 1958 article: commands; no necessary connection between law and morals; analysis of legal concepts as a distinct enterprise; law as a closed logical system; non-cognitivism in ethics. Bentham and Austin held 1-3; Kelsen held 2, 3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Hart adds that the descriptive enterprise proceeds through concepts: duty-imposing and power-conferring rules, rules of recognition, change and adjudication, acceptance, the internal and external points of view, legal validity (240). The convenor advised starting Q1 by reading Postscript section 1 for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 versus 'should' distinction is cheap to make and almost nobody makes it. One clause in the introduction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highest-yield single idea in the Q1 literature. Almost every position can be located by asking whether it treats judgments of importance as reducible to moral evaluation. Marmor says no; Perry, Priel, Edmundson and Finnis say yes, for different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Finnis's cruder line - that without evaluation jurisprudence becomes a 'vast rubbish heap' of miscellaneous social facts (NLNR 17) - is the version most students quote. The version on this slide is better because it concedes Hart's achievement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Dworkin and Finnis both reject a sharp is/ought separation in legal theory, but for different reasons and with different roles for values. Saying that in one clause shows range without costing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one line on the rest of Dworkin: rules apply all-or-nothing, principles have weight; Riggs v Palmer shows principles doing legal work without any test of pedigree; law as integrity, the chain novel, Judge Hercules, fit plus justification. None of that is needed for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Dickson, Evaluation and Legal Theory (2001) is the canonical statement; 'Ours is a Broad Church' (2015) 6(2) Jurisprudence 207 and Elucidating Law (2022) ch 7 update it. The convenor named Evaluation and Legal Theory as addressing precisely whether a general descriptive theory can or should be value-free.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Independent-research targets: Perry, 'Hart's Methodological Positivism' (1998) 4 Legal Theory 427; Marmor, 'Legal Positivism: Still Descriptive and Morally Neutral' (2006) 26 OJLS 683; Leiter, 'Beyond the Hart/Dworkin Debate' (2003) 48 Am J Juris 17; Raz, 'Can There Be a Theory of Law?'; Dickson, 'Methodology in Jurisprudence: A Critical Survey' (2004) 10 Legal Theory 117; Coleman, 'Methodology' in the Oxford Handbook.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convenor said in Week 6 that Kelsen-style purity versus critical approaches is 'relevant for one of the essay questions'. That is Q1.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Whichever you take, the essay's shape is the same: distinguish value-freedom from moral neutrality, state the strongest objection to your side, answer it with a criterion, then show what your answer costs. Option B is the most distinctive at acceptable risk; Option A has the best expected mark. The annotated source must be secondary - not The Concept of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counts are a budget, not a rule. Section V is where 'I am aware of X, but for this argument I focus on Y' belongs - the convenor asked for exactly that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Fuller's Nazi-regime discussion at 652 concerns a government whose judges disregarded validly enacted law and whose officials acted 'through the party in the streets'. His point is not that unjust law is not law, but that the system had abandoned legality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list as worded follows the Week 4 slide; Bix's textbook discusses them at pp 77-82. Fuller's own formulations: The Morality of Law 33-41 (King Rex and the eight routes to failure); law as an enterprise at 106 (also reported at 96 - check the copy you cite).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Fuller's 'Reply to Critics' (2nd ed ch 5, 187-242) adds the contrast between law and managerial direction: a manager's directions serve the manager's ends and need not be congruent, general or stable in the same way. That contrast is the best single defence of the constitutive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206 Hart grants that 'a minimum of justice is necessarily realized whenever human behaviour is controlled by general rules publicly announced and judicially applied', and that rules must be intelligible, within the capacity of most to obey, and not retrospective. Hart does not name Fuller in the text; the endnotes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 L A Hart, Book Review of The Morality of Law (1965) 78 Harvard Law Review 1281, poisoner passage at 1286; reprinted in Essays in Jurisprudence and Philosophy (1983) 343, poisoner at 350. Mark Bennett, 'Hart and Raz on the Non-Instrumental Moral Value of the Rule of Law' (2011) 30 Law and Philosophy 603 makes this case in detail and is freely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use the 'a good knife is a sharp knife' sentence as a quotation - the knife analogy is widely reported but the wording differs across sources. Paraphrase it, and cite Authority of Law 226 for the words above, which are attested.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Citations to verify: Kramer, 'On the Moral Status of the Rule of Law' (2004) 63 CLJ 65; Simmonds, 'Law as a Moral Idea' (2005) 55 UTLJ 61; Waldron, 'Positivism and Legality' (2008) 83 NYU L Rev 1135 (free PDF); Rundle, 'Form and Agency in Raz's Legal Positivism' (2013) 32 Law and Philosophy 767; C Murphy (2005) 24 Law and Philosophy 239 (free author PDF); Bennett (2011) 30 Law and Philosophy 603 (free on SSRN).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 this grid in prose in your second paragraph - 'the question fuses two axes that come apart' - is an immediate demonstration that you analysed the key elements of the question, which is the HD phrase in the Analysis criterion.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A has the best expected mark: low risk, strong across all four criteria, and both key sources are free and peer-reviewed. Option B is the most distinctive. In every option the annotated source is a secondary source you genuinely wrestle with, not The Morality of Law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Careful with the phrase 'principle of legality' in Australian and UK public law (Coco v The Queen; Ex parte Simms). That is an interpretive presumption and a different sense from Fuller's - mention it only to flag the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footnotes are not counted but may contain no analysis, footnotes are pure citation - so every substantive sentence must earn its place in the body. That is why the essay has to be one argument rather than a survey.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AGLC4 rule 1.12.2 heading levels: I LEVEL ONE in large-and-small capitals, centred; A Level Two italic centred; 1 Level Three italic left-aligned; then (a) and (i). Another style is allowed if the levels are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annotated source sits inside the Analysis criterion. The HD descriptor requires three or more annotations, ALL clearly and accurately linked to specific points; the Distinction descriptor drops 'clearly and accurately'. That adverb pair is the whole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15: LLM-generated content is not a primary or secondary source, and human oversight is crucial. A paragraph showing you caught the model getting something wrong is evidence of exactly the oversight the instruction is about - it reads as a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EndNote with the AGLC4 extension is permitted under Instruction 10, but it gets edited collections and pinpoints wrong often enough that every entry still needs a human check against the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the Week 2 slide contains a typo ('Married Sarah Taylor (1919)' - it was the 19th century), the Week 5 slide has 'wick sense' for 'weak sense', and the auto-generated transcripts mangle almost every name. Never quote either as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is not optional. This project's record contains several fabricated or mis-stated citations caught only by opening the publisher's page. A single bad citation is a Style hit; a fabricated quotation is an academic integrity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luck. Verify the deadline, pick the question tonight, and give step 6 - citation verification - a full hour of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493000" y="952500"/>
            <a:ext cx="3302000" cy="3302000"/>
          </a:xfrm>
          <a:prstGeom prst="rect">
            <a:avLst/>
          </a:prstGeom>
        </p:spPr>
      </p:pic>
      <p:pic>
        <p:nvPicPr>
          <p:cNvPr id="3" name="Image 1" descr="ellipse">    </p:cNvPr>
          <p:cNvPicPr>
            <a:picLocks noChangeAspect="1"/>
          </p:cNvPicPr>
          <p:nvPr/>
        </p:nvPicPr>
        <p:blipFill>
          <a:blip r:embed="rId2"/>
          <a:srcRect l="0" r="0" t="0" b="0"/>
          <a:stretch/>
        </p:blipFill>
        <p:spPr>
          <a:xfrm>
            <a:off x="8826500" y="2667000"/>
            <a:ext cx="2413000" cy="2413000"/>
          </a:xfrm>
          <a:prstGeom prst="rect">
            <a:avLst/>
          </a:prstGeom>
        </p:spPr>
      </p:pic>
      <p:sp>
        <p:nvSpPr>
          <p:cNvPr id="4" name="Text 0"/>
          <p:cNvSpPr/>
          <p:nvPr/>
        </p:nvSpPr>
        <p:spPr>
          <a:xfrm>
            <a:off x="812767" y="1244575"/>
            <a:ext cx="6540500" cy="256538"/>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0451D"/>
                </a:solidFill>
                <a:latin typeface="Inter" pitchFamily="34" charset="0"/>
                <a:ea typeface="Inter" pitchFamily="34" charset="-122"/>
                <a:cs typeface="Inter" pitchFamily="34" charset="-120"/>
              </a:rPr>
              <a:t>LAWS2100 JURISPRUDENCE · MACQUARIE · S2 2026</a:t>
            </a:r>
            <a:endParaRPr lang="en-US" sz="1300" dirty="0"/>
          </a:p>
        </p:txBody>
      </p:sp>
      <p:sp>
        <p:nvSpPr>
          <p:cNvPr id="5" name="Text 1"/>
          <p:cNvSpPr/>
          <p:nvPr/>
        </p:nvSpPr>
        <p:spPr>
          <a:xfrm>
            <a:off x="812767" y="1625575"/>
            <a:ext cx="7586980" cy="1476226"/>
          </a:xfrm>
          <a:prstGeom prst="rect">
            <a:avLst/>
          </a:prstGeom>
          <a:noFill/>
          <a:ln/>
        </p:spPr>
        <p:txBody>
          <a:bodyPr wrap="square" lIns="0" tIns="0" rIns="0" bIns="0" rtlCol="0" anchor="t">
            <a:normAutofit/>
          </a:bodyPr>
          <a:lstStyle/>
          <a:p>
            <a:pPr algn="l" indent="0" marL="0">
              <a:lnSpc>
                <a:spcPts val="5712"/>
              </a:lnSpc>
              <a:buNone/>
            </a:pPr>
            <a:r>
              <a:rPr lang="en-US" sz="5600" b="1" dirty="0">
                <a:solidFill>
                  <a:srgbClr val="191814"/>
                </a:solidFill>
                <a:latin typeface="Fraunces" pitchFamily="34" charset="0"/>
                <a:ea typeface="Fraunces" pitchFamily="34" charset="-122"/>
                <a:cs typeface="Fraunces" pitchFamily="34" charset="-120"/>
              </a:rPr>
              <a:t>Everything the essay turns on</a:t>
            </a:r>
            <a:endParaRPr lang="en-US" sz="5600" dirty="0"/>
          </a:p>
        </p:txBody>
      </p:sp>
      <p:pic>
        <p:nvPicPr>
          <p:cNvPr id="6" name="Image 2" descr="line">    </p:cNvPr>
          <p:cNvPicPr>
            <a:picLocks noChangeAspect="1"/>
          </p:cNvPicPr>
          <p:nvPr/>
        </p:nvPicPr>
        <p:blipFill>
          <a:blip r:embed="rId3"/>
          <a:srcRect l="-3333" r="-3333" t="0" b="0"/>
          <a:stretch/>
        </p:blipFill>
        <p:spPr>
          <a:xfrm>
            <a:off x="812767" y="3873500"/>
            <a:ext cx="1905000" cy="47625"/>
          </a:xfrm>
          <a:prstGeom prst="rect">
            <a:avLst/>
          </a:prstGeom>
        </p:spPr>
      </p:pic>
      <p:sp>
        <p:nvSpPr>
          <p:cNvPr id="7" name="Text 2"/>
          <p:cNvSpPr/>
          <p:nvPr/>
        </p:nvSpPr>
        <p:spPr>
          <a:xfrm>
            <a:off x="812767" y="4216383"/>
            <a:ext cx="6932930" cy="996876"/>
          </a:xfrm>
          <a:prstGeom prst="rect">
            <a:avLst/>
          </a:prstGeom>
          <a:noFill/>
          <a:ln/>
        </p:spPr>
        <p:txBody>
          <a:bodyPr wrap="square" lIns="0" tIns="0" rIns="0" bIns="0" rtlCol="0" anchor="t">
            <a:normAutofit/>
          </a:bodyPr>
          <a:lstStyle/>
          <a:p>
            <a:pPr algn="l" indent="0" marL="0">
              <a:lnSpc>
                <a:spcPts val="2550"/>
              </a:lnSpc>
              <a:buNone/>
            </a:pPr>
            <a:r>
              <a:rPr lang="en-US" sz="1700" dirty="0">
                <a:solidFill>
                  <a:srgbClr val="5E5850"/>
                </a:solidFill>
                <a:latin typeface="Inter" pitchFamily="34" charset="0"/>
                <a:ea typeface="Inter" pitchFamily="34" charset="-122"/>
                <a:cs typeface="Inter" pitchFamily="34" charset="-120"/>
              </a:rPr>
              <a:t>Weeks 1–7 compressed to what actually bears on the two questions — plus the rubric, the convenor’s own instructions, and a route to a finished essay.</a:t>
            </a:r>
            <a:endParaRPr lang="en-US" sz="1700" dirty="0"/>
          </a:p>
        </p:txBody>
      </p:sp>
      <p:sp>
        <p:nvSpPr>
          <p:cNvPr id="8" name="Text 3"/>
          <p:cNvSpPr/>
          <p:nvPr/>
        </p:nvSpPr>
        <p:spPr>
          <a:xfrm>
            <a:off x="812767" y="6238296"/>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Research essay · 30% · 1,500 words · Convenor: Dr Andrea Dolcetti</a:t>
            </a:r>
            <a:endParaRPr lang="en-US" sz="1200" dirty="0"/>
          </a:p>
        </p:txBody>
      </p:sp>
      <p:sp>
        <p:nvSpPr>
          <p:cNvPr id="9" name="Text 4"/>
          <p:cNvSpPr/>
          <p:nvPr/>
        </p:nvSpPr>
        <p:spPr>
          <a:xfrm>
            <a:off x="9855200" y="6238296"/>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56 slides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HOW TO USE THIS DECK</a:t>
            </a:r>
            <a:endParaRPr lang="en-US" sz="1200" dirty="0"/>
          </a:p>
        </p:txBody>
      </p:sp>
      <p:sp>
        <p:nvSpPr>
          <p:cNvPr id="3" name="Text 1"/>
          <p:cNvSpPr/>
          <p:nvPr/>
        </p:nvSpPr>
        <p:spPr>
          <a:xfrm>
            <a:off x="812767" y="914383"/>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Six parts, in the order you need them</a:t>
            </a:r>
            <a:endParaRPr lang="en-US" sz="3000" dirty="0"/>
          </a:p>
        </p:txBody>
      </p:sp>
      <p:sp>
        <p:nvSpPr>
          <p:cNvPr id="4" name="Shape 2"/>
          <p:cNvSpPr/>
          <p:nvPr/>
        </p:nvSpPr>
        <p:spPr>
          <a:xfrm>
            <a:off x="815942" y="1908175"/>
            <a:ext cx="3346417" cy="1424095"/>
          </a:xfrm>
          <a:prstGeom prst="roundRect">
            <a:avLst>
              <a:gd name="adj" fmla="val 7803"/>
            </a:avLst>
          </a:prstGeom>
          <a:solidFill>
            <a:srgbClr val="FFFFFF"/>
          </a:solidFill>
          <a:ln w="6350">
            <a:solidFill>
              <a:srgbClr val="E0D7C9"/>
            </a:solidFill>
            <a:prstDash val="solid"/>
          </a:ln>
        </p:spPr>
      </p:sp>
      <p:sp>
        <p:nvSpPr>
          <p:cNvPr id="5" name="Text 3"/>
          <p:cNvSpPr/>
          <p:nvPr/>
        </p:nvSpPr>
        <p:spPr>
          <a:xfrm>
            <a:off x="1021250"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01 · The assessment</a:t>
            </a:r>
            <a:endParaRPr lang="en-US" sz="1500" dirty="0"/>
          </a:p>
        </p:txBody>
      </p:sp>
      <p:sp>
        <p:nvSpPr>
          <p:cNvPr id="6" name="Text 4"/>
          <p:cNvSpPr/>
          <p:nvPr/>
        </p:nvSpPr>
        <p:spPr>
          <a:xfrm>
            <a:off x="1021250" y="2408741"/>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What is marked, in the marker’s own words. Read first — it decides what counts as relevant.</a:t>
            </a:r>
            <a:endParaRPr lang="en-US" sz="1300" dirty="0"/>
          </a:p>
        </p:txBody>
      </p:sp>
      <p:sp>
        <p:nvSpPr>
          <p:cNvPr id="7" name="Shape 5"/>
          <p:cNvSpPr/>
          <p:nvPr/>
        </p:nvSpPr>
        <p:spPr>
          <a:xfrm>
            <a:off x="4422750" y="1908175"/>
            <a:ext cx="3346417" cy="1424095"/>
          </a:xfrm>
          <a:prstGeom prst="roundRect">
            <a:avLst>
              <a:gd name="adj" fmla="val 7803"/>
            </a:avLst>
          </a:prstGeom>
          <a:solidFill>
            <a:srgbClr val="FFFFFF"/>
          </a:solidFill>
          <a:ln w="6350">
            <a:solidFill>
              <a:srgbClr val="E0D7C9"/>
            </a:solidFill>
            <a:prstDash val="solid"/>
          </a:ln>
        </p:spPr>
      </p:sp>
      <p:sp>
        <p:nvSpPr>
          <p:cNvPr id="8" name="Text 6"/>
          <p:cNvSpPr/>
          <p:nvPr/>
        </p:nvSpPr>
        <p:spPr>
          <a:xfrm>
            <a:off x="4628059"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02 · The toolbox</a:t>
            </a:r>
            <a:endParaRPr lang="en-US" sz="1500" dirty="0"/>
          </a:p>
        </p:txBody>
      </p:sp>
      <p:sp>
        <p:nvSpPr>
          <p:cNvPr id="9" name="Text 7"/>
          <p:cNvSpPr/>
          <p:nvPr/>
        </p:nvSpPr>
        <p:spPr>
          <a:xfrm>
            <a:off x="4628059" y="2408741"/>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The distinctions the convenor repeats every week. Cheap to learn, visible in every HD essay.</a:t>
            </a:r>
            <a:endParaRPr lang="en-US" sz="1300" dirty="0"/>
          </a:p>
        </p:txBody>
      </p:sp>
      <p:sp>
        <p:nvSpPr>
          <p:cNvPr id="10" name="Shape 8"/>
          <p:cNvSpPr/>
          <p:nvPr/>
        </p:nvSpPr>
        <p:spPr>
          <a:xfrm>
            <a:off x="8029558" y="1908175"/>
            <a:ext cx="3346417" cy="1184688"/>
          </a:xfrm>
          <a:prstGeom prst="roundRect">
            <a:avLst>
              <a:gd name="adj" fmla="val 9380"/>
            </a:avLst>
          </a:prstGeom>
          <a:solidFill>
            <a:srgbClr val="FFFFFF"/>
          </a:solidFill>
          <a:ln w="6350">
            <a:solidFill>
              <a:srgbClr val="E0D7C9"/>
            </a:solidFill>
            <a:prstDash val="solid"/>
          </a:ln>
        </p:spPr>
      </p:sp>
      <p:sp>
        <p:nvSpPr>
          <p:cNvPr id="11" name="Text 9"/>
          <p:cNvSpPr/>
          <p:nvPr/>
        </p:nvSpPr>
        <p:spPr>
          <a:xfrm>
            <a:off x="8234866"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03 · Hart</a:t>
            </a:r>
            <a:endParaRPr lang="en-US" sz="1500" dirty="0"/>
          </a:p>
        </p:txBody>
      </p:sp>
      <p:sp>
        <p:nvSpPr>
          <p:cNvPr id="12" name="Text 10"/>
          <p:cNvSpPr/>
          <p:nvPr/>
        </p:nvSpPr>
        <p:spPr>
          <a:xfrm>
            <a:off x="8234866" y="2408741"/>
            <a:ext cx="3023874" cy="5042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The spine of the unit. Both questions are answers to something Hart wrote.</a:t>
            </a:r>
            <a:endParaRPr lang="en-US" sz="1300" dirty="0"/>
          </a:p>
        </p:txBody>
      </p:sp>
      <p:sp>
        <p:nvSpPr>
          <p:cNvPr id="13" name="Shape 11"/>
          <p:cNvSpPr/>
          <p:nvPr/>
        </p:nvSpPr>
        <p:spPr>
          <a:xfrm>
            <a:off x="815942" y="3559175"/>
            <a:ext cx="3346417" cy="1424095"/>
          </a:xfrm>
          <a:prstGeom prst="roundRect">
            <a:avLst>
              <a:gd name="adj" fmla="val 7803"/>
            </a:avLst>
          </a:prstGeom>
          <a:solidFill>
            <a:srgbClr val="F2EBE0"/>
          </a:solidFill>
          <a:ln w="6350">
            <a:solidFill>
              <a:srgbClr val="E0D7C9"/>
            </a:solidFill>
            <a:prstDash val="solid"/>
          </a:ln>
        </p:spPr>
      </p:sp>
      <p:sp>
        <p:nvSpPr>
          <p:cNvPr id="14" name="Text 12"/>
          <p:cNvSpPr/>
          <p:nvPr/>
        </p:nvSpPr>
        <p:spPr>
          <a:xfrm>
            <a:off x="1021250"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04 · Question 1</a:t>
            </a:r>
            <a:endParaRPr lang="en-US" sz="1500" dirty="0"/>
          </a:p>
        </p:txBody>
      </p:sp>
      <p:sp>
        <p:nvSpPr>
          <p:cNvPr id="15" name="Text 13"/>
          <p:cNvSpPr/>
          <p:nvPr/>
        </p:nvSpPr>
        <p:spPr>
          <a:xfrm>
            <a:off x="1021250" y="4059741"/>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The methodology debate: can a general, descriptive theory be value-free?</a:t>
            </a:r>
            <a:endParaRPr lang="en-US" sz="1300" dirty="0"/>
          </a:p>
        </p:txBody>
      </p:sp>
      <p:sp>
        <p:nvSpPr>
          <p:cNvPr id="16" name="Shape 14"/>
          <p:cNvSpPr/>
          <p:nvPr/>
        </p:nvSpPr>
        <p:spPr>
          <a:xfrm>
            <a:off x="4422750" y="3559175"/>
            <a:ext cx="3346417" cy="1184688"/>
          </a:xfrm>
          <a:prstGeom prst="roundRect">
            <a:avLst>
              <a:gd name="adj" fmla="val 9380"/>
            </a:avLst>
          </a:prstGeom>
          <a:solidFill>
            <a:srgbClr val="F2EBE0"/>
          </a:solidFill>
          <a:ln w="6350">
            <a:solidFill>
              <a:srgbClr val="E0D7C9"/>
            </a:solidFill>
            <a:prstDash val="solid"/>
          </a:ln>
        </p:spPr>
      </p:sp>
      <p:sp>
        <p:nvSpPr>
          <p:cNvPr id="17" name="Text 15"/>
          <p:cNvSpPr/>
          <p:nvPr/>
        </p:nvSpPr>
        <p:spPr>
          <a:xfrm>
            <a:off x="4628059"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05 · Question 2</a:t>
            </a:r>
            <a:endParaRPr lang="en-US" sz="1500" dirty="0"/>
          </a:p>
        </p:txBody>
      </p:sp>
      <p:sp>
        <p:nvSpPr>
          <p:cNvPr id="18" name="Text 16"/>
          <p:cNvSpPr/>
          <p:nvPr/>
        </p:nvSpPr>
        <p:spPr>
          <a:xfrm>
            <a:off x="4628059" y="4059741"/>
            <a:ext cx="3023874" cy="5042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Fuller’s eight principles: constitutive of law, or just efficiency?</a:t>
            </a:r>
            <a:endParaRPr lang="en-US" sz="1300" dirty="0"/>
          </a:p>
        </p:txBody>
      </p:sp>
      <p:sp>
        <p:nvSpPr>
          <p:cNvPr id="19" name="Shape 17"/>
          <p:cNvSpPr/>
          <p:nvPr/>
        </p:nvSpPr>
        <p:spPr>
          <a:xfrm>
            <a:off x="8029558" y="3559175"/>
            <a:ext cx="3346417" cy="1424095"/>
          </a:xfrm>
          <a:prstGeom prst="roundRect">
            <a:avLst>
              <a:gd name="adj" fmla="val 7803"/>
            </a:avLst>
          </a:prstGeom>
          <a:solidFill>
            <a:srgbClr val="F2EBE0"/>
          </a:solidFill>
          <a:ln w="6350">
            <a:solidFill>
              <a:srgbClr val="E0D7C9"/>
            </a:solidFill>
            <a:prstDash val="solid"/>
          </a:ln>
        </p:spPr>
      </p:sp>
      <p:sp>
        <p:nvSpPr>
          <p:cNvPr id="20" name="Text 18"/>
          <p:cNvSpPr/>
          <p:nvPr/>
        </p:nvSpPr>
        <p:spPr>
          <a:xfrm>
            <a:off x="8234866"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06 · Building it</a:t>
            </a:r>
            <a:endParaRPr lang="en-US" sz="1500" dirty="0"/>
          </a:p>
        </p:txBody>
      </p:sp>
      <p:sp>
        <p:nvSpPr>
          <p:cNvPr id="21" name="Text 19"/>
          <p:cNvSpPr/>
          <p:nvPr/>
        </p:nvSpPr>
        <p:spPr>
          <a:xfrm>
            <a:off x="8234866" y="4059741"/>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Word budget, structure, the annotated source, the LLM paragraph, AGLC4.</a:t>
            </a:r>
            <a:endParaRPr lang="en-US" sz="1300" dirty="0"/>
          </a:p>
        </p:txBody>
      </p:sp>
      <p:sp>
        <p:nvSpPr>
          <p:cNvPr id="22" name="Text 20"/>
          <p:cNvSpPr/>
          <p:nvPr/>
        </p:nvSpPr>
        <p:spPr>
          <a:xfrm>
            <a:off x="812767" y="5080000"/>
            <a:ext cx="10883374" cy="825475"/>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5E5850"/>
                </a:solidFill>
                <a:latin typeface="Inter" pitchFamily="34" charset="0"/>
                <a:ea typeface="Inter" pitchFamily="34" charset="-122"/>
                <a:cs typeface="Inter" pitchFamily="34" charset="-120"/>
              </a:rPr>
              <a:t>Weeks 2, 5, 6 and 7 appear only where they earn their place.</a:t>
            </a:r>
            <a:r>
              <a:rPr lang="en-US" sz="1400" dirty="0">
                <a:solidFill>
                  <a:srgbClr val="5E5850"/>
                </a:solidFill>
                <a:latin typeface="Inter" pitchFamily="34" charset="0"/>
                <a:ea typeface="Inter" pitchFamily="34" charset="-122"/>
                <a:cs typeface="Inter" pitchFamily="34" charset="-120"/>
              </a:rPr>
              <a:t> Austin, Kelsen, Dworkin, the realists and the Speluncean Explorers are here in compressed form because each supplies one move an examiner will reward — not because the unit covered them.</a:t>
            </a:r>
            <a:endParaRPr lang="en-US" sz="1400" dirty="0"/>
          </a:p>
        </p:txBody>
      </p:sp>
      <p:sp>
        <p:nvSpPr>
          <p:cNvPr id="23" name="Text 21"/>
          <p:cNvSpPr/>
          <p:nvPr/>
        </p:nvSpPr>
        <p:spPr>
          <a:xfrm>
            <a:off x="812767" y="6238295"/>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How to use this deck</a:t>
            </a:r>
            <a:endParaRPr lang="en-US" sz="1200" dirty="0"/>
          </a:p>
        </p:txBody>
      </p:sp>
      <p:sp>
        <p:nvSpPr>
          <p:cNvPr id="24" name="Text 22"/>
          <p:cNvSpPr/>
          <p:nvPr/>
        </p:nvSpPr>
        <p:spPr>
          <a:xfrm>
            <a:off x="9855200" y="6238295"/>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01</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The assessment</a:t>
            </a:r>
            <a:endParaRPr lang="en-US" sz="4600" dirty="0"/>
          </a:p>
        </p:txBody>
      </p:sp>
      <p:sp>
        <p:nvSpPr>
          <p:cNvPr id="4" name="Text 2"/>
          <p:cNvSpPr/>
          <p:nvPr/>
        </p:nvSpPr>
        <p:spPr>
          <a:xfrm>
            <a:off x="812767" y="4191000"/>
            <a:ext cx="8110220"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The only document that decides your mark is the rubric. Everything in this part comes from the Instructions and Rubric PDFs, verbatim or close to it.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THREE TASKS</a:t>
            </a:r>
            <a:endParaRPr lang="en-US" sz="1200" dirty="0"/>
          </a:p>
        </p:txBody>
      </p:sp>
      <p:sp>
        <p:nvSpPr>
          <p:cNvPr id="3" name="Text 1"/>
          <p:cNvSpPr/>
          <p:nvPr/>
        </p:nvSpPr>
        <p:spPr>
          <a:xfrm>
            <a:off x="812767" y="914383"/>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One PDF, three separate things</a:t>
            </a:r>
            <a:endParaRPr lang="en-US" sz="3000" dirty="0"/>
          </a:p>
        </p:txBody>
      </p:sp>
      <p:sp>
        <p:nvSpPr>
          <p:cNvPr id="4" name="Shape 2"/>
          <p:cNvSpPr/>
          <p:nvPr/>
        </p:nvSpPr>
        <p:spPr>
          <a:xfrm>
            <a:off x="815942" y="1908175"/>
            <a:ext cx="3363367" cy="2551799"/>
          </a:xfrm>
          <a:prstGeom prst="roundRect">
            <a:avLst>
              <a:gd name="adj" fmla="val 4355"/>
            </a:avLst>
          </a:prstGeom>
          <a:solidFill>
            <a:srgbClr val="FFFFFF"/>
          </a:solidFill>
          <a:ln w="6350">
            <a:solidFill>
              <a:srgbClr val="E0D7C9"/>
            </a:solidFill>
            <a:prstDash val="solid"/>
          </a:ln>
        </p:spPr>
      </p:sp>
      <p:sp>
        <p:nvSpPr>
          <p:cNvPr id="5" name="Text 3"/>
          <p:cNvSpPr/>
          <p:nvPr/>
        </p:nvSpPr>
        <p:spPr>
          <a:xfrm>
            <a:off x="1046634" y="2138866"/>
            <a:ext cx="298904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TASK 1</a:t>
            </a:r>
            <a:endParaRPr lang="en-US" sz="1200" dirty="0"/>
          </a:p>
        </p:txBody>
      </p:sp>
      <p:sp>
        <p:nvSpPr>
          <p:cNvPr id="6" name="Text 4"/>
          <p:cNvSpPr/>
          <p:nvPr/>
        </p:nvSpPr>
        <p:spPr>
          <a:xfrm>
            <a:off x="1046634" y="2441070"/>
            <a:ext cx="2989042" cy="288288"/>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91814"/>
                </a:solidFill>
                <a:latin typeface="Fraunces" pitchFamily="34" charset="0"/>
                <a:ea typeface="Fraunces" pitchFamily="34" charset="-122"/>
                <a:cs typeface="Fraunces" pitchFamily="34" charset="-120"/>
              </a:rPr>
              <a:t>The essay</a:t>
            </a:r>
            <a:endParaRPr lang="en-US" sz="1800" dirty="0"/>
          </a:p>
        </p:txBody>
      </p:sp>
      <p:sp>
        <p:nvSpPr>
          <p:cNvPr id="7" name="Text 5"/>
          <p:cNvSpPr/>
          <p:nvPr/>
        </p:nvSpPr>
        <p:spPr>
          <a:xfrm>
            <a:off x="1046634" y="2792842"/>
            <a:ext cx="2989042" cy="146183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1,500 words, one question. Name, Student ID and word count at the top of page one. Footnotes and bibliography are excluded from the count — untick “include footnotes” in Word.</a:t>
            </a:r>
            <a:endParaRPr lang="en-US" sz="1300" dirty="0"/>
          </a:p>
        </p:txBody>
      </p:sp>
      <p:sp>
        <p:nvSpPr>
          <p:cNvPr id="8" name="Shape 6"/>
          <p:cNvSpPr/>
          <p:nvPr/>
        </p:nvSpPr>
        <p:spPr>
          <a:xfrm>
            <a:off x="4414234" y="1908175"/>
            <a:ext cx="3363408" cy="2551799"/>
          </a:xfrm>
          <a:prstGeom prst="roundRect">
            <a:avLst>
              <a:gd name="adj" fmla="val 4355"/>
            </a:avLst>
          </a:prstGeom>
          <a:solidFill>
            <a:srgbClr val="FFFFFF"/>
          </a:solidFill>
          <a:ln w="6350">
            <a:solidFill>
              <a:srgbClr val="E0D7C9"/>
            </a:solidFill>
            <a:prstDash val="solid"/>
          </a:ln>
        </p:spPr>
      </p:sp>
      <p:sp>
        <p:nvSpPr>
          <p:cNvPr id="9" name="Text 7"/>
          <p:cNvSpPr/>
          <p:nvPr/>
        </p:nvSpPr>
        <p:spPr>
          <a:xfrm>
            <a:off x="4644926" y="2138866"/>
            <a:ext cx="29890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595D"/>
                </a:solidFill>
                <a:latin typeface="Inter" pitchFamily="34" charset="0"/>
                <a:ea typeface="Inter" pitchFamily="34" charset="-122"/>
                <a:cs typeface="Inter" pitchFamily="34" charset="-120"/>
              </a:rPr>
              <a:t>TASK 2</a:t>
            </a:r>
            <a:endParaRPr lang="en-US" sz="1200" dirty="0"/>
          </a:p>
        </p:txBody>
      </p:sp>
      <p:sp>
        <p:nvSpPr>
          <p:cNvPr id="10" name="Text 8"/>
          <p:cNvSpPr/>
          <p:nvPr/>
        </p:nvSpPr>
        <p:spPr>
          <a:xfrm>
            <a:off x="4644926" y="2441070"/>
            <a:ext cx="2989085" cy="288288"/>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91814"/>
                </a:solidFill>
                <a:latin typeface="Fraunces" pitchFamily="34" charset="0"/>
                <a:ea typeface="Fraunces" pitchFamily="34" charset="-122"/>
                <a:cs typeface="Fraunces" pitchFamily="34" charset="-120"/>
              </a:rPr>
              <a:t>LLM paragraph</a:t>
            </a:r>
            <a:endParaRPr lang="en-US" sz="1800" dirty="0"/>
          </a:p>
        </p:txBody>
      </p:sp>
      <p:sp>
        <p:nvSpPr>
          <p:cNvPr id="11" name="Text 9"/>
          <p:cNvSpPr/>
          <p:nvPr/>
        </p:nvSpPr>
        <p:spPr>
          <a:xfrm>
            <a:off x="4644926" y="2792842"/>
            <a:ext cx="2989085"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Up to 200 words, at the end of the essay, excluded from the count. Four things it must address. “I used AI to help with my essay” is expressly unsatisfactory.</a:t>
            </a:r>
            <a:endParaRPr lang="en-US" sz="1300" dirty="0"/>
          </a:p>
        </p:txBody>
      </p:sp>
      <p:sp>
        <p:nvSpPr>
          <p:cNvPr id="12" name="Shape 10"/>
          <p:cNvSpPr/>
          <p:nvPr/>
        </p:nvSpPr>
        <p:spPr>
          <a:xfrm>
            <a:off x="8012567" y="1908175"/>
            <a:ext cx="3363408" cy="2551799"/>
          </a:xfrm>
          <a:prstGeom prst="roundRect">
            <a:avLst>
              <a:gd name="adj" fmla="val 4355"/>
            </a:avLst>
          </a:prstGeom>
          <a:solidFill>
            <a:srgbClr val="FFFFFF"/>
          </a:solidFill>
          <a:ln w="6350">
            <a:solidFill>
              <a:srgbClr val="E0D7C9"/>
            </a:solidFill>
            <a:prstDash val="solid"/>
          </a:ln>
        </p:spPr>
      </p:sp>
      <p:sp>
        <p:nvSpPr>
          <p:cNvPr id="13" name="Text 11"/>
          <p:cNvSpPr/>
          <p:nvPr/>
        </p:nvSpPr>
        <p:spPr>
          <a:xfrm>
            <a:off x="8243259" y="2138866"/>
            <a:ext cx="29890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6110"/>
                </a:solidFill>
                <a:latin typeface="Inter" pitchFamily="34" charset="0"/>
                <a:ea typeface="Inter" pitchFamily="34" charset="-122"/>
                <a:cs typeface="Inter" pitchFamily="34" charset="-120"/>
              </a:rPr>
              <a:t>TASK 3</a:t>
            </a:r>
            <a:endParaRPr lang="en-US" sz="1200" dirty="0"/>
          </a:p>
        </p:txBody>
      </p:sp>
      <p:sp>
        <p:nvSpPr>
          <p:cNvPr id="14" name="Text 12"/>
          <p:cNvSpPr/>
          <p:nvPr/>
        </p:nvSpPr>
        <p:spPr>
          <a:xfrm>
            <a:off x="8243259" y="2441070"/>
            <a:ext cx="2989085" cy="288288"/>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91814"/>
                </a:solidFill>
                <a:latin typeface="Fraunces" pitchFamily="34" charset="0"/>
                <a:ea typeface="Fraunces" pitchFamily="34" charset="-122"/>
                <a:cs typeface="Fraunces" pitchFamily="34" charset="-120"/>
              </a:rPr>
              <a:t>Annotated source</a:t>
            </a:r>
            <a:endParaRPr lang="en-US" sz="1800" dirty="0"/>
          </a:p>
        </p:txBody>
      </p:sp>
      <p:sp>
        <p:nvSpPr>
          <p:cNvPr id="15" name="Text 13"/>
          <p:cNvSpPr/>
          <p:nvPr/>
        </p:nvSpPr>
        <p:spPr>
          <a:xfrm>
            <a:off x="8243259" y="2792842"/>
            <a:ext cx="2989085"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One journal article or book chapter — the one your argument most builds on or answers. At least three annotated passages, each tied to a named point in your essay.</a:t>
            </a:r>
            <a:endParaRPr lang="en-US" sz="1300" dirty="0"/>
          </a:p>
        </p:txBody>
      </p:sp>
      <p:sp>
        <p:nvSpPr>
          <p:cNvPr id="16" name="Shape 14"/>
          <p:cNvSpPr/>
          <p:nvPr/>
        </p:nvSpPr>
        <p:spPr>
          <a:xfrm>
            <a:off x="812767" y="4699000"/>
            <a:ext cx="10566383" cy="1124603"/>
          </a:xfrm>
          <a:prstGeom prst="roundRect">
            <a:avLst>
              <a:gd name="adj" fmla="val 10164"/>
            </a:avLst>
          </a:prstGeom>
          <a:solidFill>
            <a:srgbClr val="F2EBE0"/>
          </a:solidFill>
          <a:ln/>
        </p:spPr>
      </p:sp>
      <p:sp>
        <p:nvSpPr>
          <p:cNvPr id="17" name="Text 15"/>
          <p:cNvSpPr/>
          <p:nvPr/>
        </p:nvSpPr>
        <p:spPr>
          <a:xfrm>
            <a:off x="1015959" y="4902191"/>
            <a:ext cx="3278979" cy="74362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814"/>
                </a:solidFill>
                <a:latin typeface="Inter" pitchFamily="34" charset="0"/>
                <a:ea typeface="Inter" pitchFamily="34" charset="-122"/>
                <a:cs typeface="Inter" pitchFamily="34" charset="-120"/>
              </a:rPr>
              <a:t>File name</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SURNAME_Q1_LAWS2100_2026</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(or Q2)</a:t>
            </a:r>
            <a:endParaRPr lang="en-US" sz="1300" dirty="0"/>
          </a:p>
        </p:txBody>
      </p:sp>
      <p:sp>
        <p:nvSpPr>
          <p:cNvPr id="18" name="Text 16"/>
          <p:cNvSpPr/>
          <p:nvPr/>
        </p:nvSpPr>
        <p:spPr>
          <a:xfrm>
            <a:off x="4504200" y="4902191"/>
            <a:ext cx="3279022" cy="74362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814"/>
                </a:solidFill>
                <a:latin typeface="Inter" pitchFamily="34" charset="0"/>
                <a:ea typeface="Inter" pitchFamily="34" charset="-122"/>
                <a:cs typeface="Inter" pitchFamily="34" charset="-120"/>
              </a:rPr>
              <a:t>Submission</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One PDF, Turnitin link on iLearn</a:t>
            </a:r>
            <a:endParaRPr lang="en-US" sz="1300" dirty="0"/>
          </a:p>
        </p:txBody>
      </p:sp>
      <p:sp>
        <p:nvSpPr>
          <p:cNvPr id="19" name="Text 17"/>
          <p:cNvSpPr/>
          <p:nvPr/>
        </p:nvSpPr>
        <p:spPr>
          <a:xfrm>
            <a:off x="7992483" y="4902191"/>
            <a:ext cx="3278979" cy="743620"/>
          </a:xfrm>
          <a:prstGeom prst="rect">
            <a:avLst/>
          </a:prstGeom>
          <a:noFill/>
          <a:ln/>
        </p:spPr>
        <p:txBody>
          <a:bodyPr wrap="square" lIns="0" tIns="0" rIns="0" bIns="0" rtlCol="0" anchor="t">
            <a:normAutofit/>
          </a:bodyPr>
          <a:lstStyle/>
          <a:p>
            <a:pPr algn="l" indent="0" marL="0">
              <a:lnSpc>
                <a:spcPts val="1885"/>
              </a:lnSpc>
              <a:buNone/>
            </a:pPr>
            <a:r>
              <a:rPr lang="en-US" sz="1300" b="1" dirty="0">
                <a:solidFill>
                  <a:srgbClr val="191814"/>
                </a:solidFill>
                <a:latin typeface="Inter" pitchFamily="34" charset="0"/>
                <a:ea typeface="Inter" pitchFamily="34" charset="-122"/>
                <a:cs typeface="Inter" pitchFamily="34" charset="-120"/>
              </a:rPr>
              <a:t>Late penalty</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5 marks per day, zero after 7 days — counted from your extended due date</a:t>
            </a:r>
            <a:endParaRPr lang="en-US" sz="1300" dirty="0"/>
          </a:p>
        </p:txBody>
      </p:sp>
      <p:sp>
        <p:nvSpPr>
          <p:cNvPr id="20" name="Text 18"/>
          <p:cNvSpPr/>
          <p:nvPr/>
        </p:nvSpPr>
        <p:spPr>
          <a:xfrm>
            <a:off x="812767" y="6238295"/>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21" name="Text 19"/>
          <p:cNvSpPr/>
          <p:nvPr/>
        </p:nvSpPr>
        <p:spPr>
          <a:xfrm>
            <a:off x="9855200" y="6238295"/>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TWO QUESTIONS</a:t>
            </a:r>
            <a:endParaRPr lang="en-US" sz="1200" dirty="0"/>
          </a:p>
        </p:txBody>
      </p:sp>
      <p:sp>
        <p:nvSpPr>
          <p:cNvPr id="3" name="Text 1"/>
          <p:cNvSpPr/>
          <p:nvPr/>
        </p:nvSpPr>
        <p:spPr>
          <a:xfrm>
            <a:off x="812767" y="914381"/>
            <a:ext cx="10203180" cy="409459"/>
          </a:xfrm>
          <a:prstGeom prst="rect">
            <a:avLst/>
          </a:prstGeom>
          <a:noFill/>
          <a:ln/>
        </p:spPr>
        <p:txBody>
          <a:bodyPr wrap="square" lIns="0" tIns="0" rIns="0" bIns="0" rtlCol="0" anchor="t">
            <a:normAutofit/>
          </a:bodyPr>
          <a:lstStyle/>
          <a:p>
            <a:pPr algn="l" indent="0" marL="0">
              <a:lnSpc>
                <a:spcPts val="3024"/>
              </a:lnSpc>
              <a:buNone/>
            </a:pPr>
            <a:r>
              <a:rPr lang="en-US" sz="2800" b="1" dirty="0">
                <a:solidFill>
                  <a:srgbClr val="191814"/>
                </a:solidFill>
                <a:latin typeface="Fraunces" pitchFamily="34" charset="0"/>
                <a:ea typeface="Fraunces" pitchFamily="34" charset="-122"/>
                <a:cs typeface="Fraunces" pitchFamily="34" charset="-120"/>
              </a:rPr>
              <a:t>Answer one — and answer the question, not the topic</a:t>
            </a:r>
            <a:endParaRPr lang="en-US" sz="2800" dirty="0"/>
          </a:p>
        </p:txBody>
      </p:sp>
      <p:sp>
        <p:nvSpPr>
          <p:cNvPr id="4" name="Shape 2"/>
          <p:cNvSpPr/>
          <p:nvPr/>
        </p:nvSpPr>
        <p:spPr>
          <a:xfrm>
            <a:off x="815942" y="1882750"/>
            <a:ext cx="5149841" cy="2313343"/>
          </a:xfrm>
          <a:prstGeom prst="roundRect">
            <a:avLst>
              <a:gd name="adj" fmla="val 4804"/>
            </a:avLst>
          </a:prstGeom>
          <a:solidFill>
            <a:srgbClr val="FFFFFF"/>
          </a:solidFill>
          <a:ln w="6350">
            <a:solidFill>
              <a:srgbClr val="E0D7C9"/>
            </a:solidFill>
            <a:prstDash val="solid"/>
          </a:ln>
        </p:spPr>
      </p:sp>
      <p:sp>
        <p:nvSpPr>
          <p:cNvPr id="5" name="Text 3"/>
          <p:cNvSpPr/>
          <p:nvPr/>
        </p:nvSpPr>
        <p:spPr>
          <a:xfrm>
            <a:off x="1021250" y="2088059"/>
            <a:ext cx="48814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QUESTION 1</a:t>
            </a:r>
            <a:endParaRPr lang="en-US" sz="1200" dirty="0"/>
          </a:p>
        </p:txBody>
      </p:sp>
      <p:sp>
        <p:nvSpPr>
          <p:cNvPr id="6" name="Text 4"/>
          <p:cNvSpPr/>
          <p:nvPr/>
        </p:nvSpPr>
        <p:spPr>
          <a:xfrm>
            <a:off x="1021250" y="2390260"/>
            <a:ext cx="4881401"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Hart’s stated aim: a theory of what law is, both </a:t>
            </a:r>
            <a:r>
              <a:rPr lang="en-US" sz="1350" b="1" dirty="0">
                <a:solidFill>
                  <a:srgbClr val="191814"/>
                </a:solidFill>
                <a:latin typeface="Inter" pitchFamily="34" charset="0"/>
                <a:ea typeface="Inter" pitchFamily="34" charset="-122"/>
                <a:cs typeface="Inter" pitchFamily="34" charset="-120"/>
              </a:rPr>
              <a:t>general</a:t>
            </a:r>
            <a:r>
              <a:rPr lang="en-US" sz="1350" dirty="0">
                <a:solidFill>
                  <a:srgbClr val="191814"/>
                </a:solidFill>
                <a:latin typeface="Inter" pitchFamily="34" charset="0"/>
                <a:ea typeface="Inter" pitchFamily="34" charset="-122"/>
                <a:cs typeface="Inter" pitchFamily="34" charset="-120"/>
              </a:rPr>
              <a:t> and </a:t>
            </a:r>
            <a:r>
              <a:rPr lang="en-US" sz="1350" b="1" dirty="0">
                <a:solidFill>
                  <a:srgbClr val="191814"/>
                </a:solidFill>
                <a:latin typeface="Inter" pitchFamily="34" charset="0"/>
                <a:ea typeface="Inter" pitchFamily="34" charset="-122"/>
                <a:cs typeface="Inter" pitchFamily="34" charset="-120"/>
              </a:rPr>
              <a:t>descriptive</a:t>
            </a:r>
            <a:r>
              <a:rPr lang="en-US" sz="1350" dirty="0">
                <a:solidFill>
                  <a:srgbClr val="191814"/>
                </a:solidFill>
                <a:latin typeface="Inter" pitchFamily="34" charset="0"/>
                <a:ea typeface="Inter" pitchFamily="34" charset="-122"/>
                <a:cs typeface="Inter" pitchFamily="34" charset="-120"/>
              </a:rPr>
              <a:t>, “morally neutral and has no justificatory aims”.</a:t>
            </a:r>
            <a:endParaRPr lang="en-US" sz="1350" dirty="0"/>
          </a:p>
        </p:txBody>
      </p:sp>
      <p:sp>
        <p:nvSpPr>
          <p:cNvPr id="7" name="Text 5"/>
          <p:cNvSpPr/>
          <p:nvPr/>
        </p:nvSpPr>
        <p:spPr>
          <a:xfrm>
            <a:off x="1021250" y="3199101"/>
            <a:ext cx="4881401" cy="522486"/>
          </a:xfrm>
          <a:prstGeom prst="rect">
            <a:avLst/>
          </a:prstGeom>
          <a:noFill/>
          <a:ln/>
        </p:spPr>
        <p:txBody>
          <a:bodyPr wrap="square" lIns="0" tIns="0" rIns="0" bIns="0" rtlCol="0" anchor="t">
            <a:normAutofit/>
          </a:bodyPr>
          <a:lstStyle/>
          <a:p>
            <a:pPr algn="l" indent="0" marL="0">
              <a:lnSpc>
                <a:spcPts val="1958"/>
              </a:lnSpc>
              <a:buNone/>
            </a:pPr>
            <a:r>
              <a:rPr lang="en-US" sz="1450" b="1" dirty="0">
                <a:solidFill>
                  <a:srgbClr val="B0451D"/>
                </a:solidFill>
                <a:latin typeface="Inter" pitchFamily="34" charset="0"/>
                <a:ea typeface="Inter" pitchFamily="34" charset="-122"/>
                <a:cs typeface="Inter" pitchFamily="34" charset="-120"/>
              </a:rPr>
              <a:t>Can a general, descriptive theory of law be value-free? Engage with the methodology debate.</a:t>
            </a:r>
            <a:endParaRPr lang="en-US" sz="1450" dirty="0"/>
          </a:p>
        </p:txBody>
      </p:sp>
      <p:sp>
        <p:nvSpPr>
          <p:cNvPr id="8" name="Text 6"/>
          <p:cNvSpPr/>
          <p:nvPr/>
        </p:nvSpPr>
        <p:spPr>
          <a:xfrm>
            <a:off x="1021250" y="3785071"/>
            <a:ext cx="488140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question about the </a:t>
            </a:r>
            <a:r>
              <a:rPr lang="en-US" sz="1200" b="1" dirty="0">
                <a:solidFill>
                  <a:srgbClr val="5E5850"/>
                </a:solidFill>
                <a:latin typeface="Inter" pitchFamily="34" charset="0"/>
                <a:ea typeface="Inter" pitchFamily="34" charset="-122"/>
                <a:cs typeface="Inter" pitchFamily="34" charset="-120"/>
              </a:rPr>
              <a:t>nature of legal theory</a:t>
            </a:r>
            <a:r>
              <a:rPr lang="en-US" sz="1200" dirty="0">
                <a:solidFill>
                  <a:srgbClr val="5E5850"/>
                </a:solidFill>
                <a:latin typeface="Inter" pitchFamily="34" charset="0"/>
                <a:ea typeface="Inter" pitchFamily="34" charset="-122"/>
                <a:cs typeface="Inter" pitchFamily="34" charset="-120"/>
              </a:rPr>
              <a:t>. </a:t>
            </a:r>
            <a:r>
              <a:rPr lang="en-US" sz="1200" i="1" dirty="0">
                <a:solidFill>
                  <a:srgbClr val="5E5850"/>
                </a:solidFill>
                <a:latin typeface="Inter" pitchFamily="34" charset="0"/>
                <a:ea typeface="Inter" pitchFamily="34" charset="-122"/>
                <a:cs typeface="Inter" pitchFamily="34" charset="-120"/>
              </a:rPr>
              <a:t>CL</a:t>
            </a:r>
            <a:r>
              <a:rPr lang="en-US" sz="1200" dirty="0">
                <a:solidFill>
                  <a:srgbClr val="5E5850"/>
                </a:solidFill>
                <a:latin typeface="Inter" pitchFamily="34" charset="0"/>
                <a:ea typeface="Inter" pitchFamily="34" charset="-122"/>
                <a:cs typeface="Inter" pitchFamily="34" charset="-120"/>
              </a:rPr>
              <a:t> 239–40.</a:t>
            </a:r>
            <a:endParaRPr lang="en-US" sz="1200" dirty="0"/>
          </a:p>
        </p:txBody>
      </p:sp>
      <p:sp>
        <p:nvSpPr>
          <p:cNvPr id="9" name="Shape 7"/>
          <p:cNvSpPr/>
          <p:nvPr/>
        </p:nvSpPr>
        <p:spPr>
          <a:xfrm>
            <a:off x="6226175" y="1882750"/>
            <a:ext cx="5149841" cy="2321901"/>
          </a:xfrm>
          <a:prstGeom prst="roundRect">
            <a:avLst>
              <a:gd name="adj" fmla="val 4786"/>
            </a:avLst>
          </a:prstGeom>
          <a:solidFill>
            <a:srgbClr val="FFFFFF"/>
          </a:solidFill>
          <a:ln w="6350">
            <a:solidFill>
              <a:srgbClr val="E0D7C9"/>
            </a:solidFill>
            <a:prstDash val="solid"/>
          </a:ln>
        </p:spPr>
      </p:sp>
      <p:sp>
        <p:nvSpPr>
          <p:cNvPr id="10" name="Text 8"/>
          <p:cNvSpPr/>
          <p:nvPr/>
        </p:nvSpPr>
        <p:spPr>
          <a:xfrm>
            <a:off x="6431483" y="2088059"/>
            <a:ext cx="488140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595D"/>
                </a:solidFill>
                <a:latin typeface="Inter" pitchFamily="34" charset="0"/>
                <a:ea typeface="Inter" pitchFamily="34" charset="-122"/>
                <a:cs typeface="Inter" pitchFamily="34" charset="-120"/>
              </a:rPr>
              <a:t>QUESTION 2</a:t>
            </a:r>
            <a:endParaRPr lang="en-US" sz="1200" dirty="0"/>
          </a:p>
        </p:txBody>
      </p:sp>
      <p:sp>
        <p:nvSpPr>
          <p:cNvPr id="11" name="Text 9"/>
          <p:cNvSpPr/>
          <p:nvPr/>
        </p:nvSpPr>
        <p:spPr>
          <a:xfrm>
            <a:off x="6431483" y="2390260"/>
            <a:ext cx="4881401"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Fuller’s eight principles of legality are said to be an “inner morality of law”.</a:t>
            </a:r>
            <a:endParaRPr lang="en-US" sz="1350" dirty="0"/>
          </a:p>
        </p:txBody>
      </p:sp>
      <p:sp>
        <p:nvSpPr>
          <p:cNvPr id="12" name="Text 10"/>
          <p:cNvSpPr/>
          <p:nvPr/>
        </p:nvSpPr>
        <p:spPr>
          <a:xfrm>
            <a:off x="6431483" y="2959116"/>
            <a:ext cx="4881401" cy="771029"/>
          </a:xfrm>
          <a:prstGeom prst="rect">
            <a:avLst/>
          </a:prstGeom>
          <a:noFill/>
          <a:ln/>
        </p:spPr>
        <p:txBody>
          <a:bodyPr wrap="square" lIns="0" tIns="0" rIns="0" bIns="0" rtlCol="0" anchor="t">
            <a:normAutofit/>
          </a:bodyPr>
          <a:lstStyle/>
          <a:p>
            <a:pPr algn="l" indent="0" marL="0">
              <a:lnSpc>
                <a:spcPts val="1958"/>
              </a:lnSpc>
              <a:buNone/>
            </a:pPr>
            <a:r>
              <a:rPr lang="en-US" sz="1450" b="1" dirty="0">
                <a:solidFill>
                  <a:srgbClr val="1C595D"/>
                </a:solidFill>
                <a:latin typeface="Inter" pitchFamily="34" charset="0"/>
                <a:ea typeface="Inter" pitchFamily="34" charset="-122"/>
                <a:cs typeface="Inter" pitchFamily="34" charset="-120"/>
              </a:rPr>
              <a:t>Is minimum respect for them essential to count as law, or does compliance simply make law more effective at whatever ends it serves?</a:t>
            </a:r>
            <a:endParaRPr lang="en-US" sz="1450" dirty="0"/>
          </a:p>
        </p:txBody>
      </p:sp>
      <p:sp>
        <p:nvSpPr>
          <p:cNvPr id="13" name="Text 11"/>
          <p:cNvSpPr/>
          <p:nvPr/>
        </p:nvSpPr>
        <p:spPr>
          <a:xfrm>
            <a:off x="6431483" y="3793629"/>
            <a:ext cx="4881401"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question about the </a:t>
            </a:r>
            <a:r>
              <a:rPr lang="en-US" sz="1200" b="1" dirty="0">
                <a:solidFill>
                  <a:srgbClr val="5E5850"/>
                </a:solidFill>
                <a:latin typeface="Inter" pitchFamily="34" charset="0"/>
                <a:ea typeface="Inter" pitchFamily="34" charset="-122"/>
                <a:cs typeface="Inter" pitchFamily="34" charset="-120"/>
              </a:rPr>
              <a:t>nature of law</a:t>
            </a:r>
            <a:r>
              <a:rPr lang="en-US" sz="1200" dirty="0">
                <a:solidFill>
                  <a:srgbClr val="5E5850"/>
                </a:solidFill>
                <a:latin typeface="Inter" pitchFamily="34" charset="0"/>
                <a:ea typeface="Inter" pitchFamily="34" charset="-122"/>
                <a:cs typeface="Inter" pitchFamily="34" charset="-120"/>
              </a:rPr>
              <a:t>.</a:t>
            </a:r>
            <a:endParaRPr lang="en-US" sz="1200" dirty="0"/>
          </a:p>
        </p:txBody>
      </p:sp>
      <p:sp>
        <p:nvSpPr>
          <p:cNvPr id="14" name="Shape 12"/>
          <p:cNvSpPr/>
          <p:nvPr/>
        </p:nvSpPr>
        <p:spPr>
          <a:xfrm>
            <a:off x="812767" y="4191000"/>
            <a:ext cx="10566383" cy="1026129"/>
          </a:xfrm>
          <a:prstGeom prst="roundRect">
            <a:avLst>
              <a:gd name="adj" fmla="val 8664"/>
            </a:avLst>
          </a:prstGeom>
          <a:solidFill>
            <a:srgbClr val="F2EBE0"/>
          </a:solidFill>
          <a:ln/>
        </p:spPr>
      </p:sp>
      <p:sp>
        <p:nvSpPr>
          <p:cNvPr id="15" name="Shape 13"/>
          <p:cNvSpPr/>
          <p:nvPr/>
        </p:nvSpPr>
        <p:spPr>
          <a:xfrm>
            <a:off x="831817" y="4191000"/>
            <a:ext cx="0" cy="1026129"/>
          </a:xfrm>
          <a:prstGeom prst="line">
            <a:avLst/>
          </a:prstGeom>
          <a:noFill/>
          <a:ln w="38100">
            <a:solidFill>
              <a:srgbClr val="B0451D"/>
            </a:solidFill>
            <a:prstDash val="solid"/>
          </a:ln>
        </p:spPr>
      </p:sp>
      <p:sp>
        <p:nvSpPr>
          <p:cNvPr id="16" name="Text 14"/>
          <p:cNvSpPr/>
          <p:nvPr/>
        </p:nvSpPr>
        <p:spPr>
          <a:xfrm>
            <a:off x="1027575" y="4330691"/>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That split — theory of law versus nature of law — is the unit’s organising distinction, and the convenor says the two questions were built to track it. Naming it in your first paragraph signals that you understood “the problem captured by the question”, which is the opening phrase of the rubric’s Analysis criterion.</a:t>
            </a:r>
            <a:endParaRPr lang="en-US" sz="1400" dirty="0"/>
          </a:p>
        </p:txBody>
      </p:sp>
      <p:sp>
        <p:nvSpPr>
          <p:cNvPr id="17" name="Text 15"/>
          <p:cNvSpPr/>
          <p:nvPr/>
        </p:nvSpPr>
        <p:spPr>
          <a:xfrm>
            <a:off x="812767" y="5130766"/>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E5850"/>
                </a:solidFill>
                <a:latin typeface="Inter" pitchFamily="34" charset="0"/>
                <a:ea typeface="Inter" pitchFamily="34" charset="-122"/>
                <a:cs typeface="Inter" pitchFamily="34" charset="-120"/>
              </a:rPr>
              <a:t>Both are open by design. The word limit is deliberately tight, to force you to choose — and a strong essay shows it saw the other dimensions of the problem and says why it set them aside.</a:t>
            </a:r>
            <a:endParaRPr lang="en-US" sz="1400" dirty="0"/>
          </a:p>
        </p:txBody>
      </p:sp>
      <p:sp>
        <p:nvSpPr>
          <p:cNvPr id="18" name="Text 16"/>
          <p:cNvSpPr/>
          <p:nvPr/>
        </p:nvSpPr>
        <p:spPr>
          <a:xfrm>
            <a:off x="812767" y="6238295"/>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19" name="Text 17"/>
          <p:cNvSpPr/>
          <p:nvPr/>
        </p:nvSpPr>
        <p:spPr>
          <a:xfrm>
            <a:off x="9855200" y="6238295"/>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RUBRIC</a:t>
            </a:r>
            <a:endParaRPr lang="en-US" sz="1200" dirty="0"/>
          </a:p>
        </p:txBody>
      </p:sp>
      <p:sp>
        <p:nvSpPr>
          <p:cNvPr id="3" name="Text 1"/>
          <p:cNvSpPr/>
          <p:nvPr/>
        </p:nvSpPr>
        <p:spPr>
          <a:xfrm>
            <a:off x="812767" y="914381"/>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Four criteria, no stated weighting — treat them as equal</a:t>
            </a:r>
            <a:endParaRPr lang="en-US" sz="3000" dirty="0"/>
          </a:p>
        </p:txBody>
      </p:sp>
      <p:sp>
        <p:nvSpPr>
          <p:cNvPr id="4" name="Shape 2"/>
          <p:cNvSpPr/>
          <p:nvPr/>
        </p:nvSpPr>
        <p:spPr>
          <a:xfrm>
            <a:off x="815942" y="1882750"/>
            <a:ext cx="10560033" cy="1001837"/>
          </a:xfrm>
          <a:prstGeom prst="roundRect">
            <a:avLst>
              <a:gd name="adj" fmla="val 8557"/>
            </a:avLst>
          </a:prstGeom>
          <a:solidFill>
            <a:srgbClr val="FFFFFF"/>
          </a:solidFill>
          <a:ln w="6350">
            <a:solidFill>
              <a:srgbClr val="E0D7C9"/>
            </a:solidFill>
            <a:prstDash val="solid"/>
          </a:ln>
        </p:spPr>
      </p:sp>
      <p:sp>
        <p:nvSpPr>
          <p:cNvPr id="5" name="Text 3"/>
          <p:cNvSpPr/>
          <p:nvPr/>
        </p:nvSpPr>
        <p:spPr>
          <a:xfrm>
            <a:off x="995825" y="2241432"/>
            <a:ext cx="163830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0451D"/>
                </a:solidFill>
                <a:latin typeface="Fraunces" pitchFamily="34" charset="0"/>
                <a:ea typeface="Fraunces" pitchFamily="34" charset="-122"/>
                <a:cs typeface="Fraunces" pitchFamily="34" charset="-120"/>
              </a:rPr>
              <a:t>Analysis</a:t>
            </a:r>
            <a:endParaRPr lang="en-US" sz="1600" dirty="0"/>
          </a:p>
        </p:txBody>
      </p:sp>
      <p:sp>
        <p:nvSpPr>
          <p:cNvPr id="6" name="Text 4"/>
          <p:cNvSpPr/>
          <p:nvPr/>
        </p:nvSpPr>
        <p:spPr>
          <a:xfrm>
            <a:off x="2786517" y="2024559"/>
            <a:ext cx="8661862"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Excellent understanding of </a:t>
            </a:r>
            <a:r>
              <a:rPr lang="en-US" sz="1300" b="1" dirty="0">
                <a:solidFill>
                  <a:srgbClr val="191814"/>
                </a:solidFill>
                <a:latin typeface="Inter" pitchFamily="34" charset="0"/>
                <a:ea typeface="Inter" pitchFamily="34" charset="-122"/>
                <a:cs typeface="Inter" pitchFamily="34" charset="-120"/>
              </a:rPr>
              <a:t>the problem captured by the question</a:t>
            </a:r>
            <a:r>
              <a:rPr lang="en-US" sz="1300" dirty="0">
                <a:solidFill>
                  <a:srgbClr val="191814"/>
                </a:solidFill>
                <a:latin typeface="Inter" pitchFamily="34" charset="0"/>
                <a:ea typeface="Inter" pitchFamily="34" charset="-122"/>
                <a:cs typeface="Inter" pitchFamily="34" charset="-120"/>
              </a:rPr>
              <a:t>; analyses its </a:t>
            </a:r>
            <a:r>
              <a:rPr lang="en-US" sz="1300" b="1" dirty="0">
                <a:solidFill>
                  <a:srgbClr val="191814"/>
                </a:solidFill>
                <a:latin typeface="Inter" pitchFamily="34" charset="0"/>
                <a:ea typeface="Inter" pitchFamily="34" charset="-122"/>
                <a:cs typeface="Inter" pitchFamily="34" charset="-120"/>
              </a:rPr>
              <a:t>key</a:t>
            </a:r>
            <a:r>
              <a:rPr lang="en-US" sz="1300" dirty="0">
                <a:solidFill>
                  <a:srgbClr val="191814"/>
                </a:solidFill>
                <a:latin typeface="Inter" pitchFamily="34" charset="0"/>
                <a:ea typeface="Inter" pitchFamily="34" charset="-122"/>
                <a:cs typeface="Inter" pitchFamily="34" charset="-120"/>
              </a:rPr>
              <a:t> elements; </a:t>
            </a:r>
            <a:r>
              <a:rPr lang="en-US" sz="1300" b="1" dirty="0">
                <a:solidFill>
                  <a:srgbClr val="191814"/>
                </a:solidFill>
                <a:latin typeface="Inter" pitchFamily="34" charset="0"/>
                <a:ea typeface="Inter" pitchFamily="34" charset="-122"/>
                <a:cs typeface="Inter" pitchFamily="34" charset="-120"/>
              </a:rPr>
              <a:t>discusses</a:t>
            </a:r>
            <a:r>
              <a:rPr lang="en-US" sz="1300" dirty="0">
                <a:solidFill>
                  <a:srgbClr val="191814"/>
                </a:solidFill>
                <a:latin typeface="Inter" pitchFamily="34" charset="0"/>
                <a:ea typeface="Inter" pitchFamily="34" charset="-122"/>
                <a:cs typeface="Inter" pitchFamily="34" charset="-120"/>
              </a:rPr>
              <a:t> multiple lines of argument while articulating a clear answer. Annotated source: three or more comments, all </a:t>
            </a:r>
            <a:r>
              <a:rPr lang="en-US" sz="1300" b="1" dirty="0">
                <a:solidFill>
                  <a:srgbClr val="191814"/>
                </a:solidFill>
                <a:latin typeface="Inter" pitchFamily="34" charset="0"/>
                <a:ea typeface="Inter" pitchFamily="34" charset="-122"/>
                <a:cs typeface="Inter" pitchFamily="34" charset="-120"/>
              </a:rPr>
              <a:t>clearly and accurately</a:t>
            </a:r>
            <a:r>
              <a:rPr lang="en-US" sz="1300" dirty="0">
                <a:solidFill>
                  <a:srgbClr val="191814"/>
                </a:solidFill>
                <a:latin typeface="Inter" pitchFamily="34" charset="0"/>
                <a:ea typeface="Inter" pitchFamily="34" charset="-122"/>
                <a:cs typeface="Inter" pitchFamily="34" charset="-120"/>
              </a:rPr>
              <a:t> linked to specific points in the essay.</a:t>
            </a:r>
            <a:endParaRPr lang="en-US" sz="1300" dirty="0"/>
          </a:p>
        </p:txBody>
      </p:sp>
      <p:sp>
        <p:nvSpPr>
          <p:cNvPr id="7" name="Shape 5"/>
          <p:cNvSpPr/>
          <p:nvPr/>
        </p:nvSpPr>
        <p:spPr>
          <a:xfrm>
            <a:off x="815942" y="3051175"/>
            <a:ext cx="10560033" cy="1001837"/>
          </a:xfrm>
          <a:prstGeom prst="roundRect">
            <a:avLst>
              <a:gd name="adj" fmla="val 8557"/>
            </a:avLst>
          </a:prstGeom>
          <a:solidFill>
            <a:srgbClr val="FFFFFF"/>
          </a:solidFill>
          <a:ln w="6350">
            <a:solidFill>
              <a:srgbClr val="E0D7C9"/>
            </a:solidFill>
            <a:prstDash val="solid"/>
          </a:ln>
        </p:spPr>
      </p:sp>
      <p:sp>
        <p:nvSpPr>
          <p:cNvPr id="8" name="Text 6"/>
          <p:cNvSpPr/>
          <p:nvPr/>
        </p:nvSpPr>
        <p:spPr>
          <a:xfrm>
            <a:off x="995825" y="3409857"/>
            <a:ext cx="163830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C595D"/>
                </a:solidFill>
                <a:latin typeface="Fraunces" pitchFamily="34" charset="0"/>
                <a:ea typeface="Fraunces" pitchFamily="34" charset="-122"/>
                <a:cs typeface="Fraunces" pitchFamily="34" charset="-120"/>
              </a:rPr>
              <a:t>Research</a:t>
            </a:r>
            <a:endParaRPr lang="en-US" sz="1600" dirty="0"/>
          </a:p>
        </p:txBody>
      </p:sp>
      <p:sp>
        <p:nvSpPr>
          <p:cNvPr id="9" name="Text 7"/>
          <p:cNvSpPr/>
          <p:nvPr/>
        </p:nvSpPr>
        <p:spPr>
          <a:xfrm>
            <a:off x="2786517" y="3192983"/>
            <a:ext cx="8661862"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Several relevant scholarly contributions, from </a:t>
            </a:r>
            <a:r>
              <a:rPr lang="en-US" sz="1300" b="1" dirty="0">
                <a:solidFill>
                  <a:srgbClr val="191814"/>
                </a:solidFill>
                <a:latin typeface="Inter" pitchFamily="34" charset="0"/>
                <a:ea typeface="Inter" pitchFamily="34" charset="-122"/>
                <a:cs typeface="Inter" pitchFamily="34" charset="-120"/>
              </a:rPr>
              <a:t>both</a:t>
            </a:r>
            <a:r>
              <a:rPr lang="en-US" sz="1300" dirty="0">
                <a:solidFill>
                  <a:srgbClr val="191814"/>
                </a:solidFill>
                <a:latin typeface="Inter" pitchFamily="34" charset="0"/>
                <a:ea typeface="Inter" pitchFamily="34" charset="-122"/>
                <a:cs typeface="Inter" pitchFamily="34" charset="-120"/>
              </a:rPr>
              <a:t> the reading list </a:t>
            </a:r>
            <a:r>
              <a:rPr lang="en-US" sz="1300" b="1" dirty="0">
                <a:solidFill>
                  <a:srgbClr val="191814"/>
                </a:solidFill>
                <a:latin typeface="Inter" pitchFamily="34" charset="0"/>
                <a:ea typeface="Inter" pitchFamily="34" charset="-122"/>
                <a:cs typeface="Inter" pitchFamily="34" charset="-120"/>
              </a:rPr>
              <a:t>and</a:t>
            </a:r>
            <a:r>
              <a:rPr lang="en-US" sz="1300" dirty="0">
                <a:solidFill>
                  <a:srgbClr val="191814"/>
                </a:solidFill>
                <a:latin typeface="Inter" pitchFamily="34" charset="0"/>
                <a:ea typeface="Inter" pitchFamily="34" charset="-122"/>
                <a:cs typeface="Inter" pitchFamily="34" charset="-120"/>
              </a:rPr>
              <a:t> your own independent research. Non-academic sources sparingly, for context only, always in addition. Identifies the academic source that </a:t>
            </a:r>
            <a:r>
              <a:rPr lang="en-US" sz="1300" b="1" dirty="0">
                <a:solidFill>
                  <a:srgbClr val="191814"/>
                </a:solidFill>
                <a:latin typeface="Inter" pitchFamily="34" charset="0"/>
                <a:ea typeface="Inter" pitchFamily="34" charset="-122"/>
                <a:cs typeface="Inter" pitchFamily="34" charset="-120"/>
              </a:rPr>
              <a:t>most substantially underpins</a:t>
            </a:r>
            <a:r>
              <a:rPr lang="en-US" sz="1300" dirty="0">
                <a:solidFill>
                  <a:srgbClr val="191814"/>
                </a:solidFill>
                <a:latin typeface="Inter" pitchFamily="34" charset="0"/>
                <a:ea typeface="Inter" pitchFamily="34" charset="-122"/>
                <a:cs typeface="Inter" pitchFamily="34" charset="-120"/>
              </a:rPr>
              <a:t> the central argument.</a:t>
            </a:r>
            <a:endParaRPr lang="en-US" sz="1300" dirty="0"/>
          </a:p>
        </p:txBody>
      </p:sp>
      <p:sp>
        <p:nvSpPr>
          <p:cNvPr id="10" name="Shape 8"/>
          <p:cNvSpPr/>
          <p:nvPr/>
        </p:nvSpPr>
        <p:spPr>
          <a:xfrm>
            <a:off x="815942" y="4219556"/>
            <a:ext cx="10560033" cy="762430"/>
          </a:xfrm>
          <a:prstGeom prst="roundRect">
            <a:avLst>
              <a:gd name="adj" fmla="val 11244"/>
            </a:avLst>
          </a:prstGeom>
          <a:solidFill>
            <a:srgbClr val="FFFFFF"/>
          </a:solidFill>
          <a:ln w="6350">
            <a:solidFill>
              <a:srgbClr val="E0D7C9"/>
            </a:solidFill>
            <a:prstDash val="solid"/>
          </a:ln>
        </p:spPr>
      </p:sp>
      <p:sp>
        <p:nvSpPr>
          <p:cNvPr id="11" name="Text 9"/>
          <p:cNvSpPr/>
          <p:nvPr/>
        </p:nvSpPr>
        <p:spPr>
          <a:xfrm>
            <a:off x="995825" y="4458519"/>
            <a:ext cx="163830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A6110"/>
                </a:solidFill>
                <a:latin typeface="Fraunces" pitchFamily="34" charset="0"/>
                <a:ea typeface="Fraunces" pitchFamily="34" charset="-122"/>
                <a:cs typeface="Fraunces" pitchFamily="34" charset="-120"/>
              </a:rPr>
              <a:t>Structure</a:t>
            </a:r>
            <a:endParaRPr lang="en-US" sz="1600" dirty="0"/>
          </a:p>
        </p:txBody>
      </p:sp>
      <p:sp>
        <p:nvSpPr>
          <p:cNvPr id="12" name="Text 10"/>
          <p:cNvSpPr/>
          <p:nvPr/>
        </p:nvSpPr>
        <p:spPr>
          <a:xfrm>
            <a:off x="2786517" y="4361365"/>
            <a:ext cx="8661862" cy="5042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A very clear structure which </a:t>
            </a:r>
            <a:r>
              <a:rPr lang="en-US" sz="1300" b="1" dirty="0">
                <a:solidFill>
                  <a:srgbClr val="191814"/>
                </a:solidFill>
                <a:latin typeface="Inter" pitchFamily="34" charset="0"/>
                <a:ea typeface="Inter" pitchFamily="34" charset="-122"/>
                <a:cs typeface="Inter" pitchFamily="34" charset="-120"/>
              </a:rPr>
              <a:t>mirrors the development of the core argument</a:t>
            </a:r>
            <a:r>
              <a:rPr lang="en-US" sz="1300" dirty="0">
                <a:solidFill>
                  <a:srgbClr val="191814"/>
                </a:solidFill>
                <a:latin typeface="Inter" pitchFamily="34" charset="0"/>
                <a:ea typeface="Inter" pitchFamily="34" charset="-122"/>
                <a:cs typeface="Inter" pitchFamily="34" charset="-120"/>
              </a:rPr>
              <a:t>; parts logically connected; good flow.</a:t>
            </a:r>
            <a:endParaRPr lang="en-US" sz="1300" dirty="0"/>
          </a:p>
        </p:txBody>
      </p:sp>
      <p:sp>
        <p:nvSpPr>
          <p:cNvPr id="13" name="Shape 11"/>
          <p:cNvSpPr/>
          <p:nvPr/>
        </p:nvSpPr>
        <p:spPr>
          <a:xfrm>
            <a:off x="815942" y="5095866"/>
            <a:ext cx="10560033" cy="762430"/>
          </a:xfrm>
          <a:prstGeom prst="roundRect">
            <a:avLst>
              <a:gd name="adj" fmla="val 11244"/>
            </a:avLst>
          </a:prstGeom>
          <a:solidFill>
            <a:srgbClr val="FFFFFF"/>
          </a:solidFill>
          <a:ln w="6350">
            <a:solidFill>
              <a:srgbClr val="E0D7C9"/>
            </a:solidFill>
            <a:prstDash val="solid"/>
          </a:ln>
        </p:spPr>
      </p:sp>
      <p:sp>
        <p:nvSpPr>
          <p:cNvPr id="14" name="Text 12"/>
          <p:cNvSpPr/>
          <p:nvPr/>
        </p:nvSpPr>
        <p:spPr>
          <a:xfrm>
            <a:off x="995825" y="5334825"/>
            <a:ext cx="1638300" cy="309868"/>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6B4C9A"/>
                </a:solidFill>
                <a:latin typeface="Fraunces" pitchFamily="34" charset="0"/>
                <a:ea typeface="Fraunces" pitchFamily="34" charset="-122"/>
                <a:cs typeface="Fraunces" pitchFamily="34" charset="-120"/>
              </a:rPr>
              <a:t>Style</a:t>
            </a:r>
            <a:endParaRPr lang="en-US" sz="1600" dirty="0"/>
          </a:p>
        </p:txBody>
      </p:sp>
      <p:sp>
        <p:nvSpPr>
          <p:cNvPr id="15" name="Text 13"/>
          <p:cNvSpPr/>
          <p:nvPr/>
        </p:nvSpPr>
        <p:spPr>
          <a:xfrm>
            <a:off x="2786517" y="5237674"/>
            <a:ext cx="8661862" cy="50421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Excellent expression, no convoluted syntax or typos; AGLC4; footnotes for references only; bibliography per rule 1.13; </a:t>
            </a:r>
            <a:r>
              <a:rPr lang="en-US" sz="1300" b="1" dirty="0">
                <a:solidFill>
                  <a:srgbClr val="191814"/>
                </a:solidFill>
                <a:latin typeface="Inter" pitchFamily="34" charset="0"/>
                <a:ea typeface="Inter" pitchFamily="34" charset="-122"/>
                <a:cs typeface="Inter" pitchFamily="34" charset="-120"/>
              </a:rPr>
              <a:t>all instructions precisely followed</a:t>
            </a:r>
            <a:r>
              <a:rPr lang="en-US" sz="1300" dirty="0">
                <a:solidFill>
                  <a:srgbClr val="191814"/>
                </a:solidFill>
                <a:latin typeface="Inter" pitchFamily="34" charset="0"/>
                <a:ea typeface="Inter" pitchFamily="34" charset="-122"/>
                <a:cs typeface="Inter" pitchFamily="34" charset="-120"/>
              </a:rPr>
              <a:t>.</a:t>
            </a:r>
            <a:endParaRPr lang="en-US" sz="1300" dirty="0"/>
          </a:p>
        </p:txBody>
      </p:sp>
      <p:sp>
        <p:nvSpPr>
          <p:cNvPr id="16" name="Text 14"/>
          <p:cNvSpPr/>
          <p:nvPr/>
        </p:nvSpPr>
        <p:spPr>
          <a:xfrm>
            <a:off x="812767" y="6238295"/>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17" name="Text 15"/>
          <p:cNvSpPr/>
          <p:nvPr/>
        </p:nvSpPr>
        <p:spPr>
          <a:xfrm>
            <a:off x="9855200" y="6238295"/>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DISTINCTION VERSUS HIGH DISTINCTION</a:t>
            </a:r>
            <a:endParaRPr lang="en-US" sz="1200" dirty="0"/>
          </a:p>
        </p:txBody>
      </p:sp>
      <p:sp>
        <p:nvSpPr>
          <p:cNvPr id="3" name="Text 1"/>
          <p:cNvSpPr/>
          <p:nvPr/>
        </p:nvSpPr>
        <p:spPr>
          <a:xfrm>
            <a:off x="812767" y="914381"/>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Four words separate them</a:t>
            </a:r>
            <a:endParaRPr lang="en-US" sz="2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767" y="1905000"/>
          <a:ext cx="10566383" cy="3114601"/>
        </p:xfrm>
        <a:graphic>
          <a:graphicData uri="http://schemas.openxmlformats.org/drawingml/2006/table">
            <a:tbl>
              <a:tblPr/>
              <a:tblGrid>
                <a:gridCol w="2324604"/>
                <a:gridCol w="3592570"/>
                <a:gridCol w="4649208"/>
              </a:tblGrid>
              <a:tr h="479103">
                <a:tc>
                  <a:txBody>
                    <a:bodyPr/>
                    <a:lstStyle/>
                    <a:p>
                      <a:pPr indent="0" marL="0">
                        <a:lnSpc>
                          <a:spcPts val="1890"/>
                        </a:lnSpc>
                        <a:buNone/>
                      </a:pPr>
                      <a:r>
                        <a:rPr lang="en-US" sz="1350" b="1" dirty="0">
                          <a:solidFill>
                            <a:srgbClr val="191814"/>
                          </a:solidFill>
                          <a:latin typeface="Inter" pitchFamily="34" charset="0"/>
                          <a:ea typeface="Inter" pitchFamily="34" charset="-122"/>
                          <a:cs typeface="Inter" pitchFamily="34" charset="-120"/>
                        </a:rPr>
                        <a:t>Where</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c>
                  <a:txBody>
                    <a:bodyPr/>
                    <a:lstStyle/>
                    <a:p>
                      <a:pPr indent="0" marL="0">
                        <a:lnSpc>
                          <a:spcPts val="1890"/>
                        </a:lnSpc>
                        <a:buNone/>
                      </a:pPr>
                      <a:r>
                        <a:rPr lang="en-US" sz="1350" b="1" dirty="0">
                          <a:solidFill>
                            <a:srgbClr val="191814"/>
                          </a:solidFill>
                          <a:latin typeface="Inter" pitchFamily="34" charset="0"/>
                          <a:ea typeface="Inter" pitchFamily="34" charset="-122"/>
                          <a:cs typeface="Inter" pitchFamily="34" charset="-120"/>
                        </a:rPr>
                        <a:t>Distinction</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c>
                  <a:txBody>
                    <a:bodyPr/>
                    <a:lstStyle/>
                    <a:p>
                      <a:pPr indent="0" marL="0">
                        <a:lnSpc>
                          <a:spcPts val="1890"/>
                        </a:lnSpc>
                        <a:buNone/>
                      </a:pPr>
                      <a:r>
                        <a:rPr lang="en-US" sz="1350" b="1" dirty="0">
                          <a:solidFill>
                            <a:srgbClr val="191814"/>
                          </a:solidFill>
                          <a:latin typeface="Inter" pitchFamily="34" charset="0"/>
                          <a:ea typeface="Inter" pitchFamily="34" charset="-122"/>
                          <a:cs typeface="Inter" pitchFamily="34" charset="-120"/>
                        </a:rPr>
                        <a:t>High Distinction</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r>
              <a:tr h="479103">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Elements of the question</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analyses some of the key elements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analyses the key elements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479103">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Lines of argument</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identifies multiple lines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discusses multiple lines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479103">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Annotations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comments are linked to points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comments are clearly and accurately linked</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479103">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Instructions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followed with some imprecisions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followed precisely</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719088">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Theories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engages with some key theories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890"/>
                        </a:lnSpc>
                        <a:buNone/>
                      </a:pPr>
                      <a:r>
                        <a:rPr lang="en-US" sz="1350" dirty="0">
                          <a:solidFill>
                            <a:srgbClr val="191814"/>
                          </a:solidFill>
                          <a:latin typeface="Inter" pitchFamily="34" charset="0"/>
                          <a:ea typeface="Inter" pitchFamily="34" charset="-122"/>
                          <a:cs typeface="Inter" pitchFamily="34" charset="-120"/>
                        </a:rPr>
                        <a:t>persuasive, well-sustained analysis engaging key theories</a:t>
                      </a:r>
                      <a:endParaRPr lang="en-US" sz="1350" dirty="0">
                        <a:latin typeface="Inter" charset="0"/>
                        <a:ea typeface="Inter" charset="0"/>
                        <a:cs typeface="Inter" charset="0"/>
                      </a:endParaRPr>
                    </a:p>
                  </a:txBody>
                  <a:tcPr marL="114300" marR="114300" marT="114300" marB="1143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bl>
          </a:graphicData>
        </a:graphic>
      </p:graphicFrame>
      <p:sp>
        <p:nvSpPr>
          <p:cNvPr id="5" name="Text 2"/>
          <p:cNvSpPr/>
          <p:nvPr/>
        </p:nvSpPr>
        <p:spPr>
          <a:xfrm>
            <a:off x="812767" y="4699000"/>
            <a:ext cx="10883374"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91814"/>
                </a:solidFill>
                <a:latin typeface="Inter" pitchFamily="34" charset="0"/>
                <a:ea typeface="Inter" pitchFamily="34" charset="-122"/>
                <a:cs typeface="Inter" pitchFamily="34" charset="-120"/>
              </a:rPr>
              <a:t>Read down the right-hand column: three of the five are not about how much you know. They are about </a:t>
            </a:r>
            <a:r>
              <a:rPr lang="en-US" sz="1500" b="1" dirty="0">
                <a:solidFill>
                  <a:srgbClr val="191814"/>
                </a:solidFill>
                <a:latin typeface="Inter" pitchFamily="34" charset="0"/>
                <a:ea typeface="Inter" pitchFamily="34" charset="-122"/>
                <a:cs typeface="Inter" pitchFamily="34" charset="-120"/>
              </a:rPr>
              <a:t>doing something with</a:t>
            </a:r>
            <a:r>
              <a:rPr lang="en-US" sz="1500" dirty="0">
                <a:solidFill>
                  <a:srgbClr val="191814"/>
                </a:solidFill>
                <a:latin typeface="Inter" pitchFamily="34" charset="0"/>
                <a:ea typeface="Inter" pitchFamily="34" charset="-122"/>
                <a:cs typeface="Inter" pitchFamily="34" charset="-120"/>
              </a:rPr>
              <a:t> what you know — discussing rather than listing, linking rather than attaching, following rather than approximating.</a:t>
            </a:r>
            <a:endParaRPr lang="en-US" sz="1500" dirty="0"/>
          </a:p>
        </p:txBody>
      </p:sp>
      <p:sp>
        <p:nvSpPr>
          <p:cNvPr id="6" name="Text 3"/>
          <p:cNvSpPr/>
          <p:nvPr/>
        </p:nvSpPr>
        <p:spPr>
          <a:xfrm>
            <a:off x="812767" y="6238295"/>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7" name="Text 4"/>
          <p:cNvSpPr/>
          <p:nvPr/>
        </p:nvSpPr>
        <p:spPr>
          <a:xfrm>
            <a:off x="9855200" y="6238295"/>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INSTRUCTIONS THAT QUIETLY CARRY MARKS</a:t>
            </a:r>
            <a:endParaRPr lang="en-US" sz="1200" dirty="0"/>
          </a:p>
        </p:txBody>
      </p:sp>
      <p:sp>
        <p:nvSpPr>
          <p:cNvPr id="3" name="Text 1"/>
          <p:cNvSpPr/>
          <p:nvPr/>
        </p:nvSpPr>
        <p:spPr>
          <a:xfrm>
            <a:off x="812767" y="952500"/>
            <a:ext cx="10203180" cy="381967"/>
          </a:xfrm>
          <a:prstGeom prst="rect">
            <a:avLst/>
          </a:prstGeom>
          <a:noFill/>
          <a:ln/>
        </p:spPr>
        <p:txBody>
          <a:bodyPr wrap="square" lIns="0" tIns="0" rIns="0" bIns="0" rtlCol="0" anchor="t">
            <a:normAutofit/>
          </a:bodyPr>
          <a:lstStyle/>
          <a:p>
            <a:pPr algn="l" indent="0" marL="0">
              <a:lnSpc>
                <a:spcPts val="2808"/>
              </a:lnSpc>
              <a:buNone/>
            </a:pPr>
            <a:r>
              <a:rPr lang="en-US" sz="2600" b="1" dirty="0">
                <a:solidFill>
                  <a:srgbClr val="191814"/>
                </a:solidFill>
                <a:latin typeface="Fraunces" pitchFamily="34" charset="0"/>
                <a:ea typeface="Fraunces" pitchFamily="34" charset="-122"/>
                <a:cs typeface="Fraunces" pitchFamily="34" charset="-120"/>
              </a:rPr>
              <a:t>“All instructions are precisely followed” is an HD criterion</a:t>
            </a:r>
            <a:endParaRPr lang="en-US" sz="2600" dirty="0"/>
          </a:p>
        </p:txBody>
      </p:sp>
      <p:pic>
        <p:nvPicPr>
          <p:cNvPr id="4" name="Image 0" descr="Check">    </p:cNvPr>
          <p:cNvPicPr>
            <a:picLocks noChangeAspect="1"/>
          </p:cNvPicPr>
          <p:nvPr/>
        </p:nvPicPr>
        <p:blipFill>
          <a:blip r:embed="rId1"/>
          <a:srcRect l="0" r="0" t="0" b="0"/>
          <a:stretch/>
        </p:blipFill>
        <p:spPr>
          <a:xfrm>
            <a:off x="812767" y="1905000"/>
            <a:ext cx="177767" cy="177767"/>
          </a:xfrm>
          <a:prstGeom prst="rect">
            <a:avLst/>
          </a:prstGeom>
        </p:spPr>
      </p:pic>
      <p:sp>
        <p:nvSpPr>
          <p:cNvPr id="5" name="Text 2"/>
          <p:cNvSpPr/>
          <p:nvPr/>
        </p:nvSpPr>
        <p:spPr>
          <a:xfrm>
            <a:off x="1092109" y="1905000"/>
            <a:ext cx="4879272" cy="47114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Times New Roman</a:t>
            </a:r>
            <a:r>
              <a:rPr lang="en-US" sz="1300" dirty="0">
                <a:solidFill>
                  <a:srgbClr val="191814"/>
                </a:solidFill>
                <a:latin typeface="Inter" pitchFamily="34" charset="0"/>
                <a:ea typeface="Inter" pitchFamily="34" charset="-122"/>
                <a:cs typeface="Inter" pitchFamily="34" charset="-120"/>
              </a:rPr>
              <a:t>. Body and bibliography 12pt, double-spaced.</a:t>
            </a:r>
            <a:endParaRPr lang="en-US" sz="1300" dirty="0"/>
          </a:p>
        </p:txBody>
      </p:sp>
      <p:pic>
        <p:nvPicPr>
          <p:cNvPr id="6" name="Image 1" descr="Check">    </p:cNvPr>
          <p:cNvPicPr>
            <a:picLocks noChangeAspect="1"/>
          </p:cNvPicPr>
          <p:nvPr/>
        </p:nvPicPr>
        <p:blipFill>
          <a:blip r:embed="rId2"/>
          <a:srcRect l="0" r="0" t="0" b="0"/>
          <a:stretch/>
        </p:blipFill>
        <p:spPr>
          <a:xfrm>
            <a:off x="812767" y="2387575"/>
            <a:ext cx="177767" cy="177767"/>
          </a:xfrm>
          <a:prstGeom prst="rect">
            <a:avLst/>
          </a:prstGeom>
        </p:spPr>
      </p:pic>
      <p:sp>
        <p:nvSpPr>
          <p:cNvPr id="7" name="Text 3"/>
          <p:cNvSpPr/>
          <p:nvPr/>
        </p:nvSpPr>
        <p:spPr>
          <a:xfrm>
            <a:off x="1092109" y="2387575"/>
            <a:ext cx="4879272" cy="47114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Footnotes 10pt, single-spaced</a:t>
            </a:r>
            <a:r>
              <a:rPr lang="en-US" sz="1300" dirty="0">
                <a:solidFill>
                  <a:srgbClr val="191814"/>
                </a:solidFill>
                <a:latin typeface="Inter" pitchFamily="34" charset="0"/>
                <a:ea typeface="Inter" pitchFamily="34" charset="-122"/>
                <a:cs typeface="Inter" pitchFamily="34" charset="-120"/>
              </a:rPr>
              <a:t> — references </a:t>
            </a:r>
            <a:r>
              <a:rPr lang="en-US" sz="1300" b="1" dirty="0">
                <a:solidFill>
                  <a:srgbClr val="191814"/>
                </a:solidFill>
                <a:latin typeface="Inter" pitchFamily="34" charset="0"/>
                <a:ea typeface="Inter" pitchFamily="34" charset="-122"/>
                <a:cs typeface="Inter" pitchFamily="34" charset="-120"/>
              </a:rPr>
              <a:t>only</a:t>
            </a:r>
            <a:r>
              <a:rPr lang="en-US" sz="1300" dirty="0">
                <a:solidFill>
                  <a:srgbClr val="191814"/>
                </a:solidFill>
                <a:latin typeface="Inter" pitchFamily="34" charset="0"/>
                <a:ea typeface="Inter" pitchFamily="34" charset="-122"/>
                <a:cs typeface="Inter" pitchFamily="34" charset="-120"/>
              </a:rPr>
              <a:t>, no analysis.</a:t>
            </a:r>
            <a:endParaRPr lang="en-US" sz="1300" dirty="0"/>
          </a:p>
        </p:txBody>
      </p:sp>
      <p:pic>
        <p:nvPicPr>
          <p:cNvPr id="8" name="Image 2" descr="Check">    </p:cNvPr>
          <p:cNvPicPr>
            <a:picLocks noChangeAspect="1"/>
          </p:cNvPicPr>
          <p:nvPr/>
        </p:nvPicPr>
        <p:blipFill>
          <a:blip r:embed="rId3"/>
          <a:srcRect l="0" r="0" t="0" b="0"/>
          <a:stretch/>
        </p:blipFill>
        <p:spPr>
          <a:xfrm>
            <a:off x="812767" y="2870191"/>
            <a:ext cx="177767" cy="177767"/>
          </a:xfrm>
          <a:prstGeom prst="rect">
            <a:avLst/>
          </a:prstGeom>
        </p:spPr>
      </p:pic>
      <p:sp>
        <p:nvSpPr>
          <p:cNvPr id="9" name="Text 4"/>
          <p:cNvSpPr/>
          <p:nvPr/>
        </p:nvSpPr>
        <p:spPr>
          <a:xfrm>
            <a:off x="1092109" y="2870191"/>
            <a:ext cx="4879272" cy="24827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Name, Student ID, word count</a:t>
            </a:r>
            <a:r>
              <a:rPr lang="en-US" sz="1300" dirty="0">
                <a:solidFill>
                  <a:srgbClr val="191814"/>
                </a:solidFill>
                <a:latin typeface="Inter" pitchFamily="34" charset="0"/>
                <a:ea typeface="Inter" pitchFamily="34" charset="-122"/>
                <a:cs typeface="Inter" pitchFamily="34" charset="-120"/>
              </a:rPr>
              <a:t> at the top of page one.</a:t>
            </a:r>
            <a:endParaRPr lang="en-US" sz="1300" dirty="0"/>
          </a:p>
        </p:txBody>
      </p:sp>
      <p:pic>
        <p:nvPicPr>
          <p:cNvPr id="10" name="Image 3" descr="Check">    </p:cNvPr>
          <p:cNvPicPr>
            <a:picLocks noChangeAspect="1"/>
          </p:cNvPicPr>
          <p:nvPr/>
        </p:nvPicPr>
        <p:blipFill>
          <a:blip r:embed="rId4"/>
          <a:srcRect l="0" r="0" t="0" b="0"/>
          <a:stretch/>
        </p:blipFill>
        <p:spPr>
          <a:xfrm>
            <a:off x="812767" y="3352766"/>
            <a:ext cx="177767" cy="177767"/>
          </a:xfrm>
          <a:prstGeom prst="rect">
            <a:avLst/>
          </a:prstGeom>
        </p:spPr>
      </p:pic>
      <p:sp>
        <p:nvSpPr>
          <p:cNvPr id="11" name="Text 5"/>
          <p:cNvSpPr/>
          <p:nvPr/>
        </p:nvSpPr>
        <p:spPr>
          <a:xfrm>
            <a:off x="1092109" y="3352766"/>
            <a:ext cx="4879272" cy="47114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Bibliography</a:t>
            </a:r>
            <a:r>
              <a:rPr lang="en-US" sz="1300" dirty="0">
                <a:solidFill>
                  <a:srgbClr val="191814"/>
                </a:solidFill>
                <a:latin typeface="Inter" pitchFamily="34" charset="0"/>
                <a:ea typeface="Inter" pitchFamily="34" charset="-122"/>
                <a:cs typeface="Inter" pitchFamily="34" charset="-120"/>
              </a:rPr>
              <a:t> per AGLC4 rule 1.13 — every source relied on, not only those cited.</a:t>
            </a:r>
            <a:endParaRPr lang="en-US" sz="1300" dirty="0"/>
          </a:p>
        </p:txBody>
      </p:sp>
      <p:pic>
        <p:nvPicPr>
          <p:cNvPr id="12" name="Image 4" descr="Check">    </p:cNvPr>
          <p:cNvPicPr>
            <a:picLocks noChangeAspect="1"/>
          </p:cNvPicPr>
          <p:nvPr/>
        </p:nvPicPr>
        <p:blipFill>
          <a:blip r:embed="rId5"/>
          <a:srcRect l="0" r="0" t="0" b="0"/>
          <a:stretch/>
        </p:blipFill>
        <p:spPr>
          <a:xfrm>
            <a:off x="812767" y="4025881"/>
            <a:ext cx="177767" cy="177767"/>
          </a:xfrm>
          <a:prstGeom prst="rect">
            <a:avLst/>
          </a:prstGeom>
        </p:spPr>
      </p:pic>
      <p:sp>
        <p:nvSpPr>
          <p:cNvPr id="13" name="Text 6"/>
          <p:cNvSpPr/>
          <p:nvPr/>
        </p:nvSpPr>
        <p:spPr>
          <a:xfrm>
            <a:off x="1092109" y="4025881"/>
            <a:ext cx="4879272" cy="47114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Headings</a:t>
            </a:r>
            <a:r>
              <a:rPr lang="en-US" sz="1300" dirty="0">
                <a:solidFill>
                  <a:srgbClr val="191814"/>
                </a:solidFill>
                <a:latin typeface="Inter" pitchFamily="34" charset="0"/>
                <a:ea typeface="Inter" pitchFamily="34" charset="-122"/>
                <a:cs typeface="Inter" pitchFamily="34" charset="-120"/>
              </a:rPr>
              <a:t>: rule 1.12 recommended; another style is fine if the levels are clear.</a:t>
            </a:r>
            <a:endParaRPr lang="en-US" sz="1300" dirty="0"/>
          </a:p>
        </p:txBody>
      </p:sp>
      <p:pic>
        <p:nvPicPr>
          <p:cNvPr id="14" name="Image 5" descr="Check">    </p:cNvPr>
          <p:cNvPicPr>
            <a:picLocks noChangeAspect="1"/>
          </p:cNvPicPr>
          <p:nvPr/>
        </p:nvPicPr>
        <p:blipFill>
          <a:blip r:embed="rId6"/>
          <a:srcRect l="0" r="0" t="0" b="0"/>
          <a:stretch/>
        </p:blipFill>
        <p:spPr>
          <a:xfrm>
            <a:off x="6159500" y="1905000"/>
            <a:ext cx="177767" cy="177767"/>
          </a:xfrm>
          <a:prstGeom prst="rect">
            <a:avLst/>
          </a:prstGeom>
        </p:spPr>
      </p:pic>
      <p:sp>
        <p:nvSpPr>
          <p:cNvPr id="15" name="Text 7"/>
          <p:cNvSpPr/>
          <p:nvPr/>
        </p:nvSpPr>
        <p:spPr>
          <a:xfrm>
            <a:off x="6438842" y="1905000"/>
            <a:ext cx="5088560"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Indent first lines </a:t>
            </a:r>
            <a:r>
              <a:rPr lang="en-US" sz="1300" b="1" dirty="0">
                <a:solidFill>
                  <a:srgbClr val="191814"/>
                </a:solidFill>
                <a:latin typeface="Inter" pitchFamily="34" charset="0"/>
                <a:ea typeface="Inter" pitchFamily="34" charset="-122"/>
                <a:cs typeface="Inter" pitchFamily="34" charset="-120"/>
              </a:rPr>
              <a:t>or</a:t>
            </a:r>
            <a:r>
              <a:rPr lang="en-US" sz="1300" dirty="0">
                <a:solidFill>
                  <a:srgbClr val="191814"/>
                </a:solidFill>
                <a:latin typeface="Inter" pitchFamily="34" charset="0"/>
                <a:ea typeface="Inter" pitchFamily="34" charset="-122"/>
                <a:cs typeface="Inter" pitchFamily="34" charset="-120"/>
              </a:rPr>
              <a:t> leave blank lines between paragraphs. Consider justifying.</a:t>
            </a:r>
            <a:endParaRPr lang="en-US" sz="1300" dirty="0"/>
          </a:p>
        </p:txBody>
      </p:sp>
      <p:pic>
        <p:nvPicPr>
          <p:cNvPr id="16" name="Image 6" descr="Check">    </p:cNvPr>
          <p:cNvPicPr>
            <a:picLocks noChangeAspect="1"/>
          </p:cNvPicPr>
          <p:nvPr/>
        </p:nvPicPr>
        <p:blipFill>
          <a:blip r:embed="rId7"/>
          <a:srcRect l="0" r="0" t="0" b="0"/>
          <a:stretch/>
        </p:blipFill>
        <p:spPr>
          <a:xfrm>
            <a:off x="6159500" y="2387575"/>
            <a:ext cx="177767" cy="177767"/>
          </a:xfrm>
          <a:prstGeom prst="rect">
            <a:avLst/>
          </a:prstGeom>
        </p:spPr>
      </p:pic>
      <p:sp>
        <p:nvSpPr>
          <p:cNvPr id="17" name="Text 8"/>
          <p:cNvSpPr/>
          <p:nvPr/>
        </p:nvSpPr>
        <p:spPr>
          <a:xfrm>
            <a:off x="6438842" y="2387575"/>
            <a:ext cx="5088560" cy="471140"/>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1,500 words</a:t>
            </a:r>
            <a:r>
              <a:rPr lang="en-US" sz="1300" dirty="0">
                <a:solidFill>
                  <a:srgbClr val="191814"/>
                </a:solidFill>
                <a:latin typeface="Inter" pitchFamily="34" charset="0"/>
                <a:ea typeface="Inter" pitchFamily="34" charset="-122"/>
                <a:cs typeface="Inter" pitchFamily="34" charset="-120"/>
              </a:rPr>
              <a:t> is strict. Anything over is not marked — usually your conclusion.</a:t>
            </a:r>
            <a:endParaRPr lang="en-US" sz="1300" dirty="0"/>
          </a:p>
        </p:txBody>
      </p:sp>
      <p:pic>
        <p:nvPicPr>
          <p:cNvPr id="18" name="Image 7" descr="Check">    </p:cNvPr>
          <p:cNvPicPr>
            <a:picLocks noChangeAspect="1"/>
          </p:cNvPicPr>
          <p:nvPr/>
        </p:nvPicPr>
        <p:blipFill>
          <a:blip r:embed="rId8"/>
          <a:srcRect l="0" r="0" t="0" b="0"/>
          <a:stretch/>
        </p:blipFill>
        <p:spPr>
          <a:xfrm>
            <a:off x="6159500" y="2870191"/>
            <a:ext cx="177767" cy="177767"/>
          </a:xfrm>
          <a:prstGeom prst="rect">
            <a:avLst/>
          </a:prstGeom>
        </p:spPr>
      </p:pic>
      <p:sp>
        <p:nvSpPr>
          <p:cNvPr id="19" name="Text 9"/>
          <p:cNvSpPr/>
          <p:nvPr/>
        </p:nvSpPr>
        <p:spPr>
          <a:xfrm>
            <a:off x="6438842" y="2870191"/>
            <a:ext cx="5088560"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Falling </a:t>
            </a:r>
            <a:r>
              <a:rPr lang="en-US" sz="1300" b="1" dirty="0">
                <a:solidFill>
                  <a:srgbClr val="191814"/>
                </a:solidFill>
                <a:latin typeface="Inter" pitchFamily="34" charset="0"/>
                <a:ea typeface="Inter" pitchFamily="34" charset="-122"/>
                <a:cs typeface="Inter" pitchFamily="34" charset="-120"/>
              </a:rPr>
              <a:t>well below</a:t>
            </a:r>
            <a:r>
              <a:rPr lang="en-US" sz="1300" dirty="0">
                <a:solidFill>
                  <a:srgbClr val="191814"/>
                </a:solidFill>
                <a:latin typeface="Inter" pitchFamily="34" charset="0"/>
                <a:ea typeface="Inter" pitchFamily="34" charset="-122"/>
                <a:cs typeface="Inter" pitchFamily="34" charset="-120"/>
              </a:rPr>
              <a:t> is penalised too: it reads as insufficient analysis.</a:t>
            </a:r>
            <a:endParaRPr lang="en-US" sz="1300" dirty="0"/>
          </a:p>
        </p:txBody>
      </p:sp>
      <p:pic>
        <p:nvPicPr>
          <p:cNvPr id="20" name="Image 8" descr="Check">    </p:cNvPr>
          <p:cNvPicPr>
            <a:picLocks noChangeAspect="1"/>
          </p:cNvPicPr>
          <p:nvPr/>
        </p:nvPicPr>
        <p:blipFill>
          <a:blip r:embed="rId9"/>
          <a:srcRect l="0" r="0" t="0" b="0"/>
          <a:stretch/>
        </p:blipFill>
        <p:spPr>
          <a:xfrm>
            <a:off x="6159500" y="3352766"/>
            <a:ext cx="177767" cy="177767"/>
          </a:xfrm>
          <a:prstGeom prst="rect">
            <a:avLst/>
          </a:prstGeom>
        </p:spPr>
      </p:pic>
      <p:sp>
        <p:nvSpPr>
          <p:cNvPr id="21" name="Text 10"/>
          <p:cNvSpPr/>
          <p:nvPr/>
        </p:nvSpPr>
        <p:spPr>
          <a:xfrm>
            <a:off x="6438842" y="3352766"/>
            <a:ext cx="5088560"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One PDF via the Turnitin link on iLearn. File name SURNAME_Q1_LAWS2100_2026.</a:t>
            </a:r>
            <a:endParaRPr lang="en-US" sz="1300" dirty="0"/>
          </a:p>
        </p:txBody>
      </p:sp>
      <p:pic>
        <p:nvPicPr>
          <p:cNvPr id="22" name="Image 9" descr="Check">    </p:cNvPr>
          <p:cNvPicPr>
            <a:picLocks noChangeAspect="1"/>
          </p:cNvPicPr>
          <p:nvPr/>
        </p:nvPicPr>
        <p:blipFill>
          <a:blip r:embed="rId10"/>
          <a:srcRect l="0" r="0" t="0" b="0"/>
          <a:stretch/>
        </p:blipFill>
        <p:spPr>
          <a:xfrm>
            <a:off x="6159500" y="3835381"/>
            <a:ext cx="177767" cy="177767"/>
          </a:xfrm>
          <a:prstGeom prst="rect">
            <a:avLst/>
          </a:prstGeom>
        </p:spPr>
      </p:pic>
      <p:sp>
        <p:nvSpPr>
          <p:cNvPr id="23" name="Text 11"/>
          <p:cNvSpPr/>
          <p:nvPr/>
        </p:nvSpPr>
        <p:spPr>
          <a:xfrm>
            <a:off x="6438842" y="3835381"/>
            <a:ext cx="5088560" cy="4711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Grammarly, spell-check, Draft Coach and EndNote with the AGLC4 extension are allowed.</a:t>
            </a:r>
            <a:endParaRPr lang="en-US" sz="1300" dirty="0"/>
          </a:p>
        </p:txBody>
      </p:sp>
      <p:sp>
        <p:nvSpPr>
          <p:cNvPr id="24" name="Shape 12"/>
          <p:cNvSpPr/>
          <p:nvPr/>
        </p:nvSpPr>
        <p:spPr>
          <a:xfrm>
            <a:off x="812767" y="4572000"/>
            <a:ext cx="10566383" cy="759354"/>
          </a:xfrm>
          <a:prstGeom prst="roundRect">
            <a:avLst>
              <a:gd name="adj" fmla="val 11707"/>
            </a:avLst>
          </a:prstGeom>
          <a:solidFill>
            <a:srgbClr val="F2EBE0"/>
          </a:solidFill>
          <a:ln/>
        </p:spPr>
      </p:sp>
      <p:sp>
        <p:nvSpPr>
          <p:cNvPr id="25" name="Shape 13"/>
          <p:cNvSpPr/>
          <p:nvPr/>
        </p:nvSpPr>
        <p:spPr>
          <a:xfrm>
            <a:off x="831817" y="4572000"/>
            <a:ext cx="0" cy="759354"/>
          </a:xfrm>
          <a:prstGeom prst="line">
            <a:avLst/>
          </a:prstGeom>
          <a:noFill/>
          <a:ln w="38100">
            <a:solidFill>
              <a:srgbClr val="7A6110"/>
            </a:solidFill>
            <a:prstDash val="solid"/>
          </a:ln>
        </p:spPr>
      </p:sp>
      <p:sp>
        <p:nvSpPr>
          <p:cNvPr id="26" name="Text 14"/>
          <p:cNvSpPr/>
          <p:nvPr/>
        </p:nvSpPr>
        <p:spPr>
          <a:xfrm>
            <a:off x="1027575" y="4711688"/>
            <a:ext cx="10479022" cy="505371"/>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Two ambiguities the documents do not settle.</a:t>
            </a:r>
            <a:r>
              <a:rPr lang="en-US" sz="1350" dirty="0">
                <a:solidFill>
                  <a:srgbClr val="191814"/>
                </a:solidFill>
                <a:latin typeface="Inter" pitchFamily="34" charset="0"/>
                <a:ea typeface="Inter" pitchFamily="34" charset="-122"/>
                <a:cs typeface="Inter" pitchFamily="34" charset="-120"/>
              </a:rPr>
              <a:t> Whether the title and headings count toward 1,500 — literally they do, so keep headings short. And whether the bibliography sits before or after the reflective paragraph.</a:t>
            </a:r>
            <a:endParaRPr lang="en-US" sz="1350" dirty="0"/>
          </a:p>
        </p:txBody>
      </p:sp>
      <p:sp>
        <p:nvSpPr>
          <p:cNvPr id="27" name="Text 15"/>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28" name="Text 16"/>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WHAT THE CONVENOR SAID HE WANTS</a:t>
            </a:r>
            <a:endParaRPr lang="en-US" sz="1200" dirty="0"/>
          </a:p>
        </p:txBody>
      </p:sp>
      <p:sp>
        <p:nvSpPr>
          <p:cNvPr id="3" name="Text 1"/>
          <p:cNvSpPr/>
          <p:nvPr/>
        </p:nvSpPr>
        <p:spPr>
          <a:xfrm>
            <a:off x="812767" y="914381"/>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From the Q&amp;A session — paraphrased</a:t>
            </a:r>
            <a:endParaRPr lang="en-US" sz="2900" dirty="0"/>
          </a:p>
        </p:txBody>
      </p:sp>
      <p:sp>
        <p:nvSpPr>
          <p:cNvPr id="4" name="Shape 2"/>
          <p:cNvSpPr/>
          <p:nvPr/>
        </p:nvSpPr>
        <p:spPr>
          <a:xfrm>
            <a:off x="815942" y="1908175"/>
            <a:ext cx="3346417" cy="1663502"/>
          </a:xfrm>
          <a:prstGeom prst="roundRect">
            <a:avLst>
              <a:gd name="adj" fmla="val 6680"/>
            </a:avLst>
          </a:prstGeom>
          <a:solidFill>
            <a:srgbClr val="FFFFFF"/>
          </a:solidFill>
          <a:ln w="6350">
            <a:solidFill>
              <a:srgbClr val="E0D7C9"/>
            </a:solidFill>
            <a:prstDash val="solid"/>
          </a:ln>
        </p:spPr>
      </p:sp>
      <p:sp>
        <p:nvSpPr>
          <p:cNvPr id="5" name="Text 3"/>
          <p:cNvSpPr/>
          <p:nvPr/>
        </p:nvSpPr>
        <p:spPr>
          <a:xfrm>
            <a:off x="1021250"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Write in the first person</a:t>
            </a:r>
            <a:endParaRPr lang="en-US" sz="1500" dirty="0"/>
          </a:p>
        </p:txBody>
      </p:sp>
      <p:sp>
        <p:nvSpPr>
          <p:cNvPr id="6" name="Text 4"/>
          <p:cNvSpPr/>
          <p:nvPr/>
        </p:nvSpPr>
        <p:spPr>
          <a:xfrm>
            <a:off x="1021250" y="2408740"/>
            <a:ext cx="3023874"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It is explicitly fine, and it helps the marker see where you are speaking in your own voice rather than reporting others.</a:t>
            </a:r>
            <a:endParaRPr lang="en-US" sz="1300" dirty="0"/>
          </a:p>
        </p:txBody>
      </p:sp>
      <p:sp>
        <p:nvSpPr>
          <p:cNvPr id="7" name="Shape 5"/>
          <p:cNvSpPr/>
          <p:nvPr/>
        </p:nvSpPr>
        <p:spPr>
          <a:xfrm>
            <a:off x="4422750" y="1908175"/>
            <a:ext cx="3346417" cy="1663502"/>
          </a:xfrm>
          <a:prstGeom prst="roundRect">
            <a:avLst>
              <a:gd name="adj" fmla="val 6680"/>
            </a:avLst>
          </a:prstGeom>
          <a:solidFill>
            <a:srgbClr val="FFFFFF"/>
          </a:solidFill>
          <a:ln w="6350">
            <a:solidFill>
              <a:srgbClr val="E0D7C9"/>
            </a:solidFill>
            <a:prstDash val="solid"/>
          </a:ln>
        </p:spPr>
      </p:sp>
      <p:sp>
        <p:nvSpPr>
          <p:cNvPr id="8" name="Text 6"/>
          <p:cNvSpPr/>
          <p:nvPr/>
        </p:nvSpPr>
        <p:spPr>
          <a:xfrm>
            <a:off x="4628059"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No structural template</a:t>
            </a:r>
            <a:endParaRPr lang="en-US" sz="1500" dirty="0"/>
          </a:p>
        </p:txBody>
      </p:sp>
      <p:sp>
        <p:nvSpPr>
          <p:cNvPr id="9" name="Text 7"/>
          <p:cNvSpPr/>
          <p:nvPr/>
        </p:nvSpPr>
        <p:spPr>
          <a:xfrm>
            <a:off x="4628059" y="2408740"/>
            <a:ext cx="3023874"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The structure must mirror the key steps of your overarching argument. A marker should see the argument’s shape from the headings alone.</a:t>
            </a:r>
            <a:endParaRPr lang="en-US" sz="1300" dirty="0"/>
          </a:p>
        </p:txBody>
      </p:sp>
      <p:sp>
        <p:nvSpPr>
          <p:cNvPr id="10" name="Shape 8"/>
          <p:cNvSpPr/>
          <p:nvPr/>
        </p:nvSpPr>
        <p:spPr>
          <a:xfrm>
            <a:off x="8029558" y="1908175"/>
            <a:ext cx="3346417" cy="1424095"/>
          </a:xfrm>
          <a:prstGeom prst="roundRect">
            <a:avLst>
              <a:gd name="adj" fmla="val 7803"/>
            </a:avLst>
          </a:prstGeom>
          <a:solidFill>
            <a:srgbClr val="FFFFFF"/>
          </a:solidFill>
          <a:ln w="6350">
            <a:solidFill>
              <a:srgbClr val="E0D7C9"/>
            </a:solidFill>
            <a:prstDash val="solid"/>
          </a:ln>
        </p:spPr>
      </p:sp>
      <p:sp>
        <p:nvSpPr>
          <p:cNvPr id="11" name="Text 9"/>
          <p:cNvSpPr/>
          <p:nvPr/>
        </p:nvSpPr>
        <p:spPr>
          <a:xfrm>
            <a:off x="8234866" y="2113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No magic number of theorists</a:t>
            </a:r>
            <a:endParaRPr lang="en-US" sz="1500" dirty="0"/>
          </a:p>
        </p:txBody>
      </p:sp>
      <p:sp>
        <p:nvSpPr>
          <p:cNvPr id="12" name="Text 10"/>
          <p:cNvSpPr/>
          <p:nvPr/>
        </p:nvSpPr>
        <p:spPr>
          <a:xfrm>
            <a:off x="8234866" y="2408740"/>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“At least three passages” was given only to be concrete. He is marking the thinking, not the head-count.</a:t>
            </a:r>
            <a:endParaRPr lang="en-US" sz="1300" dirty="0"/>
          </a:p>
        </p:txBody>
      </p:sp>
      <p:sp>
        <p:nvSpPr>
          <p:cNvPr id="13" name="Shape 11"/>
          <p:cNvSpPr/>
          <p:nvPr/>
        </p:nvSpPr>
        <p:spPr>
          <a:xfrm>
            <a:off x="815942" y="3559175"/>
            <a:ext cx="3346417" cy="1663502"/>
          </a:xfrm>
          <a:prstGeom prst="roundRect">
            <a:avLst>
              <a:gd name="adj" fmla="val 6680"/>
            </a:avLst>
          </a:prstGeom>
          <a:solidFill>
            <a:srgbClr val="F2EBE0"/>
          </a:solidFill>
          <a:ln w="6350">
            <a:solidFill>
              <a:srgbClr val="E0D7C9"/>
            </a:solidFill>
            <a:prstDash val="solid"/>
          </a:ln>
        </p:spPr>
      </p:sp>
      <p:sp>
        <p:nvSpPr>
          <p:cNvPr id="14" name="Text 12"/>
          <p:cNvSpPr/>
          <p:nvPr/>
        </p:nvSpPr>
        <p:spPr>
          <a:xfrm>
            <a:off x="1021250"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Novelty is not required</a:t>
            </a:r>
            <a:endParaRPr lang="en-US" sz="1500" dirty="0"/>
          </a:p>
        </p:txBody>
      </p:sp>
      <p:sp>
        <p:nvSpPr>
          <p:cNvPr id="15" name="Text 13"/>
          <p:cNvSpPr/>
          <p:nvPr/>
        </p:nvSpPr>
        <p:spPr>
          <a:xfrm>
            <a:off x="1021250" y="4059740"/>
            <a:ext cx="3023874"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No one expects a new theory of law in 1,500 words. What is required is an active role in reasoning through the problem.</a:t>
            </a:r>
            <a:endParaRPr lang="en-US" sz="1300" dirty="0"/>
          </a:p>
        </p:txBody>
      </p:sp>
      <p:sp>
        <p:nvSpPr>
          <p:cNvPr id="16" name="Shape 14"/>
          <p:cNvSpPr/>
          <p:nvPr/>
        </p:nvSpPr>
        <p:spPr>
          <a:xfrm>
            <a:off x="4422750" y="3559175"/>
            <a:ext cx="3346417" cy="1663502"/>
          </a:xfrm>
          <a:prstGeom prst="roundRect">
            <a:avLst>
              <a:gd name="adj" fmla="val 6680"/>
            </a:avLst>
          </a:prstGeom>
          <a:solidFill>
            <a:srgbClr val="F2EBE0"/>
          </a:solidFill>
          <a:ln w="6350">
            <a:solidFill>
              <a:srgbClr val="E0D7C9"/>
            </a:solidFill>
            <a:prstDash val="solid"/>
          </a:ln>
        </p:spPr>
      </p:sp>
      <p:sp>
        <p:nvSpPr>
          <p:cNvPr id="17" name="Text 15"/>
          <p:cNvSpPr/>
          <p:nvPr/>
        </p:nvSpPr>
        <p:spPr>
          <a:xfrm>
            <a:off x="4628059"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Agreeing is fine</a:t>
            </a:r>
            <a:endParaRPr lang="en-US" sz="1500" dirty="0"/>
          </a:p>
        </p:txBody>
      </p:sp>
      <p:sp>
        <p:nvSpPr>
          <p:cNvPr id="18" name="Text 16"/>
          <p:cNvSpPr/>
          <p:nvPr/>
        </p:nvSpPr>
        <p:spPr>
          <a:xfrm>
            <a:off x="4628059" y="4059740"/>
            <a:ext cx="3023874" cy="98302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Agreeing with an author is fine — but explain why that position is </a:t>
            </a:r>
            <a:r>
              <a:rPr lang="en-US" sz="1300" i="1" dirty="0">
                <a:solidFill>
                  <a:srgbClr val="5E5850"/>
                </a:solidFill>
                <a:latin typeface="Inter" pitchFamily="34" charset="0"/>
                <a:ea typeface="Inter" pitchFamily="34" charset="-122"/>
                <a:cs typeface="Inter" pitchFamily="34" charset="-120"/>
              </a:rPr>
              <a:t>better</a:t>
            </a:r>
            <a:r>
              <a:rPr lang="en-US" sz="1300" dirty="0">
                <a:solidFill>
                  <a:srgbClr val="5E5850"/>
                </a:solidFill>
                <a:latin typeface="Inter" pitchFamily="34" charset="0"/>
                <a:ea typeface="Inter" pitchFamily="34" charset="-122"/>
                <a:cs typeface="Inter" pitchFamily="34" charset="-120"/>
              </a:rPr>
              <a:t>. Disagreeing with eminent authors is encouraged if argued well.</a:t>
            </a:r>
            <a:endParaRPr lang="en-US" sz="1300" dirty="0"/>
          </a:p>
        </p:txBody>
      </p:sp>
      <p:sp>
        <p:nvSpPr>
          <p:cNvPr id="19" name="Shape 17"/>
          <p:cNvSpPr/>
          <p:nvPr/>
        </p:nvSpPr>
        <p:spPr>
          <a:xfrm>
            <a:off x="8029558" y="3559175"/>
            <a:ext cx="3346417" cy="1424095"/>
          </a:xfrm>
          <a:prstGeom prst="roundRect">
            <a:avLst>
              <a:gd name="adj" fmla="val 7803"/>
            </a:avLst>
          </a:prstGeom>
          <a:solidFill>
            <a:srgbClr val="F2EBE0"/>
          </a:solidFill>
          <a:ln w="6350">
            <a:solidFill>
              <a:srgbClr val="E0D7C9"/>
            </a:solidFill>
            <a:prstDash val="solid"/>
          </a:ln>
        </p:spPr>
      </p:sp>
      <p:sp>
        <p:nvSpPr>
          <p:cNvPr id="20" name="Text 18"/>
          <p:cNvSpPr/>
          <p:nvPr/>
        </p:nvSpPr>
        <p:spPr>
          <a:xfrm>
            <a:off x="8234866" y="3764483"/>
            <a:ext cx="3023874"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Justify your narrowing</a:t>
            </a:r>
            <a:endParaRPr lang="en-US" sz="1500" dirty="0"/>
          </a:p>
        </p:txBody>
      </p:sp>
      <p:sp>
        <p:nvSpPr>
          <p:cNvPr id="21" name="Text 19"/>
          <p:cNvSpPr/>
          <p:nvPr/>
        </p:nvSpPr>
        <p:spPr>
          <a:xfrm>
            <a:off x="8234866" y="4059740"/>
            <a:ext cx="3023874" cy="74362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Show you saw the other dimensions of the problem: “I am aware of X, but for this argument I focus on Y.”</a:t>
            </a:r>
            <a:endParaRPr lang="en-US" sz="1300" dirty="0"/>
          </a:p>
        </p:txBody>
      </p:sp>
      <p:sp>
        <p:nvSpPr>
          <p:cNvPr id="22" name="Text 20"/>
          <p:cNvSpPr/>
          <p:nvPr/>
        </p:nvSpPr>
        <p:spPr>
          <a:xfrm>
            <a:off x="812767" y="5080000"/>
            <a:ext cx="10883374" cy="55878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5E5850"/>
                </a:solidFill>
                <a:latin typeface="Inter" pitchFamily="34" charset="0"/>
                <a:ea typeface="Inter" pitchFamily="34" charset="-122"/>
                <a:cs typeface="Inter" pitchFamily="34" charset="-120"/>
              </a:rPr>
              <a:t>He also said the Weeks 1–5 readings — essential </a:t>
            </a:r>
            <a:r>
              <a:rPr lang="en-US" sz="1400" i="1" dirty="0">
                <a:solidFill>
                  <a:srgbClr val="5E5850"/>
                </a:solidFill>
                <a:latin typeface="Inter" pitchFamily="34" charset="0"/>
                <a:ea typeface="Inter" pitchFamily="34" charset="-122"/>
                <a:cs typeface="Inter" pitchFamily="34" charset="-120"/>
              </a:rPr>
              <a:t>and</a:t>
            </a:r>
            <a:r>
              <a:rPr lang="en-US" sz="1400" dirty="0">
                <a:solidFill>
                  <a:srgbClr val="5E5850"/>
                </a:solidFill>
                <a:latin typeface="Inter" pitchFamily="34" charset="0"/>
                <a:ea typeface="Inter" pitchFamily="34" charset="-122"/>
                <a:cs typeface="Inter" pitchFamily="34" charset="-120"/>
              </a:rPr>
              <a:t> further — are a legitimate backbone and entry point, and that you should then integrate your own research. Work in a circle: research, think, write, go back.</a:t>
            </a:r>
            <a:endParaRPr lang="en-US" sz="1400" dirty="0"/>
          </a:p>
        </p:txBody>
      </p:sp>
      <p:sp>
        <p:nvSpPr>
          <p:cNvPr id="23" name="Text 21"/>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01 · The assessment</a:t>
            </a:r>
            <a:endParaRPr lang="en-US" sz="1200" dirty="0"/>
          </a:p>
        </p:txBody>
      </p:sp>
      <p:sp>
        <p:nvSpPr>
          <p:cNvPr id="24" name="Text 22"/>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B2C"/>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255000" y="762000"/>
            <a:ext cx="2667000" cy="2667000"/>
          </a:xfrm>
          <a:prstGeom prst="rect">
            <a:avLst/>
          </a:prstGeom>
        </p:spPr>
      </p:pic>
      <p:sp>
        <p:nvSpPr>
          <p:cNvPr id="3"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87C"/>
                </a:solidFill>
                <a:latin typeface="Inter" pitchFamily="34" charset="0"/>
                <a:ea typeface="Inter" pitchFamily="34" charset="-122"/>
                <a:cs typeface="Inter" pitchFamily="34" charset="-120"/>
              </a:rPr>
              <a:t>THE SINGLE BIGGEST LEVER</a:t>
            </a:r>
            <a:endParaRPr lang="en-US" sz="1200" dirty="0"/>
          </a:p>
        </p:txBody>
      </p:sp>
      <p:sp>
        <p:nvSpPr>
          <p:cNvPr id="4" name="Text 1"/>
          <p:cNvSpPr/>
          <p:nvPr/>
        </p:nvSpPr>
        <p:spPr>
          <a:xfrm>
            <a:off x="812767" y="914381"/>
            <a:ext cx="10203180" cy="464278"/>
          </a:xfrm>
          <a:prstGeom prst="rect">
            <a:avLst/>
          </a:prstGeom>
          <a:noFill/>
          <a:ln/>
        </p:spPr>
        <p:txBody>
          <a:bodyPr wrap="square" lIns="0" tIns="0" rIns="0" bIns="0" rtlCol="0" anchor="t">
            <a:normAutofit/>
          </a:bodyPr>
          <a:lstStyle/>
          <a:p>
            <a:pPr algn="l" indent="0" marL="0">
              <a:lnSpc>
                <a:spcPts val="3456"/>
              </a:lnSpc>
              <a:buNone/>
            </a:pPr>
            <a:r>
              <a:rPr lang="en-US" sz="3200" b="1" dirty="0">
                <a:solidFill>
                  <a:srgbClr val="FBF6ED"/>
                </a:solidFill>
                <a:latin typeface="Fraunces" pitchFamily="34" charset="0"/>
                <a:ea typeface="Fraunces" pitchFamily="34" charset="-122"/>
                <a:cs typeface="Fraunces" pitchFamily="34" charset="-120"/>
              </a:rPr>
              <a:t>Knowing is not understanding</a:t>
            </a:r>
            <a:endParaRPr lang="en-US" sz="3200" dirty="0"/>
          </a:p>
        </p:txBody>
      </p:sp>
      <p:sp>
        <p:nvSpPr>
          <p:cNvPr id="5" name="Shape 2"/>
          <p:cNvSpPr/>
          <p:nvPr/>
        </p:nvSpPr>
        <p:spPr>
          <a:xfrm>
            <a:off x="828642" y="2032000"/>
            <a:ext cx="0" cy="998637"/>
          </a:xfrm>
          <a:prstGeom prst="line">
            <a:avLst/>
          </a:prstGeom>
          <a:noFill/>
          <a:ln w="31750">
            <a:solidFill>
              <a:srgbClr val="E8A87C"/>
            </a:solidFill>
            <a:prstDash val="solid"/>
          </a:ln>
        </p:spPr>
      </p:sp>
      <p:sp>
        <p:nvSpPr>
          <p:cNvPr id="6" name="Text 3"/>
          <p:cNvSpPr/>
          <p:nvPr/>
        </p:nvSpPr>
        <p:spPr>
          <a:xfrm>
            <a:off x="1060400" y="2032000"/>
            <a:ext cx="6939487" cy="729440"/>
          </a:xfrm>
          <a:prstGeom prst="rect">
            <a:avLst/>
          </a:prstGeom>
          <a:noFill/>
          <a:ln/>
        </p:spPr>
        <p:txBody>
          <a:bodyPr wrap="square" lIns="0" tIns="0" rIns="0" bIns="0" rtlCol="0" anchor="t">
            <a:normAutofit/>
          </a:bodyPr>
          <a:lstStyle/>
          <a:p>
            <a:pPr algn="l" indent="0" marL="0">
              <a:lnSpc>
                <a:spcPts val="2772"/>
              </a:lnSpc>
              <a:buNone/>
            </a:pPr>
            <a:r>
              <a:rPr lang="en-US" sz="2100" i="1" dirty="0">
                <a:solidFill>
                  <a:srgbClr val="FBF6ED"/>
                </a:solidFill>
                <a:latin typeface="Fraunces" pitchFamily="34" charset="0"/>
                <a:ea typeface="Fraunces" pitchFamily="34" charset="-122"/>
                <a:cs typeface="Fraunces" pitchFamily="34" charset="-120"/>
              </a:rPr>
              <a:t>“In law as elsewhere, we can know and yet not understand.”</a:t>
            </a:r>
            <a:endParaRPr lang="en-US" sz="2100" dirty="0"/>
          </a:p>
        </p:txBody>
      </p:sp>
      <p:sp>
        <p:nvSpPr>
          <p:cNvPr id="7" name="Text 4"/>
          <p:cNvSpPr/>
          <p:nvPr/>
        </p:nvSpPr>
        <p:spPr>
          <a:xfrm>
            <a:off x="1060400" y="2824919"/>
            <a:ext cx="693948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9C6"/>
                </a:solidFill>
                <a:latin typeface="Inter" pitchFamily="34" charset="0"/>
                <a:ea typeface="Inter" pitchFamily="34" charset="-122"/>
                <a:cs typeface="Inter" pitchFamily="34" charset="-120"/>
              </a:rPr>
              <a:t>H L A Hart, </a:t>
            </a:r>
            <a:r>
              <a:rPr lang="en-US" sz="1200" i="1" dirty="0">
                <a:solidFill>
                  <a:srgbClr val="BFC9C6"/>
                </a:solidFill>
                <a:latin typeface="Inter" pitchFamily="34" charset="0"/>
                <a:ea typeface="Inter" pitchFamily="34" charset="-122"/>
                <a:cs typeface="Inter" pitchFamily="34" charset="-120"/>
              </a:rPr>
              <a:t>Definition and Theory in Jurisprudence</a:t>
            </a:r>
            <a:r>
              <a:rPr lang="en-US" sz="1200" dirty="0">
                <a:solidFill>
                  <a:srgbClr val="BFC9C6"/>
                </a:solidFill>
                <a:latin typeface="Inter" pitchFamily="34" charset="0"/>
                <a:ea typeface="Inter" pitchFamily="34" charset="-122"/>
                <a:cs typeface="Inter" pitchFamily="34" charset="-120"/>
              </a:rPr>
              <a:t> (1953) — quoted in Week 1</a:t>
            </a:r>
            <a:endParaRPr lang="en-US" sz="1200" dirty="0"/>
          </a:p>
        </p:txBody>
      </p:sp>
      <p:sp>
        <p:nvSpPr>
          <p:cNvPr id="8" name="Shape 5"/>
          <p:cNvSpPr/>
          <p:nvPr/>
        </p:nvSpPr>
        <p:spPr>
          <a:xfrm>
            <a:off x="812767" y="3365500"/>
            <a:ext cx="5156191" cy="1155692"/>
          </a:xfrm>
          <a:prstGeom prst="roundRect">
            <a:avLst>
              <a:gd name="adj" fmla="val 9890"/>
            </a:avLst>
          </a:prstGeom>
          <a:solidFill>
            <a:srgbClr val="27393A"/>
          </a:solidFill>
          <a:ln/>
        </p:spPr>
      </p:sp>
      <p:sp>
        <p:nvSpPr>
          <p:cNvPr id="9" name="Text 6"/>
          <p:cNvSpPr/>
          <p:nvPr/>
        </p:nvSpPr>
        <p:spPr>
          <a:xfrm>
            <a:off x="1003267" y="3556000"/>
            <a:ext cx="4918447"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8A87C"/>
                </a:solidFill>
                <a:latin typeface="Fraunces" pitchFamily="34" charset="0"/>
                <a:ea typeface="Fraunces" pitchFamily="34" charset="-122"/>
                <a:cs typeface="Fraunces" pitchFamily="34" charset="-120"/>
              </a:rPr>
              <a:t>Knowing — caps you at Credit</a:t>
            </a:r>
            <a:endParaRPr lang="en-US" sz="1550" dirty="0"/>
          </a:p>
        </p:txBody>
      </p:sp>
      <p:sp>
        <p:nvSpPr>
          <p:cNvPr id="10" name="Text 7"/>
          <p:cNvSpPr/>
          <p:nvPr/>
        </p:nvSpPr>
        <p:spPr>
          <a:xfrm>
            <a:off x="1003267" y="3868415"/>
            <a:ext cx="4918447"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6ED"/>
                </a:solidFill>
                <a:latin typeface="Inter" pitchFamily="34" charset="0"/>
                <a:ea typeface="Inter" pitchFamily="34" charset="-122"/>
                <a:cs typeface="Inter" pitchFamily="34" charset="-120"/>
              </a:rPr>
              <a:t>Fuller says X. Hart replies Y. Raz says Z. On balance I prefer Y. An accurate catalogue with a verdict bolted on the end.</a:t>
            </a:r>
            <a:endParaRPr lang="en-US" sz="1300" dirty="0"/>
          </a:p>
        </p:txBody>
      </p:sp>
      <p:sp>
        <p:nvSpPr>
          <p:cNvPr id="11" name="Shape 8"/>
          <p:cNvSpPr/>
          <p:nvPr/>
        </p:nvSpPr>
        <p:spPr>
          <a:xfrm>
            <a:off x="6229350" y="3371850"/>
            <a:ext cx="5143491" cy="1395297"/>
          </a:xfrm>
          <a:prstGeom prst="roundRect">
            <a:avLst>
              <a:gd name="adj" fmla="val 7737"/>
            </a:avLst>
          </a:prstGeom>
          <a:solidFill>
            <a:srgbClr val="27393A"/>
          </a:solidFill>
          <a:ln w="12700">
            <a:solidFill>
              <a:srgbClr val="E8A87C"/>
            </a:solidFill>
            <a:prstDash val="solid"/>
          </a:ln>
        </p:spPr>
      </p:sp>
      <p:sp>
        <p:nvSpPr>
          <p:cNvPr id="12" name="Text 9"/>
          <p:cNvSpPr/>
          <p:nvPr/>
        </p:nvSpPr>
        <p:spPr>
          <a:xfrm>
            <a:off x="6424083" y="3566579"/>
            <a:ext cx="4896646"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E8A87C"/>
                </a:solidFill>
                <a:latin typeface="Fraunces" pitchFamily="34" charset="0"/>
                <a:ea typeface="Fraunces" pitchFamily="34" charset="-122"/>
                <a:cs typeface="Fraunces" pitchFamily="34" charset="-120"/>
              </a:rPr>
              <a:t>Understanding — the HD move</a:t>
            </a:r>
            <a:endParaRPr lang="en-US" sz="1550" dirty="0"/>
          </a:p>
        </p:txBody>
      </p:sp>
      <p:sp>
        <p:nvSpPr>
          <p:cNvPr id="13" name="Text 10"/>
          <p:cNvSpPr/>
          <p:nvPr/>
        </p:nvSpPr>
        <p:spPr>
          <a:xfrm>
            <a:off x="6424083" y="3878994"/>
            <a:ext cx="4896646"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6ED"/>
                </a:solidFill>
                <a:latin typeface="Inter" pitchFamily="34" charset="0"/>
                <a:ea typeface="Inter" pitchFamily="34" charset="-122"/>
                <a:cs typeface="Inter" pitchFamily="34" charset="-120"/>
              </a:rPr>
              <a:t>Reconstruct the strongest version of the view you reject, show precisely where it fails, and give the reason your own step survives.</a:t>
            </a:r>
            <a:endParaRPr lang="en-US" sz="1300" dirty="0"/>
          </a:p>
        </p:txBody>
      </p:sp>
      <p:sp>
        <p:nvSpPr>
          <p:cNvPr id="14" name="Text 11"/>
          <p:cNvSpPr/>
          <p:nvPr/>
        </p:nvSpPr>
        <p:spPr>
          <a:xfrm>
            <a:off x="812767" y="4826000"/>
            <a:ext cx="10883374"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9C6"/>
                </a:solidFill>
                <a:latin typeface="Inter" pitchFamily="34" charset="0"/>
                <a:ea typeface="Inter" pitchFamily="34" charset="-122"/>
                <a:cs typeface="Inter" pitchFamily="34" charset="-120"/>
              </a:rPr>
              <a:t>The model is Hart on Austin. He says he will ignore Austin’s inconsistencies, develop his hints, and state the doctrine “in its strongest form” — and only then attack it (</a:t>
            </a:r>
            <a:r>
              <a:rPr lang="en-US" sz="1400" i="1" dirty="0">
                <a:solidFill>
                  <a:srgbClr val="BFC9C6"/>
                </a:solidFill>
                <a:latin typeface="Inter" pitchFamily="34" charset="0"/>
                <a:ea typeface="Inter" pitchFamily="34" charset="-122"/>
                <a:cs typeface="Inter" pitchFamily="34" charset="-120"/>
              </a:rPr>
              <a:t>CL</a:t>
            </a:r>
            <a:r>
              <a:rPr lang="en-US" sz="1400" dirty="0">
                <a:solidFill>
                  <a:srgbClr val="BFC9C6"/>
                </a:solidFill>
                <a:latin typeface="Inter" pitchFamily="34" charset="0"/>
                <a:ea typeface="Inter" pitchFamily="34" charset="-122"/>
                <a:cs typeface="Inter" pitchFamily="34" charset="-120"/>
              </a:rPr>
              <a:t> 18). Do that once, well, to one opponent. It is worth more than three more theorists.</a:t>
            </a:r>
            <a:endParaRPr lang="en-US" sz="1400" dirty="0"/>
          </a:p>
        </p:txBody>
      </p:sp>
      <p:sp>
        <p:nvSpPr>
          <p:cNvPr id="15" name="Text 12"/>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895"/>
                </a:solidFill>
                <a:latin typeface="Inter" pitchFamily="34" charset="0"/>
                <a:ea typeface="Inter" pitchFamily="34" charset="-122"/>
                <a:cs typeface="Inter" pitchFamily="34" charset="-120"/>
              </a:rPr>
              <a:t>Part 01 · The assessment</a:t>
            </a:r>
            <a:endParaRPr lang="en-US" sz="1200" dirty="0"/>
          </a:p>
        </p:txBody>
      </p:sp>
      <p:sp>
        <p:nvSpPr>
          <p:cNvPr id="16" name="Text 13"/>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9895"/>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02</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The toolbox</a:t>
            </a:r>
            <a:endParaRPr lang="en-US" sz="4600" dirty="0"/>
          </a:p>
        </p:txBody>
      </p:sp>
      <p:sp>
        <p:nvSpPr>
          <p:cNvPr id="4" name="Text 2"/>
          <p:cNvSpPr/>
          <p:nvPr/>
        </p:nvSpPr>
        <p:spPr>
          <a:xfrm>
            <a:off x="812767" y="4191000"/>
            <a:ext cx="8110220"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Five distinctions the convenor returns to every week. They cost an hour to learn and they are visible in the first paragraph of every strong essay.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ORGANISING DISTINCTION</a:t>
            </a:r>
            <a:endParaRPr lang="en-US" sz="1200" dirty="0"/>
          </a:p>
        </p:txBody>
      </p:sp>
      <p:sp>
        <p:nvSpPr>
          <p:cNvPr id="3" name="Text 1"/>
          <p:cNvSpPr/>
          <p:nvPr/>
        </p:nvSpPr>
        <p:spPr>
          <a:xfrm>
            <a:off x="812767" y="914381"/>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Two questions, not one</a:t>
            </a:r>
            <a:endParaRPr lang="en-US" sz="3000" dirty="0"/>
          </a:p>
        </p:txBody>
      </p:sp>
      <p:sp>
        <p:nvSpPr>
          <p:cNvPr id="4" name="Shape 2"/>
          <p:cNvSpPr/>
          <p:nvPr/>
        </p:nvSpPr>
        <p:spPr>
          <a:xfrm>
            <a:off x="819117" y="1885925"/>
            <a:ext cx="5143491" cy="1501915"/>
          </a:xfrm>
          <a:prstGeom prst="roundRect">
            <a:avLst>
              <a:gd name="adj" fmla="val 7187"/>
            </a:avLst>
          </a:prstGeom>
          <a:solidFill>
            <a:srgbClr val="FFFFFF"/>
          </a:solidFill>
          <a:ln w="12700">
            <a:solidFill>
              <a:srgbClr val="B0451D"/>
            </a:solidFill>
            <a:prstDash val="solid"/>
          </a:ln>
        </p:spPr>
      </p:sp>
      <p:sp>
        <p:nvSpPr>
          <p:cNvPr id="5" name="Text 3"/>
          <p:cNvSpPr/>
          <p:nvPr/>
        </p:nvSpPr>
        <p:spPr>
          <a:xfrm>
            <a:off x="1013850" y="2080654"/>
            <a:ext cx="4896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LEVEL ONE</a:t>
            </a:r>
            <a:endParaRPr lang="en-US" sz="1200" dirty="0"/>
          </a:p>
        </p:txBody>
      </p:sp>
      <p:sp>
        <p:nvSpPr>
          <p:cNvPr id="6" name="Text 4"/>
          <p:cNvSpPr/>
          <p:nvPr/>
        </p:nvSpPr>
        <p:spPr>
          <a:xfrm>
            <a:off x="1013850" y="2370169"/>
            <a:ext cx="4896646" cy="309868"/>
          </a:xfrm>
          <a:prstGeom prst="rect">
            <a:avLst/>
          </a:prstGeom>
          <a:noFill/>
          <a:ln/>
        </p:spPr>
        <p:txBody>
          <a:bodyPr wrap="square" lIns="0" tIns="0" rIns="0" bIns="0" rtlCol="0" anchor="t">
            <a:normAutofit/>
          </a:bodyPr>
          <a:lstStyle/>
          <a:p>
            <a:pPr algn="l" indent="0" marL="0">
              <a:lnSpc>
                <a:spcPts val="2240"/>
              </a:lnSpc>
              <a:buNone/>
            </a:pPr>
            <a:r>
              <a:rPr lang="en-US" sz="2000" b="1" dirty="0">
                <a:solidFill>
                  <a:srgbClr val="191814"/>
                </a:solidFill>
                <a:latin typeface="Fraunces" pitchFamily="34" charset="0"/>
                <a:ea typeface="Fraunces" pitchFamily="34" charset="-122"/>
                <a:cs typeface="Fraunces" pitchFamily="34" charset="-120"/>
              </a:rPr>
              <a:t>What is the nature of </a:t>
            </a:r>
            <a:r>
              <a:rPr lang="en-US" sz="2000" b="1" i="1" dirty="0">
                <a:solidFill>
                  <a:srgbClr val="191814"/>
                </a:solidFill>
                <a:latin typeface="Fraunces" pitchFamily="34" charset="0"/>
                <a:ea typeface="Fraunces" pitchFamily="34" charset="-122"/>
                <a:cs typeface="Fraunces" pitchFamily="34" charset="-120"/>
              </a:rPr>
              <a:t>jurisprudence</a:t>
            </a:r>
            <a:r>
              <a:rPr lang="en-US" sz="2000" b="1" dirty="0">
                <a:solidFill>
                  <a:srgbClr val="191814"/>
                </a:solidFill>
                <a:latin typeface="Fraunces" pitchFamily="34" charset="0"/>
                <a:ea typeface="Fraunces" pitchFamily="34" charset="-122"/>
                <a:cs typeface="Fraunces" pitchFamily="34" charset="-120"/>
              </a:rPr>
              <a:t>?</a:t>
            </a:r>
            <a:endParaRPr lang="en-US" sz="2000" dirty="0"/>
          </a:p>
        </p:txBody>
      </p:sp>
      <p:sp>
        <p:nvSpPr>
          <p:cNvPr id="7" name="Text 5"/>
          <p:cNvSpPr/>
          <p:nvPr/>
        </p:nvSpPr>
        <p:spPr>
          <a:xfrm>
            <a:off x="1013850" y="2730829"/>
            <a:ext cx="4896646"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What kind of thing is a theory of law? What may it assume? How would we know it had succeeded?</a:t>
            </a:r>
            <a:endParaRPr lang="en-US" sz="1300" dirty="0"/>
          </a:p>
        </p:txBody>
      </p:sp>
      <p:sp>
        <p:nvSpPr>
          <p:cNvPr id="8" name="Shape 6"/>
          <p:cNvSpPr/>
          <p:nvPr/>
        </p:nvSpPr>
        <p:spPr>
          <a:xfrm>
            <a:off x="6229350" y="1885925"/>
            <a:ext cx="5143491" cy="1501915"/>
          </a:xfrm>
          <a:prstGeom prst="roundRect">
            <a:avLst>
              <a:gd name="adj" fmla="val 7187"/>
            </a:avLst>
          </a:prstGeom>
          <a:solidFill>
            <a:srgbClr val="FFFFFF"/>
          </a:solidFill>
          <a:ln w="12700">
            <a:solidFill>
              <a:srgbClr val="1C595D"/>
            </a:solidFill>
            <a:prstDash val="solid"/>
          </a:ln>
        </p:spPr>
      </p:sp>
      <p:sp>
        <p:nvSpPr>
          <p:cNvPr id="9" name="Text 7"/>
          <p:cNvSpPr/>
          <p:nvPr/>
        </p:nvSpPr>
        <p:spPr>
          <a:xfrm>
            <a:off x="6424083" y="2080654"/>
            <a:ext cx="4896646"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595D"/>
                </a:solidFill>
                <a:latin typeface="Inter" pitchFamily="34" charset="0"/>
                <a:ea typeface="Inter" pitchFamily="34" charset="-122"/>
                <a:cs typeface="Inter" pitchFamily="34" charset="-120"/>
              </a:rPr>
              <a:t>LEVEL TWO</a:t>
            </a:r>
            <a:endParaRPr lang="en-US" sz="1200" dirty="0"/>
          </a:p>
        </p:txBody>
      </p:sp>
      <p:sp>
        <p:nvSpPr>
          <p:cNvPr id="10" name="Text 8"/>
          <p:cNvSpPr/>
          <p:nvPr/>
        </p:nvSpPr>
        <p:spPr>
          <a:xfrm>
            <a:off x="6424083" y="2370169"/>
            <a:ext cx="4896646" cy="309868"/>
          </a:xfrm>
          <a:prstGeom prst="rect">
            <a:avLst/>
          </a:prstGeom>
          <a:noFill/>
          <a:ln/>
        </p:spPr>
        <p:txBody>
          <a:bodyPr wrap="square" lIns="0" tIns="0" rIns="0" bIns="0" rtlCol="0" anchor="t">
            <a:normAutofit/>
          </a:bodyPr>
          <a:lstStyle/>
          <a:p>
            <a:pPr algn="l" indent="0" marL="0">
              <a:lnSpc>
                <a:spcPts val="2240"/>
              </a:lnSpc>
              <a:buNone/>
            </a:pPr>
            <a:r>
              <a:rPr lang="en-US" sz="2000" b="1" dirty="0">
                <a:solidFill>
                  <a:srgbClr val="191814"/>
                </a:solidFill>
                <a:latin typeface="Fraunces" pitchFamily="34" charset="0"/>
                <a:ea typeface="Fraunces" pitchFamily="34" charset="-122"/>
                <a:cs typeface="Fraunces" pitchFamily="34" charset="-120"/>
              </a:rPr>
              <a:t>What is the nature of </a:t>
            </a:r>
            <a:r>
              <a:rPr lang="en-US" sz="2000" b="1" i="1" dirty="0">
                <a:solidFill>
                  <a:srgbClr val="191814"/>
                </a:solidFill>
                <a:latin typeface="Fraunces" pitchFamily="34" charset="0"/>
                <a:ea typeface="Fraunces" pitchFamily="34" charset="-122"/>
                <a:cs typeface="Fraunces" pitchFamily="34" charset="-120"/>
              </a:rPr>
              <a:t>law</a:t>
            </a:r>
            <a:r>
              <a:rPr lang="en-US" sz="2000" b="1" dirty="0">
                <a:solidFill>
                  <a:srgbClr val="191814"/>
                </a:solidFill>
                <a:latin typeface="Fraunces" pitchFamily="34" charset="0"/>
                <a:ea typeface="Fraunces" pitchFamily="34" charset="-122"/>
                <a:cs typeface="Fraunces" pitchFamily="34" charset="-120"/>
              </a:rPr>
              <a:t>?</a:t>
            </a:r>
            <a:endParaRPr lang="en-US" sz="2000" dirty="0"/>
          </a:p>
        </p:txBody>
      </p:sp>
      <p:sp>
        <p:nvSpPr>
          <p:cNvPr id="11" name="Text 9"/>
          <p:cNvSpPr/>
          <p:nvPr/>
        </p:nvSpPr>
        <p:spPr>
          <a:xfrm>
            <a:off x="6424083" y="2730829"/>
            <a:ext cx="4896646"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Is coercion essential? Is there a necessary connection with morality? Must law be general and prospective?</a:t>
            </a:r>
            <a:endParaRPr lang="en-US" sz="1300" dirty="0"/>
          </a:p>
        </p:txBody>
      </p:sp>
      <p:pic>
        <p:nvPicPr>
          <p:cNvPr id="12" name="Image 0" descr="connector">    </p:cNvPr>
          <p:cNvPicPr>
            <a:picLocks noChangeAspect="1"/>
          </p:cNvPicPr>
          <p:nvPr/>
        </p:nvPicPr>
        <p:blipFill>
          <a:blip r:embed="rId1"/>
          <a:srcRect l="-2" r="-2" t="0" b="0"/>
          <a:stretch/>
        </p:blipFill>
        <p:spPr>
          <a:xfrm>
            <a:off x="3327383" y="3873500"/>
            <a:ext cx="127000" cy="546075"/>
          </a:xfrm>
          <a:prstGeom prst="rect">
            <a:avLst/>
          </a:prstGeom>
        </p:spPr>
      </p:pic>
      <p:pic>
        <p:nvPicPr>
          <p:cNvPr id="13" name="Image 1" descr="connector">    </p:cNvPr>
          <p:cNvPicPr>
            <a:picLocks noChangeAspect="1"/>
          </p:cNvPicPr>
          <p:nvPr/>
        </p:nvPicPr>
        <p:blipFill>
          <a:blip r:embed="rId2"/>
          <a:srcRect l="-2" r="-2" t="0" b="0"/>
          <a:stretch/>
        </p:blipFill>
        <p:spPr>
          <a:xfrm>
            <a:off x="8737575" y="3873500"/>
            <a:ext cx="127000" cy="546075"/>
          </a:xfrm>
          <a:prstGeom prst="rect">
            <a:avLst/>
          </a:prstGeom>
        </p:spPr>
      </p:pic>
      <p:sp>
        <p:nvSpPr>
          <p:cNvPr id="14" name="Shape 10"/>
          <p:cNvSpPr/>
          <p:nvPr/>
        </p:nvSpPr>
        <p:spPr>
          <a:xfrm>
            <a:off x="812767" y="4445000"/>
            <a:ext cx="5156191" cy="561909"/>
          </a:xfrm>
          <a:prstGeom prst="roundRect">
            <a:avLst>
              <a:gd name="adj" fmla="val 15821"/>
            </a:avLst>
          </a:prstGeom>
          <a:solidFill>
            <a:srgbClr val="F2EBE0"/>
          </a:solidFill>
          <a:ln/>
        </p:spPr>
      </p:sp>
      <p:sp>
        <p:nvSpPr>
          <p:cNvPr id="15" name="Text 11"/>
          <p:cNvSpPr/>
          <p:nvPr/>
        </p:nvSpPr>
        <p:spPr>
          <a:xfrm>
            <a:off x="892396" y="4597400"/>
            <a:ext cx="4996933" cy="282509"/>
          </a:xfrm>
          <a:prstGeom prst="rect">
            <a:avLst/>
          </a:prstGeom>
          <a:noFill/>
          <a:ln/>
        </p:spPr>
        <p:txBody>
          <a:bodyPr wrap="square" lIns="0" tIns="0" rIns="0" bIns="0" rtlCol="0" anchor="t">
            <a:normAutofit/>
          </a:bodyPr>
          <a:lstStyle/>
          <a:p>
            <a:pPr algn="ctr" indent="0" marL="0">
              <a:lnSpc>
                <a:spcPts val="2025"/>
              </a:lnSpc>
              <a:buNone/>
            </a:pPr>
            <a:r>
              <a:rPr lang="en-US" sz="1500" b="1" dirty="0">
                <a:solidFill>
                  <a:srgbClr val="B0451D"/>
                </a:solidFill>
                <a:latin typeface="Inter" pitchFamily="34" charset="0"/>
                <a:ea typeface="Inter" pitchFamily="34" charset="-122"/>
                <a:cs typeface="Inter" pitchFamily="34" charset="-120"/>
              </a:rPr>
              <a:t>Question 1 lives here</a:t>
            </a:r>
            <a:endParaRPr lang="en-US" sz="1500" dirty="0"/>
          </a:p>
        </p:txBody>
      </p:sp>
      <p:sp>
        <p:nvSpPr>
          <p:cNvPr id="16" name="Shape 12"/>
          <p:cNvSpPr/>
          <p:nvPr/>
        </p:nvSpPr>
        <p:spPr>
          <a:xfrm>
            <a:off x="6223000" y="4445000"/>
            <a:ext cx="5156191" cy="561909"/>
          </a:xfrm>
          <a:prstGeom prst="roundRect">
            <a:avLst>
              <a:gd name="adj" fmla="val 15821"/>
            </a:avLst>
          </a:prstGeom>
          <a:solidFill>
            <a:srgbClr val="E0EAE8"/>
          </a:solidFill>
          <a:ln/>
        </p:spPr>
      </p:sp>
      <p:sp>
        <p:nvSpPr>
          <p:cNvPr id="17" name="Text 13"/>
          <p:cNvSpPr/>
          <p:nvPr/>
        </p:nvSpPr>
        <p:spPr>
          <a:xfrm>
            <a:off x="6302629" y="4597400"/>
            <a:ext cx="4996933" cy="282509"/>
          </a:xfrm>
          <a:prstGeom prst="rect">
            <a:avLst/>
          </a:prstGeom>
          <a:noFill/>
          <a:ln/>
        </p:spPr>
        <p:txBody>
          <a:bodyPr wrap="square" lIns="0" tIns="0" rIns="0" bIns="0" rtlCol="0" anchor="t">
            <a:normAutofit/>
          </a:bodyPr>
          <a:lstStyle/>
          <a:p>
            <a:pPr algn="ctr" indent="0" marL="0">
              <a:lnSpc>
                <a:spcPts val="2025"/>
              </a:lnSpc>
              <a:buNone/>
            </a:pPr>
            <a:r>
              <a:rPr lang="en-US" sz="1500" b="1" dirty="0">
                <a:solidFill>
                  <a:srgbClr val="1C595D"/>
                </a:solidFill>
                <a:latin typeface="Inter" pitchFamily="34" charset="0"/>
                <a:ea typeface="Inter" pitchFamily="34" charset="-122"/>
                <a:cs typeface="Inter" pitchFamily="34" charset="-120"/>
              </a:rPr>
              <a:t>Question 2 lives here</a:t>
            </a:r>
            <a:endParaRPr lang="en-US" sz="1500" dirty="0"/>
          </a:p>
        </p:txBody>
      </p:sp>
      <p:sp>
        <p:nvSpPr>
          <p:cNvPr id="18" name="Text 14"/>
          <p:cNvSpPr/>
          <p:nvPr/>
        </p:nvSpPr>
        <p:spPr>
          <a:xfrm>
            <a:off x="812767" y="5118075"/>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E5850"/>
                </a:solidFill>
                <a:latin typeface="Inter" pitchFamily="34" charset="0"/>
                <a:ea typeface="Inter" pitchFamily="34" charset="-122"/>
                <a:cs typeface="Inter" pitchFamily="34" charset="-120"/>
              </a:rPr>
              <a:t>Confusing the levels is the commonest way to be off topic. An essay arguing about whether law is </a:t>
            </a:r>
            <a:r>
              <a:rPr lang="en-US" sz="1400" i="1" dirty="0">
                <a:solidFill>
                  <a:srgbClr val="5E5850"/>
                </a:solidFill>
                <a:latin typeface="Inter" pitchFamily="34" charset="0"/>
                <a:ea typeface="Inter" pitchFamily="34" charset="-122"/>
                <a:cs typeface="Inter" pitchFamily="34" charset="-120"/>
              </a:rPr>
              <a:t>really</a:t>
            </a:r>
            <a:r>
              <a:rPr lang="en-US" sz="1400" dirty="0">
                <a:solidFill>
                  <a:srgbClr val="5E5850"/>
                </a:solidFill>
                <a:latin typeface="Inter" pitchFamily="34" charset="0"/>
                <a:ea typeface="Inter" pitchFamily="34" charset="-122"/>
                <a:cs typeface="Inter" pitchFamily="34" charset="-120"/>
              </a:rPr>
              <a:t> connected to morality has answered a Question 2 problem even if it was set Question 1.</a:t>
            </a:r>
            <a:endParaRPr lang="en-US" sz="1400" dirty="0"/>
          </a:p>
        </p:txBody>
      </p:sp>
      <p:sp>
        <p:nvSpPr>
          <p:cNvPr id="19" name="Text 15"/>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02 · The toolbox</a:t>
            </a:r>
            <a:endParaRPr lang="en-US" sz="1200" dirty="0"/>
          </a:p>
        </p:txBody>
      </p:sp>
      <p:sp>
        <p:nvSpPr>
          <p:cNvPr id="20" name="Text 16"/>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SIX KINDS OF QUESTION</a:t>
            </a:r>
            <a:endParaRPr lang="en-US" sz="1200" dirty="0"/>
          </a:p>
        </p:txBody>
      </p:sp>
      <p:sp>
        <p:nvSpPr>
          <p:cNvPr id="3" name="Text 1"/>
          <p:cNvSpPr/>
          <p:nvPr/>
        </p:nvSpPr>
        <p:spPr>
          <a:xfrm>
            <a:off x="812767" y="914381"/>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Know which one you are answering</a:t>
            </a:r>
            <a:endParaRPr lang="en-US" sz="3000" dirty="0"/>
          </a:p>
        </p:txBody>
      </p:sp>
      <p:sp>
        <p:nvSpPr>
          <p:cNvPr id="4" name="Shape 2"/>
          <p:cNvSpPr/>
          <p:nvPr/>
        </p:nvSpPr>
        <p:spPr>
          <a:xfrm>
            <a:off x="815942" y="1882750"/>
            <a:ext cx="3346417" cy="1059135"/>
          </a:xfrm>
          <a:prstGeom prst="roundRect">
            <a:avLst>
              <a:gd name="adj" fmla="val 9293"/>
            </a:avLst>
          </a:prstGeom>
          <a:solidFill>
            <a:srgbClr val="FFFFFF"/>
          </a:solidFill>
          <a:ln w="6350">
            <a:solidFill>
              <a:srgbClr val="E0D7C9"/>
            </a:solidFill>
            <a:prstDash val="solid"/>
          </a:ln>
        </p:spPr>
      </p:sp>
      <p:sp>
        <p:nvSpPr>
          <p:cNvPr id="5" name="Text 3"/>
          <p:cNvSpPr/>
          <p:nvPr/>
        </p:nvSpPr>
        <p:spPr>
          <a:xfrm>
            <a:off x="970442" y="2037246"/>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1</a:t>
            </a:r>
            <a:endParaRPr lang="en-US" sz="1300" dirty="0"/>
          </a:p>
        </p:txBody>
      </p:sp>
      <p:sp>
        <p:nvSpPr>
          <p:cNvPr id="6" name="Text 4"/>
          <p:cNvSpPr/>
          <p:nvPr/>
        </p:nvSpPr>
        <p:spPr>
          <a:xfrm>
            <a:off x="970442" y="2319151"/>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Doctrinal</a:t>
            </a:r>
            <a:endParaRPr lang="en-US" sz="1450" dirty="0"/>
          </a:p>
        </p:txBody>
      </p:sp>
      <p:sp>
        <p:nvSpPr>
          <p:cNvPr id="7" name="Text 5"/>
          <p:cNvSpPr/>
          <p:nvPr/>
        </p:nvSpPr>
        <p:spPr>
          <a:xfrm>
            <a:off x="970442" y="2581672"/>
            <a:ext cx="3128539"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What the law is on a specific issue.</a:t>
            </a:r>
            <a:endParaRPr lang="en-US" sz="1200" dirty="0"/>
          </a:p>
        </p:txBody>
      </p:sp>
      <p:sp>
        <p:nvSpPr>
          <p:cNvPr id="8" name="Shape 6"/>
          <p:cNvSpPr/>
          <p:nvPr/>
        </p:nvSpPr>
        <p:spPr>
          <a:xfrm>
            <a:off x="4422750" y="1882750"/>
            <a:ext cx="3346417" cy="1264849"/>
          </a:xfrm>
          <a:prstGeom prst="roundRect">
            <a:avLst>
              <a:gd name="adj" fmla="val 7782"/>
            </a:avLst>
          </a:prstGeom>
          <a:solidFill>
            <a:srgbClr val="FFFFFF"/>
          </a:solidFill>
          <a:ln w="6350">
            <a:solidFill>
              <a:srgbClr val="E0D7C9"/>
            </a:solidFill>
            <a:prstDash val="solid"/>
          </a:ln>
        </p:spPr>
      </p:sp>
      <p:sp>
        <p:nvSpPr>
          <p:cNvPr id="9" name="Text 7"/>
          <p:cNvSpPr/>
          <p:nvPr/>
        </p:nvSpPr>
        <p:spPr>
          <a:xfrm>
            <a:off x="4577250" y="2037246"/>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2</a:t>
            </a:r>
            <a:endParaRPr lang="en-US" sz="1300" dirty="0"/>
          </a:p>
        </p:txBody>
      </p:sp>
      <p:sp>
        <p:nvSpPr>
          <p:cNvPr id="10" name="Text 8"/>
          <p:cNvSpPr/>
          <p:nvPr/>
        </p:nvSpPr>
        <p:spPr>
          <a:xfrm>
            <a:off x="4577250" y="2319151"/>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Normative</a:t>
            </a:r>
            <a:endParaRPr lang="en-US" sz="1450" dirty="0"/>
          </a:p>
        </p:txBody>
      </p:sp>
      <p:sp>
        <p:nvSpPr>
          <p:cNvPr id="11" name="Text 9"/>
          <p:cNvSpPr/>
          <p:nvPr/>
        </p:nvSpPr>
        <p:spPr>
          <a:xfrm>
            <a:off x="4577250" y="2581672"/>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What ought to be — justificatory or critical claims.</a:t>
            </a:r>
            <a:endParaRPr lang="en-US" sz="1200" dirty="0"/>
          </a:p>
        </p:txBody>
      </p:sp>
      <p:sp>
        <p:nvSpPr>
          <p:cNvPr id="12" name="Shape 10"/>
          <p:cNvSpPr/>
          <p:nvPr/>
        </p:nvSpPr>
        <p:spPr>
          <a:xfrm>
            <a:off x="8029558" y="1882750"/>
            <a:ext cx="3346417" cy="1264849"/>
          </a:xfrm>
          <a:prstGeom prst="roundRect">
            <a:avLst>
              <a:gd name="adj" fmla="val 7782"/>
            </a:avLst>
          </a:prstGeom>
          <a:solidFill>
            <a:srgbClr val="FFFFFF"/>
          </a:solidFill>
          <a:ln w="6350">
            <a:solidFill>
              <a:srgbClr val="E0D7C9"/>
            </a:solidFill>
            <a:prstDash val="solid"/>
          </a:ln>
        </p:spPr>
      </p:sp>
      <p:sp>
        <p:nvSpPr>
          <p:cNvPr id="13" name="Text 11"/>
          <p:cNvSpPr/>
          <p:nvPr/>
        </p:nvSpPr>
        <p:spPr>
          <a:xfrm>
            <a:off x="8184059" y="2037246"/>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3</a:t>
            </a:r>
            <a:endParaRPr lang="en-US" sz="1300" dirty="0"/>
          </a:p>
        </p:txBody>
      </p:sp>
      <p:sp>
        <p:nvSpPr>
          <p:cNvPr id="14" name="Text 12"/>
          <p:cNvSpPr/>
          <p:nvPr/>
        </p:nvSpPr>
        <p:spPr>
          <a:xfrm>
            <a:off x="8184059" y="2319151"/>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Empirical</a:t>
            </a:r>
            <a:endParaRPr lang="en-US" sz="1450" dirty="0"/>
          </a:p>
        </p:txBody>
      </p:sp>
      <p:sp>
        <p:nvSpPr>
          <p:cNvPr id="15" name="Text 13"/>
          <p:cNvSpPr/>
          <p:nvPr/>
        </p:nvSpPr>
        <p:spPr>
          <a:xfrm>
            <a:off x="8184059" y="2581672"/>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Explanatory or causal claims; claims about effects.</a:t>
            </a:r>
            <a:endParaRPr lang="en-US" sz="1200" dirty="0"/>
          </a:p>
        </p:txBody>
      </p:sp>
      <p:sp>
        <p:nvSpPr>
          <p:cNvPr id="16" name="Shape 14"/>
          <p:cNvSpPr/>
          <p:nvPr/>
        </p:nvSpPr>
        <p:spPr>
          <a:xfrm>
            <a:off x="819117" y="3409925"/>
            <a:ext cx="3340067" cy="1269082"/>
          </a:xfrm>
          <a:prstGeom prst="roundRect">
            <a:avLst>
              <a:gd name="adj" fmla="val 7505"/>
            </a:avLst>
          </a:prstGeom>
          <a:solidFill>
            <a:srgbClr val="FCEEE5"/>
          </a:solidFill>
          <a:ln w="12700">
            <a:solidFill>
              <a:srgbClr val="B0451D"/>
            </a:solidFill>
            <a:prstDash val="solid"/>
          </a:ln>
        </p:spPr>
      </p:sp>
      <p:sp>
        <p:nvSpPr>
          <p:cNvPr id="17" name="Text 15"/>
          <p:cNvSpPr/>
          <p:nvPr/>
        </p:nvSpPr>
        <p:spPr>
          <a:xfrm>
            <a:off x="975734" y="3566542"/>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4</a:t>
            </a:r>
            <a:endParaRPr lang="en-US" sz="1300" dirty="0"/>
          </a:p>
        </p:txBody>
      </p:sp>
      <p:sp>
        <p:nvSpPr>
          <p:cNvPr id="18" name="Text 16"/>
          <p:cNvSpPr/>
          <p:nvPr/>
        </p:nvSpPr>
        <p:spPr>
          <a:xfrm>
            <a:off x="975734" y="3848447"/>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Metatheoretical</a:t>
            </a:r>
            <a:endParaRPr lang="en-US" sz="1450" dirty="0"/>
          </a:p>
        </p:txBody>
      </p:sp>
      <p:sp>
        <p:nvSpPr>
          <p:cNvPr id="19" name="Text 17"/>
          <p:cNvSpPr/>
          <p:nvPr/>
        </p:nvSpPr>
        <p:spPr>
          <a:xfrm>
            <a:off x="975734" y="4110961"/>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What are the success criteria for a given theory?</a:t>
            </a:r>
            <a:endParaRPr lang="en-US" sz="1200" dirty="0"/>
          </a:p>
        </p:txBody>
      </p:sp>
      <p:sp>
        <p:nvSpPr>
          <p:cNvPr id="20" name="Shape 18"/>
          <p:cNvSpPr/>
          <p:nvPr/>
        </p:nvSpPr>
        <p:spPr>
          <a:xfrm>
            <a:off x="4425925" y="3409925"/>
            <a:ext cx="3340067" cy="1269082"/>
          </a:xfrm>
          <a:prstGeom prst="roundRect">
            <a:avLst>
              <a:gd name="adj" fmla="val 7505"/>
            </a:avLst>
          </a:prstGeom>
          <a:solidFill>
            <a:srgbClr val="FCEEE5"/>
          </a:solidFill>
          <a:ln w="12700">
            <a:solidFill>
              <a:srgbClr val="B0451D"/>
            </a:solidFill>
            <a:prstDash val="solid"/>
          </a:ln>
        </p:spPr>
      </p:sp>
      <p:sp>
        <p:nvSpPr>
          <p:cNvPr id="21" name="Text 19"/>
          <p:cNvSpPr/>
          <p:nvPr/>
        </p:nvSpPr>
        <p:spPr>
          <a:xfrm>
            <a:off x="4582542" y="3566542"/>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5</a:t>
            </a:r>
            <a:endParaRPr lang="en-US" sz="1300" dirty="0"/>
          </a:p>
        </p:txBody>
      </p:sp>
      <p:sp>
        <p:nvSpPr>
          <p:cNvPr id="22" name="Text 20"/>
          <p:cNvSpPr/>
          <p:nvPr/>
        </p:nvSpPr>
        <p:spPr>
          <a:xfrm>
            <a:off x="4582542" y="3848447"/>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Methodological</a:t>
            </a:r>
            <a:endParaRPr lang="en-US" sz="1450" dirty="0"/>
          </a:p>
        </p:txBody>
      </p:sp>
      <p:sp>
        <p:nvSpPr>
          <p:cNvPr id="23" name="Text 21"/>
          <p:cNvSpPr/>
          <p:nvPr/>
        </p:nvSpPr>
        <p:spPr>
          <a:xfrm>
            <a:off x="4582542" y="4110961"/>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How should we conduct research in this field?</a:t>
            </a:r>
            <a:endParaRPr lang="en-US" sz="1200" dirty="0"/>
          </a:p>
        </p:txBody>
      </p:sp>
      <p:sp>
        <p:nvSpPr>
          <p:cNvPr id="24" name="Shape 22"/>
          <p:cNvSpPr/>
          <p:nvPr/>
        </p:nvSpPr>
        <p:spPr>
          <a:xfrm>
            <a:off x="8032733" y="3409925"/>
            <a:ext cx="3340067" cy="1269082"/>
          </a:xfrm>
          <a:prstGeom prst="roundRect">
            <a:avLst>
              <a:gd name="adj" fmla="val 7505"/>
            </a:avLst>
          </a:prstGeom>
          <a:solidFill>
            <a:srgbClr val="FCEEE5"/>
          </a:solidFill>
          <a:ln w="12700">
            <a:solidFill>
              <a:srgbClr val="B0451D"/>
            </a:solidFill>
            <a:prstDash val="solid"/>
          </a:ln>
        </p:spPr>
      </p:sp>
      <p:sp>
        <p:nvSpPr>
          <p:cNvPr id="25" name="Text 23"/>
          <p:cNvSpPr/>
          <p:nvPr/>
        </p:nvSpPr>
        <p:spPr>
          <a:xfrm>
            <a:off x="8189350" y="3566542"/>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6</a:t>
            </a:r>
            <a:endParaRPr lang="en-US" sz="1300" dirty="0"/>
          </a:p>
        </p:txBody>
      </p:sp>
      <p:sp>
        <p:nvSpPr>
          <p:cNvPr id="26" name="Text 24"/>
          <p:cNvSpPr/>
          <p:nvPr/>
        </p:nvSpPr>
        <p:spPr>
          <a:xfrm>
            <a:off x="8189350" y="3848447"/>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Conceptual</a:t>
            </a:r>
            <a:endParaRPr lang="en-US" sz="1450" dirty="0"/>
          </a:p>
        </p:txBody>
      </p:sp>
      <p:sp>
        <p:nvSpPr>
          <p:cNvPr id="27" name="Text 25"/>
          <p:cNvSpPr/>
          <p:nvPr/>
        </p:nvSpPr>
        <p:spPr>
          <a:xfrm>
            <a:off x="8189350" y="4110961"/>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What is a contract? What is law? What is justice?</a:t>
            </a:r>
            <a:endParaRPr lang="en-US" sz="1200" dirty="0"/>
          </a:p>
        </p:txBody>
      </p:sp>
      <p:sp>
        <p:nvSpPr>
          <p:cNvPr id="28" name="Shape 26"/>
          <p:cNvSpPr/>
          <p:nvPr/>
        </p:nvSpPr>
        <p:spPr>
          <a:xfrm>
            <a:off x="812767" y="4826000"/>
            <a:ext cx="10566383" cy="1026129"/>
          </a:xfrm>
          <a:prstGeom prst="roundRect">
            <a:avLst>
              <a:gd name="adj" fmla="val 8664"/>
            </a:avLst>
          </a:prstGeom>
          <a:solidFill>
            <a:srgbClr val="F2EBE0"/>
          </a:solidFill>
          <a:ln/>
        </p:spPr>
      </p:sp>
      <p:sp>
        <p:nvSpPr>
          <p:cNvPr id="29" name="Shape 27"/>
          <p:cNvSpPr/>
          <p:nvPr/>
        </p:nvSpPr>
        <p:spPr>
          <a:xfrm>
            <a:off x="831817" y="4826000"/>
            <a:ext cx="0" cy="1026129"/>
          </a:xfrm>
          <a:prstGeom prst="line">
            <a:avLst/>
          </a:prstGeom>
          <a:noFill/>
          <a:ln w="38100">
            <a:solidFill>
              <a:srgbClr val="B0451D"/>
            </a:solidFill>
            <a:prstDash val="solid"/>
          </a:ln>
        </p:spPr>
      </p:sp>
      <p:sp>
        <p:nvSpPr>
          <p:cNvPr id="30" name="Text 28"/>
          <p:cNvSpPr/>
          <p:nvPr/>
        </p:nvSpPr>
        <p:spPr>
          <a:xfrm>
            <a:off x="1027575" y="4965688"/>
            <a:ext cx="10479022" cy="772145"/>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814"/>
                </a:solidFill>
                <a:latin typeface="Inter" pitchFamily="34" charset="0"/>
                <a:ea typeface="Inter" pitchFamily="34" charset="-122"/>
                <a:cs typeface="Inter" pitchFamily="34" charset="-120"/>
              </a:rPr>
              <a:t>Question 1 is 4 and 5 about a 6.</a:t>
            </a:r>
            <a:r>
              <a:rPr lang="en-US" sz="1400" dirty="0">
                <a:solidFill>
                  <a:srgbClr val="191814"/>
                </a:solidFill>
                <a:latin typeface="Inter" pitchFamily="34" charset="0"/>
                <a:ea typeface="Inter" pitchFamily="34" charset="-122"/>
                <a:cs typeface="Inter" pitchFamily="34" charset="-120"/>
              </a:rPr>
              <a:t> It asks what kind of theory a general theory of law can be — a metatheoretical and methodological question about a conceptual enterprise. Saying so in your introduction is the fastest demonstration that you understood the problem the question captures.</a:t>
            </a:r>
            <a:endParaRPr lang="en-US" sz="1400" dirty="0"/>
          </a:p>
        </p:txBody>
      </p:sp>
      <p:sp>
        <p:nvSpPr>
          <p:cNvPr id="31" name="Text 29"/>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02 · The toolbox</a:t>
            </a:r>
            <a:endParaRPr lang="en-US" sz="1200" dirty="0"/>
          </a:p>
        </p:txBody>
      </p:sp>
      <p:sp>
        <p:nvSpPr>
          <p:cNvPr id="32" name="Text 30"/>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WHAT MAKES JURISPRUDENCE “GENERAL”</a:t>
            </a:r>
            <a:endParaRPr lang="en-US" sz="1200" dirty="0"/>
          </a:p>
        </p:txBody>
      </p:sp>
      <p:sp>
        <p:nvSpPr>
          <p:cNvPr id="3" name="Text 1"/>
          <p:cNvSpPr/>
          <p:nvPr/>
        </p:nvSpPr>
        <p:spPr>
          <a:xfrm>
            <a:off x="812767" y="914381"/>
            <a:ext cx="10203180" cy="409459"/>
          </a:xfrm>
          <a:prstGeom prst="rect">
            <a:avLst/>
          </a:prstGeom>
          <a:noFill/>
          <a:ln/>
        </p:spPr>
        <p:txBody>
          <a:bodyPr wrap="square" lIns="0" tIns="0" rIns="0" bIns="0" rtlCol="0" anchor="t">
            <a:normAutofit/>
          </a:bodyPr>
          <a:lstStyle/>
          <a:p>
            <a:pPr algn="l" indent="0" marL="0">
              <a:lnSpc>
                <a:spcPts val="3024"/>
              </a:lnSpc>
              <a:buNone/>
            </a:pPr>
            <a:r>
              <a:rPr lang="en-US" sz="2800" b="1" dirty="0">
                <a:solidFill>
                  <a:srgbClr val="191814"/>
                </a:solidFill>
                <a:latin typeface="Fraunces" pitchFamily="34" charset="0"/>
                <a:ea typeface="Fraunces" pitchFamily="34" charset="-122"/>
                <a:cs typeface="Fraunces" pitchFamily="34" charset="-120"/>
              </a:rPr>
              <a:t>And what conceptual analysis is supposed to do</a:t>
            </a:r>
            <a:endParaRPr lang="en-US" sz="2800" dirty="0"/>
          </a:p>
        </p:txBody>
      </p:sp>
      <p:sp>
        <p:nvSpPr>
          <p:cNvPr id="4" name="Shape 2"/>
          <p:cNvSpPr/>
          <p:nvPr/>
        </p:nvSpPr>
        <p:spPr>
          <a:xfrm>
            <a:off x="815942" y="1882750"/>
            <a:ext cx="5149841" cy="1391477"/>
          </a:xfrm>
          <a:prstGeom prst="roundRect">
            <a:avLst>
              <a:gd name="adj" fmla="val 7986"/>
            </a:avLst>
          </a:prstGeom>
          <a:solidFill>
            <a:srgbClr val="FFFFFF"/>
          </a:solidFill>
          <a:ln w="6350">
            <a:solidFill>
              <a:srgbClr val="E0D7C9"/>
            </a:solidFill>
            <a:prstDash val="solid"/>
          </a:ln>
        </p:spPr>
      </p:sp>
      <p:sp>
        <p:nvSpPr>
          <p:cNvPr id="5" name="Text 3"/>
          <p:cNvSpPr/>
          <p:nvPr/>
        </p:nvSpPr>
        <p:spPr>
          <a:xfrm>
            <a:off x="995825"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B0451D"/>
                </a:solidFill>
                <a:latin typeface="Fraunces" pitchFamily="34" charset="0"/>
                <a:ea typeface="Fraunces" pitchFamily="34" charset="-122"/>
                <a:cs typeface="Fraunces" pitchFamily="34" charset="-120"/>
              </a:rPr>
              <a:t>General jurisprudence</a:t>
            </a:r>
            <a:endParaRPr lang="en-US" sz="1700" dirty="0"/>
          </a:p>
        </p:txBody>
      </p:sp>
      <p:sp>
        <p:nvSpPr>
          <p:cNvPr id="6" name="Text 4"/>
          <p:cNvSpPr/>
          <p:nvPr/>
        </p:nvSpPr>
        <p:spPr>
          <a:xfrm>
            <a:off x="995825" y="2374385"/>
            <a:ext cx="4933777"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Philosophical puzzles thrown up by </a:t>
            </a:r>
            <a:r>
              <a:rPr lang="en-US" sz="1350" b="1" dirty="0">
                <a:solidFill>
                  <a:srgbClr val="191814"/>
                </a:solidFill>
                <a:latin typeface="Inter" pitchFamily="34" charset="0"/>
                <a:ea typeface="Inter" pitchFamily="34" charset="-122"/>
                <a:cs typeface="Inter" pitchFamily="34" charset="-120"/>
              </a:rPr>
              <a:t>all</a:t>
            </a:r>
            <a:r>
              <a:rPr lang="en-US" sz="1350" dirty="0">
                <a:solidFill>
                  <a:srgbClr val="191814"/>
                </a:solidFill>
                <a:latin typeface="Inter" pitchFamily="34" charset="0"/>
                <a:ea typeface="Inter" pitchFamily="34" charset="-122"/>
                <a:cs typeface="Inter" pitchFamily="34" charset="-120"/>
              </a:rPr>
              <a:t> legal systems: what is law? what is a legal system? is there a general obligation to obey?</a:t>
            </a:r>
            <a:endParaRPr lang="en-US" sz="1350" dirty="0"/>
          </a:p>
        </p:txBody>
      </p:sp>
      <p:sp>
        <p:nvSpPr>
          <p:cNvPr id="7" name="Shape 5"/>
          <p:cNvSpPr/>
          <p:nvPr/>
        </p:nvSpPr>
        <p:spPr>
          <a:xfrm>
            <a:off x="6226175" y="1882750"/>
            <a:ext cx="5149841" cy="1391477"/>
          </a:xfrm>
          <a:prstGeom prst="roundRect">
            <a:avLst>
              <a:gd name="adj" fmla="val 7986"/>
            </a:avLst>
          </a:prstGeom>
          <a:solidFill>
            <a:srgbClr val="FFFFFF"/>
          </a:solidFill>
          <a:ln w="6350">
            <a:solidFill>
              <a:srgbClr val="E0D7C9"/>
            </a:solidFill>
            <a:prstDash val="solid"/>
          </a:ln>
        </p:spPr>
      </p:sp>
      <p:sp>
        <p:nvSpPr>
          <p:cNvPr id="8" name="Text 6"/>
          <p:cNvSpPr/>
          <p:nvPr/>
        </p:nvSpPr>
        <p:spPr>
          <a:xfrm>
            <a:off x="6406059"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C595D"/>
                </a:solidFill>
                <a:latin typeface="Fraunces" pitchFamily="34" charset="0"/>
                <a:ea typeface="Fraunces" pitchFamily="34" charset="-122"/>
                <a:cs typeface="Fraunces" pitchFamily="34" charset="-120"/>
              </a:rPr>
              <a:t>Particular jurisprudence</a:t>
            </a:r>
            <a:endParaRPr lang="en-US" sz="1700" dirty="0"/>
          </a:p>
        </p:txBody>
      </p:sp>
      <p:sp>
        <p:nvSpPr>
          <p:cNvPr id="9" name="Text 7"/>
          <p:cNvSpPr/>
          <p:nvPr/>
        </p:nvSpPr>
        <p:spPr>
          <a:xfrm>
            <a:off x="6406059" y="2374385"/>
            <a:ext cx="4933777"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Puzzles arising in some systems or traditions but not all: what is common about the common law? in what sense is Parliament sovereign?</a:t>
            </a:r>
            <a:endParaRPr lang="en-US" sz="1350" dirty="0"/>
          </a:p>
        </p:txBody>
      </p:sp>
      <p:sp>
        <p:nvSpPr>
          <p:cNvPr id="10" name="Shape 8"/>
          <p:cNvSpPr/>
          <p:nvPr/>
        </p:nvSpPr>
        <p:spPr>
          <a:xfrm>
            <a:off x="828642" y="3175000"/>
            <a:ext cx="0" cy="864526"/>
          </a:xfrm>
          <a:prstGeom prst="line">
            <a:avLst/>
          </a:prstGeom>
          <a:noFill/>
          <a:ln w="31750">
            <a:solidFill>
              <a:srgbClr val="B0451D"/>
            </a:solidFill>
            <a:prstDash val="solid"/>
          </a:ln>
        </p:spPr>
      </p:sp>
      <p:sp>
        <p:nvSpPr>
          <p:cNvPr id="11" name="Text 9"/>
          <p:cNvSpPr/>
          <p:nvPr/>
        </p:nvSpPr>
        <p:spPr>
          <a:xfrm>
            <a:off x="1060400" y="3175000"/>
            <a:ext cx="10628313" cy="595329"/>
          </a:xfrm>
          <a:prstGeom prst="rect">
            <a:avLst/>
          </a:prstGeom>
          <a:noFill/>
          <a:ln/>
        </p:spPr>
        <p:txBody>
          <a:bodyPr wrap="square" lIns="0" tIns="0" rIns="0" bIns="0" rtlCol="0" anchor="t">
            <a:normAutofit/>
          </a:bodyPr>
          <a:lstStyle/>
          <a:p>
            <a:pPr algn="l" indent="0" marL="0">
              <a:lnSpc>
                <a:spcPts val="2244"/>
              </a:lnSpc>
              <a:buNone/>
            </a:pPr>
            <a:r>
              <a:rPr lang="en-US" sz="1700" i="1" dirty="0">
                <a:solidFill>
                  <a:srgbClr val="191814"/>
                </a:solidFill>
                <a:latin typeface="Fraunces" pitchFamily="34" charset="0"/>
                <a:ea typeface="Fraunces" pitchFamily="34" charset="-122"/>
                <a:cs typeface="Fraunces" pitchFamily="34" charset="-120"/>
              </a:rPr>
              <a:t>“Conceptual theories and claims set the boundaries of categories … but the placement of the boundaries is often contested.”</a:t>
            </a:r>
            <a:endParaRPr lang="en-US" sz="1700" dirty="0"/>
          </a:p>
        </p:txBody>
      </p:sp>
      <p:sp>
        <p:nvSpPr>
          <p:cNvPr id="12" name="Text 10"/>
          <p:cNvSpPr/>
          <p:nvPr/>
        </p:nvSpPr>
        <p:spPr>
          <a:xfrm>
            <a:off x="1060400" y="3833812"/>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Brian Bix, </a:t>
            </a:r>
            <a:r>
              <a:rPr lang="en-US" sz="1200" i="1" dirty="0">
                <a:solidFill>
                  <a:srgbClr val="5E5850"/>
                </a:solidFill>
                <a:latin typeface="Inter" pitchFamily="34" charset="0"/>
                <a:ea typeface="Inter" pitchFamily="34" charset="-122"/>
                <a:cs typeface="Inter" pitchFamily="34" charset="-120"/>
              </a:rPr>
              <a:t>Jurisprudence: Theory and Context</a:t>
            </a:r>
            <a:r>
              <a:rPr lang="en-US" sz="1200" dirty="0">
                <a:solidFill>
                  <a:srgbClr val="5E5850"/>
                </a:solidFill>
                <a:latin typeface="Inter" pitchFamily="34" charset="0"/>
                <a:ea typeface="Inter" pitchFamily="34" charset="-122"/>
                <a:cs typeface="Inter" pitchFamily="34" charset="-120"/>
              </a:rPr>
              <a:t>, 18 — quoted in Week 1</a:t>
            </a:r>
            <a:endParaRPr lang="en-US" sz="1200" dirty="0"/>
          </a:p>
        </p:txBody>
      </p:sp>
      <p:sp>
        <p:nvSpPr>
          <p:cNvPr id="13" name="Shape 11"/>
          <p:cNvSpPr/>
          <p:nvPr/>
        </p:nvSpPr>
        <p:spPr>
          <a:xfrm>
            <a:off x="812767" y="4381500"/>
            <a:ext cx="10566383" cy="1318204"/>
          </a:xfrm>
          <a:prstGeom prst="roundRect">
            <a:avLst>
              <a:gd name="adj" fmla="val 6744"/>
            </a:avLst>
          </a:prstGeom>
          <a:solidFill>
            <a:srgbClr val="F2EBE0"/>
          </a:solidFill>
          <a:ln/>
        </p:spPr>
      </p:sp>
      <p:sp>
        <p:nvSpPr>
          <p:cNvPr id="14" name="Shape 12"/>
          <p:cNvSpPr/>
          <p:nvPr/>
        </p:nvSpPr>
        <p:spPr>
          <a:xfrm>
            <a:off x="831817" y="4381500"/>
            <a:ext cx="0" cy="1318204"/>
          </a:xfrm>
          <a:prstGeom prst="line">
            <a:avLst/>
          </a:prstGeom>
          <a:noFill/>
          <a:ln w="38100">
            <a:solidFill>
              <a:srgbClr val="7A6110"/>
            </a:solidFill>
            <a:prstDash val="solid"/>
          </a:ln>
        </p:spPr>
      </p:sp>
      <p:sp>
        <p:nvSpPr>
          <p:cNvPr id="15" name="Text 13"/>
          <p:cNvSpPr/>
          <p:nvPr/>
        </p:nvSpPr>
        <p:spPr>
          <a:xfrm>
            <a:off x="1027575" y="45211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The charge waiting to be used</a:t>
            </a:r>
            <a:endParaRPr lang="en-US" sz="1500" dirty="0"/>
          </a:p>
        </p:txBody>
      </p:sp>
      <p:sp>
        <p:nvSpPr>
          <p:cNvPr id="16" name="Text 14"/>
          <p:cNvSpPr/>
          <p:nvPr/>
        </p:nvSpPr>
        <p:spPr>
          <a:xfrm>
            <a:off x="1027575" y="4813263"/>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Twining’s complaint: conceptual analysis has a part to play in reviving general jurisprudence, “but what is needed is a much broader conception of what is involved than those of Hart or Raz or even Stone” (p 39). Useful for Q1 — if the tools are parochial, so is the generality.</a:t>
            </a:r>
            <a:endParaRPr lang="en-US" sz="1400" dirty="0"/>
          </a:p>
        </p:txBody>
      </p:sp>
      <p:sp>
        <p:nvSpPr>
          <p:cNvPr id="17" name="Text 15"/>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02 · The toolbox</a:t>
            </a:r>
            <a:endParaRPr lang="en-US" sz="1200" dirty="0"/>
          </a:p>
        </p:txBody>
      </p:sp>
      <p:sp>
        <p:nvSpPr>
          <p:cNvPr id="18" name="Text 16"/>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WHY HART REFUSES TO DEFINE LAW</a:t>
            </a:r>
            <a:endParaRPr lang="en-US" sz="1200" dirty="0"/>
          </a:p>
        </p:txBody>
      </p:sp>
      <p:sp>
        <p:nvSpPr>
          <p:cNvPr id="3" name="Text 1"/>
          <p:cNvSpPr/>
          <p:nvPr/>
        </p:nvSpPr>
        <p:spPr>
          <a:xfrm>
            <a:off x="812767" y="914381"/>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Per genus et differentiam, and why it breaks</a:t>
            </a:r>
            <a:endParaRPr lang="en-US" sz="3000" dirty="0"/>
          </a:p>
        </p:txBody>
      </p:sp>
      <p:sp>
        <p:nvSpPr>
          <p:cNvPr id="4" name="Shape 2"/>
          <p:cNvSpPr/>
          <p:nvPr/>
        </p:nvSpPr>
        <p:spPr>
          <a:xfrm>
            <a:off x="815942" y="1882750"/>
            <a:ext cx="3346417" cy="1264849"/>
          </a:xfrm>
          <a:prstGeom prst="roundRect">
            <a:avLst>
              <a:gd name="adj" fmla="val 7782"/>
            </a:avLst>
          </a:prstGeom>
          <a:solidFill>
            <a:srgbClr val="FFFFFF"/>
          </a:solidFill>
          <a:ln w="6350">
            <a:solidFill>
              <a:srgbClr val="E0D7C9"/>
            </a:solidFill>
            <a:prstDash val="solid"/>
          </a:ln>
        </p:spPr>
      </p:sp>
      <p:sp>
        <p:nvSpPr>
          <p:cNvPr id="5" name="Text 3"/>
          <p:cNvSpPr/>
          <p:nvPr/>
        </p:nvSpPr>
        <p:spPr>
          <a:xfrm>
            <a:off x="970442" y="2037246"/>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Works</a:t>
            </a:r>
            <a:endParaRPr lang="en-US" sz="1300" dirty="0"/>
          </a:p>
        </p:txBody>
      </p:sp>
      <p:sp>
        <p:nvSpPr>
          <p:cNvPr id="6" name="Text 4"/>
          <p:cNvSpPr/>
          <p:nvPr/>
        </p:nvSpPr>
        <p:spPr>
          <a:xfrm>
            <a:off x="970442" y="2319151"/>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Triangle</a:t>
            </a:r>
            <a:endParaRPr lang="en-US" sz="1450" dirty="0"/>
          </a:p>
        </p:txBody>
      </p:sp>
      <p:sp>
        <p:nvSpPr>
          <p:cNvPr id="7" name="Text 5"/>
          <p:cNvSpPr/>
          <p:nvPr/>
        </p:nvSpPr>
        <p:spPr>
          <a:xfrm>
            <a:off x="970442" y="2581672"/>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three-sided rectilinear figure. Wider family plus distinguishing feature.</a:t>
            </a:r>
            <a:endParaRPr lang="en-US" sz="1200" dirty="0"/>
          </a:p>
        </p:txBody>
      </p:sp>
      <p:sp>
        <p:nvSpPr>
          <p:cNvPr id="8" name="Shape 6"/>
          <p:cNvSpPr/>
          <p:nvPr/>
        </p:nvSpPr>
        <p:spPr>
          <a:xfrm>
            <a:off x="4422750" y="1882750"/>
            <a:ext cx="3346417" cy="1264849"/>
          </a:xfrm>
          <a:prstGeom prst="roundRect">
            <a:avLst>
              <a:gd name="adj" fmla="val 7782"/>
            </a:avLst>
          </a:prstGeom>
          <a:solidFill>
            <a:srgbClr val="FFFFFF"/>
          </a:solidFill>
          <a:ln w="6350">
            <a:solidFill>
              <a:srgbClr val="E0D7C9"/>
            </a:solidFill>
            <a:prstDash val="solid"/>
          </a:ln>
        </p:spPr>
      </p:sp>
      <p:sp>
        <p:nvSpPr>
          <p:cNvPr id="9" name="Text 7"/>
          <p:cNvSpPr/>
          <p:nvPr/>
        </p:nvSpPr>
        <p:spPr>
          <a:xfrm>
            <a:off x="4577250" y="2037246"/>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Works</a:t>
            </a:r>
            <a:endParaRPr lang="en-US" sz="1300" dirty="0"/>
          </a:p>
        </p:txBody>
      </p:sp>
      <p:sp>
        <p:nvSpPr>
          <p:cNvPr id="10" name="Text 8"/>
          <p:cNvSpPr/>
          <p:nvPr/>
        </p:nvSpPr>
        <p:spPr>
          <a:xfrm>
            <a:off x="4577250" y="2319151"/>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Elephant</a:t>
            </a:r>
            <a:endParaRPr lang="en-US" sz="1450" dirty="0"/>
          </a:p>
        </p:txBody>
      </p:sp>
      <p:sp>
        <p:nvSpPr>
          <p:cNvPr id="11" name="Text 9"/>
          <p:cNvSpPr/>
          <p:nvPr/>
        </p:nvSpPr>
        <p:spPr>
          <a:xfrm>
            <a:off x="4577250" y="2581672"/>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quadruped with thick skin, tusks and a trunk. Same shape of definition.</a:t>
            </a:r>
            <a:endParaRPr lang="en-US" sz="1200" dirty="0"/>
          </a:p>
        </p:txBody>
      </p:sp>
      <p:sp>
        <p:nvSpPr>
          <p:cNvPr id="12" name="Shape 10"/>
          <p:cNvSpPr/>
          <p:nvPr/>
        </p:nvSpPr>
        <p:spPr>
          <a:xfrm>
            <a:off x="8032733" y="1885925"/>
            <a:ext cx="3340067" cy="1269082"/>
          </a:xfrm>
          <a:prstGeom prst="roundRect">
            <a:avLst>
              <a:gd name="adj" fmla="val 7505"/>
            </a:avLst>
          </a:prstGeom>
          <a:solidFill>
            <a:srgbClr val="FCEEE5"/>
          </a:solidFill>
          <a:ln w="12700">
            <a:solidFill>
              <a:srgbClr val="B0451D"/>
            </a:solidFill>
            <a:prstDash val="solid"/>
          </a:ln>
        </p:spPr>
      </p:sp>
      <p:sp>
        <p:nvSpPr>
          <p:cNvPr id="13" name="Text 11"/>
          <p:cNvSpPr/>
          <p:nvPr/>
        </p:nvSpPr>
        <p:spPr>
          <a:xfrm>
            <a:off x="8189350" y="2042542"/>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Fails</a:t>
            </a:r>
            <a:endParaRPr lang="en-US" sz="1300" dirty="0"/>
          </a:p>
        </p:txBody>
      </p:sp>
      <p:sp>
        <p:nvSpPr>
          <p:cNvPr id="14" name="Text 12"/>
          <p:cNvSpPr/>
          <p:nvPr/>
        </p:nvSpPr>
        <p:spPr>
          <a:xfrm>
            <a:off x="8189350" y="2324447"/>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Law</a:t>
            </a:r>
            <a:endParaRPr lang="en-US" sz="1450" dirty="0"/>
          </a:p>
        </p:txBody>
      </p:sp>
      <p:sp>
        <p:nvSpPr>
          <p:cNvPr id="15" name="Text 13"/>
          <p:cNvSpPr/>
          <p:nvPr/>
        </p:nvSpPr>
        <p:spPr>
          <a:xfrm>
            <a:off x="8189350" y="2586961"/>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No agreed genus — and the disputed cases are the interesting ones.</a:t>
            </a:r>
            <a:endParaRPr lang="en-US" sz="1200" dirty="0"/>
          </a:p>
        </p:txBody>
      </p:sp>
      <p:sp>
        <p:nvSpPr>
          <p:cNvPr id="16" name="Text 14"/>
          <p:cNvSpPr/>
          <p:nvPr/>
        </p:nvSpPr>
        <p:spPr>
          <a:xfrm>
            <a:off x="812767" y="3175000"/>
            <a:ext cx="10883374" cy="1093324"/>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191814"/>
                </a:solidFill>
                <a:latin typeface="Inter" pitchFamily="34" charset="0"/>
                <a:ea typeface="Inter" pitchFamily="34" charset="-122"/>
                <a:cs typeface="Inter" pitchFamily="34" charset="-120"/>
              </a:rPr>
              <a:t>So Hart substitutes something else: an improved analysis of the distinctive structure of a municipal legal system, and a better understanding of the resemblances and differences between law, coercion and morality (</a:t>
            </a:r>
            <a:r>
              <a:rPr lang="en-US" sz="1450" i="1" dirty="0">
                <a:solidFill>
                  <a:srgbClr val="191814"/>
                </a:solidFill>
                <a:latin typeface="Inter" pitchFamily="34" charset="0"/>
                <a:ea typeface="Inter" pitchFamily="34" charset="-122"/>
                <a:cs typeface="Inter" pitchFamily="34" charset="-120"/>
              </a:rPr>
              <a:t>CL</a:t>
            </a:r>
            <a:r>
              <a:rPr lang="en-US" sz="1450" dirty="0">
                <a:solidFill>
                  <a:srgbClr val="191814"/>
                </a:solidFill>
                <a:latin typeface="Inter" pitchFamily="34" charset="0"/>
                <a:ea typeface="Inter" pitchFamily="34" charset="-122"/>
                <a:cs typeface="Inter" pitchFamily="34" charset="-120"/>
              </a:rPr>
              <a:t> 17). He works outwards from </a:t>
            </a:r>
            <a:r>
              <a:rPr lang="en-US" sz="1450" b="1" dirty="0">
                <a:solidFill>
                  <a:srgbClr val="191814"/>
                </a:solidFill>
                <a:latin typeface="Inter" pitchFamily="34" charset="0"/>
                <a:ea typeface="Inter" pitchFamily="34" charset="-122"/>
                <a:cs typeface="Inter" pitchFamily="34" charset="-120"/>
              </a:rPr>
              <a:t>clear, standard, paradigm cases</a:t>
            </a:r>
            <a:r>
              <a:rPr lang="en-US" sz="1450" dirty="0">
                <a:solidFill>
                  <a:srgbClr val="191814"/>
                </a:solidFill>
                <a:latin typeface="Inter" pitchFamily="34" charset="0"/>
                <a:ea typeface="Inter" pitchFamily="34" charset="-122"/>
                <a:cs typeface="Inter" pitchFamily="34" charset="-120"/>
              </a:rPr>
              <a:t> — for him, the legal systems of modern states — to the challengeable ones, primitive law and international law.</a:t>
            </a:r>
            <a:endParaRPr lang="en-US" sz="1450" dirty="0"/>
          </a:p>
        </p:txBody>
      </p:sp>
      <p:sp>
        <p:nvSpPr>
          <p:cNvPr id="17" name="Shape 15"/>
          <p:cNvSpPr/>
          <p:nvPr/>
        </p:nvSpPr>
        <p:spPr>
          <a:xfrm>
            <a:off x="812767" y="4445000"/>
            <a:ext cx="10566383" cy="1318204"/>
          </a:xfrm>
          <a:prstGeom prst="roundRect">
            <a:avLst>
              <a:gd name="adj" fmla="val 6744"/>
            </a:avLst>
          </a:prstGeom>
          <a:solidFill>
            <a:srgbClr val="F2EBE0"/>
          </a:solidFill>
          <a:ln/>
        </p:spPr>
      </p:sp>
      <p:sp>
        <p:nvSpPr>
          <p:cNvPr id="18" name="Shape 16"/>
          <p:cNvSpPr/>
          <p:nvPr/>
        </p:nvSpPr>
        <p:spPr>
          <a:xfrm>
            <a:off x="831817" y="4445000"/>
            <a:ext cx="0" cy="1318204"/>
          </a:xfrm>
          <a:prstGeom prst="line">
            <a:avLst/>
          </a:prstGeom>
          <a:noFill/>
          <a:ln w="38100">
            <a:solidFill>
              <a:srgbClr val="1C595D"/>
            </a:solidFill>
            <a:prstDash val="solid"/>
          </a:ln>
        </p:spPr>
      </p:sp>
      <p:sp>
        <p:nvSpPr>
          <p:cNvPr id="19" name="Text 17"/>
          <p:cNvSpPr/>
          <p:nvPr/>
        </p:nvSpPr>
        <p:spPr>
          <a:xfrm>
            <a:off x="1027575" y="45846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Why this matters for Question 1</a:t>
            </a:r>
            <a:endParaRPr lang="en-US" sz="1500" dirty="0"/>
          </a:p>
        </p:txBody>
      </p:sp>
      <p:sp>
        <p:nvSpPr>
          <p:cNvPr id="20" name="Text 18"/>
          <p:cNvSpPr/>
          <p:nvPr/>
        </p:nvSpPr>
        <p:spPr>
          <a:xfrm>
            <a:off x="1027575" y="4876763"/>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The choice of paradigm case </a:t>
            </a:r>
            <a:r>
              <a:rPr lang="en-US" sz="1400" i="1" dirty="0">
                <a:solidFill>
                  <a:srgbClr val="191814"/>
                </a:solidFill>
                <a:latin typeface="Inter" pitchFamily="34" charset="0"/>
                <a:ea typeface="Inter" pitchFamily="34" charset="-122"/>
                <a:cs typeface="Inter" pitchFamily="34" charset="-120"/>
              </a:rPr>
              <a:t>is</a:t>
            </a:r>
            <a:r>
              <a:rPr lang="en-US" sz="1400" dirty="0">
                <a:solidFill>
                  <a:srgbClr val="191814"/>
                </a:solidFill>
                <a:latin typeface="Inter" pitchFamily="34" charset="0"/>
                <a:ea typeface="Inter" pitchFamily="34" charset="-122"/>
                <a:cs typeface="Inter" pitchFamily="34" charset="-120"/>
              </a:rPr>
              <a:t> a choice. Which systems are the clear cases and which are “borderline” is settled before the description starts, and it is settled by a judgment about what is important. That judgment is the whole methodology debate in miniature.</a:t>
            </a:r>
            <a:endParaRPr lang="en-US" sz="1400" dirty="0"/>
          </a:p>
        </p:txBody>
      </p:sp>
      <p:sp>
        <p:nvSpPr>
          <p:cNvPr id="21" name="Text 19"/>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02 · The toolbox</a:t>
            </a:r>
            <a:endParaRPr lang="en-US" sz="1200" dirty="0"/>
          </a:p>
        </p:txBody>
      </p:sp>
      <p:sp>
        <p:nvSpPr>
          <p:cNvPr id="22" name="Text 20"/>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CURIOSITY, CHARITY, CLARITY</a:t>
            </a:r>
            <a:endParaRPr lang="en-US" sz="1200" dirty="0"/>
          </a:p>
        </p:txBody>
      </p:sp>
      <p:sp>
        <p:nvSpPr>
          <p:cNvPr id="3" name="Text 1"/>
          <p:cNvSpPr/>
          <p:nvPr/>
        </p:nvSpPr>
        <p:spPr>
          <a:xfrm>
            <a:off x="812767" y="914381"/>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The convenor’s three words — one of them is examinable</a:t>
            </a:r>
            <a:endParaRPr lang="en-US" sz="3000" dirty="0"/>
          </a:p>
        </p:txBody>
      </p:sp>
      <p:sp>
        <p:nvSpPr>
          <p:cNvPr id="4" name="Shape 2"/>
          <p:cNvSpPr/>
          <p:nvPr/>
        </p:nvSpPr>
        <p:spPr>
          <a:xfrm>
            <a:off x="815942" y="1882750"/>
            <a:ext cx="3346417" cy="1566887"/>
          </a:xfrm>
          <a:prstGeom prst="roundRect">
            <a:avLst>
              <a:gd name="adj" fmla="val 7092"/>
            </a:avLst>
          </a:prstGeom>
          <a:solidFill>
            <a:srgbClr val="FFFFFF"/>
          </a:solidFill>
          <a:ln w="6350">
            <a:solidFill>
              <a:srgbClr val="E0D7C9"/>
            </a:solidFill>
            <a:prstDash val="solid"/>
          </a:ln>
        </p:spPr>
      </p:sp>
      <p:sp>
        <p:nvSpPr>
          <p:cNvPr id="5" name="Text 3"/>
          <p:cNvSpPr/>
          <p:nvPr/>
        </p:nvSpPr>
        <p:spPr>
          <a:xfrm>
            <a:off x="995825"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Curiosity</a:t>
            </a:r>
            <a:endParaRPr lang="en-US" sz="1500" dirty="0"/>
          </a:p>
        </p:txBody>
      </p:sp>
      <p:sp>
        <p:nvSpPr>
          <p:cNvPr id="6" name="Text 4"/>
          <p:cNvSpPr/>
          <p:nvPr/>
        </p:nvSpPr>
        <p:spPr>
          <a:xfrm>
            <a:off x="995825" y="2345196"/>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Follow the problem, not the syllabus. The essay rewards independent research and a real question of your own.</a:t>
            </a:r>
            <a:endParaRPr lang="en-US" sz="1300" dirty="0"/>
          </a:p>
        </p:txBody>
      </p:sp>
      <p:sp>
        <p:nvSpPr>
          <p:cNvPr id="7" name="Shape 5"/>
          <p:cNvSpPr/>
          <p:nvPr/>
        </p:nvSpPr>
        <p:spPr>
          <a:xfrm>
            <a:off x="4422750" y="1882750"/>
            <a:ext cx="3346417" cy="1335749"/>
          </a:xfrm>
          <a:prstGeom prst="roundRect">
            <a:avLst>
              <a:gd name="adj" fmla="val 8319"/>
            </a:avLst>
          </a:prstGeom>
          <a:solidFill>
            <a:srgbClr val="FCEEE5"/>
          </a:solidFill>
          <a:ln w="6350">
            <a:solidFill>
              <a:srgbClr val="B0451D"/>
            </a:solidFill>
            <a:prstDash val="solid"/>
          </a:ln>
        </p:spPr>
      </p:sp>
      <p:sp>
        <p:nvSpPr>
          <p:cNvPr id="8" name="Text 6"/>
          <p:cNvSpPr/>
          <p:nvPr/>
        </p:nvSpPr>
        <p:spPr>
          <a:xfrm>
            <a:off x="4602634"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Charity</a:t>
            </a:r>
            <a:endParaRPr lang="en-US" sz="1500" dirty="0"/>
          </a:p>
        </p:txBody>
      </p:sp>
      <p:sp>
        <p:nvSpPr>
          <p:cNvPr id="9" name="Text 7"/>
          <p:cNvSpPr/>
          <p:nvPr/>
        </p:nvSpPr>
        <p:spPr>
          <a:xfrm>
            <a:off x="4602634" y="2345196"/>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State the opposing view at full strength </a:t>
            </a:r>
            <a:r>
              <a:rPr lang="en-US" sz="1300" i="1" dirty="0">
                <a:solidFill>
                  <a:srgbClr val="5E5850"/>
                </a:solidFill>
                <a:latin typeface="Inter" pitchFamily="34" charset="0"/>
                <a:ea typeface="Inter" pitchFamily="34" charset="-122"/>
                <a:cs typeface="Inter" pitchFamily="34" charset="-120"/>
              </a:rPr>
              <a:t>before</a:t>
            </a:r>
            <a:r>
              <a:rPr lang="en-US" sz="1300" dirty="0">
                <a:solidFill>
                  <a:srgbClr val="5E5850"/>
                </a:solidFill>
                <a:latin typeface="Inter" pitchFamily="34" charset="0"/>
                <a:ea typeface="Inter" pitchFamily="34" charset="-122"/>
                <a:cs typeface="Inter" pitchFamily="34" charset="-120"/>
              </a:rPr>
              <a:t> criticising it. This one is worth marks directly.</a:t>
            </a:r>
            <a:endParaRPr lang="en-US" sz="1300" dirty="0"/>
          </a:p>
        </p:txBody>
      </p:sp>
      <p:sp>
        <p:nvSpPr>
          <p:cNvPr id="10" name="Shape 8"/>
          <p:cNvSpPr/>
          <p:nvPr/>
        </p:nvSpPr>
        <p:spPr>
          <a:xfrm>
            <a:off x="8029558" y="1882750"/>
            <a:ext cx="3346417" cy="1335749"/>
          </a:xfrm>
          <a:prstGeom prst="roundRect">
            <a:avLst>
              <a:gd name="adj" fmla="val 8319"/>
            </a:avLst>
          </a:prstGeom>
          <a:solidFill>
            <a:srgbClr val="FFFFFF"/>
          </a:solidFill>
          <a:ln w="6350">
            <a:solidFill>
              <a:srgbClr val="E0D7C9"/>
            </a:solidFill>
            <a:prstDash val="solid"/>
          </a:ln>
        </p:spPr>
      </p:sp>
      <p:sp>
        <p:nvSpPr>
          <p:cNvPr id="11" name="Text 9"/>
          <p:cNvSpPr/>
          <p:nvPr/>
        </p:nvSpPr>
        <p:spPr>
          <a:xfrm>
            <a:off x="8209442"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Clarity</a:t>
            </a:r>
            <a:endParaRPr lang="en-US" sz="1500" dirty="0"/>
          </a:p>
        </p:txBody>
      </p:sp>
      <p:sp>
        <p:nvSpPr>
          <p:cNvPr id="12" name="Text 10"/>
          <p:cNvSpPr/>
          <p:nvPr/>
        </p:nvSpPr>
        <p:spPr>
          <a:xfrm>
            <a:off x="8209442" y="2345196"/>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Short sentences, one claim each, signposted. The Style criterion says “no convoluted syntax”.</a:t>
            </a:r>
            <a:endParaRPr lang="en-US" sz="1300" dirty="0"/>
          </a:p>
        </p:txBody>
      </p:sp>
      <p:sp>
        <p:nvSpPr>
          <p:cNvPr id="13" name="Shape 11"/>
          <p:cNvSpPr/>
          <p:nvPr/>
        </p:nvSpPr>
        <p:spPr>
          <a:xfrm>
            <a:off x="828642" y="3175000"/>
            <a:ext cx="0" cy="864526"/>
          </a:xfrm>
          <a:prstGeom prst="line">
            <a:avLst/>
          </a:prstGeom>
          <a:noFill/>
          <a:ln w="31750">
            <a:solidFill>
              <a:srgbClr val="B0451D"/>
            </a:solidFill>
            <a:prstDash val="solid"/>
          </a:ln>
        </p:spPr>
      </p:sp>
      <p:sp>
        <p:nvSpPr>
          <p:cNvPr id="14" name="Text 12"/>
          <p:cNvSpPr/>
          <p:nvPr/>
        </p:nvSpPr>
        <p:spPr>
          <a:xfrm>
            <a:off x="1060400" y="3175000"/>
            <a:ext cx="10628313" cy="595329"/>
          </a:xfrm>
          <a:prstGeom prst="rect">
            <a:avLst/>
          </a:prstGeom>
          <a:noFill/>
          <a:ln/>
        </p:spPr>
        <p:txBody>
          <a:bodyPr wrap="square" lIns="0" tIns="0" rIns="0" bIns="0" rtlCol="0" anchor="t">
            <a:normAutofit/>
          </a:bodyPr>
          <a:lstStyle/>
          <a:p>
            <a:pPr algn="l" indent="0" marL="0">
              <a:lnSpc>
                <a:spcPts val="2244"/>
              </a:lnSpc>
              <a:buNone/>
            </a:pPr>
            <a:r>
              <a:rPr lang="en-US" sz="1700" i="1" dirty="0">
                <a:solidFill>
                  <a:srgbClr val="191814"/>
                </a:solidFill>
                <a:latin typeface="Fraunces" pitchFamily="34" charset="0"/>
                <a:ea typeface="Fraunces" pitchFamily="34" charset="-122"/>
                <a:cs typeface="Fraunces" pitchFamily="34" charset="-120"/>
              </a:rPr>
              <a:t>“We have not hesitated where Austin’s meaning is doubtful … to state a clear and consistent position … in order to secure that the doctrine we shall consider and criticize is stated in its strongest form.”</a:t>
            </a:r>
            <a:endParaRPr lang="en-US" sz="1700" dirty="0"/>
          </a:p>
        </p:txBody>
      </p:sp>
      <p:sp>
        <p:nvSpPr>
          <p:cNvPr id="15" name="Text 13"/>
          <p:cNvSpPr/>
          <p:nvPr/>
        </p:nvSpPr>
        <p:spPr>
          <a:xfrm>
            <a:off x="1060400" y="3833812"/>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18 — the unit’s model of charitable interpretation</a:t>
            </a:r>
            <a:endParaRPr lang="en-US" sz="1200" dirty="0"/>
          </a:p>
        </p:txBody>
      </p:sp>
      <p:sp>
        <p:nvSpPr>
          <p:cNvPr id="16" name="Shape 14"/>
          <p:cNvSpPr/>
          <p:nvPr/>
        </p:nvSpPr>
        <p:spPr>
          <a:xfrm>
            <a:off x="815942" y="4549750"/>
            <a:ext cx="5162533" cy="729357"/>
          </a:xfrm>
          <a:prstGeom prst="roundRect">
            <a:avLst>
              <a:gd name="adj" fmla="val 11754"/>
            </a:avLst>
          </a:prstGeom>
          <a:solidFill>
            <a:srgbClr val="FFFFFF"/>
          </a:solidFill>
          <a:ln w="6350">
            <a:solidFill>
              <a:srgbClr val="E0D7C9"/>
            </a:solidFill>
            <a:prstDash val="solid"/>
          </a:ln>
        </p:spPr>
      </p:sp>
      <p:sp>
        <p:nvSpPr>
          <p:cNvPr id="17" name="Text 15"/>
          <p:cNvSpPr/>
          <p:nvPr/>
        </p:nvSpPr>
        <p:spPr>
          <a:xfrm>
            <a:off x="983159" y="4691567"/>
            <a:ext cx="4972943" cy="471124"/>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Zoom in</a:t>
            </a:r>
            <a:r>
              <a:rPr lang="en-US" sz="1300" dirty="0">
                <a:solidFill>
                  <a:srgbClr val="191814"/>
                </a:solidFill>
                <a:latin typeface="Inter" pitchFamily="34" charset="0"/>
                <a:ea typeface="Inter" pitchFamily="34" charset="-122"/>
                <a:cs typeface="Inter" pitchFamily="34" charset="-120"/>
              </a:rPr>
              <a:t> — the specific terms. What does “value-free” mean? What does “count as law” mean?</a:t>
            </a:r>
            <a:endParaRPr lang="en-US" sz="1300" dirty="0"/>
          </a:p>
        </p:txBody>
      </p:sp>
      <p:sp>
        <p:nvSpPr>
          <p:cNvPr id="18" name="Shape 16"/>
          <p:cNvSpPr/>
          <p:nvPr/>
        </p:nvSpPr>
        <p:spPr>
          <a:xfrm>
            <a:off x="6213401" y="4549750"/>
            <a:ext cx="5162575" cy="729357"/>
          </a:xfrm>
          <a:prstGeom prst="roundRect">
            <a:avLst>
              <a:gd name="adj" fmla="val 11754"/>
            </a:avLst>
          </a:prstGeom>
          <a:solidFill>
            <a:srgbClr val="FFFFFF"/>
          </a:solidFill>
          <a:ln w="6350">
            <a:solidFill>
              <a:srgbClr val="E0D7C9"/>
            </a:solidFill>
            <a:prstDash val="solid"/>
          </a:ln>
        </p:spPr>
      </p:sp>
      <p:sp>
        <p:nvSpPr>
          <p:cNvPr id="19" name="Text 17"/>
          <p:cNvSpPr/>
          <p:nvPr/>
        </p:nvSpPr>
        <p:spPr>
          <a:xfrm>
            <a:off x="6380617" y="4691567"/>
            <a:ext cx="4972986" cy="471124"/>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191814"/>
                </a:solidFill>
                <a:latin typeface="Inter" pitchFamily="34" charset="0"/>
                <a:ea typeface="Inter" pitchFamily="34" charset="-122"/>
                <a:cs typeface="Inter" pitchFamily="34" charset="-120"/>
              </a:rPr>
              <a:t>Zoom out</a:t>
            </a:r>
            <a:r>
              <a:rPr lang="en-US" sz="1300" dirty="0">
                <a:solidFill>
                  <a:srgbClr val="191814"/>
                </a:solidFill>
                <a:latin typeface="Inter" pitchFamily="34" charset="0"/>
                <a:ea typeface="Inter" pitchFamily="34" charset="-122"/>
                <a:cs typeface="Inter" pitchFamily="34" charset="-120"/>
              </a:rPr>
              <a:t> — the bigger picture. What is assumed by asking it this way? What follows if you are right?</a:t>
            </a:r>
            <a:endParaRPr lang="en-US" sz="1300" dirty="0"/>
          </a:p>
        </p:txBody>
      </p:sp>
      <p:sp>
        <p:nvSpPr>
          <p:cNvPr id="20" name="Text 18"/>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02 · The toolbox</a:t>
            </a:r>
            <a:endParaRPr lang="en-US" sz="1200" dirty="0"/>
          </a:p>
        </p:txBody>
      </p:sp>
      <p:sp>
        <p:nvSpPr>
          <p:cNvPr id="21" name="Text 19"/>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03</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Hart, the spine</a:t>
            </a:r>
            <a:endParaRPr lang="en-US" sz="4600" dirty="0"/>
          </a:p>
        </p:txBody>
      </p:sp>
      <p:sp>
        <p:nvSpPr>
          <p:cNvPr id="4" name="Text 2"/>
          <p:cNvSpPr/>
          <p:nvPr/>
        </p:nvSpPr>
        <p:spPr>
          <a:xfrm>
            <a:off x="812767" y="4191000"/>
            <a:ext cx="8110220" cy="939701"/>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Both questions are answers to something Hart wrote. This part is the minimum of Hart you need — and the places where his own method quietly makes value judgments.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H L A HART (1907–1992)</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The book both questions orbit</a:t>
            </a:r>
            <a:endParaRPr lang="en-US" sz="3000" dirty="0"/>
          </a:p>
        </p:txBody>
      </p:sp>
      <p:sp>
        <p:nvSpPr>
          <p:cNvPr id="4" name="Shape 2"/>
          <p:cNvSpPr/>
          <p:nvPr/>
        </p:nvSpPr>
        <p:spPr>
          <a:xfrm>
            <a:off x="815942" y="1882750"/>
            <a:ext cx="4438650" cy="1582266"/>
          </a:xfrm>
          <a:prstGeom prst="roundRect">
            <a:avLst>
              <a:gd name="adj" fmla="val 7023"/>
            </a:avLst>
          </a:prstGeom>
          <a:solidFill>
            <a:srgbClr val="FFFFFF"/>
          </a:solidFill>
          <a:ln w="6350">
            <a:solidFill>
              <a:srgbClr val="E0D7C9"/>
            </a:solidFill>
            <a:prstDash val="solid"/>
          </a:ln>
        </p:spPr>
      </p:sp>
      <p:sp>
        <p:nvSpPr>
          <p:cNvPr id="5" name="Text 3"/>
          <p:cNvSpPr/>
          <p:nvPr/>
        </p:nvSpPr>
        <p:spPr>
          <a:xfrm>
            <a:off x="1008559" y="2075359"/>
            <a:ext cx="4175019"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Professor of Jurisprudence, Oxford. Inaugural lecture </a:t>
            </a:r>
            <a:r>
              <a:rPr lang="en-US" sz="1300" i="1" dirty="0">
                <a:solidFill>
                  <a:srgbClr val="191814"/>
                </a:solidFill>
                <a:latin typeface="Inter" pitchFamily="34" charset="0"/>
                <a:ea typeface="Inter" pitchFamily="34" charset="-122"/>
                <a:cs typeface="Inter" pitchFamily="34" charset="-120"/>
              </a:rPr>
              <a:t>Definition and Theory in Jurisprudence</a:t>
            </a:r>
            <a:r>
              <a:rPr lang="en-US" sz="1300" dirty="0">
                <a:solidFill>
                  <a:srgbClr val="191814"/>
                </a:solidFill>
                <a:latin typeface="Inter" pitchFamily="34" charset="0"/>
                <a:ea typeface="Inter" pitchFamily="34" charset="-122"/>
                <a:cs typeface="Inter" pitchFamily="34" charset="-120"/>
              </a:rPr>
              <a:t> (1953). </a:t>
            </a:r>
            <a:r>
              <a:rPr lang="en-US" sz="1300" i="1" dirty="0">
                <a:solidFill>
                  <a:srgbClr val="191814"/>
                </a:solidFill>
                <a:latin typeface="Inter" pitchFamily="34" charset="0"/>
                <a:ea typeface="Inter" pitchFamily="34" charset="-122"/>
                <a:cs typeface="Inter" pitchFamily="34" charset="-120"/>
              </a:rPr>
              <a:t>The Concept of Law</a:t>
            </a:r>
            <a:r>
              <a:rPr lang="en-US" sz="1300" dirty="0">
                <a:solidFill>
                  <a:srgbClr val="191814"/>
                </a:solidFill>
                <a:latin typeface="Inter" pitchFamily="34" charset="0"/>
                <a:ea typeface="Inter" pitchFamily="34" charset="-122"/>
                <a:cs typeface="Inter" pitchFamily="34" charset="-120"/>
              </a:rPr>
              <a:t>: 1961; 2nd ed 1994, which adds the Postscript; 3rd ed 2012. The 2nd and 3rd editions share pagination.</a:t>
            </a:r>
            <a:endParaRPr lang="en-US" sz="1300" dirty="0"/>
          </a:p>
        </p:txBody>
      </p:sp>
      <p:sp>
        <p:nvSpPr>
          <p:cNvPr id="6" name="Shape 4"/>
          <p:cNvSpPr/>
          <p:nvPr/>
        </p:nvSpPr>
        <p:spPr>
          <a:xfrm>
            <a:off x="5603875" y="1879575"/>
            <a:ext cx="0" cy="1149490"/>
          </a:xfrm>
          <a:prstGeom prst="line">
            <a:avLst/>
          </a:prstGeom>
          <a:noFill/>
          <a:ln w="31750">
            <a:solidFill>
              <a:srgbClr val="B0451D"/>
            </a:solidFill>
            <a:prstDash val="solid"/>
          </a:ln>
        </p:spPr>
      </p:sp>
      <p:sp>
        <p:nvSpPr>
          <p:cNvPr id="7" name="Text 5"/>
          <p:cNvSpPr/>
          <p:nvPr/>
        </p:nvSpPr>
        <p:spPr>
          <a:xfrm>
            <a:off x="5835633" y="1879575"/>
            <a:ext cx="5709865" cy="880294"/>
          </a:xfrm>
          <a:prstGeom prst="rect">
            <a:avLst/>
          </a:prstGeom>
          <a:noFill/>
          <a:ln/>
        </p:spPr>
        <p:txBody>
          <a:bodyPr wrap="square" lIns="0" tIns="0" rIns="0" bIns="0" rtlCol="0" anchor="t">
            <a:normAutofit/>
          </a:bodyPr>
          <a:lstStyle/>
          <a:p>
            <a:pPr algn="l" indent="0" marL="0">
              <a:lnSpc>
                <a:spcPts val="2244"/>
              </a:lnSpc>
              <a:buNone/>
            </a:pPr>
            <a:r>
              <a:rPr lang="en-US" sz="1700" i="1" dirty="0">
                <a:solidFill>
                  <a:srgbClr val="191814"/>
                </a:solidFill>
                <a:latin typeface="Fraunces" pitchFamily="34" charset="0"/>
                <a:ea typeface="Fraunces" pitchFamily="34" charset="-122"/>
                <a:cs typeface="Fraunces" pitchFamily="34" charset="-120"/>
              </a:rPr>
              <a:t>“My aim in this book has been to further the understanding of law, coercion, and morality as different but related social phenomena.”</a:t>
            </a:r>
            <a:endParaRPr lang="en-US" sz="1700" dirty="0"/>
          </a:p>
        </p:txBody>
      </p:sp>
      <p:sp>
        <p:nvSpPr>
          <p:cNvPr id="8" name="Text 6"/>
          <p:cNvSpPr/>
          <p:nvPr/>
        </p:nvSpPr>
        <p:spPr>
          <a:xfrm>
            <a:off x="5835633" y="2823344"/>
            <a:ext cx="5709865"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6 — quoted on the Week 1 slide</a:t>
            </a:r>
            <a:endParaRPr lang="en-US" sz="1200" dirty="0"/>
          </a:p>
        </p:txBody>
      </p:sp>
      <p:sp>
        <p:nvSpPr>
          <p:cNvPr id="9" name="Shape 7"/>
          <p:cNvSpPr/>
          <p:nvPr/>
        </p:nvSpPr>
        <p:spPr>
          <a:xfrm>
            <a:off x="812767" y="3683000"/>
            <a:ext cx="10566383" cy="1526480"/>
          </a:xfrm>
          <a:prstGeom prst="roundRect">
            <a:avLst>
              <a:gd name="adj" fmla="val 7488"/>
            </a:avLst>
          </a:prstGeom>
          <a:solidFill>
            <a:srgbClr val="F2EBE0"/>
          </a:solidFill>
          <a:ln/>
        </p:spPr>
      </p:sp>
      <p:sp>
        <p:nvSpPr>
          <p:cNvPr id="10" name="Text 8"/>
          <p:cNvSpPr/>
          <p:nvPr/>
        </p:nvSpPr>
        <p:spPr>
          <a:xfrm>
            <a:off x="1003267" y="3873500"/>
            <a:ext cx="10490944"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B0451D"/>
                </a:solidFill>
                <a:latin typeface="Fraunces" pitchFamily="34" charset="0"/>
                <a:ea typeface="Fraunces" pitchFamily="34" charset="-122"/>
                <a:cs typeface="Fraunces" pitchFamily="34" charset="-120"/>
              </a:rPr>
              <a:t>The three persistent questions (</a:t>
            </a:r>
            <a:r>
              <a:rPr lang="en-US" sz="1600" b="1" i="1" dirty="0">
                <a:solidFill>
                  <a:srgbClr val="B0451D"/>
                </a:solidFill>
                <a:latin typeface="Fraunces" pitchFamily="34" charset="0"/>
                <a:ea typeface="Fraunces" pitchFamily="34" charset="-122"/>
                <a:cs typeface="Fraunces" pitchFamily="34" charset="-120"/>
              </a:rPr>
              <a:t>CL</a:t>
            </a:r>
            <a:r>
              <a:rPr lang="en-US" sz="1600" b="1" dirty="0">
                <a:solidFill>
                  <a:srgbClr val="B0451D"/>
                </a:solidFill>
                <a:latin typeface="Fraunces" pitchFamily="34" charset="0"/>
                <a:ea typeface="Fraunces" pitchFamily="34" charset="-122"/>
                <a:cs typeface="Fraunces" pitchFamily="34" charset="-120"/>
              </a:rPr>
              <a:t> 6)</a:t>
            </a:r>
            <a:endParaRPr lang="en-US" sz="1600" dirty="0"/>
          </a:p>
        </p:txBody>
      </p:sp>
      <p:sp>
        <p:nvSpPr>
          <p:cNvPr id="11" name="Text 9"/>
          <p:cNvSpPr/>
          <p:nvPr/>
        </p:nvSpPr>
        <p:spPr>
          <a:xfrm>
            <a:off x="1003267" y="4218905"/>
            <a:ext cx="10490944" cy="825475"/>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91814"/>
                </a:solidFill>
                <a:latin typeface="Inter" pitchFamily="34" charset="0"/>
                <a:ea typeface="Inter" pitchFamily="34" charset="-122"/>
                <a:cs typeface="Inter" pitchFamily="34" charset="-120"/>
              </a:rPr>
              <a:t>1. How does law differ from, and relate to, orders backed by threats?</a:t>
            </a:r>
            <a:endParaRPr lang="en-US" sz="1400" dirty="0"/>
          </a:p>
          <a:p>
            <a:pPr algn="l" indent="0" marL="0">
              <a:lnSpc>
                <a:spcPts val="2100"/>
              </a:lnSpc>
              <a:buNone/>
            </a:pPr>
            <a:r>
              <a:rPr lang="en-US" sz="1400" dirty="0">
                <a:solidFill>
                  <a:srgbClr val="191814"/>
                </a:solidFill>
                <a:latin typeface="Inter" pitchFamily="34" charset="0"/>
                <a:ea typeface="Inter" pitchFamily="34" charset="-122"/>
                <a:cs typeface="Inter" pitchFamily="34" charset="-120"/>
              </a:rPr>
              <a:t>2. How does legal obligation differ from, and relate to, moral obligation?</a:t>
            </a:r>
            <a:endParaRPr lang="en-US" sz="1400" dirty="0"/>
          </a:p>
          <a:p>
            <a:pPr algn="l" indent="0" marL="0">
              <a:lnSpc>
                <a:spcPts val="2100"/>
              </a:lnSpc>
              <a:buNone/>
            </a:pPr>
            <a:r>
              <a:rPr lang="en-US" sz="1400" dirty="0">
                <a:solidFill>
                  <a:srgbClr val="191814"/>
                </a:solidFill>
                <a:latin typeface="Inter" pitchFamily="34" charset="0"/>
                <a:ea typeface="Inter" pitchFamily="34" charset="-122"/>
                <a:cs typeface="Inter" pitchFamily="34" charset="-120"/>
              </a:rPr>
              <a:t>3. What are rules, and to what extent is law an affair of rules?</a:t>
            </a:r>
            <a:endParaRPr lang="en-US" sz="1400" dirty="0"/>
          </a:p>
        </p:txBody>
      </p:sp>
      <p:sp>
        <p:nvSpPr>
          <p:cNvPr id="12" name="Text 10"/>
          <p:cNvSpPr/>
          <p:nvPr/>
        </p:nvSpPr>
        <p:spPr>
          <a:xfrm>
            <a:off x="812767" y="5080000"/>
            <a:ext cx="10883374" cy="292381"/>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5E5850"/>
                </a:solidFill>
                <a:latin typeface="Inter" pitchFamily="34" charset="0"/>
                <a:ea typeface="Inter" pitchFamily="34" charset="-122"/>
                <a:cs typeface="Inter" pitchFamily="34" charset="-120"/>
              </a:rPr>
              <a:t>Question 2 is a descendant of the second. Question 1 is about the </a:t>
            </a:r>
            <a:r>
              <a:rPr lang="en-US" sz="1450" b="1" dirty="0">
                <a:solidFill>
                  <a:srgbClr val="5E5850"/>
                </a:solidFill>
                <a:latin typeface="Inter" pitchFamily="34" charset="0"/>
                <a:ea typeface="Inter" pitchFamily="34" charset="-122"/>
                <a:cs typeface="Inter" pitchFamily="34" charset="-120"/>
              </a:rPr>
              <a:t>method</a:t>
            </a:r>
            <a:r>
              <a:rPr lang="en-US" sz="1450" dirty="0">
                <a:solidFill>
                  <a:srgbClr val="5E5850"/>
                </a:solidFill>
                <a:latin typeface="Inter" pitchFamily="34" charset="0"/>
                <a:ea typeface="Inter" pitchFamily="34" charset="-122"/>
                <a:cs typeface="Inter" pitchFamily="34" charset="-120"/>
              </a:rPr>
              <a:t> Hart used to answer all three.</a:t>
            </a:r>
            <a:endParaRPr lang="en-US" sz="1450" dirty="0"/>
          </a:p>
        </p:txBody>
      </p:sp>
      <p:sp>
        <p:nvSpPr>
          <p:cNvPr id="13" name="Text 11"/>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14" name="Text 12"/>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AUSTIN, COMPRESSED</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The theory Hart was built against</a:t>
            </a:r>
            <a:endParaRPr lang="en-US" sz="3000" dirty="0"/>
          </a:p>
        </p:txBody>
      </p:sp>
      <p:sp>
        <p:nvSpPr>
          <p:cNvPr id="4" name="Shape 2"/>
          <p:cNvSpPr/>
          <p:nvPr/>
        </p:nvSpPr>
        <p:spPr>
          <a:xfrm>
            <a:off x="815942" y="1882750"/>
            <a:ext cx="3346417" cy="1350342"/>
          </a:xfrm>
          <a:prstGeom prst="roundRect">
            <a:avLst>
              <a:gd name="adj" fmla="val 8229"/>
            </a:avLst>
          </a:prstGeom>
          <a:solidFill>
            <a:srgbClr val="FFFFFF"/>
          </a:solidFill>
          <a:ln w="6350">
            <a:solidFill>
              <a:srgbClr val="E0D7C9"/>
            </a:solidFill>
            <a:prstDash val="solid"/>
          </a:ln>
        </p:spPr>
      </p:sp>
      <p:sp>
        <p:nvSpPr>
          <p:cNvPr id="5" name="Text 3"/>
          <p:cNvSpPr/>
          <p:nvPr/>
        </p:nvSpPr>
        <p:spPr>
          <a:xfrm>
            <a:off x="995825" y="2062634"/>
            <a:ext cx="3076249"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B0451D"/>
                </a:solidFill>
                <a:latin typeface="Fraunces" pitchFamily="34" charset="0"/>
                <a:ea typeface="Fraunces" pitchFamily="34" charset="-122"/>
                <a:cs typeface="Fraunces" pitchFamily="34" charset="-120"/>
              </a:rPr>
              <a:t>Law = command</a:t>
            </a:r>
            <a:endParaRPr lang="en-US" sz="1600" dirty="0"/>
          </a:p>
        </p:txBody>
      </p:sp>
      <p:sp>
        <p:nvSpPr>
          <p:cNvPr id="6" name="Text 4"/>
          <p:cNvSpPr/>
          <p:nvPr/>
        </p:nvSpPr>
        <p:spPr>
          <a:xfrm>
            <a:off x="995825" y="2359794"/>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 signification of desire plus liability to evil on non-compliance. Command, duty and sanction are inseparable.</a:t>
            </a:r>
            <a:endParaRPr lang="en-US" sz="1300" dirty="0"/>
          </a:p>
        </p:txBody>
      </p:sp>
      <p:sp>
        <p:nvSpPr>
          <p:cNvPr id="7" name="Shape 5"/>
          <p:cNvSpPr/>
          <p:nvPr/>
        </p:nvSpPr>
        <p:spPr>
          <a:xfrm>
            <a:off x="4422750" y="1882750"/>
            <a:ext cx="3346417" cy="1350342"/>
          </a:xfrm>
          <a:prstGeom prst="roundRect">
            <a:avLst>
              <a:gd name="adj" fmla="val 8229"/>
            </a:avLst>
          </a:prstGeom>
          <a:solidFill>
            <a:srgbClr val="FFFFFF"/>
          </a:solidFill>
          <a:ln w="6350">
            <a:solidFill>
              <a:srgbClr val="E0D7C9"/>
            </a:solidFill>
            <a:prstDash val="solid"/>
          </a:ln>
        </p:spPr>
      </p:sp>
      <p:sp>
        <p:nvSpPr>
          <p:cNvPr id="8" name="Text 6"/>
          <p:cNvSpPr/>
          <p:nvPr/>
        </p:nvSpPr>
        <p:spPr>
          <a:xfrm>
            <a:off x="4602634" y="2062634"/>
            <a:ext cx="3076249"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B0451D"/>
                </a:solidFill>
                <a:latin typeface="Fraunces" pitchFamily="34" charset="0"/>
                <a:ea typeface="Fraunces" pitchFamily="34" charset="-122"/>
                <a:cs typeface="Fraunces" pitchFamily="34" charset="-120"/>
              </a:rPr>
              <a:t>From a sovereign</a:t>
            </a:r>
            <a:endParaRPr lang="en-US" sz="1600" dirty="0"/>
          </a:p>
        </p:txBody>
      </p:sp>
      <p:sp>
        <p:nvSpPr>
          <p:cNvPr id="9" name="Text 7"/>
          <p:cNvSpPr/>
          <p:nvPr/>
        </p:nvSpPr>
        <p:spPr>
          <a:xfrm>
            <a:off x="4602634" y="2359794"/>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 determinate superior habitually obeyed by the bulk of society, who habitually obeys no one else.</a:t>
            </a:r>
            <a:endParaRPr lang="en-US" sz="1300" dirty="0"/>
          </a:p>
        </p:txBody>
      </p:sp>
      <p:sp>
        <p:nvSpPr>
          <p:cNvPr id="10" name="Shape 8"/>
          <p:cNvSpPr/>
          <p:nvPr/>
        </p:nvSpPr>
        <p:spPr>
          <a:xfrm>
            <a:off x="8029558" y="1882750"/>
            <a:ext cx="3346417" cy="1350342"/>
          </a:xfrm>
          <a:prstGeom prst="roundRect">
            <a:avLst>
              <a:gd name="adj" fmla="val 8229"/>
            </a:avLst>
          </a:prstGeom>
          <a:solidFill>
            <a:srgbClr val="FFFFFF"/>
          </a:solidFill>
          <a:ln w="6350">
            <a:solidFill>
              <a:srgbClr val="E0D7C9"/>
            </a:solidFill>
            <a:prstDash val="solid"/>
          </a:ln>
        </p:spPr>
      </p:sp>
      <p:sp>
        <p:nvSpPr>
          <p:cNvPr id="11" name="Text 9"/>
          <p:cNvSpPr/>
          <p:nvPr/>
        </p:nvSpPr>
        <p:spPr>
          <a:xfrm>
            <a:off x="8209442" y="2062634"/>
            <a:ext cx="3076249" cy="259060"/>
          </a:xfrm>
          <a:prstGeom prst="rect">
            <a:avLst/>
          </a:prstGeom>
          <a:noFill/>
          <a:ln/>
        </p:spPr>
        <p:txBody>
          <a:bodyPr wrap="square" lIns="0" tIns="0" rIns="0" bIns="0" rtlCol="0" anchor="t">
            <a:normAutofit/>
          </a:bodyPr>
          <a:lstStyle/>
          <a:p>
            <a:pPr algn="l" indent="0" marL="0">
              <a:lnSpc>
                <a:spcPts val="1840"/>
              </a:lnSpc>
              <a:buNone/>
            </a:pPr>
            <a:r>
              <a:rPr lang="en-US" sz="1600" b="1" dirty="0">
                <a:solidFill>
                  <a:srgbClr val="B0451D"/>
                </a:solidFill>
                <a:latin typeface="Fraunces" pitchFamily="34" charset="0"/>
                <a:ea typeface="Fraunces" pitchFamily="34" charset="-122"/>
                <a:cs typeface="Fraunces" pitchFamily="34" charset="-120"/>
              </a:rPr>
              <a:t>Existence ≠ merit</a:t>
            </a:r>
            <a:endParaRPr lang="en-US" sz="1600" dirty="0"/>
          </a:p>
        </p:txBody>
      </p:sp>
      <p:sp>
        <p:nvSpPr>
          <p:cNvPr id="12" name="Text 10"/>
          <p:cNvSpPr/>
          <p:nvPr/>
        </p:nvSpPr>
        <p:spPr>
          <a:xfrm>
            <a:off x="8209442" y="2359794"/>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“The existence of law is one thing; its merit or demerit is another.” The founding slogan of positivism.</a:t>
            </a:r>
            <a:endParaRPr lang="en-US" sz="1300" dirty="0"/>
          </a:p>
        </p:txBody>
      </p:sp>
      <p:sp>
        <p:nvSpPr>
          <p:cNvPr id="13" name="Shape 11"/>
          <p:cNvSpPr/>
          <p:nvPr/>
        </p:nvSpPr>
        <p:spPr>
          <a:xfrm>
            <a:off x="828642" y="3175000"/>
            <a:ext cx="0" cy="1099137"/>
          </a:xfrm>
          <a:prstGeom prst="line">
            <a:avLst/>
          </a:prstGeom>
          <a:noFill/>
          <a:ln w="31750">
            <a:solidFill>
              <a:srgbClr val="B0451D"/>
            </a:solidFill>
            <a:prstDash val="solid"/>
          </a:ln>
        </p:spPr>
      </p:sp>
      <p:sp>
        <p:nvSpPr>
          <p:cNvPr id="14" name="Text 12"/>
          <p:cNvSpPr/>
          <p:nvPr/>
        </p:nvSpPr>
        <p:spPr>
          <a:xfrm>
            <a:off x="1060400" y="3175000"/>
            <a:ext cx="10628313" cy="829940"/>
          </a:xfrm>
          <a:prstGeom prst="rect">
            <a:avLst/>
          </a:prstGeom>
          <a:noFill/>
          <a:ln/>
        </p:spPr>
        <p:txBody>
          <a:bodyPr wrap="square" lIns="0" tIns="0" rIns="0" bIns="0" rtlCol="0" anchor="t">
            <a:normAutofit/>
          </a:bodyPr>
          <a:lstStyle/>
          <a:p>
            <a:pPr algn="l" indent="0" marL="0">
              <a:lnSpc>
                <a:spcPts val="2112"/>
              </a:lnSpc>
              <a:buNone/>
            </a:pPr>
            <a:r>
              <a:rPr lang="en-US" sz="1600" i="1" dirty="0">
                <a:solidFill>
                  <a:srgbClr val="191814"/>
                </a:solidFill>
                <a:latin typeface="Fraunces" pitchFamily="34" charset="0"/>
                <a:ea typeface="Fraunces" pitchFamily="34" charset="-122"/>
                <a:cs typeface="Fraunces" pitchFamily="34" charset="-120"/>
              </a:rPr>
              <a:t>“Expounding principles and distinctions which are the appropriate matter of jurisprudence, I shall present them abstracted from every particular system. But I shall also endeavour to illustrate them by examples from … the Roman Law, and the Law of England.”</a:t>
            </a:r>
            <a:endParaRPr lang="en-US" sz="1600" dirty="0"/>
          </a:p>
        </p:txBody>
      </p:sp>
      <p:sp>
        <p:nvSpPr>
          <p:cNvPr id="15" name="Text 13"/>
          <p:cNvSpPr/>
          <p:nvPr/>
        </p:nvSpPr>
        <p:spPr>
          <a:xfrm>
            <a:off x="1060400" y="4068415"/>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Austin, </a:t>
            </a:r>
            <a:r>
              <a:rPr lang="en-US" sz="1200" i="1" dirty="0">
                <a:solidFill>
                  <a:srgbClr val="5E5850"/>
                </a:solidFill>
                <a:latin typeface="Inter" pitchFamily="34" charset="0"/>
                <a:ea typeface="Inter" pitchFamily="34" charset="-122"/>
                <a:cs typeface="Inter" pitchFamily="34" charset="-120"/>
              </a:rPr>
              <a:t>Lectures on Jurisprudence</a:t>
            </a:r>
            <a:r>
              <a:rPr lang="en-US" sz="1200" dirty="0">
                <a:solidFill>
                  <a:srgbClr val="5E5850"/>
                </a:solidFill>
                <a:latin typeface="Inter" pitchFamily="34" charset="0"/>
                <a:ea typeface="Inter" pitchFamily="34" charset="-122"/>
                <a:cs typeface="Inter" pitchFamily="34" charset="-120"/>
              </a:rPr>
              <a:t>, Lecture XI — quoted in Week 2</a:t>
            </a:r>
            <a:endParaRPr lang="en-US" sz="1200" dirty="0"/>
          </a:p>
        </p:txBody>
      </p:sp>
      <p:sp>
        <p:nvSpPr>
          <p:cNvPr id="16" name="Shape 14"/>
          <p:cNvSpPr/>
          <p:nvPr/>
        </p:nvSpPr>
        <p:spPr>
          <a:xfrm>
            <a:off x="812767" y="4635500"/>
            <a:ext cx="10566383" cy="1069289"/>
          </a:xfrm>
          <a:prstGeom prst="roundRect">
            <a:avLst>
              <a:gd name="adj" fmla="val 8314"/>
            </a:avLst>
          </a:prstGeom>
          <a:solidFill>
            <a:srgbClr val="FCEEE5"/>
          </a:solidFill>
          <a:ln/>
        </p:spPr>
      </p:sp>
      <p:sp>
        <p:nvSpPr>
          <p:cNvPr id="17" name="Shape 15"/>
          <p:cNvSpPr/>
          <p:nvPr/>
        </p:nvSpPr>
        <p:spPr>
          <a:xfrm>
            <a:off x="831817" y="4635500"/>
            <a:ext cx="0" cy="1069289"/>
          </a:xfrm>
          <a:prstGeom prst="line">
            <a:avLst/>
          </a:prstGeom>
          <a:noFill/>
          <a:ln w="38100">
            <a:solidFill>
              <a:srgbClr val="B0451D"/>
            </a:solidFill>
            <a:prstDash val="solid"/>
          </a:ln>
        </p:spPr>
      </p:sp>
      <p:sp>
        <p:nvSpPr>
          <p:cNvPr id="18" name="Text 16"/>
          <p:cNvSpPr/>
          <p:nvPr/>
        </p:nvSpPr>
        <p:spPr>
          <a:xfrm>
            <a:off x="1027575" y="47751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Keep that quotation for Question 1</a:t>
            </a:r>
            <a:endParaRPr lang="en-US" sz="1500" dirty="0"/>
          </a:p>
        </p:txBody>
      </p:sp>
      <p:sp>
        <p:nvSpPr>
          <p:cNvPr id="19" name="Text 17"/>
          <p:cNvSpPr/>
          <p:nvPr/>
        </p:nvSpPr>
        <p:spPr>
          <a:xfrm>
            <a:off x="1027575" y="5067263"/>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Austin claims generality and then illustrates from two European systems. It is the earliest version of the worry that a “general” theory universalises a local starting point — the charge later pressed by Twining and Tamanaha.</a:t>
            </a:r>
            <a:endParaRPr lang="en-US" sz="1400" dirty="0"/>
          </a:p>
        </p:txBody>
      </p:sp>
      <p:sp>
        <p:nvSpPr>
          <p:cNvPr id="20" name="Text 18"/>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21" name="Text 19"/>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GUNMAN SITUATION</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Obliged, or under an obligation?</a:t>
            </a:r>
            <a:endParaRPr lang="en-US" sz="3000" dirty="0"/>
          </a:p>
        </p:txBody>
      </p:sp>
      <p:sp>
        <p:nvSpPr>
          <p:cNvPr id="4" name="Shape 2"/>
          <p:cNvSpPr/>
          <p:nvPr/>
        </p:nvSpPr>
        <p:spPr>
          <a:xfrm>
            <a:off x="828642" y="1841500"/>
            <a:ext cx="0" cy="864526"/>
          </a:xfrm>
          <a:prstGeom prst="line">
            <a:avLst/>
          </a:prstGeom>
          <a:noFill/>
          <a:ln w="31750">
            <a:solidFill>
              <a:srgbClr val="B0451D"/>
            </a:solidFill>
            <a:prstDash val="solid"/>
          </a:ln>
        </p:spPr>
      </p:sp>
      <p:sp>
        <p:nvSpPr>
          <p:cNvPr id="5" name="Text 3"/>
          <p:cNvSpPr/>
          <p:nvPr/>
        </p:nvSpPr>
        <p:spPr>
          <a:xfrm>
            <a:off x="1060400" y="1841500"/>
            <a:ext cx="10628313" cy="595329"/>
          </a:xfrm>
          <a:prstGeom prst="rect">
            <a:avLst/>
          </a:prstGeom>
          <a:noFill/>
          <a:ln/>
        </p:spPr>
        <p:txBody>
          <a:bodyPr wrap="square" lIns="0" tIns="0" rIns="0" bIns="0" rtlCol="0" anchor="t">
            <a:normAutofit/>
          </a:bodyPr>
          <a:lstStyle/>
          <a:p>
            <a:pPr algn="l" indent="0" marL="0">
              <a:lnSpc>
                <a:spcPts val="2244"/>
              </a:lnSpc>
              <a:buNone/>
            </a:pPr>
            <a:r>
              <a:rPr lang="en-US" sz="1700" i="1" dirty="0">
                <a:solidFill>
                  <a:srgbClr val="191814"/>
                </a:solidFill>
                <a:latin typeface="Fraunces" pitchFamily="34" charset="0"/>
                <a:ea typeface="Fraunces" pitchFamily="34" charset="-122"/>
                <a:cs typeface="Fraunces" pitchFamily="34" charset="-120"/>
              </a:rPr>
              <a:t>“The gunman orders his victim to hand over his purse and threatens to shoot if he refuses … To some it has seemed clear that in this situation … we have the essence of law.”</a:t>
            </a:r>
            <a:endParaRPr lang="en-US" sz="1700" dirty="0"/>
          </a:p>
        </p:txBody>
      </p:sp>
      <p:sp>
        <p:nvSpPr>
          <p:cNvPr id="6" name="Text 4"/>
          <p:cNvSpPr/>
          <p:nvPr/>
        </p:nvSpPr>
        <p:spPr>
          <a:xfrm>
            <a:off x="1060400" y="2500313"/>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6–7</a:t>
            </a:r>
            <a:endParaRPr lang="en-US" sz="1200" dirty="0"/>
          </a:p>
        </p:txBody>
      </p:sp>
      <p:sp>
        <p:nvSpPr>
          <p:cNvPr id="7" name="Text 5"/>
          <p:cNvSpPr/>
          <p:nvPr/>
        </p:nvSpPr>
        <p:spPr>
          <a:xfrm>
            <a:off x="812767" y="2984500"/>
            <a:ext cx="10883374" cy="55936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191814"/>
                </a:solidFill>
                <a:latin typeface="Inter" pitchFamily="34" charset="0"/>
                <a:ea typeface="Inter" pitchFamily="34" charset="-122"/>
                <a:cs typeface="Inter" pitchFamily="34" charset="-120"/>
              </a:rPr>
              <a:t>The clerk </a:t>
            </a:r>
            <a:r>
              <a:rPr lang="en-US" sz="1450" b="1" dirty="0">
                <a:solidFill>
                  <a:srgbClr val="191814"/>
                </a:solidFill>
                <a:latin typeface="Inter" pitchFamily="34" charset="0"/>
                <a:ea typeface="Inter" pitchFamily="34" charset="-122"/>
                <a:cs typeface="Inter" pitchFamily="34" charset="-120"/>
              </a:rPr>
              <a:t>was obliged</a:t>
            </a:r>
            <a:r>
              <a:rPr lang="en-US" sz="1450" dirty="0">
                <a:solidFill>
                  <a:srgbClr val="191814"/>
                </a:solidFill>
                <a:latin typeface="Inter" pitchFamily="34" charset="0"/>
                <a:ea typeface="Inter" pitchFamily="34" charset="-122"/>
                <a:cs typeface="Inter" pitchFamily="34" charset="-120"/>
              </a:rPr>
              <a:t> to hand over the money, but he had </a:t>
            </a:r>
            <a:r>
              <a:rPr lang="en-US" sz="1450" b="1" dirty="0">
                <a:solidFill>
                  <a:srgbClr val="191814"/>
                </a:solidFill>
                <a:latin typeface="Inter" pitchFamily="34" charset="0"/>
                <a:ea typeface="Inter" pitchFamily="34" charset="-122"/>
                <a:cs typeface="Inter" pitchFamily="34" charset="-120"/>
              </a:rPr>
              <a:t>no obligation</a:t>
            </a:r>
            <a:r>
              <a:rPr lang="en-US" sz="1450" dirty="0">
                <a:solidFill>
                  <a:srgbClr val="191814"/>
                </a:solidFill>
                <a:latin typeface="Inter" pitchFamily="34" charset="0"/>
                <a:ea typeface="Inter" pitchFamily="34" charset="-122"/>
                <a:cs typeface="Inter" pitchFamily="34" charset="-120"/>
              </a:rPr>
              <a:t> to. Four repairs are needed before the model even resembles law — and they are still not enough.</a:t>
            </a:r>
            <a:endParaRPr lang="en-US" sz="1450" dirty="0"/>
          </a:p>
        </p:txBody>
      </p:sp>
      <p:sp>
        <p:nvSpPr>
          <p:cNvPr id="8" name="Shape 6"/>
          <p:cNvSpPr/>
          <p:nvPr/>
        </p:nvSpPr>
        <p:spPr>
          <a:xfrm>
            <a:off x="815942" y="3622675"/>
            <a:ext cx="2444725" cy="1264849"/>
          </a:xfrm>
          <a:prstGeom prst="roundRect">
            <a:avLst>
              <a:gd name="adj" fmla="val 7782"/>
            </a:avLst>
          </a:prstGeom>
          <a:solidFill>
            <a:srgbClr val="FFFFFF"/>
          </a:solidFill>
          <a:ln w="6350">
            <a:solidFill>
              <a:srgbClr val="E0D7C9"/>
            </a:solidFill>
            <a:prstDash val="solid"/>
          </a:ln>
        </p:spPr>
      </p:sp>
      <p:sp>
        <p:nvSpPr>
          <p:cNvPr id="9" name="Text 7"/>
          <p:cNvSpPr/>
          <p:nvPr/>
        </p:nvSpPr>
        <p:spPr>
          <a:xfrm>
            <a:off x="970442" y="3777171"/>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i</a:t>
            </a:r>
            <a:endParaRPr lang="en-US" sz="1300" dirty="0"/>
          </a:p>
        </p:txBody>
      </p:sp>
      <p:sp>
        <p:nvSpPr>
          <p:cNvPr id="10" name="Text 8"/>
          <p:cNvSpPr/>
          <p:nvPr/>
        </p:nvSpPr>
        <p:spPr>
          <a:xfrm>
            <a:off x="970442" y="4059076"/>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Generality</a:t>
            </a:r>
            <a:endParaRPr lang="en-US" sz="1450" dirty="0"/>
          </a:p>
        </p:txBody>
      </p:sp>
      <p:sp>
        <p:nvSpPr>
          <p:cNvPr id="11" name="Text 9"/>
          <p:cNvSpPr/>
          <p:nvPr/>
        </p:nvSpPr>
        <p:spPr>
          <a:xfrm>
            <a:off x="970442" y="4321597"/>
            <a:ext cx="2199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general class of conduct and of persons.</a:t>
            </a:r>
            <a:endParaRPr lang="en-US" sz="1200" dirty="0"/>
          </a:p>
        </p:txBody>
      </p:sp>
      <p:sp>
        <p:nvSpPr>
          <p:cNvPr id="12" name="Shape 10"/>
          <p:cNvSpPr/>
          <p:nvPr/>
        </p:nvSpPr>
        <p:spPr>
          <a:xfrm>
            <a:off x="3521058" y="3622675"/>
            <a:ext cx="2444725" cy="1264849"/>
          </a:xfrm>
          <a:prstGeom prst="roundRect">
            <a:avLst>
              <a:gd name="adj" fmla="val 7782"/>
            </a:avLst>
          </a:prstGeom>
          <a:solidFill>
            <a:srgbClr val="FFFFFF"/>
          </a:solidFill>
          <a:ln w="6350">
            <a:solidFill>
              <a:srgbClr val="E0D7C9"/>
            </a:solidFill>
            <a:prstDash val="solid"/>
          </a:ln>
        </p:spPr>
      </p:sp>
      <p:sp>
        <p:nvSpPr>
          <p:cNvPr id="13" name="Text 11"/>
          <p:cNvSpPr/>
          <p:nvPr/>
        </p:nvSpPr>
        <p:spPr>
          <a:xfrm>
            <a:off x="3675559" y="3777171"/>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ii</a:t>
            </a:r>
            <a:endParaRPr lang="en-US" sz="1300" dirty="0"/>
          </a:p>
        </p:txBody>
      </p:sp>
      <p:sp>
        <p:nvSpPr>
          <p:cNvPr id="14" name="Text 12"/>
          <p:cNvSpPr/>
          <p:nvPr/>
        </p:nvSpPr>
        <p:spPr>
          <a:xfrm>
            <a:off x="3675559" y="4059076"/>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Endurance</a:t>
            </a:r>
            <a:endParaRPr lang="en-US" sz="1450" dirty="0"/>
          </a:p>
        </p:txBody>
      </p:sp>
      <p:sp>
        <p:nvSpPr>
          <p:cNvPr id="15" name="Text 13"/>
          <p:cNvSpPr/>
          <p:nvPr/>
        </p:nvSpPr>
        <p:spPr>
          <a:xfrm>
            <a:off x="3675559" y="4321597"/>
            <a:ext cx="2199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The order persists; it is not a one-off.</a:t>
            </a:r>
            <a:endParaRPr lang="en-US" sz="1200" dirty="0"/>
          </a:p>
        </p:txBody>
      </p:sp>
      <p:sp>
        <p:nvSpPr>
          <p:cNvPr id="16" name="Shape 14"/>
          <p:cNvSpPr/>
          <p:nvPr/>
        </p:nvSpPr>
        <p:spPr>
          <a:xfrm>
            <a:off x="6226175" y="3622675"/>
            <a:ext cx="2444725" cy="1264849"/>
          </a:xfrm>
          <a:prstGeom prst="roundRect">
            <a:avLst>
              <a:gd name="adj" fmla="val 7782"/>
            </a:avLst>
          </a:prstGeom>
          <a:solidFill>
            <a:srgbClr val="FFFFFF"/>
          </a:solidFill>
          <a:ln w="6350">
            <a:solidFill>
              <a:srgbClr val="E0D7C9"/>
            </a:solidFill>
            <a:prstDash val="solid"/>
          </a:ln>
        </p:spPr>
      </p:sp>
      <p:sp>
        <p:nvSpPr>
          <p:cNvPr id="17" name="Text 15"/>
          <p:cNvSpPr/>
          <p:nvPr/>
        </p:nvSpPr>
        <p:spPr>
          <a:xfrm>
            <a:off x="6380675" y="3777171"/>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iii</a:t>
            </a:r>
            <a:endParaRPr lang="en-US" sz="1300" dirty="0"/>
          </a:p>
        </p:txBody>
      </p:sp>
      <p:sp>
        <p:nvSpPr>
          <p:cNvPr id="18" name="Text 16"/>
          <p:cNvSpPr/>
          <p:nvPr/>
        </p:nvSpPr>
        <p:spPr>
          <a:xfrm>
            <a:off x="6380675" y="4059076"/>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Habitual obedience</a:t>
            </a:r>
            <a:endParaRPr lang="en-US" sz="1450" dirty="0"/>
          </a:p>
        </p:txBody>
      </p:sp>
      <p:sp>
        <p:nvSpPr>
          <p:cNvPr id="19" name="Text 17"/>
          <p:cNvSpPr/>
          <p:nvPr/>
        </p:nvSpPr>
        <p:spPr>
          <a:xfrm>
            <a:off x="6380675" y="4321597"/>
            <a:ext cx="2199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Generally obeyed, not obeyed once.</a:t>
            </a:r>
            <a:endParaRPr lang="en-US" sz="1200" dirty="0"/>
          </a:p>
        </p:txBody>
      </p:sp>
      <p:sp>
        <p:nvSpPr>
          <p:cNvPr id="20" name="Shape 18"/>
          <p:cNvSpPr/>
          <p:nvPr/>
        </p:nvSpPr>
        <p:spPr>
          <a:xfrm>
            <a:off x="8931250" y="3622675"/>
            <a:ext cx="2444725" cy="1264849"/>
          </a:xfrm>
          <a:prstGeom prst="roundRect">
            <a:avLst>
              <a:gd name="adj" fmla="val 7782"/>
            </a:avLst>
          </a:prstGeom>
          <a:solidFill>
            <a:srgbClr val="FFFFFF"/>
          </a:solidFill>
          <a:ln w="6350">
            <a:solidFill>
              <a:srgbClr val="E0D7C9"/>
            </a:solidFill>
            <a:prstDash val="solid"/>
          </a:ln>
        </p:spPr>
      </p:sp>
      <p:sp>
        <p:nvSpPr>
          <p:cNvPr id="21" name="Text 19"/>
          <p:cNvSpPr/>
          <p:nvPr/>
        </p:nvSpPr>
        <p:spPr>
          <a:xfrm>
            <a:off x="9085750" y="3777171"/>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iv</a:t>
            </a:r>
            <a:endParaRPr lang="en-US" sz="1300" dirty="0"/>
          </a:p>
        </p:txBody>
      </p:sp>
      <p:sp>
        <p:nvSpPr>
          <p:cNvPr id="22" name="Text 20"/>
          <p:cNvSpPr/>
          <p:nvPr/>
        </p:nvSpPr>
        <p:spPr>
          <a:xfrm>
            <a:off x="9085750" y="4059076"/>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Supremacy</a:t>
            </a:r>
            <a:endParaRPr lang="en-US" sz="1450" dirty="0"/>
          </a:p>
        </p:txBody>
      </p:sp>
      <p:sp>
        <p:nvSpPr>
          <p:cNvPr id="23" name="Text 21"/>
          <p:cNvSpPr/>
          <p:nvPr/>
        </p:nvSpPr>
        <p:spPr>
          <a:xfrm>
            <a:off x="9085750" y="4321597"/>
            <a:ext cx="2199797"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supreme and independent sovereign (</a:t>
            </a:r>
            <a:r>
              <a:rPr lang="en-US" sz="1200" i="1" dirty="0">
                <a:solidFill>
                  <a:srgbClr val="5E5850"/>
                </a:solidFill>
                <a:latin typeface="Inter" pitchFamily="34" charset="0"/>
                <a:ea typeface="Inter" pitchFamily="34" charset="-122"/>
                <a:cs typeface="Inter" pitchFamily="34" charset="-120"/>
              </a:rPr>
              <a:t>CL</a:t>
            </a:r>
            <a:r>
              <a:rPr lang="en-US" sz="1200" dirty="0">
                <a:solidFill>
                  <a:srgbClr val="5E5850"/>
                </a:solidFill>
                <a:latin typeface="Inter" pitchFamily="34" charset="0"/>
                <a:ea typeface="Inter" pitchFamily="34" charset="-122"/>
                <a:cs typeface="Inter" pitchFamily="34" charset="-120"/>
              </a:rPr>
              <a:t> 24).</a:t>
            </a:r>
            <a:endParaRPr lang="en-US" sz="1200" dirty="0"/>
          </a:p>
        </p:txBody>
      </p:sp>
      <p:sp>
        <p:nvSpPr>
          <p:cNvPr id="24" name="Text 22"/>
          <p:cNvSpPr/>
          <p:nvPr/>
        </p:nvSpPr>
        <p:spPr>
          <a:xfrm>
            <a:off x="812767" y="5016500"/>
            <a:ext cx="10883374" cy="771153"/>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E5850"/>
                </a:solidFill>
                <a:latin typeface="Inter" pitchFamily="34" charset="0"/>
                <a:ea typeface="Inter" pitchFamily="34" charset="-122"/>
                <a:cs typeface="Inter" pitchFamily="34" charset="-120"/>
              </a:rPr>
              <a:t>Habits are not normative: they cannot confer rights or authority (</a:t>
            </a:r>
            <a:r>
              <a:rPr lang="en-US" sz="1350" i="1" dirty="0">
                <a:solidFill>
                  <a:srgbClr val="5E5850"/>
                </a:solidFill>
                <a:latin typeface="Inter" pitchFamily="34" charset="0"/>
                <a:ea typeface="Inter" pitchFamily="34" charset="-122"/>
                <a:cs typeface="Inter" pitchFamily="34" charset="-120"/>
              </a:rPr>
              <a:t>CL</a:t>
            </a:r>
            <a:r>
              <a:rPr lang="en-US" sz="1350" dirty="0">
                <a:solidFill>
                  <a:srgbClr val="5E5850"/>
                </a:solidFill>
                <a:latin typeface="Inter" pitchFamily="34" charset="0"/>
                <a:ea typeface="Inter" pitchFamily="34" charset="-122"/>
                <a:cs typeface="Inter" pitchFamily="34" charset="-120"/>
              </a:rPr>
              <a:t> 60). A </a:t>
            </a:r>
            <a:r>
              <a:rPr lang="en-US" sz="1350" b="1" dirty="0">
                <a:solidFill>
                  <a:srgbClr val="5E5850"/>
                </a:solidFill>
                <a:latin typeface="Inter" pitchFamily="34" charset="0"/>
                <a:ea typeface="Inter" pitchFamily="34" charset="-122"/>
                <a:cs typeface="Inter" pitchFamily="34" charset="-120"/>
              </a:rPr>
              <a:t>rule</a:t>
            </a:r>
            <a:r>
              <a:rPr lang="en-US" sz="1350" dirty="0">
                <a:solidFill>
                  <a:srgbClr val="5E5850"/>
                </a:solidFill>
                <a:latin typeface="Inter" pitchFamily="34" charset="0"/>
                <a:ea typeface="Inter" pitchFamily="34" charset="-122"/>
                <a:cs typeface="Inter" pitchFamily="34" charset="-120"/>
              </a:rPr>
              <a:t> differs because deviation is met with criticism, the rule is treated as a good reason for that criticism, and it has an </a:t>
            </a:r>
            <a:r>
              <a:rPr lang="en-US" sz="1350" b="1" dirty="0">
                <a:solidFill>
                  <a:srgbClr val="5E5850"/>
                </a:solidFill>
                <a:latin typeface="Inter" pitchFamily="34" charset="0"/>
                <a:ea typeface="Inter" pitchFamily="34" charset="-122"/>
                <a:cs typeface="Inter" pitchFamily="34" charset="-120"/>
              </a:rPr>
              <a:t>internal aspect</a:t>
            </a:r>
            <a:r>
              <a:rPr lang="en-US" sz="1350" dirty="0">
                <a:solidFill>
                  <a:srgbClr val="5E5850"/>
                </a:solidFill>
                <a:latin typeface="Inter" pitchFamily="34" charset="0"/>
                <a:ea typeface="Inter" pitchFamily="34" charset="-122"/>
                <a:cs typeface="Inter" pitchFamily="34" charset="-120"/>
              </a:rPr>
              <a:t> — a critical reflective attitude to a pattern of behaviour as a common standard (</a:t>
            </a:r>
            <a:r>
              <a:rPr lang="en-US" sz="1350" i="1" dirty="0">
                <a:solidFill>
                  <a:srgbClr val="5E5850"/>
                </a:solidFill>
                <a:latin typeface="Inter" pitchFamily="34" charset="0"/>
                <a:ea typeface="Inter" pitchFamily="34" charset="-122"/>
                <a:cs typeface="Inter" pitchFamily="34" charset="-120"/>
              </a:rPr>
              <a:t>CL</a:t>
            </a:r>
            <a:r>
              <a:rPr lang="en-US" sz="1350" dirty="0">
                <a:solidFill>
                  <a:srgbClr val="5E5850"/>
                </a:solidFill>
                <a:latin typeface="Inter" pitchFamily="34" charset="0"/>
                <a:ea typeface="Inter" pitchFamily="34" charset="-122"/>
                <a:cs typeface="Inter" pitchFamily="34" charset="-120"/>
              </a:rPr>
              <a:t> 57).</a:t>
            </a:r>
            <a:endParaRPr lang="en-US" sz="1350" dirty="0"/>
          </a:p>
        </p:txBody>
      </p:sp>
      <p:sp>
        <p:nvSpPr>
          <p:cNvPr id="25" name="Text 23"/>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26" name="Text 24"/>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2B2C"/>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74000" y="1143000"/>
            <a:ext cx="3048000" cy="3048000"/>
          </a:xfrm>
          <a:prstGeom prst="rect">
            <a:avLst/>
          </a:prstGeom>
        </p:spPr>
      </p:pic>
      <p:sp>
        <p:nvSpPr>
          <p:cNvPr id="3"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87C"/>
                </a:solidFill>
                <a:latin typeface="Inter" pitchFamily="34" charset="0"/>
                <a:ea typeface="Inter" pitchFamily="34" charset="-122"/>
                <a:cs typeface="Inter" pitchFamily="34" charset="-120"/>
              </a:rPr>
              <a:t>THE PHRASE TO STEAL</a:t>
            </a:r>
            <a:endParaRPr lang="en-US" sz="1200" dirty="0"/>
          </a:p>
        </p:txBody>
      </p:sp>
      <p:sp>
        <p:nvSpPr>
          <p:cNvPr id="4" name="Text 1"/>
          <p:cNvSpPr/>
          <p:nvPr/>
        </p:nvSpPr>
        <p:spPr>
          <a:xfrm>
            <a:off x="812767" y="914375"/>
            <a:ext cx="10203180" cy="491728"/>
          </a:xfrm>
          <a:prstGeom prst="rect">
            <a:avLst/>
          </a:prstGeom>
          <a:noFill/>
          <a:ln/>
        </p:spPr>
        <p:txBody>
          <a:bodyPr wrap="square" lIns="0" tIns="0" rIns="0" bIns="0" rtlCol="0" anchor="t">
            <a:normAutofit/>
          </a:bodyPr>
          <a:lstStyle/>
          <a:p>
            <a:pPr algn="l" indent="0" marL="0">
              <a:lnSpc>
                <a:spcPts val="3672"/>
              </a:lnSpc>
              <a:buNone/>
            </a:pPr>
            <a:r>
              <a:rPr lang="en-US" sz="3400" b="1" dirty="0">
                <a:solidFill>
                  <a:srgbClr val="FBF6ED"/>
                </a:solidFill>
                <a:latin typeface="Fraunces" pitchFamily="34" charset="0"/>
                <a:ea typeface="Fraunces" pitchFamily="34" charset="-122"/>
                <a:cs typeface="Fraunces" pitchFamily="34" charset="-120"/>
              </a:rPr>
              <a:t>“Failed to fit the facts”</a:t>
            </a:r>
            <a:endParaRPr lang="en-US" sz="3400" dirty="0"/>
          </a:p>
        </p:txBody>
      </p:sp>
      <p:sp>
        <p:nvSpPr>
          <p:cNvPr id="5" name="Shape 2"/>
          <p:cNvSpPr/>
          <p:nvPr/>
        </p:nvSpPr>
        <p:spPr>
          <a:xfrm>
            <a:off x="828642" y="2095500"/>
            <a:ext cx="0" cy="965150"/>
          </a:xfrm>
          <a:prstGeom prst="line">
            <a:avLst/>
          </a:prstGeom>
          <a:noFill/>
          <a:ln w="31750">
            <a:solidFill>
              <a:srgbClr val="E8A87C"/>
            </a:solidFill>
            <a:prstDash val="solid"/>
          </a:ln>
        </p:spPr>
      </p:sp>
      <p:sp>
        <p:nvSpPr>
          <p:cNvPr id="6" name="Text 3"/>
          <p:cNvSpPr/>
          <p:nvPr/>
        </p:nvSpPr>
        <p:spPr>
          <a:xfrm>
            <a:off x="1060400" y="2095500"/>
            <a:ext cx="7070297" cy="695953"/>
          </a:xfrm>
          <a:prstGeom prst="rect">
            <a:avLst/>
          </a:prstGeom>
          <a:noFill/>
          <a:ln/>
        </p:spPr>
        <p:txBody>
          <a:bodyPr wrap="square" lIns="0" tIns="0" rIns="0" bIns="0" rtlCol="0" anchor="t">
            <a:normAutofit/>
          </a:bodyPr>
          <a:lstStyle/>
          <a:p>
            <a:pPr algn="l" indent="0" marL="0">
              <a:lnSpc>
                <a:spcPts val="2640"/>
              </a:lnSpc>
              <a:buNone/>
            </a:pPr>
            <a:r>
              <a:rPr lang="en-US" sz="2000" i="1" dirty="0">
                <a:solidFill>
                  <a:srgbClr val="FBF6ED"/>
                </a:solidFill>
                <a:latin typeface="Fraunces" pitchFamily="34" charset="0"/>
                <a:ea typeface="Fraunces" pitchFamily="34" charset="-122"/>
                <a:cs typeface="Fraunces" pitchFamily="34" charset="-120"/>
              </a:rPr>
              <a:t>“At each point where the theory failed to fit the facts it was possible to see at least in outline why it was bound to fail.”</a:t>
            </a:r>
            <a:endParaRPr lang="en-US" sz="2000" dirty="0"/>
          </a:p>
        </p:txBody>
      </p:sp>
      <p:sp>
        <p:nvSpPr>
          <p:cNvPr id="7" name="Text 4"/>
          <p:cNvSpPr/>
          <p:nvPr/>
        </p:nvSpPr>
        <p:spPr>
          <a:xfrm>
            <a:off x="1060400" y="2854933"/>
            <a:ext cx="707029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FC9C6"/>
                </a:solidFill>
                <a:latin typeface="Inter" pitchFamily="34" charset="0"/>
                <a:ea typeface="Inter" pitchFamily="34" charset="-122"/>
                <a:cs typeface="Inter" pitchFamily="34" charset="-120"/>
              </a:rPr>
              <a:t>Hart, </a:t>
            </a:r>
            <a:r>
              <a:rPr lang="en-US" sz="1200" i="1" dirty="0">
                <a:solidFill>
                  <a:srgbClr val="BFC9C6"/>
                </a:solidFill>
                <a:latin typeface="Inter" pitchFamily="34" charset="0"/>
                <a:ea typeface="Inter" pitchFamily="34" charset="-122"/>
                <a:cs typeface="Inter" pitchFamily="34" charset="-120"/>
              </a:rPr>
              <a:t>The Concept of Law</a:t>
            </a:r>
            <a:r>
              <a:rPr lang="en-US" sz="1200" dirty="0">
                <a:solidFill>
                  <a:srgbClr val="BFC9C6"/>
                </a:solidFill>
                <a:latin typeface="Inter" pitchFamily="34" charset="0"/>
                <a:ea typeface="Inter" pitchFamily="34" charset="-122"/>
                <a:cs typeface="Inter" pitchFamily="34" charset="-120"/>
              </a:rPr>
              <a:t>, 80</a:t>
            </a:r>
            <a:endParaRPr lang="en-US" sz="1200" dirty="0"/>
          </a:p>
        </p:txBody>
      </p:sp>
      <p:sp>
        <p:nvSpPr>
          <p:cNvPr id="8" name="Shape 5"/>
          <p:cNvSpPr/>
          <p:nvPr/>
        </p:nvSpPr>
        <p:spPr>
          <a:xfrm>
            <a:off x="819117" y="3435350"/>
            <a:ext cx="10553683" cy="1510804"/>
          </a:xfrm>
          <a:prstGeom prst="roundRect">
            <a:avLst>
              <a:gd name="adj" fmla="val 7145"/>
            </a:avLst>
          </a:prstGeom>
          <a:solidFill>
            <a:srgbClr val="27393A"/>
          </a:solidFill>
          <a:ln w="12700">
            <a:solidFill>
              <a:srgbClr val="E8A87C"/>
            </a:solidFill>
            <a:prstDash val="solid"/>
          </a:ln>
        </p:spPr>
      </p:sp>
      <p:sp>
        <p:nvSpPr>
          <p:cNvPr id="9" name="Text 6"/>
          <p:cNvSpPr/>
          <p:nvPr/>
        </p:nvSpPr>
        <p:spPr>
          <a:xfrm>
            <a:off x="1013850" y="3630079"/>
            <a:ext cx="10469143"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E8A87C"/>
                </a:solidFill>
                <a:latin typeface="Fraunces" pitchFamily="34" charset="0"/>
                <a:ea typeface="Fraunces" pitchFamily="34" charset="-122"/>
                <a:cs typeface="Fraunces" pitchFamily="34" charset="-120"/>
              </a:rPr>
              <a:t>Why this sentence is worth a paragraph in a Question 1 essay</a:t>
            </a:r>
            <a:endParaRPr lang="en-US" sz="1700" dirty="0"/>
          </a:p>
        </p:txBody>
      </p:sp>
      <p:sp>
        <p:nvSpPr>
          <p:cNvPr id="10" name="Text 7"/>
          <p:cNvSpPr/>
          <p:nvPr/>
        </p:nvSpPr>
        <p:spPr>
          <a:xfrm>
            <a:off x="1013850" y="3978002"/>
            <a:ext cx="10469143" cy="7988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BF6ED"/>
                </a:solidFill>
                <a:latin typeface="Inter" pitchFamily="34" charset="0"/>
                <a:ea typeface="Inter" pitchFamily="34" charset="-122"/>
                <a:cs typeface="Inter" pitchFamily="34" charset="-120"/>
              </a:rPr>
              <a:t>“The facts” do not announce which of them a theory must fit. Austin’s model </a:t>
            </a:r>
            <a:r>
              <a:rPr lang="en-US" sz="1400" i="1" dirty="0">
                <a:solidFill>
                  <a:srgbClr val="FBF6ED"/>
                </a:solidFill>
                <a:latin typeface="Inter" pitchFamily="34" charset="0"/>
                <a:ea typeface="Inter" pitchFamily="34" charset="-122"/>
                <a:cs typeface="Inter" pitchFamily="34" charset="-120"/>
              </a:rPr>
              <a:t>did</a:t>
            </a:r>
            <a:r>
              <a:rPr lang="en-US" sz="1400" dirty="0">
                <a:solidFill>
                  <a:srgbClr val="FBF6ED"/>
                </a:solidFill>
                <a:latin typeface="Inter" pitchFamily="34" charset="0"/>
                <a:ea typeface="Inter" pitchFamily="34" charset="-122"/>
                <a:cs typeface="Inter" pitchFamily="34" charset="-120"/>
              </a:rPr>
              <a:t> fit some — the coercive experience of law is real, as Schauer presses in ‘Was Austin Right After All?’. Hart rejected it because it missed the facts </a:t>
            </a:r>
            <a:r>
              <a:rPr lang="en-US" sz="1400" b="1" dirty="0">
                <a:solidFill>
                  <a:srgbClr val="FBF6ED"/>
                </a:solidFill>
                <a:latin typeface="Inter" pitchFamily="34" charset="0"/>
                <a:ea typeface="Inter" pitchFamily="34" charset="-122"/>
                <a:cs typeface="Inter" pitchFamily="34" charset="-120"/>
              </a:rPr>
              <a:t>he took to be salient</a:t>
            </a:r>
            <a:r>
              <a:rPr lang="en-US" sz="1400" dirty="0">
                <a:solidFill>
                  <a:srgbClr val="FBF6ED"/>
                </a:solidFill>
                <a:latin typeface="Inter" pitchFamily="34" charset="0"/>
                <a:ea typeface="Inter" pitchFamily="34" charset="-122"/>
                <a:cs typeface="Inter" pitchFamily="34" charset="-120"/>
              </a:rPr>
              <a:t>: a judgment of importance, made by the arch-descriptivist himself.</a:t>
            </a:r>
            <a:endParaRPr lang="en-US" sz="1400" dirty="0"/>
          </a:p>
        </p:txBody>
      </p:sp>
      <p:sp>
        <p:nvSpPr>
          <p:cNvPr id="11" name="Text 8"/>
          <p:cNvSpPr/>
          <p:nvPr/>
        </p:nvSpPr>
        <p:spPr>
          <a:xfrm>
            <a:off x="812767" y="5016500"/>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9C6"/>
                </a:solidFill>
                <a:latin typeface="Inter" pitchFamily="34" charset="0"/>
                <a:ea typeface="Inter" pitchFamily="34" charset="-122"/>
                <a:cs typeface="Inter" pitchFamily="34" charset="-120"/>
              </a:rPr>
              <a:t>Schauer’s conclusion, on the Week 2 slide: “the focus of legal theory is dependent on a conception of what a legal theory is supposed to accomplish” (p 16). That is a direct answer to Question 1 — and it is on your reading list.</a:t>
            </a:r>
            <a:endParaRPr lang="en-US" sz="1400" dirty="0"/>
          </a:p>
        </p:txBody>
      </p:sp>
      <p:sp>
        <p:nvSpPr>
          <p:cNvPr id="12" name="Text 9"/>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895"/>
                </a:solidFill>
                <a:latin typeface="Inter" pitchFamily="34" charset="0"/>
                <a:ea typeface="Inter" pitchFamily="34" charset="-122"/>
                <a:cs typeface="Inter" pitchFamily="34" charset="-120"/>
              </a:rPr>
              <a:t>Part 03 · Hart</a:t>
            </a:r>
            <a:endParaRPr lang="en-US" sz="1200" dirty="0"/>
          </a:p>
        </p:txBody>
      </p:sp>
      <p:sp>
        <p:nvSpPr>
          <p:cNvPr id="13" name="Text 10"/>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9895"/>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FRESH START</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Three defects, three remedies (</a:t>
            </a:r>
            <a:r>
              <a:rPr lang="en-US" sz="3000" b="1" i="1" dirty="0">
                <a:solidFill>
                  <a:srgbClr val="191814"/>
                </a:solidFill>
                <a:latin typeface="Fraunces" pitchFamily="34" charset="0"/>
                <a:ea typeface="Fraunces" pitchFamily="34" charset="-122"/>
                <a:cs typeface="Fraunces" pitchFamily="34" charset="-120"/>
              </a:rPr>
              <a:t>CL</a:t>
            </a:r>
            <a:r>
              <a:rPr lang="en-US" sz="3000" b="1" dirty="0">
                <a:solidFill>
                  <a:srgbClr val="191814"/>
                </a:solidFill>
                <a:latin typeface="Fraunces" pitchFamily="34" charset="0"/>
                <a:ea typeface="Fraunces" pitchFamily="34" charset="-122"/>
                <a:cs typeface="Fraunces" pitchFamily="34" charset="-120"/>
              </a:rPr>
              <a:t> ch V)</a:t>
            </a:r>
            <a:endParaRPr lang="en-US" sz="3000" dirty="0"/>
          </a:p>
        </p:txBody>
      </p:sp>
      <p:sp>
        <p:nvSpPr>
          <p:cNvPr id="4" name="Shape 2"/>
          <p:cNvSpPr/>
          <p:nvPr/>
        </p:nvSpPr>
        <p:spPr>
          <a:xfrm>
            <a:off x="815942" y="1908175"/>
            <a:ext cx="4184650" cy="739196"/>
          </a:xfrm>
          <a:prstGeom prst="roundRect">
            <a:avLst>
              <a:gd name="adj" fmla="val 11597"/>
            </a:avLst>
          </a:prstGeom>
          <a:solidFill>
            <a:srgbClr val="FFFFFF"/>
          </a:solidFill>
          <a:ln w="6350">
            <a:solidFill>
              <a:srgbClr val="E0D7C9"/>
            </a:solidFill>
            <a:prstDash val="solid"/>
          </a:ln>
        </p:spPr>
      </p:sp>
      <p:sp>
        <p:nvSpPr>
          <p:cNvPr id="5" name="Text 3"/>
          <p:cNvSpPr/>
          <p:nvPr/>
        </p:nvSpPr>
        <p:spPr>
          <a:xfrm>
            <a:off x="983134" y="2037283"/>
            <a:ext cx="3965774"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Uncertainty</a:t>
            </a:r>
            <a:endParaRPr lang="en-US" sz="1500" dirty="0"/>
          </a:p>
        </p:txBody>
      </p:sp>
      <p:sp>
        <p:nvSpPr>
          <p:cNvPr id="6" name="Text 4"/>
          <p:cNvSpPr/>
          <p:nvPr/>
        </p:nvSpPr>
        <p:spPr>
          <a:xfrm>
            <a:off x="983134" y="2303934"/>
            <a:ext cx="3965774"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No authoritative way to settle the rules.</a:t>
            </a:r>
            <a:endParaRPr lang="en-US" sz="1250" dirty="0"/>
          </a:p>
        </p:txBody>
      </p:sp>
      <p:pic>
        <p:nvPicPr>
          <p:cNvPr id="7" name="Image 0" descr="arrow-right">    </p:cNvPr>
          <p:cNvPicPr>
            <a:picLocks noChangeAspect="1"/>
          </p:cNvPicPr>
          <p:nvPr/>
        </p:nvPicPr>
        <p:blipFill>
          <a:blip r:embed="rId1"/>
          <a:srcRect l="-3" r="-3" t="0" b="0"/>
          <a:stretch/>
        </p:blipFill>
        <p:spPr>
          <a:xfrm>
            <a:off x="5270500" y="2070075"/>
            <a:ext cx="1143000" cy="419075"/>
          </a:xfrm>
          <a:prstGeom prst="rect">
            <a:avLst/>
          </a:prstGeom>
        </p:spPr>
      </p:pic>
      <p:sp>
        <p:nvSpPr>
          <p:cNvPr id="8" name="Shape 5"/>
          <p:cNvSpPr/>
          <p:nvPr/>
        </p:nvSpPr>
        <p:spPr>
          <a:xfrm>
            <a:off x="6734175" y="1908175"/>
            <a:ext cx="4641841" cy="739196"/>
          </a:xfrm>
          <a:prstGeom prst="roundRect">
            <a:avLst>
              <a:gd name="adj" fmla="val 11597"/>
            </a:avLst>
          </a:prstGeom>
          <a:solidFill>
            <a:srgbClr val="E5EEEC"/>
          </a:solidFill>
          <a:ln w="6350">
            <a:solidFill>
              <a:srgbClr val="C4D6D2"/>
            </a:solidFill>
            <a:prstDash val="solid"/>
          </a:ln>
        </p:spPr>
      </p:sp>
      <p:sp>
        <p:nvSpPr>
          <p:cNvPr id="9" name="Text 6"/>
          <p:cNvSpPr/>
          <p:nvPr/>
        </p:nvSpPr>
        <p:spPr>
          <a:xfrm>
            <a:off x="6901366" y="2037283"/>
            <a:ext cx="443668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Rule of recognition</a:t>
            </a:r>
            <a:endParaRPr lang="en-US" sz="1500" dirty="0"/>
          </a:p>
        </p:txBody>
      </p:sp>
      <p:sp>
        <p:nvSpPr>
          <p:cNvPr id="10" name="Text 7"/>
          <p:cNvSpPr/>
          <p:nvPr/>
        </p:nvSpPr>
        <p:spPr>
          <a:xfrm>
            <a:off x="6901366" y="2303934"/>
            <a:ext cx="4436682"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Criteria for identifying primary rules.</a:t>
            </a:r>
            <a:endParaRPr lang="en-US" sz="1250" dirty="0"/>
          </a:p>
        </p:txBody>
      </p:sp>
      <p:sp>
        <p:nvSpPr>
          <p:cNvPr id="11" name="Shape 8"/>
          <p:cNvSpPr/>
          <p:nvPr/>
        </p:nvSpPr>
        <p:spPr>
          <a:xfrm>
            <a:off x="815942" y="2797175"/>
            <a:ext cx="4184650" cy="739196"/>
          </a:xfrm>
          <a:prstGeom prst="roundRect">
            <a:avLst>
              <a:gd name="adj" fmla="val 11597"/>
            </a:avLst>
          </a:prstGeom>
          <a:solidFill>
            <a:srgbClr val="FFFFFF"/>
          </a:solidFill>
          <a:ln w="6350">
            <a:solidFill>
              <a:srgbClr val="E0D7C9"/>
            </a:solidFill>
            <a:prstDash val="solid"/>
          </a:ln>
        </p:spPr>
      </p:sp>
      <p:sp>
        <p:nvSpPr>
          <p:cNvPr id="12" name="Text 9"/>
          <p:cNvSpPr/>
          <p:nvPr/>
        </p:nvSpPr>
        <p:spPr>
          <a:xfrm>
            <a:off x="983134" y="2926283"/>
            <a:ext cx="3965774"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Static character</a:t>
            </a:r>
            <a:endParaRPr lang="en-US" sz="1500" dirty="0"/>
          </a:p>
        </p:txBody>
      </p:sp>
      <p:sp>
        <p:nvSpPr>
          <p:cNvPr id="13" name="Text 10"/>
          <p:cNvSpPr/>
          <p:nvPr/>
        </p:nvSpPr>
        <p:spPr>
          <a:xfrm>
            <a:off x="983134" y="3192934"/>
            <a:ext cx="3965774"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Rules change only by slow growth.</a:t>
            </a:r>
            <a:endParaRPr lang="en-US" sz="1250" dirty="0"/>
          </a:p>
        </p:txBody>
      </p:sp>
      <p:pic>
        <p:nvPicPr>
          <p:cNvPr id="14" name="Image 1" descr="arrow-right">    </p:cNvPr>
          <p:cNvPicPr>
            <a:picLocks noChangeAspect="1"/>
          </p:cNvPicPr>
          <p:nvPr/>
        </p:nvPicPr>
        <p:blipFill>
          <a:blip r:embed="rId2"/>
          <a:srcRect l="-3" r="-3" t="0" b="0"/>
          <a:stretch/>
        </p:blipFill>
        <p:spPr>
          <a:xfrm>
            <a:off x="5270500" y="2959075"/>
            <a:ext cx="1143000" cy="419075"/>
          </a:xfrm>
          <a:prstGeom prst="rect">
            <a:avLst/>
          </a:prstGeom>
        </p:spPr>
      </p:pic>
      <p:sp>
        <p:nvSpPr>
          <p:cNvPr id="15" name="Shape 11"/>
          <p:cNvSpPr/>
          <p:nvPr/>
        </p:nvSpPr>
        <p:spPr>
          <a:xfrm>
            <a:off x="6734175" y="2797175"/>
            <a:ext cx="4641841" cy="739196"/>
          </a:xfrm>
          <a:prstGeom prst="roundRect">
            <a:avLst>
              <a:gd name="adj" fmla="val 11597"/>
            </a:avLst>
          </a:prstGeom>
          <a:solidFill>
            <a:srgbClr val="E5EEEC"/>
          </a:solidFill>
          <a:ln w="6350">
            <a:solidFill>
              <a:srgbClr val="C4D6D2"/>
            </a:solidFill>
            <a:prstDash val="solid"/>
          </a:ln>
        </p:spPr>
      </p:sp>
      <p:sp>
        <p:nvSpPr>
          <p:cNvPr id="16" name="Text 12"/>
          <p:cNvSpPr/>
          <p:nvPr/>
        </p:nvSpPr>
        <p:spPr>
          <a:xfrm>
            <a:off x="6901366" y="2926283"/>
            <a:ext cx="443668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Rules of change</a:t>
            </a:r>
            <a:endParaRPr lang="en-US" sz="1500" dirty="0"/>
          </a:p>
        </p:txBody>
      </p:sp>
      <p:sp>
        <p:nvSpPr>
          <p:cNvPr id="17" name="Text 13"/>
          <p:cNvSpPr/>
          <p:nvPr/>
        </p:nvSpPr>
        <p:spPr>
          <a:xfrm>
            <a:off x="6901366" y="3192934"/>
            <a:ext cx="4436682"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Powers to introduce, vary and repeal rules.</a:t>
            </a:r>
            <a:endParaRPr lang="en-US" sz="1250" dirty="0"/>
          </a:p>
        </p:txBody>
      </p:sp>
      <p:sp>
        <p:nvSpPr>
          <p:cNvPr id="18" name="Shape 14"/>
          <p:cNvSpPr/>
          <p:nvPr/>
        </p:nvSpPr>
        <p:spPr>
          <a:xfrm>
            <a:off x="815942" y="3686175"/>
            <a:ext cx="4184650" cy="739196"/>
          </a:xfrm>
          <a:prstGeom prst="roundRect">
            <a:avLst>
              <a:gd name="adj" fmla="val 11597"/>
            </a:avLst>
          </a:prstGeom>
          <a:solidFill>
            <a:srgbClr val="FFFFFF"/>
          </a:solidFill>
          <a:ln w="6350">
            <a:solidFill>
              <a:srgbClr val="E0D7C9"/>
            </a:solidFill>
            <a:prstDash val="solid"/>
          </a:ln>
        </p:spPr>
      </p:sp>
      <p:sp>
        <p:nvSpPr>
          <p:cNvPr id="19" name="Text 15"/>
          <p:cNvSpPr/>
          <p:nvPr/>
        </p:nvSpPr>
        <p:spPr>
          <a:xfrm>
            <a:off x="983134" y="3815283"/>
            <a:ext cx="3965774"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Inefficiency</a:t>
            </a:r>
            <a:endParaRPr lang="en-US" sz="1500" dirty="0"/>
          </a:p>
        </p:txBody>
      </p:sp>
      <p:sp>
        <p:nvSpPr>
          <p:cNvPr id="20" name="Text 16"/>
          <p:cNvSpPr/>
          <p:nvPr/>
        </p:nvSpPr>
        <p:spPr>
          <a:xfrm>
            <a:off x="983134" y="4081934"/>
            <a:ext cx="3965774"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Disputes about breach go on for ever.</a:t>
            </a:r>
            <a:endParaRPr lang="en-US" sz="1250" dirty="0"/>
          </a:p>
        </p:txBody>
      </p:sp>
      <p:pic>
        <p:nvPicPr>
          <p:cNvPr id="21" name="Image 2" descr="arrow-right">    </p:cNvPr>
          <p:cNvPicPr>
            <a:picLocks noChangeAspect="1"/>
          </p:cNvPicPr>
          <p:nvPr/>
        </p:nvPicPr>
        <p:blipFill>
          <a:blip r:embed="rId3"/>
          <a:srcRect l="-3" r="-3" t="0" b="0"/>
          <a:stretch/>
        </p:blipFill>
        <p:spPr>
          <a:xfrm>
            <a:off x="5270500" y="3848075"/>
            <a:ext cx="1143000" cy="419075"/>
          </a:xfrm>
          <a:prstGeom prst="rect">
            <a:avLst/>
          </a:prstGeom>
        </p:spPr>
      </p:pic>
      <p:sp>
        <p:nvSpPr>
          <p:cNvPr id="22" name="Shape 17"/>
          <p:cNvSpPr/>
          <p:nvPr/>
        </p:nvSpPr>
        <p:spPr>
          <a:xfrm>
            <a:off x="6734175" y="3686175"/>
            <a:ext cx="4641841" cy="739196"/>
          </a:xfrm>
          <a:prstGeom prst="roundRect">
            <a:avLst>
              <a:gd name="adj" fmla="val 11597"/>
            </a:avLst>
          </a:prstGeom>
          <a:solidFill>
            <a:srgbClr val="E5EEEC"/>
          </a:solidFill>
          <a:ln w="6350">
            <a:solidFill>
              <a:srgbClr val="C4D6D2"/>
            </a:solidFill>
            <a:prstDash val="solid"/>
          </a:ln>
        </p:spPr>
      </p:sp>
      <p:sp>
        <p:nvSpPr>
          <p:cNvPr id="23" name="Text 18"/>
          <p:cNvSpPr/>
          <p:nvPr/>
        </p:nvSpPr>
        <p:spPr>
          <a:xfrm>
            <a:off x="6901366" y="3815283"/>
            <a:ext cx="443668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Rules of adjudication</a:t>
            </a:r>
            <a:endParaRPr lang="en-US" sz="1500" dirty="0"/>
          </a:p>
        </p:txBody>
      </p:sp>
      <p:sp>
        <p:nvSpPr>
          <p:cNvPr id="24" name="Text 19"/>
          <p:cNvSpPr/>
          <p:nvPr/>
        </p:nvSpPr>
        <p:spPr>
          <a:xfrm>
            <a:off x="6901366" y="4081934"/>
            <a:ext cx="4436682"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Officials determine breaches authoritatively.</a:t>
            </a:r>
            <a:endParaRPr lang="en-US" sz="1250" dirty="0"/>
          </a:p>
        </p:txBody>
      </p:sp>
      <p:sp>
        <p:nvSpPr>
          <p:cNvPr id="25" name="Shape 20"/>
          <p:cNvSpPr/>
          <p:nvPr/>
        </p:nvSpPr>
        <p:spPr>
          <a:xfrm>
            <a:off x="812767" y="4635500"/>
            <a:ext cx="10566383" cy="1318204"/>
          </a:xfrm>
          <a:prstGeom prst="roundRect">
            <a:avLst>
              <a:gd name="adj" fmla="val 6744"/>
            </a:avLst>
          </a:prstGeom>
          <a:solidFill>
            <a:srgbClr val="FCEEE5"/>
          </a:solidFill>
          <a:ln/>
        </p:spPr>
      </p:sp>
      <p:sp>
        <p:nvSpPr>
          <p:cNvPr id="26" name="Shape 21"/>
          <p:cNvSpPr/>
          <p:nvPr/>
        </p:nvSpPr>
        <p:spPr>
          <a:xfrm>
            <a:off x="831817" y="4635500"/>
            <a:ext cx="0" cy="1318204"/>
          </a:xfrm>
          <a:prstGeom prst="line">
            <a:avLst/>
          </a:prstGeom>
          <a:noFill/>
          <a:ln w="38100">
            <a:solidFill>
              <a:srgbClr val="B0451D"/>
            </a:solidFill>
            <a:prstDash val="solid"/>
          </a:ln>
        </p:spPr>
      </p:sp>
      <p:sp>
        <p:nvSpPr>
          <p:cNvPr id="27" name="Text 22"/>
          <p:cNvSpPr/>
          <p:nvPr/>
        </p:nvSpPr>
        <p:spPr>
          <a:xfrm>
            <a:off x="1027575" y="47751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The quiet evaluation</a:t>
            </a:r>
            <a:endParaRPr lang="en-US" sz="1500" dirty="0"/>
          </a:p>
        </p:txBody>
      </p:sp>
      <p:sp>
        <p:nvSpPr>
          <p:cNvPr id="28" name="Text 23"/>
          <p:cNvSpPr/>
          <p:nvPr/>
        </p:nvSpPr>
        <p:spPr>
          <a:xfrm>
            <a:off x="1027575" y="5067263"/>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Calling uncertainty, stasis and inefficiency </a:t>
            </a:r>
            <a:r>
              <a:rPr lang="en-US" sz="1400" i="1" dirty="0">
                <a:solidFill>
                  <a:srgbClr val="191814"/>
                </a:solidFill>
                <a:latin typeface="Inter" pitchFamily="34" charset="0"/>
                <a:ea typeface="Inter" pitchFamily="34" charset="-122"/>
                <a:cs typeface="Inter" pitchFamily="34" charset="-120"/>
              </a:rPr>
              <a:t>defects</a:t>
            </a:r>
            <a:r>
              <a:rPr lang="en-US" sz="1400" dirty="0">
                <a:solidFill>
                  <a:srgbClr val="191814"/>
                </a:solidFill>
                <a:latin typeface="Inter" pitchFamily="34" charset="0"/>
                <a:ea typeface="Inter" pitchFamily="34" charset="-122"/>
                <a:cs typeface="Inter" pitchFamily="34" charset="-120"/>
              </a:rPr>
              <a:t> presupposes that certainty, adaptability and efficient enforcement are goods a society ought to want. This is the sharpest example of a value entering a supposedly descriptive account — and it is the engine of one of the strongest Question 1 arguments.</a:t>
            </a:r>
            <a:endParaRPr lang="en-US" sz="1400" dirty="0"/>
          </a:p>
        </p:txBody>
      </p:sp>
      <p:sp>
        <p:nvSpPr>
          <p:cNvPr id="29" name="Text 24"/>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30" name="Text 25"/>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RECOGNITION, VALIDITY, EXISTENCE</a:t>
            </a:r>
            <a:endParaRPr lang="en-US" sz="1200" dirty="0"/>
          </a:p>
        </p:txBody>
      </p:sp>
      <p:sp>
        <p:nvSpPr>
          <p:cNvPr id="3" name="Text 1"/>
          <p:cNvSpPr/>
          <p:nvPr/>
        </p:nvSpPr>
        <p:spPr>
          <a:xfrm>
            <a:off x="812767" y="914375"/>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Three things that are easy to confuse</a:t>
            </a:r>
            <a:endParaRPr lang="en-US" sz="2900" dirty="0"/>
          </a:p>
        </p:txBody>
      </p:sp>
      <p:sp>
        <p:nvSpPr>
          <p:cNvPr id="4" name="Shape 2"/>
          <p:cNvSpPr/>
          <p:nvPr/>
        </p:nvSpPr>
        <p:spPr>
          <a:xfrm>
            <a:off x="815942" y="1882750"/>
            <a:ext cx="3346417" cy="1335749"/>
          </a:xfrm>
          <a:prstGeom prst="roundRect">
            <a:avLst>
              <a:gd name="adj" fmla="val 8319"/>
            </a:avLst>
          </a:prstGeom>
          <a:solidFill>
            <a:srgbClr val="FFFFFF"/>
          </a:solidFill>
          <a:ln w="6350">
            <a:solidFill>
              <a:srgbClr val="E0D7C9"/>
            </a:solidFill>
            <a:prstDash val="solid"/>
          </a:ln>
        </p:spPr>
      </p:sp>
      <p:sp>
        <p:nvSpPr>
          <p:cNvPr id="5" name="Text 3"/>
          <p:cNvSpPr/>
          <p:nvPr/>
        </p:nvSpPr>
        <p:spPr>
          <a:xfrm>
            <a:off x="995825"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The rule of recognition</a:t>
            </a:r>
            <a:endParaRPr lang="en-US" sz="1500" dirty="0"/>
          </a:p>
        </p:txBody>
      </p:sp>
      <p:sp>
        <p:nvSpPr>
          <p:cNvPr id="6" name="Text 4"/>
          <p:cNvSpPr/>
          <p:nvPr/>
        </p:nvSpPr>
        <p:spPr>
          <a:xfrm>
            <a:off x="995825" y="2345196"/>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Authoritative criteria for identifying primary rules. Its existence is a matter of </a:t>
            </a:r>
            <a:r>
              <a:rPr lang="en-US" sz="1300" b="1" dirty="0">
                <a:solidFill>
                  <a:srgbClr val="5E5850"/>
                </a:solidFill>
                <a:latin typeface="Inter" pitchFamily="34" charset="0"/>
                <a:ea typeface="Inter" pitchFamily="34" charset="-122"/>
                <a:cs typeface="Inter" pitchFamily="34" charset="-120"/>
              </a:rPr>
              <a:t>practice</a:t>
            </a:r>
            <a:r>
              <a:rPr lang="en-US" sz="1300" dirty="0">
                <a:solidFill>
                  <a:srgbClr val="5E5850"/>
                </a:solidFill>
                <a:latin typeface="Inter" pitchFamily="34" charset="0"/>
                <a:ea typeface="Inter" pitchFamily="34" charset="-122"/>
                <a:cs typeface="Inter" pitchFamily="34" charset="-120"/>
              </a:rPr>
              <a:t>.</a:t>
            </a:r>
            <a:endParaRPr lang="en-US" sz="1300" dirty="0"/>
          </a:p>
        </p:txBody>
      </p:sp>
      <p:sp>
        <p:nvSpPr>
          <p:cNvPr id="7" name="Shape 5"/>
          <p:cNvSpPr/>
          <p:nvPr/>
        </p:nvSpPr>
        <p:spPr>
          <a:xfrm>
            <a:off x="4422750" y="1882750"/>
            <a:ext cx="3346417" cy="1335749"/>
          </a:xfrm>
          <a:prstGeom prst="roundRect">
            <a:avLst>
              <a:gd name="adj" fmla="val 8319"/>
            </a:avLst>
          </a:prstGeom>
          <a:solidFill>
            <a:srgbClr val="FFFFFF"/>
          </a:solidFill>
          <a:ln w="6350">
            <a:solidFill>
              <a:srgbClr val="E0D7C9"/>
            </a:solidFill>
            <a:prstDash val="solid"/>
          </a:ln>
        </p:spPr>
      </p:sp>
      <p:sp>
        <p:nvSpPr>
          <p:cNvPr id="8" name="Text 6"/>
          <p:cNvSpPr/>
          <p:nvPr/>
        </p:nvSpPr>
        <p:spPr>
          <a:xfrm>
            <a:off x="4602634"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Legal validity</a:t>
            </a:r>
            <a:endParaRPr lang="en-US" sz="1500" dirty="0"/>
          </a:p>
        </p:txBody>
      </p:sp>
      <p:sp>
        <p:nvSpPr>
          <p:cNvPr id="9" name="Text 7"/>
          <p:cNvSpPr/>
          <p:nvPr/>
        </p:nvSpPr>
        <p:spPr>
          <a:xfrm>
            <a:off x="4602634" y="2345196"/>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 rule is valid when it passes the tests the rule of recognition provides — validity is membership (</a:t>
            </a:r>
            <a:r>
              <a:rPr lang="en-US" sz="1300" i="1" dirty="0">
                <a:solidFill>
                  <a:srgbClr val="5E5850"/>
                </a:solidFill>
                <a:latin typeface="Inter" pitchFamily="34" charset="0"/>
                <a:ea typeface="Inter" pitchFamily="34" charset="-122"/>
                <a:cs typeface="Inter" pitchFamily="34" charset="-120"/>
              </a:rPr>
              <a:t>CL</a:t>
            </a:r>
            <a:r>
              <a:rPr lang="en-US" sz="1300" dirty="0">
                <a:solidFill>
                  <a:srgbClr val="5E5850"/>
                </a:solidFill>
                <a:latin typeface="Inter" pitchFamily="34" charset="0"/>
                <a:ea typeface="Inter" pitchFamily="34" charset="-122"/>
                <a:cs typeface="Inter" pitchFamily="34" charset="-120"/>
              </a:rPr>
              <a:t> 103).</a:t>
            </a:r>
            <a:endParaRPr lang="en-US" sz="1300" dirty="0"/>
          </a:p>
        </p:txBody>
      </p:sp>
      <p:sp>
        <p:nvSpPr>
          <p:cNvPr id="10" name="Shape 8"/>
          <p:cNvSpPr/>
          <p:nvPr/>
        </p:nvSpPr>
        <p:spPr>
          <a:xfrm>
            <a:off x="8029558" y="1882750"/>
            <a:ext cx="3346417" cy="1566887"/>
          </a:xfrm>
          <a:prstGeom prst="roundRect">
            <a:avLst>
              <a:gd name="adj" fmla="val 7092"/>
            </a:avLst>
          </a:prstGeom>
          <a:solidFill>
            <a:srgbClr val="FFFFFF"/>
          </a:solidFill>
          <a:ln w="6350">
            <a:solidFill>
              <a:srgbClr val="E0D7C9"/>
            </a:solidFill>
            <a:prstDash val="solid"/>
          </a:ln>
        </p:spPr>
      </p:sp>
      <p:sp>
        <p:nvSpPr>
          <p:cNvPr id="11" name="Text 9"/>
          <p:cNvSpPr/>
          <p:nvPr/>
        </p:nvSpPr>
        <p:spPr>
          <a:xfrm>
            <a:off x="8209442"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Existence of a system</a:t>
            </a:r>
            <a:endParaRPr lang="en-US" sz="1500" dirty="0"/>
          </a:p>
        </p:txBody>
      </p:sp>
      <p:sp>
        <p:nvSpPr>
          <p:cNvPr id="12" name="Text 10"/>
          <p:cNvSpPr/>
          <p:nvPr/>
        </p:nvSpPr>
        <p:spPr>
          <a:xfrm>
            <a:off x="8209442" y="2345196"/>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Valid rules generally obeyed, </a:t>
            </a:r>
            <a:r>
              <a:rPr lang="en-US" sz="1300" i="1" dirty="0">
                <a:solidFill>
                  <a:srgbClr val="5E5850"/>
                </a:solidFill>
                <a:latin typeface="Inter" pitchFamily="34" charset="0"/>
                <a:ea typeface="Inter" pitchFamily="34" charset="-122"/>
                <a:cs typeface="Inter" pitchFamily="34" charset="-120"/>
              </a:rPr>
              <a:t>and</a:t>
            </a:r>
            <a:r>
              <a:rPr lang="en-US" sz="1300" dirty="0">
                <a:solidFill>
                  <a:srgbClr val="5E5850"/>
                </a:solidFill>
                <a:latin typeface="Inter" pitchFamily="34" charset="0"/>
                <a:ea typeface="Inter" pitchFamily="34" charset="-122"/>
                <a:cs typeface="Inter" pitchFamily="34" charset="-120"/>
              </a:rPr>
              <a:t> secondary rules accepted as common public standards of official behaviour (</a:t>
            </a:r>
            <a:r>
              <a:rPr lang="en-US" sz="1300" i="1" dirty="0">
                <a:solidFill>
                  <a:srgbClr val="5E5850"/>
                </a:solidFill>
                <a:latin typeface="Inter" pitchFamily="34" charset="0"/>
                <a:ea typeface="Inter" pitchFamily="34" charset="-122"/>
                <a:cs typeface="Inter" pitchFamily="34" charset="-120"/>
              </a:rPr>
              <a:t>CL</a:t>
            </a:r>
            <a:r>
              <a:rPr lang="en-US" sz="1300" dirty="0">
                <a:solidFill>
                  <a:srgbClr val="5E5850"/>
                </a:solidFill>
                <a:latin typeface="Inter" pitchFamily="34" charset="0"/>
                <a:ea typeface="Inter" pitchFamily="34" charset="-122"/>
                <a:cs typeface="Inter" pitchFamily="34" charset="-120"/>
              </a:rPr>
              <a:t> 109).</a:t>
            </a:r>
            <a:endParaRPr lang="en-US" sz="1300" dirty="0"/>
          </a:p>
        </p:txBody>
      </p:sp>
      <p:sp>
        <p:nvSpPr>
          <p:cNvPr id="13" name="Shape 11"/>
          <p:cNvSpPr/>
          <p:nvPr/>
        </p:nvSpPr>
        <p:spPr>
          <a:xfrm>
            <a:off x="828642" y="3175000"/>
            <a:ext cx="0" cy="1099137"/>
          </a:xfrm>
          <a:prstGeom prst="line">
            <a:avLst/>
          </a:prstGeom>
          <a:noFill/>
          <a:ln w="31750">
            <a:solidFill>
              <a:srgbClr val="B0451D"/>
            </a:solidFill>
            <a:prstDash val="solid"/>
          </a:ln>
        </p:spPr>
      </p:sp>
      <p:sp>
        <p:nvSpPr>
          <p:cNvPr id="14" name="Text 12"/>
          <p:cNvSpPr/>
          <p:nvPr/>
        </p:nvSpPr>
        <p:spPr>
          <a:xfrm>
            <a:off x="1060400" y="3175000"/>
            <a:ext cx="6285437" cy="829940"/>
          </a:xfrm>
          <a:prstGeom prst="rect">
            <a:avLst/>
          </a:prstGeom>
          <a:noFill/>
          <a:ln/>
        </p:spPr>
        <p:txBody>
          <a:bodyPr wrap="square" lIns="0" tIns="0" rIns="0" bIns="0" rtlCol="0" anchor="t">
            <a:normAutofit/>
          </a:bodyPr>
          <a:lstStyle/>
          <a:p>
            <a:pPr algn="l" indent="0" marL="0">
              <a:lnSpc>
                <a:spcPts val="2112"/>
              </a:lnSpc>
              <a:buNone/>
            </a:pPr>
            <a:r>
              <a:rPr lang="en-US" sz="1600" i="1" dirty="0">
                <a:solidFill>
                  <a:srgbClr val="191814"/>
                </a:solidFill>
                <a:latin typeface="Fraunces" pitchFamily="34" charset="0"/>
                <a:ea typeface="Fraunces" pitchFamily="34" charset="-122"/>
                <a:cs typeface="Fraunces" pitchFamily="34" charset="-120"/>
              </a:rPr>
              <a:t>“No such question can arise as to the validity of the very rule of recognition … it can neither be valid nor invalid but is simply accepted as appropriate for use in this way.”</a:t>
            </a:r>
            <a:endParaRPr lang="en-US" sz="1600" dirty="0"/>
          </a:p>
        </p:txBody>
      </p:sp>
      <p:sp>
        <p:nvSpPr>
          <p:cNvPr id="15" name="Text 13"/>
          <p:cNvSpPr/>
          <p:nvPr/>
        </p:nvSpPr>
        <p:spPr>
          <a:xfrm>
            <a:off x="1060400" y="4068415"/>
            <a:ext cx="6285437"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109 — the standard-metre analogy</a:t>
            </a:r>
            <a:endParaRPr lang="en-US" sz="1200" dirty="0"/>
          </a:p>
        </p:txBody>
      </p:sp>
      <p:sp>
        <p:nvSpPr>
          <p:cNvPr id="16" name="Shape 14"/>
          <p:cNvSpPr/>
          <p:nvPr/>
        </p:nvSpPr>
        <p:spPr>
          <a:xfrm>
            <a:off x="7493000" y="3175000"/>
            <a:ext cx="3886191" cy="1497211"/>
          </a:xfrm>
          <a:prstGeom prst="roundRect">
            <a:avLst>
              <a:gd name="adj" fmla="val 6786"/>
            </a:avLst>
          </a:prstGeom>
          <a:solidFill>
            <a:srgbClr val="F2EBE0"/>
          </a:solidFill>
          <a:ln/>
        </p:spPr>
      </p:sp>
      <p:sp>
        <p:nvSpPr>
          <p:cNvPr id="17" name="Text 15"/>
          <p:cNvSpPr/>
          <p:nvPr/>
        </p:nvSpPr>
        <p:spPr>
          <a:xfrm>
            <a:off x="7670767" y="3352763"/>
            <a:ext cx="363657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7A6110"/>
                </a:solidFill>
                <a:latin typeface="Fraunces" pitchFamily="34" charset="0"/>
                <a:ea typeface="Fraunces" pitchFamily="34" charset="-122"/>
                <a:cs typeface="Fraunces" pitchFamily="34" charset="-120"/>
              </a:rPr>
              <a:t>Against Kelsen</a:t>
            </a:r>
            <a:endParaRPr lang="en-US" sz="1450" dirty="0"/>
          </a:p>
        </p:txBody>
      </p:sp>
      <p:sp>
        <p:nvSpPr>
          <p:cNvPr id="18" name="Text 16"/>
          <p:cNvSpPr/>
          <p:nvPr/>
        </p:nvSpPr>
        <p:spPr>
          <a:xfrm>
            <a:off x="7670767" y="3637186"/>
            <a:ext cx="3636577" cy="882650"/>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For Hart the rule of recognition is an empirical fact, varying by jurisdiction. For Kelsen the basic norm is a juristic hypothesis that must be presupposed, always with the same content.</a:t>
            </a:r>
            <a:endParaRPr lang="en-US" sz="1250" dirty="0"/>
          </a:p>
        </p:txBody>
      </p:sp>
      <p:sp>
        <p:nvSpPr>
          <p:cNvPr id="19" name="Shape 17"/>
          <p:cNvSpPr/>
          <p:nvPr/>
        </p:nvSpPr>
        <p:spPr>
          <a:xfrm>
            <a:off x="812767" y="4635500"/>
            <a:ext cx="10566383" cy="777214"/>
          </a:xfrm>
          <a:prstGeom prst="roundRect">
            <a:avLst>
              <a:gd name="adj" fmla="val 11438"/>
            </a:avLst>
          </a:prstGeom>
          <a:solidFill>
            <a:srgbClr val="F2EBE0"/>
          </a:solidFill>
          <a:ln/>
        </p:spPr>
      </p:sp>
      <p:sp>
        <p:nvSpPr>
          <p:cNvPr id="20" name="Shape 18"/>
          <p:cNvSpPr/>
          <p:nvPr/>
        </p:nvSpPr>
        <p:spPr>
          <a:xfrm>
            <a:off x="831817" y="4635500"/>
            <a:ext cx="0" cy="777214"/>
          </a:xfrm>
          <a:prstGeom prst="line">
            <a:avLst/>
          </a:prstGeom>
          <a:noFill/>
          <a:ln w="38100">
            <a:solidFill>
              <a:srgbClr val="1C595D"/>
            </a:solidFill>
            <a:prstDash val="solid"/>
          </a:ln>
        </p:spPr>
      </p:sp>
      <p:sp>
        <p:nvSpPr>
          <p:cNvPr id="21" name="Text 19"/>
          <p:cNvSpPr/>
          <p:nvPr/>
        </p:nvSpPr>
        <p:spPr>
          <a:xfrm>
            <a:off x="1027575" y="4775188"/>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Kelsen matters to Question 1 for one reason: </a:t>
            </a:r>
            <a:r>
              <a:rPr lang="en-US" sz="1400" b="1" dirty="0">
                <a:solidFill>
                  <a:srgbClr val="191814"/>
                </a:solidFill>
                <a:latin typeface="Inter" pitchFamily="34" charset="0"/>
                <a:ea typeface="Inter" pitchFamily="34" charset="-122"/>
                <a:cs typeface="Inter" pitchFamily="34" charset="-120"/>
              </a:rPr>
              <a:t>purity</a:t>
            </a:r>
            <a:r>
              <a:rPr lang="en-US" sz="1400" dirty="0">
                <a:solidFill>
                  <a:srgbClr val="191814"/>
                </a:solidFill>
                <a:latin typeface="Inter" pitchFamily="34" charset="0"/>
                <a:ea typeface="Inter" pitchFamily="34" charset="-122"/>
                <a:cs typeface="Inter" pitchFamily="34" charset="-120"/>
              </a:rPr>
              <a:t>. The pure theory “answers the question of what the law is, not what it ought to be” — the most uncompromising statement of the value-free ideal the question asks about.</a:t>
            </a:r>
            <a:endParaRPr lang="en-US" sz="1400" dirty="0"/>
          </a:p>
        </p:txBody>
      </p:sp>
      <p:sp>
        <p:nvSpPr>
          <p:cNvPr id="22" name="Text 20"/>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23" name="Text 21"/>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THREE SENSES OF LEGAL POSITIVISM</a:t>
            </a:r>
            <a:endParaRPr lang="en-US" sz="1200" dirty="0"/>
          </a:p>
        </p:txBody>
      </p:sp>
      <p:sp>
        <p:nvSpPr>
          <p:cNvPr id="3" name="Text 1"/>
          <p:cNvSpPr/>
          <p:nvPr/>
        </p:nvSpPr>
        <p:spPr>
          <a:xfrm>
            <a:off x="812767" y="914375"/>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Question 1 is about the middle one</a:t>
            </a:r>
            <a:endParaRPr lang="en-US" sz="2900" dirty="0"/>
          </a:p>
        </p:txBody>
      </p:sp>
      <p:sp>
        <p:nvSpPr>
          <p:cNvPr id="4" name="Shape 2"/>
          <p:cNvSpPr/>
          <p:nvPr/>
        </p:nvSpPr>
        <p:spPr>
          <a:xfrm>
            <a:off x="815942" y="1857363"/>
            <a:ext cx="10560033" cy="910927"/>
          </a:xfrm>
          <a:prstGeom prst="roundRect">
            <a:avLst>
              <a:gd name="adj" fmla="val 10805"/>
            </a:avLst>
          </a:prstGeom>
          <a:solidFill>
            <a:srgbClr val="FFFFFF"/>
          </a:solidFill>
          <a:ln w="6350">
            <a:solidFill>
              <a:srgbClr val="E0D7C9"/>
            </a:solidFill>
            <a:prstDash val="solid"/>
          </a:ln>
        </p:spPr>
      </p:sp>
      <p:sp>
        <p:nvSpPr>
          <p:cNvPr id="5" name="Text 3"/>
          <p:cNvSpPr/>
          <p:nvPr/>
        </p:nvSpPr>
        <p:spPr>
          <a:xfrm>
            <a:off x="995825" y="2037246"/>
            <a:ext cx="2092960" cy="57656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5E5850"/>
                </a:solidFill>
                <a:latin typeface="Fraunces" pitchFamily="34" charset="0"/>
                <a:ea typeface="Fraunces" pitchFamily="34" charset="-122"/>
                <a:cs typeface="Fraunces" pitchFamily="34" charset="-120"/>
              </a:rPr>
              <a:t>A general theory of law</a:t>
            </a:r>
            <a:endParaRPr lang="en-US" sz="1550" dirty="0"/>
          </a:p>
        </p:txBody>
      </p:sp>
      <p:sp>
        <p:nvSpPr>
          <p:cNvPr id="6" name="Text 4"/>
          <p:cNvSpPr/>
          <p:nvPr/>
        </p:nvSpPr>
        <p:spPr>
          <a:xfrm>
            <a:off x="3218325" y="2072841"/>
            <a:ext cx="8217099"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Law is grounded in social facts; existence and content depend on sources, not merits; law and morality are separable. </a:t>
            </a:r>
            <a:r>
              <a:rPr lang="en-US" sz="1350" b="1" dirty="0">
                <a:solidFill>
                  <a:srgbClr val="191814"/>
                </a:solidFill>
                <a:latin typeface="Inter" pitchFamily="34" charset="0"/>
                <a:ea typeface="Inter" pitchFamily="34" charset="-122"/>
                <a:cs typeface="Inter" pitchFamily="34" charset="-120"/>
              </a:rPr>
              <a:t>Descriptive and conceptual claims about the nature of law.</a:t>
            </a:r>
            <a:endParaRPr lang="en-US" sz="1350" dirty="0"/>
          </a:p>
        </p:txBody>
      </p:sp>
      <p:sp>
        <p:nvSpPr>
          <p:cNvPr id="7" name="Shape 5"/>
          <p:cNvSpPr/>
          <p:nvPr/>
        </p:nvSpPr>
        <p:spPr>
          <a:xfrm>
            <a:off x="822292" y="3019400"/>
            <a:ext cx="10547333" cy="853496"/>
          </a:xfrm>
          <a:prstGeom prst="roundRect">
            <a:avLst>
              <a:gd name="adj" fmla="val 10788"/>
            </a:avLst>
          </a:prstGeom>
          <a:solidFill>
            <a:srgbClr val="FCEEE5"/>
          </a:solidFill>
          <a:ln w="19050">
            <a:solidFill>
              <a:srgbClr val="B0451D"/>
            </a:solidFill>
            <a:prstDash val="solid"/>
          </a:ln>
        </p:spPr>
      </p:sp>
      <p:sp>
        <p:nvSpPr>
          <p:cNvPr id="8" name="Text 6"/>
          <p:cNvSpPr/>
          <p:nvPr/>
        </p:nvSpPr>
        <p:spPr>
          <a:xfrm>
            <a:off x="1009055" y="3308362"/>
            <a:ext cx="2092960" cy="30098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B0451D"/>
                </a:solidFill>
                <a:latin typeface="Fraunces" pitchFamily="34" charset="0"/>
                <a:ea typeface="Fraunces" pitchFamily="34" charset="-122"/>
                <a:cs typeface="Fraunces" pitchFamily="34" charset="-120"/>
              </a:rPr>
              <a:t>A methodology</a:t>
            </a:r>
            <a:endParaRPr lang="en-US" sz="1550" dirty="0"/>
          </a:p>
        </p:txBody>
      </p:sp>
      <p:sp>
        <p:nvSpPr>
          <p:cNvPr id="9" name="Text 7"/>
          <p:cNvSpPr/>
          <p:nvPr/>
        </p:nvSpPr>
        <p:spPr>
          <a:xfrm>
            <a:off x="3231555" y="3206167"/>
            <a:ext cx="8189847"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“Legal theory is a morally neutral, descriptive enterprise.” </a:t>
            </a:r>
            <a:r>
              <a:rPr lang="en-US" sz="1350" b="1" dirty="0">
                <a:solidFill>
                  <a:srgbClr val="191814"/>
                </a:solidFill>
                <a:latin typeface="Inter" pitchFamily="34" charset="0"/>
                <a:ea typeface="Inter" pitchFamily="34" charset="-122"/>
                <a:cs typeface="Inter" pitchFamily="34" charset="-120"/>
              </a:rPr>
              <a:t>A metatheoretical claim about the nature of legal theory</a:t>
            </a:r>
            <a:r>
              <a:rPr lang="en-US" sz="1350" dirty="0">
                <a:solidFill>
                  <a:srgbClr val="191814"/>
                </a:solidFill>
                <a:latin typeface="Inter" pitchFamily="34" charset="0"/>
                <a:ea typeface="Inter" pitchFamily="34" charset="-122"/>
                <a:cs typeface="Inter" pitchFamily="34" charset="-120"/>
              </a:rPr>
              <a:t> — the proposition Question 1 asks you to test.</a:t>
            </a:r>
            <a:endParaRPr lang="en-US" sz="1350" dirty="0"/>
          </a:p>
        </p:txBody>
      </p:sp>
      <p:sp>
        <p:nvSpPr>
          <p:cNvPr id="10" name="Shape 8"/>
          <p:cNvSpPr/>
          <p:nvPr/>
        </p:nvSpPr>
        <p:spPr>
          <a:xfrm>
            <a:off x="815942" y="4168750"/>
            <a:ext cx="10560033" cy="839738"/>
          </a:xfrm>
          <a:prstGeom prst="roundRect">
            <a:avLst>
              <a:gd name="adj" fmla="val 11721"/>
            </a:avLst>
          </a:prstGeom>
          <a:solidFill>
            <a:srgbClr val="FFFFFF"/>
          </a:solidFill>
          <a:ln w="6350">
            <a:solidFill>
              <a:srgbClr val="E0D7C9"/>
            </a:solidFill>
            <a:prstDash val="solid"/>
          </a:ln>
        </p:spPr>
      </p:sp>
      <p:sp>
        <p:nvSpPr>
          <p:cNvPr id="11" name="Text 9"/>
          <p:cNvSpPr/>
          <p:nvPr/>
        </p:nvSpPr>
        <p:spPr>
          <a:xfrm>
            <a:off x="995825" y="4450829"/>
            <a:ext cx="2092960" cy="300980"/>
          </a:xfrm>
          <a:prstGeom prst="rect">
            <a:avLst/>
          </a:prstGeom>
          <a:noFill/>
          <a:ln/>
        </p:spPr>
        <p:txBody>
          <a:bodyPr wrap="square" lIns="0" tIns="0" rIns="0" bIns="0" rtlCol="0" anchor="t">
            <a:normAutofit/>
          </a:bodyPr>
          <a:lstStyle/>
          <a:p>
            <a:pPr algn="l" indent="0" marL="0">
              <a:lnSpc>
                <a:spcPts val="2170"/>
              </a:lnSpc>
              <a:buNone/>
            </a:pPr>
            <a:r>
              <a:rPr lang="en-US" sz="1550" b="1" dirty="0">
                <a:solidFill>
                  <a:srgbClr val="5E5850"/>
                </a:solidFill>
                <a:latin typeface="Fraunces" pitchFamily="34" charset="0"/>
                <a:ea typeface="Fraunces" pitchFamily="34" charset="-122"/>
                <a:cs typeface="Fraunces" pitchFamily="34" charset="-120"/>
              </a:rPr>
              <a:t>A political theory</a:t>
            </a:r>
            <a:endParaRPr lang="en-US" sz="1550" dirty="0"/>
          </a:p>
        </p:txBody>
      </p:sp>
      <p:sp>
        <p:nvSpPr>
          <p:cNvPr id="12" name="Text 10"/>
          <p:cNvSpPr/>
          <p:nvPr/>
        </p:nvSpPr>
        <p:spPr>
          <a:xfrm>
            <a:off x="3218325" y="4348634"/>
            <a:ext cx="8217099"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Moral criteria of validity are not morally </a:t>
            </a:r>
            <a:r>
              <a:rPr lang="en-US" sz="1350" i="1" dirty="0">
                <a:solidFill>
                  <a:srgbClr val="191814"/>
                </a:solidFill>
                <a:latin typeface="Inter" pitchFamily="34" charset="0"/>
                <a:ea typeface="Inter" pitchFamily="34" charset="-122"/>
                <a:cs typeface="Inter" pitchFamily="34" charset="-120"/>
              </a:rPr>
              <a:t>desirable</a:t>
            </a:r>
            <a:r>
              <a:rPr lang="en-US" sz="1350" dirty="0">
                <a:solidFill>
                  <a:srgbClr val="191814"/>
                </a:solidFill>
                <a:latin typeface="Inter" pitchFamily="34" charset="0"/>
                <a:ea typeface="Inter" pitchFamily="34" charset="-122"/>
                <a:cs typeface="Inter" pitchFamily="34" charset="-120"/>
              </a:rPr>
              <a:t>, even if conceptually possible. </a:t>
            </a:r>
            <a:r>
              <a:rPr lang="en-US" sz="1350" b="1" dirty="0">
                <a:solidFill>
                  <a:srgbClr val="191814"/>
                </a:solidFill>
                <a:latin typeface="Inter" pitchFamily="34" charset="0"/>
                <a:ea typeface="Inter" pitchFamily="34" charset="-122"/>
                <a:cs typeface="Inter" pitchFamily="34" charset="-120"/>
              </a:rPr>
              <a:t>A prescriptive version of the separability thesis.</a:t>
            </a:r>
            <a:endParaRPr lang="en-US" sz="1350" dirty="0"/>
          </a:p>
        </p:txBody>
      </p:sp>
      <p:sp>
        <p:nvSpPr>
          <p:cNvPr id="13" name="Text 11"/>
          <p:cNvSpPr/>
          <p:nvPr/>
        </p:nvSpPr>
        <p:spPr>
          <a:xfrm>
            <a:off x="812767" y="5143500"/>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E5850"/>
                </a:solidFill>
                <a:latin typeface="Inter" pitchFamily="34" charset="0"/>
                <a:ea typeface="Inter" pitchFamily="34" charset="-122"/>
                <a:cs typeface="Inter" pitchFamily="34" charset="-120"/>
              </a:rPr>
              <a:t>Hart’s Postscript claim is a claim in the second sense. Telling it apart from the first is the cleanest way to prove you are answering a question about legal theory, not about law.</a:t>
            </a:r>
            <a:endParaRPr lang="en-US" sz="1400" dirty="0"/>
          </a:p>
        </p:txBody>
      </p:sp>
      <p:sp>
        <p:nvSpPr>
          <p:cNvPr id="14" name="Text 12"/>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15" name="Text 13"/>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POSTSCRIPT</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The sentence Question 1 is built from</a:t>
            </a:r>
            <a:endParaRPr lang="en-US" sz="3000" dirty="0"/>
          </a:p>
        </p:txBody>
      </p:sp>
      <p:sp>
        <p:nvSpPr>
          <p:cNvPr id="4" name="Shape 2"/>
          <p:cNvSpPr/>
          <p:nvPr/>
        </p:nvSpPr>
        <p:spPr>
          <a:xfrm>
            <a:off x="828642" y="1816075"/>
            <a:ext cx="0" cy="998637"/>
          </a:xfrm>
          <a:prstGeom prst="line">
            <a:avLst/>
          </a:prstGeom>
          <a:noFill/>
          <a:ln w="31750">
            <a:solidFill>
              <a:srgbClr val="B0451D"/>
            </a:solidFill>
            <a:prstDash val="solid"/>
          </a:ln>
        </p:spPr>
      </p:sp>
      <p:sp>
        <p:nvSpPr>
          <p:cNvPr id="5" name="Text 3"/>
          <p:cNvSpPr/>
          <p:nvPr/>
        </p:nvSpPr>
        <p:spPr>
          <a:xfrm>
            <a:off x="1060400" y="1816075"/>
            <a:ext cx="10628313" cy="729440"/>
          </a:xfrm>
          <a:prstGeom prst="rect">
            <a:avLst/>
          </a:prstGeom>
          <a:noFill/>
          <a:ln/>
        </p:spPr>
        <p:txBody>
          <a:bodyPr wrap="square" lIns="0" tIns="0" rIns="0" bIns="0" rtlCol="0" anchor="t">
            <a:normAutofit/>
          </a:bodyPr>
          <a:lstStyle/>
          <a:p>
            <a:pPr algn="l" indent="0" marL="0">
              <a:lnSpc>
                <a:spcPts val="2772"/>
              </a:lnSpc>
              <a:buNone/>
            </a:pPr>
            <a:r>
              <a:rPr lang="en-US" sz="2100" i="1" dirty="0">
                <a:solidFill>
                  <a:srgbClr val="191814"/>
                </a:solidFill>
                <a:latin typeface="Fraunces" pitchFamily="34" charset="0"/>
                <a:ea typeface="Fraunces" pitchFamily="34" charset="-122"/>
                <a:cs typeface="Fraunces" pitchFamily="34" charset="-120"/>
              </a:rPr>
              <a:t>“My aim in this book was to provide a theory of what law is which is both general and descriptive.”</a:t>
            </a:r>
            <a:endParaRPr lang="en-US" sz="2100" dirty="0"/>
          </a:p>
        </p:txBody>
      </p:sp>
      <p:sp>
        <p:nvSpPr>
          <p:cNvPr id="6" name="Text 4"/>
          <p:cNvSpPr/>
          <p:nvPr/>
        </p:nvSpPr>
        <p:spPr>
          <a:xfrm>
            <a:off x="1060400" y="2608994"/>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239 — Postscript §1, ‘The Nature of Legal Theory’</a:t>
            </a:r>
            <a:endParaRPr lang="en-US" sz="1200" dirty="0"/>
          </a:p>
        </p:txBody>
      </p:sp>
      <p:sp>
        <p:nvSpPr>
          <p:cNvPr id="7" name="Shape 5"/>
          <p:cNvSpPr/>
          <p:nvPr/>
        </p:nvSpPr>
        <p:spPr>
          <a:xfrm>
            <a:off x="815942" y="2873363"/>
            <a:ext cx="5149841" cy="1490944"/>
          </a:xfrm>
          <a:prstGeom prst="roundRect">
            <a:avLst>
              <a:gd name="adj" fmla="val 6602"/>
            </a:avLst>
          </a:prstGeom>
          <a:solidFill>
            <a:srgbClr val="FFFFFF"/>
          </a:solidFill>
          <a:ln w="6350">
            <a:solidFill>
              <a:srgbClr val="E0D7C9"/>
            </a:solidFill>
            <a:prstDash val="solid"/>
          </a:ln>
        </p:spPr>
      </p:sp>
      <p:sp>
        <p:nvSpPr>
          <p:cNvPr id="8" name="Text 6"/>
          <p:cNvSpPr/>
          <p:nvPr/>
        </p:nvSpPr>
        <p:spPr>
          <a:xfrm>
            <a:off x="1008559" y="3065983"/>
            <a:ext cx="4907547"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0451D"/>
                </a:solidFill>
                <a:latin typeface="Fraunces" pitchFamily="34" charset="0"/>
                <a:ea typeface="Fraunces" pitchFamily="34" charset="-122"/>
                <a:cs typeface="Fraunces" pitchFamily="34" charset="-120"/>
              </a:rPr>
              <a:t>General</a:t>
            </a:r>
            <a:endParaRPr lang="en-US" sz="1700" dirty="0"/>
          </a:p>
        </p:txBody>
      </p:sp>
      <p:sp>
        <p:nvSpPr>
          <p:cNvPr id="9" name="Text 7"/>
          <p:cNvSpPr/>
          <p:nvPr/>
        </p:nvSpPr>
        <p:spPr>
          <a:xfrm>
            <a:off x="1008559" y="3401219"/>
            <a:ext cx="4907547"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“In the sense that it is not tied to any particular legal system or legal culture.”</a:t>
            </a:r>
            <a:endParaRPr lang="en-US" sz="1350" dirty="0"/>
          </a:p>
        </p:txBody>
      </p:sp>
      <p:sp>
        <p:nvSpPr>
          <p:cNvPr id="10" name="Text 8"/>
          <p:cNvSpPr/>
          <p:nvPr/>
        </p:nvSpPr>
        <p:spPr>
          <a:xfrm>
            <a:off x="1008559" y="3957377"/>
            <a:ext cx="4907547"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A claim about </a:t>
            </a:r>
            <a:r>
              <a:rPr lang="en-US" sz="1250" b="1" dirty="0">
                <a:solidFill>
                  <a:srgbClr val="5E5850"/>
                </a:solidFill>
                <a:latin typeface="Inter" pitchFamily="34" charset="0"/>
                <a:ea typeface="Inter" pitchFamily="34" charset="-122"/>
                <a:cs typeface="Inter" pitchFamily="34" charset="-120"/>
              </a:rPr>
              <a:t>scope</a:t>
            </a:r>
            <a:r>
              <a:rPr lang="en-US" sz="1250" dirty="0">
                <a:solidFill>
                  <a:srgbClr val="5E5850"/>
                </a:solidFill>
                <a:latin typeface="Inter" pitchFamily="34" charset="0"/>
                <a:ea typeface="Inter" pitchFamily="34" charset="-122"/>
                <a:cs typeface="Inter" pitchFamily="34" charset="-120"/>
              </a:rPr>
              <a:t>.</a:t>
            </a:r>
            <a:endParaRPr lang="en-US" sz="1250" dirty="0"/>
          </a:p>
        </p:txBody>
      </p:sp>
      <p:sp>
        <p:nvSpPr>
          <p:cNvPr id="11" name="Shape 9"/>
          <p:cNvSpPr/>
          <p:nvPr/>
        </p:nvSpPr>
        <p:spPr>
          <a:xfrm>
            <a:off x="6226175" y="2873363"/>
            <a:ext cx="5149841" cy="1250958"/>
          </a:xfrm>
          <a:prstGeom prst="roundRect">
            <a:avLst>
              <a:gd name="adj" fmla="val 7868"/>
            </a:avLst>
          </a:prstGeom>
          <a:solidFill>
            <a:srgbClr val="FFFFFF"/>
          </a:solidFill>
          <a:ln w="6350">
            <a:solidFill>
              <a:srgbClr val="E0D7C9"/>
            </a:solidFill>
            <a:prstDash val="solid"/>
          </a:ln>
        </p:spPr>
      </p:sp>
      <p:sp>
        <p:nvSpPr>
          <p:cNvPr id="12" name="Text 10"/>
          <p:cNvSpPr/>
          <p:nvPr/>
        </p:nvSpPr>
        <p:spPr>
          <a:xfrm>
            <a:off x="6418792" y="3065983"/>
            <a:ext cx="4907547"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C595D"/>
                </a:solidFill>
                <a:latin typeface="Fraunces" pitchFamily="34" charset="0"/>
                <a:ea typeface="Fraunces" pitchFamily="34" charset="-122"/>
                <a:cs typeface="Fraunces" pitchFamily="34" charset="-120"/>
              </a:rPr>
              <a:t>Descriptive</a:t>
            </a:r>
            <a:endParaRPr lang="en-US" sz="1700" dirty="0"/>
          </a:p>
        </p:txBody>
      </p:sp>
      <p:sp>
        <p:nvSpPr>
          <p:cNvPr id="13" name="Text 11"/>
          <p:cNvSpPr/>
          <p:nvPr/>
        </p:nvSpPr>
        <p:spPr>
          <a:xfrm>
            <a:off x="6418792" y="3401219"/>
            <a:ext cx="4907547" cy="265385"/>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“In that it is morally neutral and has no justificatory aims.”</a:t>
            </a:r>
            <a:endParaRPr lang="en-US" sz="1350" dirty="0"/>
          </a:p>
        </p:txBody>
      </p:sp>
      <p:sp>
        <p:nvSpPr>
          <p:cNvPr id="14" name="Text 12"/>
          <p:cNvSpPr/>
          <p:nvPr/>
        </p:nvSpPr>
        <p:spPr>
          <a:xfrm>
            <a:off x="6418792" y="3717392"/>
            <a:ext cx="4907547"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A claim about </a:t>
            </a:r>
            <a:r>
              <a:rPr lang="en-US" sz="1250" b="1" dirty="0">
                <a:solidFill>
                  <a:srgbClr val="5E5850"/>
                </a:solidFill>
                <a:latin typeface="Inter" pitchFamily="34" charset="0"/>
                <a:ea typeface="Inter" pitchFamily="34" charset="-122"/>
                <a:cs typeface="Inter" pitchFamily="34" charset="-120"/>
              </a:rPr>
              <a:t>stance</a:t>
            </a:r>
            <a:r>
              <a:rPr lang="en-US" sz="1250" dirty="0">
                <a:solidFill>
                  <a:srgbClr val="5E5850"/>
                </a:solidFill>
                <a:latin typeface="Inter" pitchFamily="34" charset="0"/>
                <a:ea typeface="Inter" pitchFamily="34" charset="-122"/>
                <a:cs typeface="Inter" pitchFamily="34" charset="-120"/>
              </a:rPr>
              <a:t>.</a:t>
            </a:r>
            <a:endParaRPr lang="en-US" sz="1250" dirty="0"/>
          </a:p>
        </p:txBody>
      </p:sp>
      <p:sp>
        <p:nvSpPr>
          <p:cNvPr id="15" name="Shape 13"/>
          <p:cNvSpPr/>
          <p:nvPr/>
        </p:nvSpPr>
        <p:spPr>
          <a:xfrm>
            <a:off x="812767" y="4546575"/>
            <a:ext cx="10566383" cy="777214"/>
          </a:xfrm>
          <a:prstGeom prst="roundRect">
            <a:avLst>
              <a:gd name="adj" fmla="val 11438"/>
            </a:avLst>
          </a:prstGeom>
          <a:solidFill>
            <a:srgbClr val="F2EBE0"/>
          </a:solidFill>
          <a:ln/>
        </p:spPr>
      </p:sp>
      <p:sp>
        <p:nvSpPr>
          <p:cNvPr id="16" name="Shape 14"/>
          <p:cNvSpPr/>
          <p:nvPr/>
        </p:nvSpPr>
        <p:spPr>
          <a:xfrm>
            <a:off x="831817" y="4546575"/>
            <a:ext cx="0" cy="777214"/>
          </a:xfrm>
          <a:prstGeom prst="line">
            <a:avLst/>
          </a:prstGeom>
          <a:noFill/>
          <a:ln w="38100">
            <a:solidFill>
              <a:srgbClr val="B0451D"/>
            </a:solidFill>
            <a:prstDash val="solid"/>
          </a:ln>
        </p:spPr>
      </p:sp>
      <p:sp>
        <p:nvSpPr>
          <p:cNvPr id="17" name="Text 15"/>
          <p:cNvSpPr/>
          <p:nvPr/>
        </p:nvSpPr>
        <p:spPr>
          <a:xfrm>
            <a:off x="1027575" y="4686263"/>
            <a:ext cx="10479022" cy="52323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814"/>
                </a:solidFill>
                <a:latin typeface="Inter" pitchFamily="34" charset="0"/>
                <a:ea typeface="Inter" pitchFamily="34" charset="-122"/>
                <a:cs typeface="Inter" pitchFamily="34" charset="-120"/>
              </a:rPr>
              <a:t>The two claims are separate.</a:t>
            </a:r>
            <a:r>
              <a:rPr lang="en-US" sz="1400" dirty="0">
                <a:solidFill>
                  <a:srgbClr val="191814"/>
                </a:solidFill>
                <a:latin typeface="Inter" pitchFamily="34" charset="0"/>
                <a:ea typeface="Inter" pitchFamily="34" charset="-122"/>
                <a:cs typeface="Inter" pitchFamily="34" charset="-120"/>
              </a:rPr>
              <a:t> Most of the literature audits “descriptive” and lets “general” pass without challenge. That asymmetry is an opening — and the basis of one of the three arguments later in this deck.</a:t>
            </a:r>
            <a:endParaRPr lang="en-US" sz="1400" dirty="0"/>
          </a:p>
        </p:txBody>
      </p:sp>
      <p:sp>
        <p:nvSpPr>
          <p:cNvPr id="18" name="Text 16"/>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03 · Hart</a:t>
            </a:r>
            <a:endParaRPr lang="en-US" sz="1200" dirty="0"/>
          </a:p>
        </p:txBody>
      </p:sp>
      <p:sp>
        <p:nvSpPr>
          <p:cNvPr id="19" name="Text 17"/>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04</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Question 1</a:t>
            </a:r>
            <a:endParaRPr lang="en-US" sz="4600" dirty="0"/>
          </a:p>
        </p:txBody>
      </p:sp>
      <p:sp>
        <p:nvSpPr>
          <p:cNvPr id="4" name="Text 2"/>
          <p:cNvSpPr/>
          <p:nvPr/>
        </p:nvSpPr>
        <p:spPr>
          <a:xfrm>
            <a:off x="812767" y="4191000"/>
            <a:ext cx="8110220"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Can a general, descriptive theory of law be value-free? The methodology debate — what it is, who is in it, and three ways to answer.</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UNPACK THE QUESTION FIRST</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Four words, each doing work</a:t>
            </a:r>
            <a:endParaRPr lang="en-US" sz="3000" dirty="0"/>
          </a:p>
        </p:txBody>
      </p:sp>
      <p:sp>
        <p:nvSpPr>
          <p:cNvPr id="4" name="Shape 2"/>
          <p:cNvSpPr/>
          <p:nvPr/>
        </p:nvSpPr>
        <p:spPr>
          <a:xfrm>
            <a:off x="815942" y="1882750"/>
            <a:ext cx="2444725" cy="1676276"/>
          </a:xfrm>
          <a:prstGeom prst="roundRect">
            <a:avLst>
              <a:gd name="adj" fmla="val 5872"/>
            </a:avLst>
          </a:prstGeom>
          <a:solidFill>
            <a:srgbClr val="FFFFFF"/>
          </a:solidFill>
          <a:ln w="6350">
            <a:solidFill>
              <a:srgbClr val="E0D7C9"/>
            </a:solidFill>
            <a:prstDash val="solid"/>
          </a:ln>
        </p:spPr>
      </p:sp>
      <p:sp>
        <p:nvSpPr>
          <p:cNvPr id="5" name="Text 3"/>
          <p:cNvSpPr/>
          <p:nvPr/>
        </p:nvSpPr>
        <p:spPr>
          <a:xfrm>
            <a:off x="970442" y="2037246"/>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01</a:t>
            </a:r>
            <a:endParaRPr lang="en-US" sz="1300" dirty="0"/>
          </a:p>
        </p:txBody>
      </p:sp>
      <p:sp>
        <p:nvSpPr>
          <p:cNvPr id="6" name="Text 4"/>
          <p:cNvSpPr/>
          <p:nvPr/>
        </p:nvSpPr>
        <p:spPr>
          <a:xfrm>
            <a:off x="970442" y="2319151"/>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“Can”</a:t>
            </a:r>
            <a:endParaRPr lang="en-US" sz="1450" dirty="0"/>
          </a:p>
        </p:txBody>
      </p:sp>
      <p:sp>
        <p:nvSpPr>
          <p:cNvPr id="7" name="Text 5"/>
          <p:cNvSpPr/>
          <p:nvPr/>
        </p:nvSpPr>
        <p:spPr>
          <a:xfrm>
            <a:off x="970442" y="2581672"/>
            <a:ext cx="2199797"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Possibility, not desirability. Much of the literature argues about whether theory </a:t>
            </a:r>
            <a:r>
              <a:rPr lang="en-US" sz="1200" i="1" dirty="0">
                <a:solidFill>
                  <a:srgbClr val="5E5850"/>
                </a:solidFill>
                <a:latin typeface="Inter" pitchFamily="34" charset="0"/>
                <a:ea typeface="Inter" pitchFamily="34" charset="-122"/>
                <a:cs typeface="Inter" pitchFamily="34" charset="-120"/>
              </a:rPr>
              <a:t>should</a:t>
            </a:r>
            <a:r>
              <a:rPr lang="en-US" sz="1200" dirty="0">
                <a:solidFill>
                  <a:srgbClr val="5E5850"/>
                </a:solidFill>
                <a:latin typeface="Inter" pitchFamily="34" charset="0"/>
                <a:ea typeface="Inter" pitchFamily="34" charset="-122"/>
                <a:cs typeface="Inter" pitchFamily="34" charset="-120"/>
              </a:rPr>
              <a:t> be value-free.</a:t>
            </a:r>
            <a:endParaRPr lang="en-US" sz="1200" dirty="0"/>
          </a:p>
        </p:txBody>
      </p:sp>
      <p:sp>
        <p:nvSpPr>
          <p:cNvPr id="8" name="Shape 6"/>
          <p:cNvSpPr/>
          <p:nvPr/>
        </p:nvSpPr>
        <p:spPr>
          <a:xfrm>
            <a:off x="3521058" y="1882750"/>
            <a:ext cx="2444725" cy="1676276"/>
          </a:xfrm>
          <a:prstGeom prst="roundRect">
            <a:avLst>
              <a:gd name="adj" fmla="val 5872"/>
            </a:avLst>
          </a:prstGeom>
          <a:solidFill>
            <a:srgbClr val="FFFFFF"/>
          </a:solidFill>
          <a:ln w="6350">
            <a:solidFill>
              <a:srgbClr val="E0D7C9"/>
            </a:solidFill>
            <a:prstDash val="solid"/>
          </a:ln>
        </p:spPr>
      </p:sp>
      <p:sp>
        <p:nvSpPr>
          <p:cNvPr id="9" name="Text 7"/>
          <p:cNvSpPr/>
          <p:nvPr/>
        </p:nvSpPr>
        <p:spPr>
          <a:xfrm>
            <a:off x="3675559" y="2037246"/>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02</a:t>
            </a:r>
            <a:endParaRPr lang="en-US" sz="1300" dirty="0"/>
          </a:p>
        </p:txBody>
      </p:sp>
      <p:sp>
        <p:nvSpPr>
          <p:cNvPr id="10" name="Text 8"/>
          <p:cNvSpPr/>
          <p:nvPr/>
        </p:nvSpPr>
        <p:spPr>
          <a:xfrm>
            <a:off x="3675559" y="2319151"/>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“General”</a:t>
            </a:r>
            <a:endParaRPr lang="en-US" sz="1450" dirty="0"/>
          </a:p>
        </p:txBody>
      </p:sp>
      <p:sp>
        <p:nvSpPr>
          <p:cNvPr id="11" name="Text 9"/>
          <p:cNvSpPr/>
          <p:nvPr/>
        </p:nvSpPr>
        <p:spPr>
          <a:xfrm>
            <a:off x="3675559" y="2581672"/>
            <a:ext cx="2199797"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Not tied to any system or culture. A claim about scope — and it can fail independently.</a:t>
            </a:r>
            <a:endParaRPr lang="en-US" sz="1200" dirty="0"/>
          </a:p>
        </p:txBody>
      </p:sp>
      <p:sp>
        <p:nvSpPr>
          <p:cNvPr id="12" name="Shape 10"/>
          <p:cNvSpPr/>
          <p:nvPr/>
        </p:nvSpPr>
        <p:spPr>
          <a:xfrm>
            <a:off x="6226175" y="1882750"/>
            <a:ext cx="2444725" cy="1676276"/>
          </a:xfrm>
          <a:prstGeom prst="roundRect">
            <a:avLst>
              <a:gd name="adj" fmla="val 5872"/>
            </a:avLst>
          </a:prstGeom>
          <a:solidFill>
            <a:srgbClr val="FFFFFF"/>
          </a:solidFill>
          <a:ln w="6350">
            <a:solidFill>
              <a:srgbClr val="E0D7C9"/>
            </a:solidFill>
            <a:prstDash val="solid"/>
          </a:ln>
        </p:spPr>
      </p:sp>
      <p:sp>
        <p:nvSpPr>
          <p:cNvPr id="13" name="Text 11"/>
          <p:cNvSpPr/>
          <p:nvPr/>
        </p:nvSpPr>
        <p:spPr>
          <a:xfrm>
            <a:off x="6380675" y="2037246"/>
            <a:ext cx="2199797"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03</a:t>
            </a:r>
            <a:endParaRPr lang="en-US" sz="1300" dirty="0"/>
          </a:p>
        </p:txBody>
      </p:sp>
      <p:sp>
        <p:nvSpPr>
          <p:cNvPr id="14" name="Text 12"/>
          <p:cNvSpPr/>
          <p:nvPr/>
        </p:nvSpPr>
        <p:spPr>
          <a:xfrm>
            <a:off x="6380675" y="2319151"/>
            <a:ext cx="2199797"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“Descriptive”</a:t>
            </a:r>
            <a:endParaRPr lang="en-US" sz="1450" dirty="0"/>
          </a:p>
        </p:txBody>
      </p:sp>
      <p:sp>
        <p:nvSpPr>
          <p:cNvPr id="15" name="Text 13"/>
          <p:cNvSpPr/>
          <p:nvPr/>
        </p:nvSpPr>
        <p:spPr>
          <a:xfrm>
            <a:off x="6380675" y="2581672"/>
            <a:ext cx="2199797" cy="84825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glosses it as morally neutral, with no justificatory aims. He defines it by what it is </a:t>
            </a:r>
            <a:r>
              <a:rPr lang="en-US" sz="1200" i="1" dirty="0">
                <a:solidFill>
                  <a:srgbClr val="5E5850"/>
                </a:solidFill>
                <a:latin typeface="Inter" pitchFamily="34" charset="0"/>
                <a:ea typeface="Inter" pitchFamily="34" charset="-122"/>
                <a:cs typeface="Inter" pitchFamily="34" charset="-120"/>
              </a:rPr>
              <a:t>not</a:t>
            </a:r>
            <a:r>
              <a:rPr lang="en-US" sz="1200" dirty="0">
                <a:solidFill>
                  <a:srgbClr val="5E5850"/>
                </a:solidFill>
                <a:latin typeface="Inter" pitchFamily="34" charset="0"/>
                <a:ea typeface="Inter" pitchFamily="34" charset="-122"/>
                <a:cs typeface="Inter" pitchFamily="34" charset="-120"/>
              </a:rPr>
              <a:t>.</a:t>
            </a:r>
            <a:endParaRPr lang="en-US" sz="1200" dirty="0"/>
          </a:p>
        </p:txBody>
      </p:sp>
      <p:sp>
        <p:nvSpPr>
          <p:cNvPr id="16" name="Shape 14"/>
          <p:cNvSpPr/>
          <p:nvPr/>
        </p:nvSpPr>
        <p:spPr>
          <a:xfrm>
            <a:off x="8934425" y="1885925"/>
            <a:ext cx="2438375" cy="1680509"/>
          </a:xfrm>
          <a:prstGeom prst="roundRect">
            <a:avLst>
              <a:gd name="adj" fmla="val 5668"/>
            </a:avLst>
          </a:prstGeom>
          <a:solidFill>
            <a:srgbClr val="FCEEE5"/>
          </a:solidFill>
          <a:ln w="12700">
            <a:solidFill>
              <a:srgbClr val="B0451D"/>
            </a:solidFill>
            <a:prstDash val="solid"/>
          </a:ln>
        </p:spPr>
      </p:sp>
      <p:sp>
        <p:nvSpPr>
          <p:cNvPr id="17" name="Text 15"/>
          <p:cNvSpPr/>
          <p:nvPr/>
        </p:nvSpPr>
        <p:spPr>
          <a:xfrm>
            <a:off x="9091042" y="2042542"/>
            <a:ext cx="2188896"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04</a:t>
            </a:r>
            <a:endParaRPr lang="en-US" sz="1300" dirty="0"/>
          </a:p>
        </p:txBody>
      </p:sp>
      <p:sp>
        <p:nvSpPr>
          <p:cNvPr id="18" name="Text 16"/>
          <p:cNvSpPr/>
          <p:nvPr/>
        </p:nvSpPr>
        <p:spPr>
          <a:xfrm>
            <a:off x="9091042" y="2324447"/>
            <a:ext cx="2188896"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“Value-free”</a:t>
            </a:r>
            <a:endParaRPr lang="en-US" sz="1450" dirty="0"/>
          </a:p>
        </p:txBody>
      </p:sp>
      <p:sp>
        <p:nvSpPr>
          <p:cNvPr id="19" name="Text 17"/>
          <p:cNvSpPr/>
          <p:nvPr/>
        </p:nvSpPr>
        <p:spPr>
          <a:xfrm>
            <a:off x="9091042" y="2586955"/>
            <a:ext cx="2188896"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The question’s own word, and wider than Hart’s.</a:t>
            </a:r>
            <a:r>
              <a:rPr lang="en-US" sz="1200" dirty="0">
                <a:solidFill>
                  <a:srgbClr val="5E5850"/>
                </a:solidFill>
                <a:latin typeface="Inter" pitchFamily="34" charset="0"/>
                <a:ea typeface="Inter" pitchFamily="34" charset="-122"/>
                <a:cs typeface="Inter" pitchFamily="34" charset="-120"/>
              </a:rPr>
              <a:t> He claimed moral neutrality; value-freedom is bigger.</a:t>
            </a:r>
            <a:endParaRPr lang="en-US" sz="1200" dirty="0"/>
          </a:p>
        </p:txBody>
      </p:sp>
      <p:sp>
        <p:nvSpPr>
          <p:cNvPr id="20" name="Shape 18"/>
          <p:cNvSpPr/>
          <p:nvPr/>
        </p:nvSpPr>
        <p:spPr>
          <a:xfrm>
            <a:off x="812767" y="3810000"/>
            <a:ext cx="10566383" cy="1318204"/>
          </a:xfrm>
          <a:prstGeom prst="roundRect">
            <a:avLst>
              <a:gd name="adj" fmla="val 6744"/>
            </a:avLst>
          </a:prstGeom>
          <a:solidFill>
            <a:srgbClr val="F2EBE0"/>
          </a:solidFill>
          <a:ln/>
        </p:spPr>
      </p:sp>
      <p:sp>
        <p:nvSpPr>
          <p:cNvPr id="21" name="Shape 19"/>
          <p:cNvSpPr/>
          <p:nvPr/>
        </p:nvSpPr>
        <p:spPr>
          <a:xfrm>
            <a:off x="831817" y="3810000"/>
            <a:ext cx="0" cy="1318204"/>
          </a:xfrm>
          <a:prstGeom prst="line">
            <a:avLst/>
          </a:prstGeom>
          <a:noFill/>
          <a:ln w="38100">
            <a:solidFill>
              <a:srgbClr val="B0451D"/>
            </a:solidFill>
            <a:prstDash val="solid"/>
          </a:ln>
        </p:spPr>
      </p:sp>
      <p:sp>
        <p:nvSpPr>
          <p:cNvPr id="22" name="Text 20"/>
          <p:cNvSpPr/>
          <p:nvPr/>
        </p:nvSpPr>
        <p:spPr>
          <a:xfrm>
            <a:off x="1027575" y="39496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And “the methodology debate”</a:t>
            </a:r>
            <a:endParaRPr lang="en-US" sz="1500" dirty="0"/>
          </a:p>
        </p:txBody>
      </p:sp>
      <p:sp>
        <p:nvSpPr>
          <p:cNvPr id="23" name="Text 21"/>
          <p:cNvSpPr/>
          <p:nvPr/>
        </p:nvSpPr>
        <p:spPr>
          <a:xfrm>
            <a:off x="1027575" y="4241763"/>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The convenor’s gloss: the set of questions and arguments about </a:t>
            </a:r>
            <a:r>
              <a:rPr lang="en-US" sz="1400" b="1" dirty="0">
                <a:solidFill>
                  <a:srgbClr val="191814"/>
                </a:solidFill>
                <a:latin typeface="Inter" pitchFamily="34" charset="0"/>
                <a:ea typeface="Inter" pitchFamily="34" charset="-122"/>
                <a:cs typeface="Inter" pitchFamily="34" charset="-120"/>
              </a:rPr>
              <a:t>what kind of theory a general theory of law should be</a:t>
            </a:r>
            <a:r>
              <a:rPr lang="en-US" sz="1400" dirty="0">
                <a:solidFill>
                  <a:srgbClr val="191814"/>
                </a:solidFill>
                <a:latin typeface="Inter" pitchFamily="34" charset="0"/>
                <a:ea typeface="Inter" pitchFamily="34" charset="-122"/>
                <a:cs typeface="Inter" pitchFamily="34" charset="-120"/>
              </a:rPr>
              <a:t>. One way in is precisely whether such a theory could or should be value-free. He also said, explicitly, that he did </a:t>
            </a:r>
            <a:r>
              <a:rPr lang="en-US" sz="1400" i="1" dirty="0">
                <a:solidFill>
                  <a:srgbClr val="191814"/>
                </a:solidFill>
                <a:latin typeface="Inter" pitchFamily="34" charset="0"/>
                <a:ea typeface="Inter" pitchFamily="34" charset="-122"/>
                <a:cs typeface="Inter" pitchFamily="34" charset="-120"/>
              </a:rPr>
              <a:t>not</a:t>
            </a:r>
            <a:r>
              <a:rPr lang="en-US" sz="1400" dirty="0">
                <a:solidFill>
                  <a:srgbClr val="191814"/>
                </a:solidFill>
                <a:latin typeface="Inter" pitchFamily="34" charset="0"/>
                <a:ea typeface="Inter" pitchFamily="34" charset="-122"/>
                <a:cs typeface="Inter" pitchFamily="34" charset="-120"/>
              </a:rPr>
              <a:t> want an essay on the Hart–Dworkin debate.</a:t>
            </a:r>
            <a:endParaRPr lang="en-US" sz="1400" dirty="0"/>
          </a:p>
        </p:txBody>
      </p:sp>
      <p:sp>
        <p:nvSpPr>
          <p:cNvPr id="24" name="Text 22"/>
          <p:cNvSpPr/>
          <p:nvPr/>
        </p:nvSpPr>
        <p:spPr>
          <a:xfrm>
            <a:off x="812767" y="5080000"/>
            <a:ext cx="10883374" cy="52256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E5850"/>
                </a:solidFill>
                <a:latin typeface="Inter" pitchFamily="34" charset="0"/>
                <a:ea typeface="Inter" pitchFamily="34" charset="-122"/>
                <a:cs typeface="Inter" pitchFamily="34" charset="-120"/>
              </a:rPr>
              <a:t>Sources he named: Coleman’s ‘Methodology’ chapter in the </a:t>
            </a:r>
            <a:r>
              <a:rPr lang="en-US" sz="1350" i="1" dirty="0">
                <a:solidFill>
                  <a:srgbClr val="5E5850"/>
                </a:solidFill>
                <a:latin typeface="Inter" pitchFamily="34" charset="0"/>
                <a:ea typeface="Inter" pitchFamily="34" charset="-122"/>
                <a:cs typeface="Inter" pitchFamily="34" charset="-120"/>
              </a:rPr>
              <a:t>Oxford Handbook</a:t>
            </a:r>
            <a:r>
              <a:rPr lang="en-US" sz="1350" dirty="0">
                <a:solidFill>
                  <a:srgbClr val="5E5850"/>
                </a:solidFill>
                <a:latin typeface="Inter" pitchFamily="34" charset="0"/>
                <a:ea typeface="Inter" pitchFamily="34" charset="-122"/>
                <a:cs typeface="Inter" pitchFamily="34" charset="-120"/>
              </a:rPr>
              <a:t>; Dickson’s </a:t>
            </a:r>
            <a:r>
              <a:rPr lang="en-US" sz="1350" i="1" dirty="0">
                <a:solidFill>
                  <a:srgbClr val="5E5850"/>
                </a:solidFill>
                <a:latin typeface="Inter" pitchFamily="34" charset="0"/>
                <a:ea typeface="Inter" pitchFamily="34" charset="-122"/>
                <a:cs typeface="Inter" pitchFamily="34" charset="-120"/>
              </a:rPr>
              <a:t>Evaluation and Legal Theory</a:t>
            </a:r>
            <a:r>
              <a:rPr lang="en-US" sz="1350" dirty="0">
                <a:solidFill>
                  <a:srgbClr val="5E5850"/>
                </a:solidFill>
                <a:latin typeface="Inter" pitchFamily="34" charset="0"/>
                <a:ea typeface="Inter" pitchFamily="34" charset="-122"/>
                <a:cs typeface="Inter" pitchFamily="34" charset="-120"/>
              </a:rPr>
              <a:t> and </a:t>
            </a:r>
            <a:r>
              <a:rPr lang="en-US" sz="1350" i="1" dirty="0">
                <a:solidFill>
                  <a:srgbClr val="5E5850"/>
                </a:solidFill>
                <a:latin typeface="Inter" pitchFamily="34" charset="0"/>
                <a:ea typeface="Inter" pitchFamily="34" charset="-122"/>
                <a:cs typeface="Inter" pitchFamily="34" charset="-120"/>
              </a:rPr>
              <a:t>Elucidating Law</a:t>
            </a:r>
            <a:r>
              <a:rPr lang="en-US" sz="1350" dirty="0">
                <a:solidFill>
                  <a:srgbClr val="5E5850"/>
                </a:solidFill>
                <a:latin typeface="Inter" pitchFamily="34" charset="0"/>
                <a:ea typeface="Inter" pitchFamily="34" charset="-122"/>
                <a:cs typeface="Inter" pitchFamily="34" charset="-120"/>
              </a:rPr>
              <a:t>; a Leiter article on the methodology problem; Finnis, </a:t>
            </a:r>
            <a:r>
              <a:rPr lang="en-US" sz="1350" i="1" dirty="0">
                <a:solidFill>
                  <a:srgbClr val="5E5850"/>
                </a:solidFill>
                <a:latin typeface="Inter" pitchFamily="34" charset="0"/>
                <a:ea typeface="Inter" pitchFamily="34" charset="-122"/>
                <a:cs typeface="Inter" pitchFamily="34" charset="-120"/>
              </a:rPr>
              <a:t>NLNR</a:t>
            </a:r>
            <a:r>
              <a:rPr lang="en-US" sz="1350" dirty="0">
                <a:solidFill>
                  <a:srgbClr val="5E5850"/>
                </a:solidFill>
                <a:latin typeface="Inter" pitchFamily="34" charset="0"/>
                <a:ea typeface="Inter" pitchFamily="34" charset="-122"/>
                <a:cs typeface="Inter" pitchFamily="34" charset="-120"/>
              </a:rPr>
              <a:t> ch 1; and Finnis’s SEP entry.</a:t>
            </a:r>
            <a:endParaRPr lang="en-US" sz="1350" dirty="0"/>
          </a:p>
        </p:txBody>
      </p:sp>
      <p:sp>
        <p:nvSpPr>
          <p:cNvPr id="25" name="Text 23"/>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26" name="Text 24"/>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DISTINCTION THAT EARNS MARKS</a:t>
            </a:r>
            <a:endParaRPr lang="en-US" sz="1200" dirty="0"/>
          </a:p>
        </p:txBody>
      </p:sp>
      <p:sp>
        <p:nvSpPr>
          <p:cNvPr id="3" name="Text 1"/>
          <p:cNvSpPr/>
          <p:nvPr/>
        </p:nvSpPr>
        <p:spPr>
          <a:xfrm>
            <a:off x="812767" y="914375"/>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Value-free is not the same as morally neutral</a:t>
            </a:r>
            <a:endParaRPr lang="en-US" sz="2900" dirty="0"/>
          </a:p>
        </p:txBody>
      </p:sp>
      <p:sp>
        <p:nvSpPr>
          <p:cNvPr id="4" name="Shape 2"/>
          <p:cNvSpPr/>
          <p:nvPr/>
        </p:nvSpPr>
        <p:spPr>
          <a:xfrm>
            <a:off x="815942" y="1882750"/>
            <a:ext cx="10560033" cy="1611990"/>
          </a:xfrm>
          <a:prstGeom prst="roundRect">
            <a:avLst>
              <a:gd name="adj" fmla="val 6894"/>
            </a:avLst>
          </a:prstGeom>
          <a:solidFill>
            <a:srgbClr val="FFFFFF"/>
          </a:solidFill>
          <a:ln w="6350">
            <a:solidFill>
              <a:srgbClr val="E0D7C9"/>
            </a:solidFill>
            <a:prstDash val="solid"/>
          </a:ln>
        </p:spPr>
      </p:sp>
      <p:sp>
        <p:nvSpPr>
          <p:cNvPr id="5" name="Text 3"/>
          <p:cNvSpPr/>
          <p:nvPr/>
        </p:nvSpPr>
        <p:spPr>
          <a:xfrm>
            <a:off x="1021250" y="2088059"/>
            <a:ext cx="3310191"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B0451D"/>
                </a:solidFill>
                <a:latin typeface="Inter" pitchFamily="34" charset="0"/>
                <a:ea typeface="Inter" pitchFamily="34" charset="-122"/>
                <a:cs typeface="Inter" pitchFamily="34" charset="-120"/>
              </a:rPr>
              <a:t>META-THEORETIC VALUES</a:t>
            </a:r>
            <a:endParaRPr lang="en-US" sz="1200" dirty="0"/>
          </a:p>
        </p:txBody>
      </p:sp>
      <p:sp>
        <p:nvSpPr>
          <p:cNvPr id="6" name="Text 4"/>
          <p:cNvSpPr/>
          <p:nvPr/>
        </p:nvSpPr>
        <p:spPr>
          <a:xfrm>
            <a:off x="1021250" y="2364879"/>
            <a:ext cx="3310191"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814"/>
                </a:solidFill>
                <a:latin typeface="Inter" pitchFamily="34" charset="0"/>
                <a:ea typeface="Inter" pitchFamily="34" charset="-122"/>
                <a:cs typeface="Inter" pitchFamily="34" charset="-120"/>
              </a:rPr>
              <a:t>Clarity, simplicity, explanatory power, fidelity to the data. Every theory in every field has them. </a:t>
            </a:r>
            <a:r>
              <a:rPr lang="en-US" sz="1300" b="1" dirty="0">
                <a:solidFill>
                  <a:srgbClr val="191814"/>
                </a:solidFill>
                <a:latin typeface="Inter" pitchFamily="34" charset="0"/>
                <a:ea typeface="Inter" pitchFamily="34" charset="-122"/>
                <a:cs typeface="Inter" pitchFamily="34" charset="-120"/>
              </a:rPr>
              <a:t>Nobody denies these are values.</a:t>
            </a:r>
            <a:endParaRPr lang="en-US" sz="1300" dirty="0"/>
          </a:p>
        </p:txBody>
      </p:sp>
      <p:sp>
        <p:nvSpPr>
          <p:cNvPr id="7" name="Text 5"/>
          <p:cNvSpPr/>
          <p:nvPr/>
        </p:nvSpPr>
        <p:spPr>
          <a:xfrm>
            <a:off x="4489028" y="2088059"/>
            <a:ext cx="33102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A6110"/>
                </a:solidFill>
                <a:latin typeface="Inter" pitchFamily="34" charset="0"/>
                <a:ea typeface="Inter" pitchFamily="34" charset="-122"/>
                <a:cs typeface="Inter" pitchFamily="34" charset="-120"/>
              </a:rPr>
              <a:t>JUDGMENTS OF IMPORTANCE</a:t>
            </a:r>
            <a:endParaRPr lang="en-US" sz="1200" dirty="0"/>
          </a:p>
        </p:txBody>
      </p:sp>
      <p:sp>
        <p:nvSpPr>
          <p:cNvPr id="8" name="Text 6"/>
          <p:cNvSpPr/>
          <p:nvPr/>
        </p:nvSpPr>
        <p:spPr>
          <a:xfrm>
            <a:off x="4489028" y="2364879"/>
            <a:ext cx="3310234"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814"/>
                </a:solidFill>
                <a:latin typeface="Inter" pitchFamily="34" charset="0"/>
                <a:ea typeface="Inter" pitchFamily="34" charset="-122"/>
                <a:cs typeface="Inter" pitchFamily="34" charset="-120"/>
              </a:rPr>
              <a:t>Which features of law matter enough to appear in the theory. Evaluative, certainly — but are they </a:t>
            </a:r>
            <a:r>
              <a:rPr lang="en-US" sz="1300" i="1" dirty="0">
                <a:solidFill>
                  <a:srgbClr val="191814"/>
                </a:solidFill>
                <a:latin typeface="Inter" pitchFamily="34" charset="0"/>
                <a:ea typeface="Inter" pitchFamily="34" charset="-122"/>
                <a:cs typeface="Inter" pitchFamily="34" charset="-120"/>
              </a:rPr>
              <a:t>moral</a:t>
            </a:r>
            <a:r>
              <a:rPr lang="en-US" sz="1300" dirty="0">
                <a:solidFill>
                  <a:srgbClr val="191814"/>
                </a:solidFill>
                <a:latin typeface="Inter" pitchFamily="34" charset="0"/>
                <a:ea typeface="Inter" pitchFamily="34" charset="-122"/>
                <a:cs typeface="Inter" pitchFamily="34" charset="-120"/>
              </a:rPr>
              <a:t>?</a:t>
            </a:r>
            <a:endParaRPr lang="en-US" sz="1300" dirty="0"/>
          </a:p>
        </p:txBody>
      </p:sp>
      <p:sp>
        <p:nvSpPr>
          <p:cNvPr id="9" name="Text 7"/>
          <p:cNvSpPr/>
          <p:nvPr/>
        </p:nvSpPr>
        <p:spPr>
          <a:xfrm>
            <a:off x="7956848" y="2088059"/>
            <a:ext cx="3310234"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1C595D"/>
                </a:solidFill>
                <a:latin typeface="Inter" pitchFamily="34" charset="0"/>
                <a:ea typeface="Inter" pitchFamily="34" charset="-122"/>
                <a:cs typeface="Inter" pitchFamily="34" charset="-120"/>
              </a:rPr>
              <a:t>MORAL EVALUATION</a:t>
            </a:r>
            <a:endParaRPr lang="en-US" sz="1200" dirty="0"/>
          </a:p>
        </p:txBody>
      </p:sp>
      <p:sp>
        <p:nvSpPr>
          <p:cNvPr id="10" name="Text 8"/>
          <p:cNvSpPr/>
          <p:nvPr/>
        </p:nvSpPr>
        <p:spPr>
          <a:xfrm>
            <a:off x="7956848" y="2364879"/>
            <a:ext cx="3310234"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814"/>
                </a:solidFill>
                <a:latin typeface="Inter" pitchFamily="34" charset="0"/>
                <a:ea typeface="Inter" pitchFamily="34" charset="-122"/>
                <a:cs typeface="Inter" pitchFamily="34" charset="-120"/>
              </a:rPr>
              <a:t>Judging law good or bad, justified or not. </a:t>
            </a:r>
            <a:r>
              <a:rPr lang="en-US" sz="1300" b="1" dirty="0">
                <a:solidFill>
                  <a:srgbClr val="191814"/>
                </a:solidFill>
                <a:latin typeface="Inter" pitchFamily="34" charset="0"/>
                <a:ea typeface="Inter" pitchFamily="34" charset="-122"/>
                <a:cs typeface="Inter" pitchFamily="34" charset="-120"/>
              </a:rPr>
              <a:t>This is what Hart denied doing</a:t>
            </a:r>
            <a:r>
              <a:rPr lang="en-US" sz="1300" dirty="0">
                <a:solidFill>
                  <a:srgbClr val="191814"/>
                </a:solidFill>
                <a:latin typeface="Inter" pitchFamily="34" charset="0"/>
                <a:ea typeface="Inter" pitchFamily="34" charset="-122"/>
                <a:cs typeface="Inter" pitchFamily="34" charset="-120"/>
              </a:rPr>
              <a:t> — and only this.</a:t>
            </a:r>
            <a:endParaRPr lang="en-US" sz="1300" dirty="0"/>
          </a:p>
        </p:txBody>
      </p:sp>
      <p:sp>
        <p:nvSpPr>
          <p:cNvPr id="11" name="Shape 9"/>
          <p:cNvSpPr/>
          <p:nvPr/>
        </p:nvSpPr>
        <p:spPr>
          <a:xfrm>
            <a:off x="819117" y="3536925"/>
            <a:ext cx="10553683" cy="1563721"/>
          </a:xfrm>
          <a:prstGeom prst="roundRect">
            <a:avLst>
              <a:gd name="adj" fmla="val 6903"/>
            </a:avLst>
          </a:prstGeom>
          <a:solidFill>
            <a:srgbClr val="FCEEE5"/>
          </a:solidFill>
          <a:ln w="12700">
            <a:solidFill>
              <a:srgbClr val="B0451D"/>
            </a:solidFill>
            <a:prstDash val="solid"/>
          </a:ln>
        </p:spPr>
      </p:sp>
      <p:sp>
        <p:nvSpPr>
          <p:cNvPr id="12" name="Text 10"/>
          <p:cNvSpPr/>
          <p:nvPr/>
        </p:nvSpPr>
        <p:spPr>
          <a:xfrm>
            <a:off x="1026542" y="3744342"/>
            <a:ext cx="10442998" cy="284444"/>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B0451D"/>
                </a:solidFill>
                <a:latin typeface="Fraunces" pitchFamily="34" charset="0"/>
                <a:ea typeface="Fraunces" pitchFamily="34" charset="-122"/>
                <a:cs typeface="Fraunces" pitchFamily="34" charset="-120"/>
              </a:rPr>
              <a:t>The consequence, and it is large</a:t>
            </a:r>
            <a:endParaRPr lang="en-US" sz="1700" dirty="0"/>
          </a:p>
        </p:txBody>
      </p:sp>
      <p:sp>
        <p:nvSpPr>
          <p:cNvPr id="13" name="Text 11"/>
          <p:cNvSpPr/>
          <p:nvPr/>
        </p:nvSpPr>
        <p:spPr>
          <a:xfrm>
            <a:off x="1026542" y="4092277"/>
            <a:ext cx="10442998" cy="826343"/>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191814"/>
                </a:solidFill>
                <a:latin typeface="Inter" pitchFamily="34" charset="0"/>
                <a:ea typeface="Inter" pitchFamily="34" charset="-122"/>
                <a:cs typeface="Inter" pitchFamily="34" charset="-120"/>
              </a:rPr>
              <a:t>If those are three different things, the honest answer to the question as worded is </a:t>
            </a:r>
            <a:r>
              <a:rPr lang="en-US" sz="1450" b="1" dirty="0">
                <a:solidFill>
                  <a:srgbClr val="191814"/>
                </a:solidFill>
                <a:latin typeface="Inter" pitchFamily="34" charset="0"/>
                <a:ea typeface="Inter" pitchFamily="34" charset="-122"/>
                <a:cs typeface="Inter" pitchFamily="34" charset="-120"/>
              </a:rPr>
              <a:t>no — and Hart never claimed otherwise</a:t>
            </a:r>
            <a:r>
              <a:rPr lang="en-US" sz="1450" dirty="0">
                <a:solidFill>
                  <a:srgbClr val="191814"/>
                </a:solidFill>
                <a:latin typeface="Inter" pitchFamily="34" charset="0"/>
                <a:ea typeface="Inter" pitchFamily="34" charset="-122"/>
                <a:cs typeface="Inter" pitchFamily="34" charset="-120"/>
              </a:rPr>
              <a:t>. A theory cannot be value-</a:t>
            </a:r>
            <a:r>
              <a:rPr lang="en-US" sz="1450" i="1" dirty="0">
                <a:solidFill>
                  <a:srgbClr val="191814"/>
                </a:solidFill>
                <a:latin typeface="Inter" pitchFamily="34" charset="0"/>
                <a:ea typeface="Inter" pitchFamily="34" charset="-122"/>
                <a:cs typeface="Inter" pitchFamily="34" charset="-120"/>
              </a:rPr>
              <a:t>free</a:t>
            </a:r>
            <a:r>
              <a:rPr lang="en-US" sz="1450" dirty="0">
                <a:solidFill>
                  <a:srgbClr val="191814"/>
                </a:solidFill>
                <a:latin typeface="Inter" pitchFamily="34" charset="0"/>
                <a:ea typeface="Inter" pitchFamily="34" charset="-122"/>
                <a:cs typeface="Inter" pitchFamily="34" charset="-120"/>
              </a:rPr>
              <a:t>; it might still be morally </a:t>
            </a:r>
            <a:r>
              <a:rPr lang="en-US" sz="1450" i="1" dirty="0">
                <a:solidFill>
                  <a:srgbClr val="191814"/>
                </a:solidFill>
                <a:latin typeface="Inter" pitchFamily="34" charset="0"/>
                <a:ea typeface="Inter" pitchFamily="34" charset="-122"/>
                <a:cs typeface="Inter" pitchFamily="34" charset="-120"/>
              </a:rPr>
              <a:t>neutral</a:t>
            </a:r>
            <a:r>
              <a:rPr lang="en-US" sz="1450" dirty="0">
                <a:solidFill>
                  <a:srgbClr val="191814"/>
                </a:solidFill>
                <a:latin typeface="Inter" pitchFamily="34" charset="0"/>
                <a:ea typeface="Inter" pitchFamily="34" charset="-122"/>
                <a:cs typeface="Inter" pitchFamily="34" charset="-120"/>
              </a:rPr>
              <a:t>. Whether the middle column collapses into the third is the real battlefield, and that is where your words should go.</a:t>
            </a:r>
            <a:endParaRPr lang="en-US" sz="1450" dirty="0"/>
          </a:p>
        </p:txBody>
      </p:sp>
      <p:sp>
        <p:nvSpPr>
          <p:cNvPr id="14" name="Text 12"/>
          <p:cNvSpPr/>
          <p:nvPr/>
        </p:nvSpPr>
        <p:spPr>
          <a:xfrm>
            <a:off x="812767" y="5270500"/>
            <a:ext cx="10883374" cy="283203"/>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5E5850"/>
                </a:solidFill>
                <a:latin typeface="Inter" pitchFamily="34" charset="0"/>
                <a:ea typeface="Inter" pitchFamily="34" charset="-122"/>
                <a:cs typeface="Inter" pitchFamily="34" charset="-120"/>
              </a:rPr>
              <a:t>The convenor flagged this in the Q&amp;A: not all values are moral values — a distinction Dickson and Raz both work with.</a:t>
            </a:r>
            <a:endParaRPr lang="en-US" sz="1400" dirty="0"/>
          </a:p>
        </p:txBody>
      </p:sp>
      <p:sp>
        <p:nvSpPr>
          <p:cNvPr id="15" name="Text 13"/>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16" name="Text 14"/>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FINNIS’S CHALLENGE</a:t>
            </a:r>
            <a:endParaRPr lang="en-US" sz="1200" dirty="0"/>
          </a:p>
        </p:txBody>
      </p:sp>
      <p:sp>
        <p:nvSpPr>
          <p:cNvPr id="3" name="Text 1"/>
          <p:cNvSpPr/>
          <p:nvPr/>
        </p:nvSpPr>
        <p:spPr>
          <a:xfrm>
            <a:off x="812767" y="914375"/>
            <a:ext cx="10203180" cy="450552"/>
          </a:xfrm>
          <a:prstGeom prst="rect">
            <a:avLst/>
          </a:prstGeom>
          <a:noFill/>
          <a:ln/>
        </p:spPr>
        <p:txBody>
          <a:bodyPr wrap="square" lIns="0" tIns="0" rIns="0" bIns="0" rtlCol="0" anchor="t">
            <a:normAutofit/>
          </a:bodyPr>
          <a:lstStyle/>
          <a:p>
            <a:pPr algn="l" indent="0" marL="0">
              <a:lnSpc>
                <a:spcPts val="3348"/>
              </a:lnSpc>
              <a:buNone/>
            </a:pPr>
            <a:r>
              <a:rPr lang="en-US" sz="3100" b="1" dirty="0">
                <a:solidFill>
                  <a:srgbClr val="191814"/>
                </a:solidFill>
                <a:latin typeface="Fraunces" pitchFamily="34" charset="0"/>
                <a:ea typeface="Fraunces" pitchFamily="34" charset="-122"/>
                <a:cs typeface="Fraunces" pitchFamily="34" charset="-120"/>
              </a:rPr>
              <a:t>The objection the whole debate answers</a:t>
            </a:r>
            <a:endParaRPr lang="en-US" sz="3100" dirty="0"/>
          </a:p>
        </p:txBody>
      </p:sp>
      <p:sp>
        <p:nvSpPr>
          <p:cNvPr id="4" name="Shape 2"/>
          <p:cNvSpPr/>
          <p:nvPr/>
        </p:nvSpPr>
        <p:spPr>
          <a:xfrm>
            <a:off x="828642" y="1816075"/>
            <a:ext cx="0" cy="898095"/>
          </a:xfrm>
          <a:prstGeom prst="line">
            <a:avLst/>
          </a:prstGeom>
          <a:noFill/>
          <a:ln w="31750">
            <a:solidFill>
              <a:srgbClr val="B0451D"/>
            </a:solidFill>
            <a:prstDash val="solid"/>
          </a:ln>
        </p:spPr>
      </p:sp>
      <p:sp>
        <p:nvSpPr>
          <p:cNvPr id="5" name="Text 3"/>
          <p:cNvSpPr/>
          <p:nvPr/>
        </p:nvSpPr>
        <p:spPr>
          <a:xfrm>
            <a:off x="1060400" y="1816075"/>
            <a:ext cx="10628313" cy="628898"/>
          </a:xfrm>
          <a:prstGeom prst="rect">
            <a:avLst/>
          </a:prstGeom>
          <a:noFill/>
          <a:ln/>
        </p:spPr>
        <p:txBody>
          <a:bodyPr wrap="square" lIns="0" tIns="0" rIns="0" bIns="0" rtlCol="0" anchor="t">
            <a:normAutofit/>
          </a:bodyPr>
          <a:lstStyle/>
          <a:p>
            <a:pPr algn="l" indent="0" marL="0">
              <a:lnSpc>
                <a:spcPts val="2376"/>
              </a:lnSpc>
              <a:buNone/>
            </a:pPr>
            <a:r>
              <a:rPr lang="en-US" sz="1800" i="1" dirty="0">
                <a:solidFill>
                  <a:srgbClr val="191814"/>
                </a:solidFill>
                <a:latin typeface="Fraunces" pitchFamily="34" charset="0"/>
                <a:ea typeface="Fraunces" pitchFamily="34" charset="-122"/>
                <a:cs typeface="Fraunces" pitchFamily="34" charset="-120"/>
              </a:rPr>
              <a:t>“No theorist can give a theoretical description and analysis of social facts without also participating in the work of evaluation, of understanding what is really good for human persons.”</a:t>
            </a:r>
            <a:endParaRPr lang="en-US" sz="1800" dirty="0"/>
          </a:p>
        </p:txBody>
      </p:sp>
      <p:sp>
        <p:nvSpPr>
          <p:cNvPr id="6" name="Text 4"/>
          <p:cNvSpPr/>
          <p:nvPr/>
        </p:nvSpPr>
        <p:spPr>
          <a:xfrm>
            <a:off x="1060400" y="2508448"/>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John Finnis, </a:t>
            </a:r>
            <a:r>
              <a:rPr lang="en-US" sz="1200" i="1" dirty="0">
                <a:solidFill>
                  <a:srgbClr val="5E5850"/>
                </a:solidFill>
                <a:latin typeface="Inter" pitchFamily="34" charset="0"/>
                <a:ea typeface="Inter" pitchFamily="34" charset="-122"/>
                <a:cs typeface="Inter" pitchFamily="34" charset="-120"/>
              </a:rPr>
              <a:t>Natural Law and Natural Rights</a:t>
            </a:r>
            <a:r>
              <a:rPr lang="en-US" sz="1200" dirty="0">
                <a:solidFill>
                  <a:srgbClr val="5E5850"/>
                </a:solidFill>
                <a:latin typeface="Inter" pitchFamily="34" charset="0"/>
                <a:ea typeface="Inter" pitchFamily="34" charset="-122"/>
                <a:cs typeface="Inter" pitchFamily="34" charset="-120"/>
              </a:rPr>
              <a:t>, 3 — quoted on the Week 4 slide</a:t>
            </a:r>
            <a:endParaRPr lang="en-US" sz="1200" dirty="0"/>
          </a:p>
        </p:txBody>
      </p:sp>
      <p:sp>
        <p:nvSpPr>
          <p:cNvPr id="7" name="Text 5"/>
          <p:cNvSpPr/>
          <p:nvPr/>
        </p:nvSpPr>
        <p:spPr>
          <a:xfrm>
            <a:off x="812767" y="2997188"/>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91814"/>
                </a:solidFill>
                <a:latin typeface="Inter" pitchFamily="34" charset="0"/>
                <a:ea typeface="Inter" pitchFamily="34" charset="-122"/>
                <a:cs typeface="Inter" pitchFamily="34" charset="-120"/>
              </a:rPr>
              <a:t>His route there is not hostile. Finnis </a:t>
            </a:r>
            <a:r>
              <a:rPr lang="en-US" sz="1400" b="1" dirty="0">
                <a:solidFill>
                  <a:srgbClr val="191814"/>
                </a:solidFill>
                <a:latin typeface="Inter" pitchFamily="34" charset="0"/>
                <a:ea typeface="Inter" pitchFamily="34" charset="-122"/>
                <a:cs typeface="Inter" pitchFamily="34" charset="-120"/>
              </a:rPr>
              <a:t>credits</a:t>
            </a:r>
            <a:r>
              <a:rPr lang="en-US" sz="1400" dirty="0">
                <a:solidFill>
                  <a:srgbClr val="191814"/>
                </a:solidFill>
                <a:latin typeface="Inter" pitchFamily="34" charset="0"/>
                <a:ea typeface="Inter" pitchFamily="34" charset="-122"/>
                <a:cs typeface="Inter" pitchFamily="34" charset="-120"/>
              </a:rPr>
              <a:t> Hart and Raz with a decisive advance over Bentham, Austin and Kelsen, in three moves — then argues each move needs an evaluation they cannot supply.</a:t>
            </a:r>
            <a:endParaRPr lang="en-US" sz="1400" dirty="0"/>
          </a:p>
        </p:txBody>
      </p:sp>
      <p:sp>
        <p:nvSpPr>
          <p:cNvPr id="8" name="Shape 6"/>
          <p:cNvSpPr/>
          <p:nvPr/>
        </p:nvSpPr>
        <p:spPr>
          <a:xfrm>
            <a:off x="815942" y="3622675"/>
            <a:ext cx="3346417" cy="1264849"/>
          </a:xfrm>
          <a:prstGeom prst="roundRect">
            <a:avLst>
              <a:gd name="adj" fmla="val 7782"/>
            </a:avLst>
          </a:prstGeom>
          <a:solidFill>
            <a:srgbClr val="FFFFFF"/>
          </a:solidFill>
          <a:ln w="6350">
            <a:solidFill>
              <a:srgbClr val="E0D7C9"/>
            </a:solidFill>
            <a:prstDash val="solid"/>
          </a:ln>
        </p:spPr>
      </p:sp>
      <p:sp>
        <p:nvSpPr>
          <p:cNvPr id="9" name="Text 7"/>
          <p:cNvSpPr/>
          <p:nvPr/>
        </p:nvSpPr>
        <p:spPr>
          <a:xfrm>
            <a:off x="970442" y="3777171"/>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1</a:t>
            </a:r>
            <a:endParaRPr lang="en-US" sz="1300" dirty="0"/>
          </a:p>
        </p:txBody>
      </p:sp>
      <p:sp>
        <p:nvSpPr>
          <p:cNvPr id="10" name="Text 8"/>
          <p:cNvSpPr/>
          <p:nvPr/>
        </p:nvSpPr>
        <p:spPr>
          <a:xfrm>
            <a:off x="970442" y="4059076"/>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Attention to practical point</a:t>
            </a:r>
            <a:endParaRPr lang="en-US" sz="1450" dirty="0"/>
          </a:p>
        </p:txBody>
      </p:sp>
      <p:sp>
        <p:nvSpPr>
          <p:cNvPr id="11" name="Text 9"/>
          <p:cNvSpPr/>
          <p:nvPr/>
        </p:nvSpPr>
        <p:spPr>
          <a:xfrm>
            <a:off x="970442" y="4321597"/>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The theory asks what the practice is </a:t>
            </a:r>
            <a:r>
              <a:rPr lang="en-US" sz="1200" i="1" dirty="0">
                <a:solidFill>
                  <a:srgbClr val="5E5850"/>
                </a:solidFill>
                <a:latin typeface="Inter" pitchFamily="34" charset="0"/>
                <a:ea typeface="Inter" pitchFamily="34" charset="-122"/>
                <a:cs typeface="Inter" pitchFamily="34" charset="-120"/>
              </a:rPr>
              <a:t>for</a:t>
            </a:r>
            <a:r>
              <a:rPr lang="en-US" sz="1200" dirty="0">
                <a:solidFill>
                  <a:srgbClr val="5E5850"/>
                </a:solidFill>
                <a:latin typeface="Inter" pitchFamily="34" charset="0"/>
                <a:ea typeface="Inter" pitchFamily="34" charset="-122"/>
                <a:cs typeface="Inter" pitchFamily="34" charset="-120"/>
              </a:rPr>
              <a:t>, not only what it looks like.</a:t>
            </a:r>
            <a:endParaRPr lang="en-US" sz="1200" dirty="0"/>
          </a:p>
        </p:txBody>
      </p:sp>
      <p:sp>
        <p:nvSpPr>
          <p:cNvPr id="12" name="Shape 10"/>
          <p:cNvSpPr/>
          <p:nvPr/>
        </p:nvSpPr>
        <p:spPr>
          <a:xfrm>
            <a:off x="4422750" y="3622675"/>
            <a:ext cx="3346417" cy="1264849"/>
          </a:xfrm>
          <a:prstGeom prst="roundRect">
            <a:avLst>
              <a:gd name="adj" fmla="val 7782"/>
            </a:avLst>
          </a:prstGeom>
          <a:solidFill>
            <a:srgbClr val="FFFFFF"/>
          </a:solidFill>
          <a:ln w="6350">
            <a:solidFill>
              <a:srgbClr val="E0D7C9"/>
            </a:solidFill>
            <a:prstDash val="solid"/>
          </a:ln>
        </p:spPr>
      </p:sp>
      <p:sp>
        <p:nvSpPr>
          <p:cNvPr id="13" name="Text 11"/>
          <p:cNvSpPr/>
          <p:nvPr/>
        </p:nvSpPr>
        <p:spPr>
          <a:xfrm>
            <a:off x="4577250" y="3777171"/>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2</a:t>
            </a:r>
            <a:endParaRPr lang="en-US" sz="1300" dirty="0"/>
          </a:p>
        </p:txBody>
      </p:sp>
      <p:sp>
        <p:nvSpPr>
          <p:cNvPr id="14" name="Text 12"/>
          <p:cNvSpPr/>
          <p:nvPr/>
        </p:nvSpPr>
        <p:spPr>
          <a:xfrm>
            <a:off x="4577250" y="4059076"/>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Central case and focal meaning</a:t>
            </a:r>
            <a:endParaRPr lang="en-US" sz="1450" dirty="0"/>
          </a:p>
        </p:txBody>
      </p:sp>
      <p:sp>
        <p:nvSpPr>
          <p:cNvPr id="15" name="Text 13"/>
          <p:cNvSpPr/>
          <p:nvPr/>
        </p:nvSpPr>
        <p:spPr>
          <a:xfrm>
            <a:off x="4577250" y="4321597"/>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Some instances are paradigm, others watered down. Which is which?</a:t>
            </a:r>
            <a:endParaRPr lang="en-US" sz="1200" dirty="0"/>
          </a:p>
        </p:txBody>
      </p:sp>
      <p:sp>
        <p:nvSpPr>
          <p:cNvPr id="16" name="Shape 14"/>
          <p:cNvSpPr/>
          <p:nvPr/>
        </p:nvSpPr>
        <p:spPr>
          <a:xfrm>
            <a:off x="8029558" y="3622675"/>
            <a:ext cx="3346417" cy="1264849"/>
          </a:xfrm>
          <a:prstGeom prst="roundRect">
            <a:avLst>
              <a:gd name="adj" fmla="val 7782"/>
            </a:avLst>
          </a:prstGeom>
          <a:solidFill>
            <a:srgbClr val="FFFFFF"/>
          </a:solidFill>
          <a:ln w="6350">
            <a:solidFill>
              <a:srgbClr val="E0D7C9"/>
            </a:solidFill>
            <a:prstDash val="solid"/>
          </a:ln>
        </p:spPr>
      </p:sp>
      <p:sp>
        <p:nvSpPr>
          <p:cNvPr id="17" name="Text 15"/>
          <p:cNvSpPr/>
          <p:nvPr/>
        </p:nvSpPr>
        <p:spPr>
          <a:xfrm>
            <a:off x="8184059" y="3777171"/>
            <a:ext cx="3128539"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C857A"/>
                </a:solidFill>
                <a:latin typeface="Fraunces" pitchFamily="34" charset="0"/>
                <a:ea typeface="Fraunces" pitchFamily="34" charset="-122"/>
                <a:cs typeface="Fraunces" pitchFamily="34" charset="-120"/>
              </a:rPr>
              <a:t>3</a:t>
            </a:r>
            <a:endParaRPr lang="en-US" sz="1300" dirty="0"/>
          </a:p>
        </p:txBody>
      </p:sp>
      <p:sp>
        <p:nvSpPr>
          <p:cNvPr id="18" name="Text 16"/>
          <p:cNvSpPr/>
          <p:nvPr/>
        </p:nvSpPr>
        <p:spPr>
          <a:xfrm>
            <a:off x="8184059" y="4059076"/>
            <a:ext cx="3128539"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Selection of viewpoint</a:t>
            </a:r>
            <a:endParaRPr lang="en-US" sz="1450" dirty="0"/>
          </a:p>
        </p:txBody>
      </p:sp>
      <p:sp>
        <p:nvSpPr>
          <p:cNvPr id="19" name="Text 17"/>
          <p:cNvSpPr/>
          <p:nvPr/>
        </p:nvSpPr>
        <p:spPr>
          <a:xfrm>
            <a:off x="8184059" y="4321597"/>
            <a:ext cx="3128539"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Describe from whose perspective? Hart chose the internal point of view.</a:t>
            </a:r>
            <a:endParaRPr lang="en-US" sz="1200" dirty="0"/>
          </a:p>
        </p:txBody>
      </p:sp>
      <p:sp>
        <p:nvSpPr>
          <p:cNvPr id="20" name="Shape 18"/>
          <p:cNvSpPr/>
          <p:nvPr/>
        </p:nvSpPr>
        <p:spPr>
          <a:xfrm>
            <a:off x="812767" y="4889500"/>
            <a:ext cx="10566383" cy="777214"/>
          </a:xfrm>
          <a:prstGeom prst="roundRect">
            <a:avLst>
              <a:gd name="adj" fmla="val 11438"/>
            </a:avLst>
          </a:prstGeom>
          <a:solidFill>
            <a:srgbClr val="FCEEE5"/>
          </a:solidFill>
          <a:ln/>
        </p:spPr>
      </p:sp>
      <p:sp>
        <p:nvSpPr>
          <p:cNvPr id="21" name="Shape 19"/>
          <p:cNvSpPr/>
          <p:nvPr/>
        </p:nvSpPr>
        <p:spPr>
          <a:xfrm>
            <a:off x="831817" y="4889500"/>
            <a:ext cx="0" cy="777214"/>
          </a:xfrm>
          <a:prstGeom prst="line">
            <a:avLst/>
          </a:prstGeom>
          <a:noFill/>
          <a:ln w="38100">
            <a:solidFill>
              <a:srgbClr val="B0451D"/>
            </a:solidFill>
            <a:prstDash val="solid"/>
          </a:ln>
        </p:spPr>
      </p:sp>
      <p:sp>
        <p:nvSpPr>
          <p:cNvPr id="22" name="Text 20"/>
          <p:cNvSpPr/>
          <p:nvPr/>
        </p:nvSpPr>
        <p:spPr>
          <a:xfrm>
            <a:off x="1027575" y="5029188"/>
            <a:ext cx="10479022" cy="52323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91814"/>
                </a:solidFill>
                <a:latin typeface="Inter" pitchFamily="34" charset="0"/>
                <a:ea typeface="Inter" pitchFamily="34" charset="-122"/>
                <a:cs typeface="Inter" pitchFamily="34" charset="-120"/>
              </a:rPr>
              <a:t>By what criteria is one meaning focal and another secondary? And from what viewpoint are importance and significance assessed?</a:t>
            </a:r>
            <a:r>
              <a:rPr lang="en-US" sz="1400" dirty="0">
                <a:solidFill>
                  <a:srgbClr val="191814"/>
                </a:solidFill>
                <a:latin typeface="Inter" pitchFamily="34" charset="0"/>
                <a:ea typeface="Inter" pitchFamily="34" charset="-122"/>
                <a:cs typeface="Inter" pitchFamily="34" charset="-120"/>
              </a:rPr>
              <a:t> Your essay must answer these or concede them.</a:t>
            </a:r>
            <a:endParaRPr lang="en-US" sz="1400" dirty="0"/>
          </a:p>
        </p:txBody>
      </p:sp>
      <p:sp>
        <p:nvSpPr>
          <p:cNvPr id="23" name="Text 21"/>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24" name="Text 22"/>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VIEWPOINT PROBLEM</a:t>
            </a:r>
            <a:endParaRPr lang="en-US" sz="1200" dirty="0"/>
          </a:p>
        </p:txBody>
      </p:sp>
      <p:sp>
        <p:nvSpPr>
          <p:cNvPr id="3" name="Text 1"/>
          <p:cNvSpPr/>
          <p:nvPr/>
        </p:nvSpPr>
        <p:spPr>
          <a:xfrm>
            <a:off x="812767" y="914375"/>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Hart’s internal point of view, and the hole in it</a:t>
            </a:r>
            <a:endParaRPr lang="en-US" sz="2900" dirty="0"/>
          </a:p>
        </p:txBody>
      </p:sp>
      <p:sp>
        <p:nvSpPr>
          <p:cNvPr id="4" name="Shape 2"/>
          <p:cNvSpPr/>
          <p:nvPr/>
        </p:nvSpPr>
        <p:spPr>
          <a:xfrm>
            <a:off x="815942" y="1882750"/>
            <a:ext cx="5149841" cy="1631462"/>
          </a:xfrm>
          <a:prstGeom prst="roundRect">
            <a:avLst>
              <a:gd name="adj" fmla="val 6811"/>
            </a:avLst>
          </a:prstGeom>
          <a:solidFill>
            <a:srgbClr val="FFFFFF"/>
          </a:solidFill>
          <a:ln w="6350">
            <a:solidFill>
              <a:srgbClr val="E0D7C9"/>
            </a:solidFill>
            <a:prstDash val="solid"/>
          </a:ln>
        </p:spPr>
      </p:sp>
      <p:sp>
        <p:nvSpPr>
          <p:cNvPr id="5" name="Text 3"/>
          <p:cNvSpPr/>
          <p:nvPr/>
        </p:nvSpPr>
        <p:spPr>
          <a:xfrm>
            <a:off x="995825"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C595D"/>
                </a:solidFill>
                <a:latin typeface="Fraunces" pitchFamily="34" charset="0"/>
                <a:ea typeface="Fraunces" pitchFamily="34" charset="-122"/>
                <a:cs typeface="Fraunces" pitchFamily="34" charset="-120"/>
              </a:rPr>
              <a:t>Hart’s move</a:t>
            </a:r>
            <a:endParaRPr lang="en-US" sz="1700" dirty="0"/>
          </a:p>
        </p:txBody>
      </p:sp>
      <p:sp>
        <p:nvSpPr>
          <p:cNvPr id="6" name="Text 4"/>
          <p:cNvSpPr/>
          <p:nvPr/>
        </p:nvSpPr>
        <p:spPr>
          <a:xfrm>
            <a:off x="995825" y="2374379"/>
            <a:ext cx="4933777" cy="9853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Give explanatory priority to the concerns, evaluations and language of those who engage with their legal system from the inside. This is what lets him distinguish a rule from a habit.</a:t>
            </a:r>
            <a:endParaRPr lang="en-US" sz="1350" dirty="0"/>
          </a:p>
        </p:txBody>
      </p:sp>
      <p:sp>
        <p:nvSpPr>
          <p:cNvPr id="7" name="Shape 5"/>
          <p:cNvSpPr/>
          <p:nvPr/>
        </p:nvSpPr>
        <p:spPr>
          <a:xfrm>
            <a:off x="6226175" y="1882750"/>
            <a:ext cx="5149841" cy="1631462"/>
          </a:xfrm>
          <a:prstGeom prst="roundRect">
            <a:avLst>
              <a:gd name="adj" fmla="val 6811"/>
            </a:avLst>
          </a:prstGeom>
          <a:solidFill>
            <a:srgbClr val="FCEEE5"/>
          </a:solidFill>
          <a:ln w="6350">
            <a:solidFill>
              <a:srgbClr val="B0451D"/>
            </a:solidFill>
            <a:prstDash val="solid"/>
          </a:ln>
        </p:spPr>
      </p:sp>
      <p:sp>
        <p:nvSpPr>
          <p:cNvPr id="8" name="Text 6"/>
          <p:cNvSpPr/>
          <p:nvPr/>
        </p:nvSpPr>
        <p:spPr>
          <a:xfrm>
            <a:off x="6406059"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B0451D"/>
                </a:solidFill>
                <a:latin typeface="Fraunces" pitchFamily="34" charset="0"/>
                <a:ea typeface="Fraunces" pitchFamily="34" charset="-122"/>
                <a:cs typeface="Fraunces" pitchFamily="34" charset="-120"/>
              </a:rPr>
              <a:t>Finnis’s objection</a:t>
            </a:r>
            <a:endParaRPr lang="en-US" sz="1700" dirty="0"/>
          </a:p>
        </p:txBody>
      </p:sp>
      <p:sp>
        <p:nvSpPr>
          <p:cNvPr id="9" name="Text 7"/>
          <p:cNvSpPr/>
          <p:nvPr/>
        </p:nvSpPr>
        <p:spPr>
          <a:xfrm>
            <a:off x="6406059" y="2374379"/>
            <a:ext cx="4933777" cy="9853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The internal point of view is an </a:t>
            </a:r>
            <a:r>
              <a:rPr lang="en-US" sz="1350" b="1" dirty="0">
                <a:solidFill>
                  <a:srgbClr val="191814"/>
                </a:solidFill>
                <a:latin typeface="Inter" pitchFamily="34" charset="0"/>
                <a:ea typeface="Inter" pitchFamily="34" charset="-122"/>
                <a:cs typeface="Inter" pitchFamily="34" charset="-120"/>
              </a:rPr>
              <a:t>amalgam</a:t>
            </a:r>
            <a:r>
              <a:rPr lang="en-US" sz="1350" dirty="0">
                <a:solidFill>
                  <a:srgbClr val="191814"/>
                </a:solidFill>
                <a:latin typeface="Inter" pitchFamily="34" charset="0"/>
                <a:ea typeface="Inter" pitchFamily="34" charset="-122"/>
                <a:cs typeface="Inter" pitchFamily="34" charset="-120"/>
              </a:rPr>
              <a:t> of very different attitudes (</a:t>
            </a:r>
            <a:r>
              <a:rPr lang="en-US" sz="1350" i="1" dirty="0">
                <a:solidFill>
                  <a:srgbClr val="191814"/>
                </a:solidFill>
                <a:latin typeface="Inter" pitchFamily="34" charset="0"/>
                <a:ea typeface="Inter" pitchFamily="34" charset="-122"/>
                <a:cs typeface="Inter" pitchFamily="34" charset="-120"/>
              </a:rPr>
              <a:t>CL</a:t>
            </a:r>
            <a:r>
              <a:rPr lang="en-US" sz="1350" dirty="0">
                <a:solidFill>
                  <a:srgbClr val="191814"/>
                </a:solidFill>
                <a:latin typeface="Inter" pitchFamily="34" charset="0"/>
                <a:ea typeface="Inter" pitchFamily="34" charset="-122"/>
                <a:cs typeface="Inter" pitchFamily="34" charset="-120"/>
              </a:rPr>
              <a:t> 203). Hart should have selected its central case — which needs a view about practical reasonableness.</a:t>
            </a:r>
            <a:endParaRPr lang="en-US" sz="1350" dirty="0"/>
          </a:p>
        </p:txBody>
      </p:sp>
      <p:sp>
        <p:nvSpPr>
          <p:cNvPr id="10" name="Shape 8"/>
          <p:cNvSpPr/>
          <p:nvPr/>
        </p:nvSpPr>
        <p:spPr>
          <a:xfrm>
            <a:off x="828642" y="3365500"/>
            <a:ext cx="0" cy="1099137"/>
          </a:xfrm>
          <a:prstGeom prst="line">
            <a:avLst/>
          </a:prstGeom>
          <a:noFill/>
          <a:ln w="31750">
            <a:solidFill>
              <a:srgbClr val="B0451D"/>
            </a:solidFill>
            <a:prstDash val="solid"/>
          </a:ln>
        </p:spPr>
      </p:sp>
      <p:sp>
        <p:nvSpPr>
          <p:cNvPr id="11" name="Text 9"/>
          <p:cNvSpPr/>
          <p:nvPr/>
        </p:nvSpPr>
        <p:spPr>
          <a:xfrm>
            <a:off x="1060400" y="3365500"/>
            <a:ext cx="10628313" cy="829940"/>
          </a:xfrm>
          <a:prstGeom prst="rect">
            <a:avLst/>
          </a:prstGeom>
          <a:noFill/>
          <a:ln/>
        </p:spPr>
        <p:txBody>
          <a:bodyPr wrap="square" lIns="0" tIns="0" rIns="0" bIns="0" rtlCol="0" anchor="t">
            <a:normAutofit/>
          </a:bodyPr>
          <a:lstStyle/>
          <a:p>
            <a:pPr algn="l" indent="0" marL="0">
              <a:lnSpc>
                <a:spcPts val="2112"/>
              </a:lnSpc>
              <a:buNone/>
            </a:pPr>
            <a:r>
              <a:rPr lang="en-US" sz="1600" i="1" dirty="0">
                <a:solidFill>
                  <a:srgbClr val="191814"/>
                </a:solidFill>
                <a:latin typeface="Fraunces" pitchFamily="34" charset="0"/>
                <a:ea typeface="Fraunces" pitchFamily="34" charset="-122"/>
                <a:cs typeface="Fraunces" pitchFamily="34" charset="-120"/>
              </a:rPr>
              <a:t>“Allegiance to the system may be based on many different considerations: calculations of long-term interest; disinterested interest in others; an unreflecting inherited or traditional attitude; or the mere wish to do as others do.”</a:t>
            </a:r>
            <a:endParaRPr lang="en-US" sz="1600" dirty="0"/>
          </a:p>
        </p:txBody>
      </p:sp>
      <p:sp>
        <p:nvSpPr>
          <p:cNvPr id="12" name="Text 10"/>
          <p:cNvSpPr/>
          <p:nvPr/>
        </p:nvSpPr>
        <p:spPr>
          <a:xfrm>
            <a:off x="1060400" y="4258915"/>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203 — the amalgam Finnis attacks</a:t>
            </a:r>
            <a:endParaRPr lang="en-US" sz="1200" dirty="0"/>
          </a:p>
        </p:txBody>
      </p:sp>
      <p:sp>
        <p:nvSpPr>
          <p:cNvPr id="13" name="Shape 11"/>
          <p:cNvSpPr/>
          <p:nvPr/>
        </p:nvSpPr>
        <p:spPr>
          <a:xfrm>
            <a:off x="812767" y="4762500"/>
            <a:ext cx="10566383" cy="1318204"/>
          </a:xfrm>
          <a:prstGeom prst="roundRect">
            <a:avLst>
              <a:gd name="adj" fmla="val 6744"/>
            </a:avLst>
          </a:prstGeom>
          <a:solidFill>
            <a:srgbClr val="F2EBE0"/>
          </a:solidFill>
          <a:ln/>
        </p:spPr>
      </p:sp>
      <p:sp>
        <p:nvSpPr>
          <p:cNvPr id="14" name="Shape 12"/>
          <p:cNvSpPr/>
          <p:nvPr/>
        </p:nvSpPr>
        <p:spPr>
          <a:xfrm>
            <a:off x="831817" y="4762500"/>
            <a:ext cx="0" cy="1318204"/>
          </a:xfrm>
          <a:prstGeom prst="line">
            <a:avLst/>
          </a:prstGeom>
          <a:noFill/>
          <a:ln w="38100">
            <a:solidFill>
              <a:srgbClr val="1C595D"/>
            </a:solidFill>
            <a:prstDash val="solid"/>
          </a:ln>
        </p:spPr>
      </p:sp>
      <p:sp>
        <p:nvSpPr>
          <p:cNvPr id="15" name="Text 13"/>
          <p:cNvSpPr/>
          <p:nvPr/>
        </p:nvSpPr>
        <p:spPr>
          <a:xfrm>
            <a:off x="1027575" y="4902188"/>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The shape of the dispute</a:t>
            </a:r>
            <a:endParaRPr lang="en-US" sz="1500" dirty="0"/>
          </a:p>
        </p:txBody>
      </p:sp>
      <p:sp>
        <p:nvSpPr>
          <p:cNvPr id="16" name="Text 14"/>
          <p:cNvSpPr/>
          <p:nvPr/>
        </p:nvSpPr>
        <p:spPr>
          <a:xfrm>
            <a:off x="1027575" y="5194263"/>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Hart says: take the participant’s view, whatever it contains. Finnis says: some participants’ views are better than others, and your theory needs the good ones. Dickson’s reply is that you can identify what participants take to be important without endorsing it.</a:t>
            </a:r>
            <a:endParaRPr lang="en-US" sz="1400" dirty="0"/>
          </a:p>
        </p:txBody>
      </p:sp>
      <p:sp>
        <p:nvSpPr>
          <p:cNvPr id="17" name="Text 15"/>
          <p:cNvSpPr/>
          <p:nvPr/>
        </p:nvSpPr>
        <p:spPr>
          <a:xfrm>
            <a:off x="812767" y="6238292"/>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18" name="Text 16"/>
          <p:cNvSpPr/>
          <p:nvPr/>
        </p:nvSpPr>
        <p:spPr>
          <a:xfrm>
            <a:off x="9855200" y="6238292"/>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DWORKIN’S CHALLENGE</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Compressed to the part Question 1 needs</a:t>
            </a:r>
            <a:endParaRPr lang="en-US" sz="3000" dirty="0"/>
          </a:p>
        </p:txBody>
      </p:sp>
      <p:sp>
        <p:nvSpPr>
          <p:cNvPr id="4" name="Text 2"/>
          <p:cNvSpPr/>
          <p:nvPr/>
        </p:nvSpPr>
        <p:spPr>
          <a:xfrm>
            <a:off x="812767" y="1828763"/>
            <a:ext cx="10883374" cy="55936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191814"/>
                </a:solidFill>
                <a:latin typeface="Inter" pitchFamily="34" charset="0"/>
                <a:ea typeface="Inter" pitchFamily="34" charset="-122"/>
                <a:cs typeface="Inter" pitchFamily="34" charset="-120"/>
              </a:rPr>
              <a:t>Dworkin is here for </a:t>
            </a:r>
            <a:r>
              <a:rPr lang="en-US" sz="1450" b="1" dirty="0">
                <a:solidFill>
                  <a:srgbClr val="191814"/>
                </a:solidFill>
                <a:latin typeface="Inter" pitchFamily="34" charset="0"/>
                <a:ea typeface="Inter" pitchFamily="34" charset="-122"/>
                <a:cs typeface="Inter" pitchFamily="34" charset="-120"/>
              </a:rPr>
              <a:t>one</a:t>
            </a:r>
            <a:r>
              <a:rPr lang="en-US" sz="1450" dirty="0">
                <a:solidFill>
                  <a:srgbClr val="191814"/>
                </a:solidFill>
                <a:latin typeface="Inter" pitchFamily="34" charset="0"/>
                <a:ea typeface="Inter" pitchFamily="34" charset="-122"/>
                <a:cs typeface="Inter" pitchFamily="34" charset="-120"/>
              </a:rPr>
              <a:t> reason: he denies that a theory of law can be descriptive at all. The Postscript is Hart’s reply. Assume the reader knows that — spend no words establishing it.</a:t>
            </a:r>
            <a:endParaRPr lang="en-US" sz="1450" dirty="0"/>
          </a:p>
        </p:txBody>
      </p:sp>
      <p:sp>
        <p:nvSpPr>
          <p:cNvPr id="5" name="Shape 3"/>
          <p:cNvSpPr/>
          <p:nvPr/>
        </p:nvSpPr>
        <p:spPr>
          <a:xfrm>
            <a:off x="815942" y="2428850"/>
            <a:ext cx="3346417" cy="1566887"/>
          </a:xfrm>
          <a:prstGeom prst="roundRect">
            <a:avLst>
              <a:gd name="adj" fmla="val 7092"/>
            </a:avLst>
          </a:prstGeom>
          <a:solidFill>
            <a:srgbClr val="FFFFFF"/>
          </a:solidFill>
          <a:ln w="6350">
            <a:solidFill>
              <a:srgbClr val="E0D7C9"/>
            </a:solidFill>
            <a:prstDash val="solid"/>
          </a:ln>
        </p:spPr>
      </p:sp>
      <p:sp>
        <p:nvSpPr>
          <p:cNvPr id="6" name="Text 4"/>
          <p:cNvSpPr/>
          <p:nvPr/>
        </p:nvSpPr>
        <p:spPr>
          <a:xfrm>
            <a:off x="995825" y="26087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Normative as well as conceptual</a:t>
            </a:r>
            <a:endParaRPr lang="en-US" sz="1500" dirty="0"/>
          </a:p>
        </p:txBody>
      </p:sp>
      <p:sp>
        <p:nvSpPr>
          <p:cNvPr id="7" name="Text 5"/>
          <p:cNvSpPr/>
          <p:nvPr/>
        </p:nvSpPr>
        <p:spPr>
          <a:xfrm>
            <a:off x="995825" y="2891309"/>
            <a:ext cx="3076249" cy="949953"/>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5E5850"/>
                </a:solidFill>
                <a:latin typeface="Inter" pitchFamily="34" charset="0"/>
                <a:ea typeface="Inter" pitchFamily="34" charset="-122"/>
                <a:cs typeface="Inter" pitchFamily="34" charset="-120"/>
              </a:rPr>
              <a:t>Taking Rights Seriously</a:t>
            </a:r>
            <a:r>
              <a:rPr lang="en-US" sz="1300" dirty="0">
                <a:solidFill>
                  <a:srgbClr val="5E5850"/>
                </a:solidFill>
                <a:latin typeface="Inter" pitchFamily="34" charset="0"/>
                <a:ea typeface="Inter" pitchFamily="34" charset="-122"/>
                <a:cs typeface="Inter" pitchFamily="34" charset="-120"/>
              </a:rPr>
              <a:t>: the “ruling theory” joins positivism to utilitarianism, and wrongly assumes the two are independent.</a:t>
            </a:r>
            <a:endParaRPr lang="en-US" sz="1300" dirty="0"/>
          </a:p>
        </p:txBody>
      </p:sp>
      <p:sp>
        <p:nvSpPr>
          <p:cNvPr id="8" name="Shape 6"/>
          <p:cNvSpPr/>
          <p:nvPr/>
        </p:nvSpPr>
        <p:spPr>
          <a:xfrm>
            <a:off x="4422750" y="2428850"/>
            <a:ext cx="3346417" cy="1566887"/>
          </a:xfrm>
          <a:prstGeom prst="roundRect">
            <a:avLst>
              <a:gd name="adj" fmla="val 7092"/>
            </a:avLst>
          </a:prstGeom>
          <a:solidFill>
            <a:srgbClr val="FFFFFF"/>
          </a:solidFill>
          <a:ln w="6350">
            <a:solidFill>
              <a:srgbClr val="E0D7C9"/>
            </a:solidFill>
            <a:prstDash val="solid"/>
          </a:ln>
        </p:spPr>
      </p:sp>
      <p:sp>
        <p:nvSpPr>
          <p:cNvPr id="9" name="Text 7"/>
          <p:cNvSpPr/>
          <p:nvPr/>
        </p:nvSpPr>
        <p:spPr>
          <a:xfrm>
            <a:off x="4602634" y="26087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Law is an interpretive practice</a:t>
            </a:r>
            <a:endParaRPr lang="en-US" sz="1500" dirty="0"/>
          </a:p>
        </p:txBody>
      </p:sp>
      <p:sp>
        <p:nvSpPr>
          <p:cNvPr id="10" name="Text 8"/>
          <p:cNvSpPr/>
          <p:nvPr/>
        </p:nvSpPr>
        <p:spPr>
          <a:xfrm>
            <a:off x="4602634" y="2891309"/>
            <a:ext cx="3076249" cy="949953"/>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5E5850"/>
                </a:solidFill>
                <a:latin typeface="Inter" pitchFamily="34" charset="0"/>
                <a:ea typeface="Inter" pitchFamily="34" charset="-122"/>
                <a:cs typeface="Inter" pitchFamily="34" charset="-120"/>
              </a:rPr>
              <a:t>Law’s Empire</a:t>
            </a:r>
            <a:r>
              <a:rPr lang="en-US" sz="1300" dirty="0">
                <a:solidFill>
                  <a:srgbClr val="5E5850"/>
                </a:solidFill>
                <a:latin typeface="Inter" pitchFamily="34" charset="0"/>
                <a:ea typeface="Inter" pitchFamily="34" charset="-122"/>
                <a:cs typeface="Inter" pitchFamily="34" charset="-120"/>
              </a:rPr>
              <a:t>: legal practice is argumentative. To describe it you must ask what its </a:t>
            </a:r>
            <a:r>
              <a:rPr lang="en-US" sz="1300" b="1" dirty="0">
                <a:solidFill>
                  <a:srgbClr val="5E5850"/>
                </a:solidFill>
                <a:latin typeface="Inter" pitchFamily="34" charset="0"/>
                <a:ea typeface="Inter" pitchFamily="34" charset="-122"/>
                <a:cs typeface="Inter" pitchFamily="34" charset="-120"/>
              </a:rPr>
              <a:t>point</a:t>
            </a:r>
            <a:r>
              <a:rPr lang="en-US" sz="1300" dirty="0">
                <a:solidFill>
                  <a:srgbClr val="5E5850"/>
                </a:solidFill>
                <a:latin typeface="Inter" pitchFamily="34" charset="0"/>
                <a:ea typeface="Inter" pitchFamily="34" charset="-122"/>
                <a:cs typeface="Inter" pitchFamily="34" charset="-120"/>
              </a:rPr>
              <a:t> is — an evaluative question.</a:t>
            </a:r>
            <a:endParaRPr lang="en-US" sz="1300" dirty="0"/>
          </a:p>
        </p:txBody>
      </p:sp>
      <p:sp>
        <p:nvSpPr>
          <p:cNvPr id="11" name="Shape 9"/>
          <p:cNvSpPr/>
          <p:nvPr/>
        </p:nvSpPr>
        <p:spPr>
          <a:xfrm>
            <a:off x="8029558" y="2428850"/>
            <a:ext cx="3346417" cy="1335749"/>
          </a:xfrm>
          <a:prstGeom prst="roundRect">
            <a:avLst>
              <a:gd name="adj" fmla="val 8319"/>
            </a:avLst>
          </a:prstGeom>
          <a:solidFill>
            <a:srgbClr val="FFFFFF"/>
          </a:solidFill>
          <a:ln w="6350">
            <a:solidFill>
              <a:srgbClr val="E0D7C9"/>
            </a:solidFill>
            <a:prstDash val="solid"/>
          </a:ln>
        </p:spPr>
      </p:sp>
      <p:sp>
        <p:nvSpPr>
          <p:cNvPr id="12" name="Text 10"/>
          <p:cNvSpPr/>
          <p:nvPr/>
        </p:nvSpPr>
        <p:spPr>
          <a:xfrm>
            <a:off x="8209442" y="26087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From the participant’s seat</a:t>
            </a:r>
            <a:endParaRPr lang="en-US" sz="1500" dirty="0"/>
          </a:p>
        </p:txBody>
      </p:sp>
      <p:sp>
        <p:nvSpPr>
          <p:cNvPr id="13" name="Text 11"/>
          <p:cNvSpPr/>
          <p:nvPr/>
        </p:nvSpPr>
        <p:spPr>
          <a:xfrm>
            <a:off x="8209442" y="2891309"/>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“This book takes up the internal, participants’ point of view” (</a:t>
            </a:r>
            <a:r>
              <a:rPr lang="en-US" sz="1300" i="1" dirty="0">
                <a:solidFill>
                  <a:srgbClr val="5E5850"/>
                </a:solidFill>
                <a:latin typeface="Inter" pitchFamily="34" charset="0"/>
                <a:ea typeface="Inter" pitchFamily="34" charset="-122"/>
                <a:cs typeface="Inter" pitchFamily="34" charset="-120"/>
              </a:rPr>
              <a:t>LE</a:t>
            </a:r>
            <a:r>
              <a:rPr lang="en-US" sz="1300" dirty="0">
                <a:solidFill>
                  <a:srgbClr val="5E5850"/>
                </a:solidFill>
                <a:latin typeface="Inter" pitchFamily="34" charset="0"/>
                <a:ea typeface="Inter" pitchFamily="34" charset="-122"/>
                <a:cs typeface="Inter" pitchFamily="34" charset="-120"/>
              </a:rPr>
              <a:t> 14). No neutral standpoint is on offer.</a:t>
            </a:r>
            <a:endParaRPr lang="en-US" sz="1300" dirty="0"/>
          </a:p>
        </p:txBody>
      </p:sp>
      <p:sp>
        <p:nvSpPr>
          <p:cNvPr id="14" name="Shape 12"/>
          <p:cNvSpPr/>
          <p:nvPr/>
        </p:nvSpPr>
        <p:spPr>
          <a:xfrm>
            <a:off x="812767" y="4127500"/>
            <a:ext cx="10566383" cy="1318204"/>
          </a:xfrm>
          <a:prstGeom prst="roundRect">
            <a:avLst>
              <a:gd name="adj" fmla="val 6744"/>
            </a:avLst>
          </a:prstGeom>
          <a:solidFill>
            <a:srgbClr val="F2EBE0"/>
          </a:solidFill>
          <a:ln/>
        </p:spPr>
      </p:sp>
      <p:sp>
        <p:nvSpPr>
          <p:cNvPr id="15" name="Shape 13"/>
          <p:cNvSpPr/>
          <p:nvPr/>
        </p:nvSpPr>
        <p:spPr>
          <a:xfrm>
            <a:off x="831817" y="4127500"/>
            <a:ext cx="0" cy="1318204"/>
          </a:xfrm>
          <a:prstGeom prst="line">
            <a:avLst/>
          </a:prstGeom>
          <a:noFill/>
          <a:ln w="38100">
            <a:solidFill>
              <a:srgbClr val="7A6110"/>
            </a:solidFill>
            <a:prstDash val="solid"/>
          </a:ln>
        </p:spPr>
      </p:sp>
      <p:sp>
        <p:nvSpPr>
          <p:cNvPr id="16" name="Text 14"/>
          <p:cNvSpPr/>
          <p:nvPr/>
        </p:nvSpPr>
        <p:spPr>
          <a:xfrm>
            <a:off x="1027575" y="42671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How to use him without writing the banned essay</a:t>
            </a:r>
            <a:endParaRPr lang="en-US" sz="1500" dirty="0"/>
          </a:p>
        </p:txBody>
      </p:sp>
      <p:sp>
        <p:nvSpPr>
          <p:cNvPr id="17" name="Text 15"/>
          <p:cNvSpPr/>
          <p:nvPr/>
        </p:nvSpPr>
        <p:spPr>
          <a:xfrm>
            <a:off x="1027575" y="4559250"/>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Use Dworkin as </a:t>
            </a:r>
            <a:r>
              <a:rPr lang="en-US" sz="1400" b="1" dirty="0">
                <a:solidFill>
                  <a:srgbClr val="191814"/>
                </a:solidFill>
                <a:latin typeface="Inter" pitchFamily="34" charset="0"/>
                <a:ea typeface="Inter" pitchFamily="34" charset="-122"/>
                <a:cs typeface="Inter" pitchFamily="34" charset="-120"/>
              </a:rPr>
              <a:t>one</a:t>
            </a:r>
            <a:r>
              <a:rPr lang="en-US" sz="1400" dirty="0">
                <a:solidFill>
                  <a:srgbClr val="191814"/>
                </a:solidFill>
                <a:latin typeface="Inter" pitchFamily="34" charset="0"/>
                <a:ea typeface="Inter" pitchFamily="34" charset="-122"/>
                <a:cs typeface="Inter" pitchFamily="34" charset="-120"/>
              </a:rPr>
              <a:t> of two independent pressures on the descriptive claim — his from interpretation, Finnis’s from selection — and note they reject the is/ought separation for different reasons. Then spend your words on the literature that answers them: Dickson, Perry, Marmor, Raz, Leiter.</a:t>
            </a:r>
            <a:endParaRPr lang="en-US" sz="1400" dirty="0"/>
          </a:p>
        </p:txBody>
      </p:sp>
      <p:sp>
        <p:nvSpPr>
          <p:cNvPr id="18" name="Text 16"/>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19" name="Text 17"/>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DICKSON’S REPLY</a:t>
            </a:r>
            <a:endParaRPr lang="en-US" sz="1200" dirty="0"/>
          </a:p>
        </p:txBody>
      </p:sp>
      <p:sp>
        <p:nvSpPr>
          <p:cNvPr id="3" name="Text 1"/>
          <p:cNvSpPr/>
          <p:nvPr/>
        </p:nvSpPr>
        <p:spPr>
          <a:xfrm>
            <a:off x="812767" y="914375"/>
            <a:ext cx="10203180" cy="450552"/>
          </a:xfrm>
          <a:prstGeom prst="rect">
            <a:avLst/>
          </a:prstGeom>
          <a:noFill/>
          <a:ln/>
        </p:spPr>
        <p:txBody>
          <a:bodyPr wrap="square" lIns="0" tIns="0" rIns="0" bIns="0" rtlCol="0" anchor="t">
            <a:normAutofit/>
          </a:bodyPr>
          <a:lstStyle/>
          <a:p>
            <a:pPr algn="l" indent="0" marL="0">
              <a:lnSpc>
                <a:spcPts val="3348"/>
              </a:lnSpc>
              <a:buNone/>
            </a:pPr>
            <a:r>
              <a:rPr lang="en-US" sz="3100" b="1" dirty="0">
                <a:solidFill>
                  <a:srgbClr val="191814"/>
                </a:solidFill>
                <a:latin typeface="Fraunces" pitchFamily="34" charset="0"/>
                <a:ea typeface="Fraunces" pitchFamily="34" charset="-122"/>
                <a:cs typeface="Fraunces" pitchFamily="34" charset="-120"/>
              </a:rPr>
              <a:t>Indirectly evaluative legal theory</a:t>
            </a:r>
            <a:endParaRPr lang="en-US" sz="3100" dirty="0"/>
          </a:p>
        </p:txBody>
      </p:sp>
      <p:sp>
        <p:nvSpPr>
          <p:cNvPr id="4" name="Shape 2"/>
          <p:cNvSpPr/>
          <p:nvPr/>
        </p:nvSpPr>
        <p:spPr>
          <a:xfrm>
            <a:off x="815942" y="1882750"/>
            <a:ext cx="5149841" cy="1151491"/>
          </a:xfrm>
          <a:prstGeom prst="roundRect">
            <a:avLst>
              <a:gd name="adj" fmla="val 9651"/>
            </a:avLst>
          </a:prstGeom>
          <a:solidFill>
            <a:srgbClr val="FFFFFF"/>
          </a:solidFill>
          <a:ln w="6350">
            <a:solidFill>
              <a:srgbClr val="E0D7C9"/>
            </a:solidFill>
            <a:prstDash val="solid"/>
          </a:ln>
        </p:spPr>
      </p:sp>
      <p:sp>
        <p:nvSpPr>
          <p:cNvPr id="5" name="Text 3"/>
          <p:cNvSpPr/>
          <p:nvPr/>
        </p:nvSpPr>
        <p:spPr>
          <a:xfrm>
            <a:off x="995825"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1C595D"/>
                </a:solidFill>
                <a:latin typeface="Fraunces" pitchFamily="34" charset="0"/>
                <a:ea typeface="Fraunces" pitchFamily="34" charset="-122"/>
                <a:cs typeface="Fraunces" pitchFamily="34" charset="-120"/>
              </a:rPr>
              <a:t>Direct evaluation</a:t>
            </a:r>
            <a:endParaRPr lang="en-US" sz="1700" dirty="0"/>
          </a:p>
        </p:txBody>
      </p:sp>
      <p:sp>
        <p:nvSpPr>
          <p:cNvPr id="6" name="Text 4"/>
          <p:cNvSpPr/>
          <p:nvPr/>
        </p:nvSpPr>
        <p:spPr>
          <a:xfrm>
            <a:off x="995825" y="2374379"/>
            <a:ext cx="4933777"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Judging that law, or a feature of it, is </a:t>
            </a:r>
            <a:r>
              <a:rPr lang="en-US" sz="1350" b="1" dirty="0">
                <a:solidFill>
                  <a:srgbClr val="191814"/>
                </a:solidFill>
                <a:latin typeface="Inter" pitchFamily="34" charset="0"/>
                <a:ea typeface="Inter" pitchFamily="34" charset="-122"/>
                <a:cs typeface="Inter" pitchFamily="34" charset="-120"/>
              </a:rPr>
              <a:t>good</a:t>
            </a:r>
            <a:r>
              <a:rPr lang="en-US" sz="1350" dirty="0">
                <a:solidFill>
                  <a:srgbClr val="191814"/>
                </a:solidFill>
                <a:latin typeface="Inter" pitchFamily="34" charset="0"/>
                <a:ea typeface="Inter" pitchFamily="34" charset="-122"/>
                <a:cs typeface="Inter" pitchFamily="34" charset="-120"/>
              </a:rPr>
              <a:t>. Hart disclaims this.</a:t>
            </a:r>
            <a:endParaRPr lang="en-US" sz="1350" dirty="0"/>
          </a:p>
        </p:txBody>
      </p:sp>
      <p:sp>
        <p:nvSpPr>
          <p:cNvPr id="7" name="Shape 5"/>
          <p:cNvSpPr/>
          <p:nvPr/>
        </p:nvSpPr>
        <p:spPr>
          <a:xfrm>
            <a:off x="6226175" y="1882750"/>
            <a:ext cx="5149841" cy="1391477"/>
          </a:xfrm>
          <a:prstGeom prst="roundRect">
            <a:avLst>
              <a:gd name="adj" fmla="val 7986"/>
            </a:avLst>
          </a:prstGeom>
          <a:solidFill>
            <a:srgbClr val="FFFFFF"/>
          </a:solidFill>
          <a:ln w="6350">
            <a:solidFill>
              <a:srgbClr val="E0D7C9"/>
            </a:solidFill>
            <a:prstDash val="solid"/>
          </a:ln>
        </p:spPr>
      </p:sp>
      <p:sp>
        <p:nvSpPr>
          <p:cNvPr id="8" name="Text 6"/>
          <p:cNvSpPr/>
          <p:nvPr/>
        </p:nvSpPr>
        <p:spPr>
          <a:xfrm>
            <a:off x="6406059" y="2062634"/>
            <a:ext cx="4933777" cy="273654"/>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B0451D"/>
                </a:solidFill>
                <a:latin typeface="Fraunces" pitchFamily="34" charset="0"/>
                <a:ea typeface="Fraunces" pitchFamily="34" charset="-122"/>
                <a:cs typeface="Fraunces" pitchFamily="34" charset="-120"/>
              </a:rPr>
              <a:t>Indirect evaluation</a:t>
            </a:r>
            <a:endParaRPr lang="en-US" sz="1700" dirty="0"/>
          </a:p>
        </p:txBody>
      </p:sp>
      <p:sp>
        <p:nvSpPr>
          <p:cNvPr id="9" name="Text 7"/>
          <p:cNvSpPr/>
          <p:nvPr/>
        </p:nvSpPr>
        <p:spPr>
          <a:xfrm>
            <a:off x="6406059" y="2374379"/>
            <a:ext cx="4933777"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Judging that a feature is </a:t>
            </a:r>
            <a:r>
              <a:rPr lang="en-US" sz="1350" b="1" dirty="0">
                <a:solidFill>
                  <a:srgbClr val="191814"/>
                </a:solidFill>
                <a:latin typeface="Inter" pitchFamily="34" charset="0"/>
                <a:ea typeface="Inter" pitchFamily="34" charset="-122"/>
                <a:cs typeface="Inter" pitchFamily="34" charset="-120"/>
              </a:rPr>
              <a:t>important</a:t>
            </a:r>
            <a:r>
              <a:rPr lang="en-US" sz="1350" dirty="0">
                <a:solidFill>
                  <a:srgbClr val="191814"/>
                </a:solidFill>
                <a:latin typeface="Inter" pitchFamily="34" charset="0"/>
                <a:ea typeface="Inter" pitchFamily="34" charset="-122"/>
                <a:cs typeface="Inter" pitchFamily="34" charset="-120"/>
              </a:rPr>
              <a:t> — assessed by how law is understood by those living under it. Evaluative, not moral.</a:t>
            </a:r>
            <a:endParaRPr lang="en-US" sz="1350" dirty="0"/>
          </a:p>
        </p:txBody>
      </p:sp>
      <p:sp>
        <p:nvSpPr>
          <p:cNvPr id="10" name="Text 8"/>
          <p:cNvSpPr/>
          <p:nvPr/>
        </p:nvSpPr>
        <p:spPr>
          <a:xfrm>
            <a:off x="812767" y="2984500"/>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91814"/>
                </a:solidFill>
                <a:latin typeface="Inter" pitchFamily="34" charset="0"/>
                <a:ea typeface="Inter" pitchFamily="34" charset="-122"/>
                <a:cs typeface="Inter" pitchFamily="34" charset="-120"/>
              </a:rPr>
              <a:t>So the criterion of significance is </a:t>
            </a:r>
            <a:r>
              <a:rPr lang="en-US" sz="1400" b="1" dirty="0">
                <a:solidFill>
                  <a:srgbClr val="191814"/>
                </a:solidFill>
                <a:latin typeface="Inter" pitchFamily="34" charset="0"/>
                <a:ea typeface="Inter" pitchFamily="34" charset="-122"/>
                <a:cs typeface="Inter" pitchFamily="34" charset="-120"/>
              </a:rPr>
              <a:t>participants’ self-understandings</a:t>
            </a:r>
            <a:r>
              <a:rPr lang="en-US" sz="1400" dirty="0">
                <a:solidFill>
                  <a:srgbClr val="191814"/>
                </a:solidFill>
                <a:latin typeface="Inter" pitchFamily="34" charset="0"/>
                <a:ea typeface="Inter" pitchFamily="34" charset="-122"/>
                <a:cs typeface="Inter" pitchFamily="34" charset="-120"/>
              </a:rPr>
              <a:t>. The theorist does not decide what matters about law; the practice does, and the theorist reports it — then evaluates morally afterwards, in a separate, staged inquiry.</a:t>
            </a:r>
            <a:endParaRPr lang="en-US" sz="1400" dirty="0"/>
          </a:p>
        </p:txBody>
      </p:sp>
      <p:sp>
        <p:nvSpPr>
          <p:cNvPr id="11" name="Shape 9"/>
          <p:cNvSpPr/>
          <p:nvPr/>
        </p:nvSpPr>
        <p:spPr>
          <a:xfrm>
            <a:off x="812767" y="3810000"/>
            <a:ext cx="5156191" cy="1282898"/>
          </a:xfrm>
          <a:prstGeom prst="roundRect">
            <a:avLst>
              <a:gd name="adj" fmla="val 7920"/>
            </a:avLst>
          </a:prstGeom>
          <a:solidFill>
            <a:srgbClr val="F2EBE0"/>
          </a:solidFill>
          <a:ln/>
        </p:spPr>
      </p:sp>
      <p:sp>
        <p:nvSpPr>
          <p:cNvPr id="12" name="Text 10"/>
          <p:cNvSpPr/>
          <p:nvPr/>
        </p:nvSpPr>
        <p:spPr>
          <a:xfrm>
            <a:off x="990534" y="3987750"/>
            <a:ext cx="494467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C595D"/>
                </a:solidFill>
                <a:latin typeface="Fraunces" pitchFamily="34" charset="0"/>
                <a:ea typeface="Fraunces" pitchFamily="34" charset="-122"/>
                <a:cs typeface="Fraunces" pitchFamily="34" charset="-120"/>
              </a:rPr>
              <a:t>Dickson on the task</a:t>
            </a:r>
            <a:endParaRPr lang="en-US" sz="1450" dirty="0"/>
          </a:p>
        </p:txBody>
      </p:sp>
      <p:sp>
        <p:nvSpPr>
          <p:cNvPr id="13" name="Text 11"/>
          <p:cNvSpPr/>
          <p:nvPr/>
        </p:nvSpPr>
        <p:spPr>
          <a:xfrm>
            <a:off x="990534" y="4272186"/>
            <a:ext cx="4944677"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Elucidation is an active process requiring one to identify law’s </a:t>
            </a:r>
            <a:r>
              <a:rPr lang="en-US" sz="1250" b="1" dirty="0">
                <a:solidFill>
                  <a:srgbClr val="191814"/>
                </a:solidFill>
                <a:latin typeface="Inter" pitchFamily="34" charset="0"/>
                <a:ea typeface="Inter" pitchFamily="34" charset="-122"/>
                <a:cs typeface="Inter" pitchFamily="34" charset="-120"/>
              </a:rPr>
              <a:t>most important and significant</a:t>
            </a:r>
            <a:r>
              <a:rPr lang="en-US" sz="1250" dirty="0">
                <a:solidFill>
                  <a:srgbClr val="191814"/>
                </a:solidFill>
                <a:latin typeface="Inter" pitchFamily="34" charset="0"/>
                <a:ea typeface="Inter" pitchFamily="34" charset="-122"/>
                <a:cs typeface="Inter" pitchFamily="34" charset="-120"/>
              </a:rPr>
              <a:t> features — not to catalogue all of them.</a:t>
            </a:r>
            <a:endParaRPr lang="en-US" sz="1250" dirty="0"/>
          </a:p>
        </p:txBody>
      </p:sp>
      <p:sp>
        <p:nvSpPr>
          <p:cNvPr id="14" name="Shape 12"/>
          <p:cNvSpPr/>
          <p:nvPr/>
        </p:nvSpPr>
        <p:spPr>
          <a:xfrm>
            <a:off x="6229350" y="3816350"/>
            <a:ext cx="5143491" cy="1291365"/>
          </a:xfrm>
          <a:prstGeom prst="roundRect">
            <a:avLst>
              <a:gd name="adj" fmla="val 7376"/>
            </a:avLst>
          </a:prstGeom>
          <a:solidFill>
            <a:srgbClr val="FCEEE5"/>
          </a:solidFill>
          <a:ln w="12700">
            <a:solidFill>
              <a:srgbClr val="B0451D"/>
            </a:solidFill>
            <a:prstDash val="solid"/>
          </a:ln>
        </p:spPr>
      </p:sp>
      <p:sp>
        <p:nvSpPr>
          <p:cNvPr id="15" name="Text 13"/>
          <p:cNvSpPr/>
          <p:nvPr/>
        </p:nvSpPr>
        <p:spPr>
          <a:xfrm>
            <a:off x="6411350" y="3998342"/>
            <a:ext cx="4922876"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B0451D"/>
                </a:solidFill>
                <a:latin typeface="Fraunces" pitchFamily="34" charset="0"/>
                <a:ea typeface="Fraunces" pitchFamily="34" charset="-122"/>
                <a:cs typeface="Fraunces" pitchFamily="34" charset="-120"/>
              </a:rPr>
              <a:t>The objection to meet</a:t>
            </a:r>
            <a:endParaRPr lang="en-US" sz="1450" dirty="0"/>
          </a:p>
        </p:txBody>
      </p:sp>
      <p:sp>
        <p:nvSpPr>
          <p:cNvPr id="16" name="Text 14"/>
          <p:cNvSpPr/>
          <p:nvPr/>
        </p:nvSpPr>
        <p:spPr>
          <a:xfrm>
            <a:off x="6411350" y="4282777"/>
            <a:ext cx="4922876" cy="66833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Self-understandings are </a:t>
            </a:r>
            <a:r>
              <a:rPr lang="en-US" sz="1250" i="1" dirty="0">
                <a:solidFill>
                  <a:srgbClr val="191814"/>
                </a:solidFill>
                <a:latin typeface="Inter" pitchFamily="34" charset="0"/>
                <a:ea typeface="Inter" pitchFamily="34" charset="-122"/>
                <a:cs typeface="Inter" pitchFamily="34" charset="-120"/>
              </a:rPr>
              <a:t>already</a:t>
            </a:r>
            <a:r>
              <a:rPr lang="en-US" sz="1250" dirty="0">
                <a:solidFill>
                  <a:srgbClr val="191814"/>
                </a:solidFill>
                <a:latin typeface="Inter" pitchFamily="34" charset="0"/>
                <a:ea typeface="Inter" pitchFamily="34" charset="-122"/>
                <a:cs typeface="Inter" pitchFamily="34" charset="-120"/>
              </a:rPr>
              <a:t> morally loaded — law claims authority. So “importance to participants” either smuggles moral evaluation back in, or collapses into social science.</a:t>
            </a:r>
            <a:endParaRPr lang="en-US" sz="1250" dirty="0"/>
          </a:p>
        </p:txBody>
      </p:sp>
      <p:sp>
        <p:nvSpPr>
          <p:cNvPr id="17" name="Text 15"/>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18" name="Text 16"/>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FIELD, ON ONE PAGE</a:t>
            </a:r>
            <a:endParaRPr lang="en-US" sz="1200" dirty="0"/>
          </a:p>
        </p:txBody>
      </p:sp>
      <p:sp>
        <p:nvSpPr>
          <p:cNvPr id="3" name="Text 1"/>
          <p:cNvSpPr/>
          <p:nvPr/>
        </p:nvSpPr>
        <p:spPr>
          <a:xfrm>
            <a:off x="812767" y="914375"/>
            <a:ext cx="10203180" cy="423143"/>
          </a:xfrm>
          <a:prstGeom prst="rect">
            <a:avLst/>
          </a:prstGeom>
          <a:noFill/>
          <a:ln/>
        </p:spPr>
        <p:txBody>
          <a:bodyPr wrap="square" lIns="0" tIns="0" rIns="0" bIns="0" rtlCol="0" anchor="t">
            <a:normAutofit/>
          </a:bodyPr>
          <a:lstStyle/>
          <a:p>
            <a:pPr algn="l" indent="0" marL="0">
              <a:lnSpc>
                <a:spcPts val="3132"/>
              </a:lnSpc>
              <a:buNone/>
            </a:pPr>
            <a:r>
              <a:rPr lang="en-US" sz="2900" b="1" dirty="0">
                <a:solidFill>
                  <a:srgbClr val="191814"/>
                </a:solidFill>
                <a:latin typeface="Fraunces" pitchFamily="34" charset="0"/>
                <a:ea typeface="Fraunces" pitchFamily="34" charset="-122"/>
                <a:cs typeface="Fraunces" pitchFamily="34" charset="-120"/>
              </a:rPr>
              <a:t>Who says what, and where it bites</a:t>
            </a:r>
            <a:endParaRPr lang="en-US" sz="2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767" y="1879575"/>
          <a:ext cx="10566383" cy="4139158"/>
        </p:xfrm>
        <a:graphic>
          <a:graphicData uri="http://schemas.openxmlformats.org/drawingml/2006/table">
            <a:tbl>
              <a:tblPr/>
              <a:tblGrid>
                <a:gridCol w="2113277"/>
                <a:gridCol w="4437881"/>
                <a:gridCol w="4015226"/>
              </a:tblGrid>
              <a:tr h="376287">
                <a:tc>
                  <a:txBody>
                    <a:bodyPr/>
                    <a:lstStyle/>
                    <a:p>
                      <a:pPr indent="0" marL="0">
                        <a:lnSpc>
                          <a:spcPts val="1680"/>
                        </a:lnSpc>
                        <a:buNone/>
                      </a:pPr>
                      <a:r>
                        <a:rPr lang="en-US" sz="1200" b="1" dirty="0">
                          <a:solidFill>
                            <a:srgbClr val="191814"/>
                          </a:solidFill>
                          <a:latin typeface="Inter" pitchFamily="34" charset="0"/>
                          <a:ea typeface="Inter" pitchFamily="34" charset="-122"/>
                          <a:cs typeface="Inter" pitchFamily="34" charset="-120"/>
                        </a:rPr>
                        <a:t>Who</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c>
                  <a:txBody>
                    <a:bodyPr/>
                    <a:lstStyle/>
                    <a:p>
                      <a:pPr indent="0" marL="0">
                        <a:lnSpc>
                          <a:spcPts val="1680"/>
                        </a:lnSpc>
                        <a:buNone/>
                      </a:pPr>
                      <a:r>
                        <a:rPr lang="en-US" sz="1200" b="1" dirty="0">
                          <a:solidFill>
                            <a:srgbClr val="191814"/>
                          </a:solidFill>
                          <a:latin typeface="Inter" pitchFamily="34" charset="0"/>
                          <a:ea typeface="Inter" pitchFamily="34" charset="-122"/>
                          <a:cs typeface="Inter" pitchFamily="34" charset="-120"/>
                        </a:rPr>
                        <a:t>Claim</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c>
                  <a:txBody>
                    <a:bodyPr/>
                    <a:lstStyle/>
                    <a:p>
                      <a:pPr indent="0" marL="0">
                        <a:lnSpc>
                          <a:spcPts val="1680"/>
                        </a:lnSpc>
                        <a:buNone/>
                      </a:pPr>
                      <a:r>
                        <a:rPr lang="en-US" sz="1200" b="1" dirty="0">
                          <a:solidFill>
                            <a:srgbClr val="191814"/>
                          </a:solidFill>
                          <a:latin typeface="Inter" pitchFamily="34" charset="0"/>
                          <a:ea typeface="Inter" pitchFamily="34" charset="-122"/>
                          <a:cs typeface="Inter" pitchFamily="34" charset="-120"/>
                        </a:rPr>
                        <a:t>Where it bites</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2EBE0"/>
                    </a:solidFill>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Hart, Postscript</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General and descriptive; morally neutral</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The target — note the word “morally”</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Kelsen</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Purity: what law is, not what it ought to be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The ideal at its most uncompromising</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Finnis</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No description of social facts without evaluation</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Selection of central case and viewpoint</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Dworkin</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A general theory must be normative too</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Interpretation; the point of the practice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Dickson</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Indirect evaluation: important, not good</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The standard defence, and the standard target</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Perry</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Choosing the internal viewpoint is evaluative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The sharpest internal critique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Marmor</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Still descriptive and morally neutral</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Defends the distinction on the last slide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Raz</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Parochial concept, universal inquiry</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Decouples “general” from “neutral”</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Schauer</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Focus depends on what a theory is meant to do</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Turns Hart’s own method against him</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tcPr>
                </a:tc>
              </a:tr>
              <a:tr h="376287">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Leiter</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The methodology problem is the live question</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c>
                  <a:txBody>
                    <a:bodyPr/>
                    <a:lstStyle/>
                    <a:p>
                      <a:pPr indent="0" marL="0">
                        <a:lnSpc>
                          <a:spcPts val="1680"/>
                        </a:lnSpc>
                        <a:buNone/>
                      </a:pPr>
                      <a:r>
                        <a:rPr lang="en-US" sz="1200" dirty="0">
                          <a:solidFill>
                            <a:srgbClr val="191814"/>
                          </a:solidFill>
                          <a:latin typeface="Inter" pitchFamily="34" charset="0"/>
                          <a:ea typeface="Inter" pitchFamily="34" charset="-122"/>
                          <a:cs typeface="Inter" pitchFamily="34" charset="-120"/>
                        </a:rPr>
                        <a:t>Orientation; it names the debate</a:t>
                      </a:r>
                      <a:endParaRPr lang="en-US" sz="1200" dirty="0">
                        <a:latin typeface="Inter" charset="0"/>
                        <a:ea typeface="Inter" charset="0"/>
                        <a:cs typeface="Inter" charset="0"/>
                      </a:endParaRPr>
                    </a:p>
                  </a:txBody>
                  <a:tcPr marL="76200" marR="76200" marT="76200" marB="76200" anchor="t">
                    <a:lnL w="12700" cap="flat" cmpd="sng" algn="ctr">
                      <a:solidFill>
                        <a:srgbClr val="C9C6C1"/>
                      </a:solidFill>
                      <a:prstDash val="solid"/>
                      <a:round/>
                      <a:headEnd type="none" w="med" len="med"/>
                      <a:tailEnd type="none" w="med" len="med"/>
                    </a:lnL>
                    <a:lnR w="12700" cap="flat" cmpd="sng" algn="ctr">
                      <a:solidFill>
                        <a:srgbClr val="C9C6C1"/>
                      </a:solidFill>
                      <a:prstDash val="solid"/>
                      <a:round/>
                      <a:headEnd type="none" w="med" len="med"/>
                      <a:tailEnd type="none" w="med" len="med"/>
                    </a:lnR>
                    <a:lnT w="12700" cap="flat" cmpd="sng" algn="ctr">
                      <a:solidFill>
                        <a:srgbClr val="C9C6C1"/>
                      </a:solidFill>
                      <a:prstDash val="solid"/>
                      <a:round/>
                      <a:headEnd type="none" w="med" len="med"/>
                      <a:tailEnd type="none" w="med" len="med"/>
                    </a:lnT>
                    <a:lnB w="12700" cap="flat" cmpd="sng" algn="ctr">
                      <a:solidFill>
                        <a:srgbClr val="C9C6C1"/>
                      </a:solidFill>
                      <a:prstDash val="solid"/>
                      <a:round/>
                      <a:headEnd type="none" w="med" len="med"/>
                      <a:tailEnd type="none" w="med" len="med"/>
                    </a:lnB>
                    <a:solidFill>
                      <a:srgbClr val="FCFAF6"/>
                    </a:solidFill>
                  </a:tcPr>
                </a:tc>
              </a:tr>
            </a:tbl>
          </a:graphicData>
        </a:graphic>
      </p:graphicFrame>
      <p:sp>
        <p:nvSpPr>
          <p:cNvPr id="5" name="Text 2"/>
          <p:cNvSpPr/>
          <p:nvPr/>
        </p:nvSpPr>
        <p:spPr>
          <a:xfrm>
            <a:off x="812767" y="5461000"/>
            <a:ext cx="10883374" cy="26480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Verify every citation at the publisher’s record before it reaches a footnote. Several attributions in this area are commonly mis-stated.</a:t>
            </a:r>
            <a:endParaRPr lang="en-US" sz="1300" dirty="0"/>
          </a:p>
        </p:txBody>
      </p:sp>
      <p:sp>
        <p:nvSpPr>
          <p:cNvPr id="6" name="Text 3"/>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7" name="Text 4"/>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CRITICAL FLANK</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Is a “general” theory ever general?</a:t>
            </a:r>
            <a:endParaRPr lang="en-US" sz="3000" dirty="0"/>
          </a:p>
        </p:txBody>
      </p:sp>
      <p:sp>
        <p:nvSpPr>
          <p:cNvPr id="4" name="Shape 2"/>
          <p:cNvSpPr/>
          <p:nvPr/>
        </p:nvSpPr>
        <p:spPr>
          <a:xfrm>
            <a:off x="815942" y="1882750"/>
            <a:ext cx="3346417" cy="1798026"/>
          </a:xfrm>
          <a:prstGeom prst="roundRect">
            <a:avLst>
              <a:gd name="adj" fmla="val 6180"/>
            </a:avLst>
          </a:prstGeom>
          <a:solidFill>
            <a:srgbClr val="FFFFFF"/>
          </a:solidFill>
          <a:ln w="6350">
            <a:solidFill>
              <a:srgbClr val="E0D7C9"/>
            </a:solidFill>
            <a:prstDash val="solid"/>
          </a:ln>
        </p:spPr>
      </p:sp>
      <p:sp>
        <p:nvSpPr>
          <p:cNvPr id="5" name="Text 3"/>
          <p:cNvSpPr/>
          <p:nvPr/>
        </p:nvSpPr>
        <p:spPr>
          <a:xfrm>
            <a:off x="995825"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Legal realism</a:t>
            </a:r>
            <a:endParaRPr lang="en-US" sz="1500" dirty="0"/>
          </a:p>
        </p:txBody>
      </p:sp>
      <p:sp>
        <p:nvSpPr>
          <p:cNvPr id="6" name="Text 4"/>
          <p:cNvSpPr/>
          <p:nvPr/>
        </p:nvSpPr>
        <p:spPr>
          <a:xfrm>
            <a:off x="995825" y="2345184"/>
            <a:ext cx="3076249" cy="118109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Law in books versus law in action; rules are indeterminate. Leiter’s rescue: realism is a descriptive theory of </a:t>
            </a:r>
            <a:r>
              <a:rPr lang="en-US" sz="1300" b="1" dirty="0">
                <a:solidFill>
                  <a:srgbClr val="5E5850"/>
                </a:solidFill>
                <a:latin typeface="Inter" pitchFamily="34" charset="0"/>
                <a:ea typeface="Inter" pitchFamily="34" charset="-122"/>
                <a:cs typeface="Inter" pitchFamily="34" charset="-120"/>
              </a:rPr>
              <a:t>adjudication</a:t>
            </a:r>
            <a:r>
              <a:rPr lang="en-US" sz="1300" dirty="0">
                <a:solidFill>
                  <a:srgbClr val="5E5850"/>
                </a:solidFill>
                <a:latin typeface="Inter" pitchFamily="34" charset="0"/>
                <a:ea typeface="Inter" pitchFamily="34" charset="-122"/>
                <a:cs typeface="Inter" pitchFamily="34" charset="-120"/>
              </a:rPr>
              <a:t>, not a rival theory of law.</a:t>
            </a:r>
            <a:endParaRPr lang="en-US" sz="1300" dirty="0"/>
          </a:p>
        </p:txBody>
      </p:sp>
      <p:sp>
        <p:nvSpPr>
          <p:cNvPr id="7" name="Shape 5"/>
          <p:cNvSpPr/>
          <p:nvPr/>
        </p:nvSpPr>
        <p:spPr>
          <a:xfrm>
            <a:off x="4422750" y="1882750"/>
            <a:ext cx="3346417" cy="1566887"/>
          </a:xfrm>
          <a:prstGeom prst="roundRect">
            <a:avLst>
              <a:gd name="adj" fmla="val 7092"/>
            </a:avLst>
          </a:prstGeom>
          <a:solidFill>
            <a:srgbClr val="FFFFFF"/>
          </a:solidFill>
          <a:ln w="6350">
            <a:solidFill>
              <a:srgbClr val="E0D7C9"/>
            </a:solidFill>
            <a:prstDash val="solid"/>
          </a:ln>
        </p:spPr>
      </p:sp>
      <p:sp>
        <p:nvSpPr>
          <p:cNvPr id="8" name="Text 6"/>
          <p:cNvSpPr/>
          <p:nvPr/>
        </p:nvSpPr>
        <p:spPr>
          <a:xfrm>
            <a:off x="4602634"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Critical Legal Studies</a:t>
            </a:r>
            <a:endParaRPr lang="en-US" sz="1500" dirty="0"/>
          </a:p>
        </p:txBody>
      </p:sp>
      <p:sp>
        <p:nvSpPr>
          <p:cNvPr id="9" name="Text 7"/>
          <p:cNvSpPr/>
          <p:nvPr/>
        </p:nvSpPr>
        <p:spPr>
          <a:xfrm>
            <a:off x="4602634" y="2345184"/>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Law’s claimed neutrality is ideology; legal materials are contradictory because they stem from political conflict.</a:t>
            </a:r>
            <a:endParaRPr lang="en-US" sz="1300" dirty="0"/>
          </a:p>
        </p:txBody>
      </p:sp>
      <p:sp>
        <p:nvSpPr>
          <p:cNvPr id="10" name="Shape 8"/>
          <p:cNvSpPr/>
          <p:nvPr/>
        </p:nvSpPr>
        <p:spPr>
          <a:xfrm>
            <a:off x="8029558" y="1882750"/>
            <a:ext cx="3346417" cy="1566887"/>
          </a:xfrm>
          <a:prstGeom prst="roundRect">
            <a:avLst>
              <a:gd name="adj" fmla="val 7092"/>
            </a:avLst>
          </a:prstGeom>
          <a:solidFill>
            <a:srgbClr val="FFFFFF"/>
          </a:solidFill>
          <a:ln w="6350">
            <a:solidFill>
              <a:srgbClr val="E0D7C9"/>
            </a:solidFill>
            <a:prstDash val="solid"/>
          </a:ln>
        </p:spPr>
      </p:sp>
      <p:sp>
        <p:nvSpPr>
          <p:cNvPr id="11" name="Text 9"/>
          <p:cNvSpPr/>
          <p:nvPr/>
        </p:nvSpPr>
        <p:spPr>
          <a:xfrm>
            <a:off x="8209442" y="2062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Twining, Tamanaha</a:t>
            </a:r>
            <a:endParaRPr lang="en-US" sz="1500" dirty="0"/>
          </a:p>
        </p:txBody>
      </p:sp>
      <p:sp>
        <p:nvSpPr>
          <p:cNvPr id="12" name="Text 10"/>
          <p:cNvSpPr/>
          <p:nvPr/>
        </p:nvSpPr>
        <p:spPr>
          <a:xfrm>
            <a:off x="8209442" y="2345184"/>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General jurisprudence built on modern Western municipal law and then declared universal. A borrowed generality.</a:t>
            </a:r>
            <a:endParaRPr lang="en-US" sz="1300" dirty="0"/>
          </a:p>
        </p:txBody>
      </p:sp>
      <p:sp>
        <p:nvSpPr>
          <p:cNvPr id="13" name="Shape 11"/>
          <p:cNvSpPr/>
          <p:nvPr/>
        </p:nvSpPr>
        <p:spPr>
          <a:xfrm>
            <a:off x="812767" y="3429000"/>
            <a:ext cx="10566383" cy="1318204"/>
          </a:xfrm>
          <a:prstGeom prst="roundRect">
            <a:avLst>
              <a:gd name="adj" fmla="val 6744"/>
            </a:avLst>
          </a:prstGeom>
          <a:solidFill>
            <a:srgbClr val="F2EBE0"/>
          </a:solidFill>
          <a:ln/>
        </p:spPr>
      </p:sp>
      <p:sp>
        <p:nvSpPr>
          <p:cNvPr id="14" name="Shape 12"/>
          <p:cNvSpPr/>
          <p:nvPr/>
        </p:nvSpPr>
        <p:spPr>
          <a:xfrm>
            <a:off x="831817" y="3429000"/>
            <a:ext cx="0" cy="1318204"/>
          </a:xfrm>
          <a:prstGeom prst="line">
            <a:avLst/>
          </a:prstGeom>
          <a:noFill/>
          <a:ln w="38100">
            <a:solidFill>
              <a:srgbClr val="1C595D"/>
            </a:solidFill>
            <a:prstDash val="solid"/>
          </a:ln>
        </p:spPr>
      </p:sp>
      <p:sp>
        <p:nvSpPr>
          <p:cNvPr id="15" name="Text 13"/>
          <p:cNvSpPr/>
          <p:nvPr/>
        </p:nvSpPr>
        <p:spPr>
          <a:xfrm>
            <a:off x="1027575" y="35686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The Week 1 example, waiting to be used</a:t>
            </a:r>
            <a:endParaRPr lang="en-US" sz="1500" dirty="0"/>
          </a:p>
        </p:txBody>
      </p:sp>
      <p:sp>
        <p:nvSpPr>
          <p:cNvPr id="16" name="Text 14"/>
          <p:cNvSpPr/>
          <p:nvPr/>
        </p:nvSpPr>
        <p:spPr>
          <a:xfrm>
            <a:off x="1027575" y="3860750"/>
            <a:ext cx="10479022" cy="772145"/>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191814"/>
                </a:solidFill>
                <a:latin typeface="Inter" pitchFamily="34" charset="0"/>
                <a:ea typeface="Inter" pitchFamily="34" charset="-122"/>
                <a:cs typeface="Inter" pitchFamily="34" charset="-120"/>
              </a:rPr>
              <a:t>Milirrpum v Nabalco Pty Ltd</a:t>
            </a:r>
            <a:r>
              <a:rPr lang="en-US" sz="1400" dirty="0">
                <a:solidFill>
                  <a:srgbClr val="191814"/>
                </a:solidFill>
                <a:latin typeface="Inter" pitchFamily="34" charset="0"/>
                <a:ea typeface="Inter" pitchFamily="34" charset="-122"/>
                <a:cs typeface="Inter" pitchFamily="34" charset="-120"/>
              </a:rPr>
              <a:t> (1971) 17 FLR 141 — the Gove land rights case — where Aboriginal claims met the objection that customary rules could not be described by the court as </a:t>
            </a:r>
            <a:r>
              <a:rPr lang="en-US" sz="1400" i="1" dirty="0">
                <a:solidFill>
                  <a:srgbClr val="191814"/>
                </a:solidFill>
                <a:latin typeface="Inter" pitchFamily="34" charset="0"/>
                <a:ea typeface="Inter" pitchFamily="34" charset="-122"/>
                <a:cs typeface="Inter" pitchFamily="34" charset="-120"/>
              </a:rPr>
              <a:t>legal</a:t>
            </a:r>
            <a:r>
              <a:rPr lang="en-US" sz="1400" dirty="0">
                <a:solidFill>
                  <a:srgbClr val="191814"/>
                </a:solidFill>
                <a:latin typeface="Inter" pitchFamily="34" charset="0"/>
                <a:ea typeface="Inter" pitchFamily="34" charset="-122"/>
                <a:cs typeface="Inter" pitchFamily="34" charset="-120"/>
              </a:rPr>
              <a:t> rules. A theory whose defect-schema is “uncertain, static, inefficient” will keep finding the same answer.</a:t>
            </a:r>
            <a:endParaRPr lang="en-US" sz="1400" dirty="0"/>
          </a:p>
        </p:txBody>
      </p:sp>
      <p:sp>
        <p:nvSpPr>
          <p:cNvPr id="17" name="Shape 15"/>
          <p:cNvSpPr/>
          <p:nvPr/>
        </p:nvSpPr>
        <p:spPr>
          <a:xfrm>
            <a:off x="812767" y="4699000"/>
            <a:ext cx="10566383" cy="999339"/>
          </a:xfrm>
          <a:prstGeom prst="roundRect">
            <a:avLst>
              <a:gd name="adj" fmla="val 8896"/>
            </a:avLst>
          </a:prstGeom>
          <a:solidFill>
            <a:srgbClr val="FCEEE5"/>
          </a:solidFill>
          <a:ln/>
        </p:spPr>
      </p:sp>
      <p:sp>
        <p:nvSpPr>
          <p:cNvPr id="18" name="Shape 16"/>
          <p:cNvSpPr/>
          <p:nvPr/>
        </p:nvSpPr>
        <p:spPr>
          <a:xfrm>
            <a:off x="831817" y="4699000"/>
            <a:ext cx="0" cy="999339"/>
          </a:xfrm>
          <a:prstGeom prst="line">
            <a:avLst/>
          </a:prstGeom>
          <a:noFill/>
          <a:ln w="38100">
            <a:solidFill>
              <a:srgbClr val="B0451D"/>
            </a:solidFill>
            <a:prstDash val="solid"/>
          </a:ln>
        </p:spPr>
      </p:sp>
      <p:sp>
        <p:nvSpPr>
          <p:cNvPr id="19" name="Text 17"/>
          <p:cNvSpPr/>
          <p:nvPr/>
        </p:nvSpPr>
        <p:spPr>
          <a:xfrm>
            <a:off x="1027575" y="4838675"/>
            <a:ext cx="10479022"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This flank supplies the strongest version of “no”, but an essay that becomes a critique of Western legal thought has drifted out of the methodology debate. Keep it as </a:t>
            </a:r>
            <a:r>
              <a:rPr lang="en-US" sz="1350" b="1" dirty="0">
                <a:solidFill>
                  <a:srgbClr val="191814"/>
                </a:solidFill>
                <a:latin typeface="Inter" pitchFamily="34" charset="0"/>
                <a:ea typeface="Inter" pitchFamily="34" charset="-122"/>
                <a:cs typeface="Inter" pitchFamily="34" charset="-120"/>
              </a:rPr>
              <a:t>one step</a:t>
            </a:r>
            <a:r>
              <a:rPr lang="en-US" sz="1350" dirty="0">
                <a:solidFill>
                  <a:srgbClr val="191814"/>
                </a:solidFill>
                <a:latin typeface="Inter" pitchFamily="34" charset="0"/>
                <a:ea typeface="Inter" pitchFamily="34" charset="-122"/>
                <a:cs typeface="Inter" pitchFamily="34" charset="-120"/>
              </a:rPr>
              <a:t>, anchored to Raz, Dickson or Marmor on the other side. Cases are supplementary under Instruction 5 — one sentence at most.</a:t>
            </a:r>
            <a:endParaRPr lang="en-US" sz="1350" dirty="0"/>
          </a:p>
        </p:txBody>
      </p:sp>
      <p:sp>
        <p:nvSpPr>
          <p:cNvPr id="20" name="Text 18"/>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21" name="Text 19"/>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THREE ANSWERS YOU COULD DEFEND</a:t>
            </a:r>
            <a:endParaRPr lang="en-US" sz="1200" dirty="0"/>
          </a:p>
        </p:txBody>
      </p:sp>
      <p:sp>
        <p:nvSpPr>
          <p:cNvPr id="3" name="Text 1"/>
          <p:cNvSpPr/>
          <p:nvPr/>
        </p:nvSpPr>
        <p:spPr>
          <a:xfrm>
            <a:off x="812767" y="914375"/>
            <a:ext cx="10203180" cy="409459"/>
          </a:xfrm>
          <a:prstGeom prst="rect">
            <a:avLst/>
          </a:prstGeom>
          <a:noFill/>
          <a:ln/>
        </p:spPr>
        <p:txBody>
          <a:bodyPr wrap="square" lIns="0" tIns="0" rIns="0" bIns="0" rtlCol="0" anchor="t">
            <a:normAutofit/>
          </a:bodyPr>
          <a:lstStyle/>
          <a:p>
            <a:pPr algn="l" indent="0" marL="0">
              <a:lnSpc>
                <a:spcPts val="3024"/>
              </a:lnSpc>
              <a:buNone/>
            </a:pPr>
            <a:r>
              <a:rPr lang="en-US" sz="2800" b="1" dirty="0">
                <a:solidFill>
                  <a:srgbClr val="191814"/>
                </a:solidFill>
                <a:latin typeface="Fraunces" pitchFamily="34" charset="0"/>
                <a:ea typeface="Fraunces" pitchFamily="34" charset="-122"/>
                <a:cs typeface="Fraunces" pitchFamily="34" charset="-120"/>
              </a:rPr>
              <a:t>All arguable; none is the “right” one</a:t>
            </a:r>
            <a:endParaRPr lang="en-US" sz="2800" dirty="0"/>
          </a:p>
        </p:txBody>
      </p:sp>
      <p:sp>
        <p:nvSpPr>
          <p:cNvPr id="4" name="Shape 2"/>
          <p:cNvSpPr/>
          <p:nvPr/>
        </p:nvSpPr>
        <p:spPr>
          <a:xfrm>
            <a:off x="815942" y="1857350"/>
            <a:ext cx="3346417" cy="4128632"/>
          </a:xfrm>
          <a:prstGeom prst="roundRect">
            <a:avLst>
              <a:gd name="adj" fmla="val 3321"/>
            </a:avLst>
          </a:prstGeom>
          <a:solidFill>
            <a:srgbClr val="FFFFFF"/>
          </a:solidFill>
          <a:ln w="6350">
            <a:solidFill>
              <a:srgbClr val="E0D7C9"/>
            </a:solidFill>
            <a:prstDash val="solid"/>
          </a:ln>
        </p:spPr>
      </p:sp>
      <p:sp>
        <p:nvSpPr>
          <p:cNvPr id="5" name="Text 3"/>
          <p:cNvSpPr/>
          <p:nvPr/>
        </p:nvSpPr>
        <p:spPr>
          <a:xfrm>
            <a:off x="995825"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OPTION A</a:t>
            </a:r>
            <a:endParaRPr lang="en-US" sz="1200" dirty="0"/>
          </a:p>
        </p:txBody>
      </p:sp>
      <p:sp>
        <p:nvSpPr>
          <p:cNvPr id="6" name="Text 4"/>
          <p:cNvSpPr/>
          <p:nvPr/>
        </p:nvSpPr>
        <p:spPr>
          <a:xfrm>
            <a:off x="995825" y="2326754"/>
            <a:ext cx="3076249" cy="463533"/>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Value-laden, but morally neutral — all Hart claimed</a:t>
            </a:r>
            <a:endParaRPr lang="en-US" sz="1500" dirty="0"/>
          </a:p>
        </p:txBody>
      </p:sp>
      <p:sp>
        <p:nvSpPr>
          <p:cNvPr id="7" name="Text 5"/>
          <p:cNvSpPr/>
          <p:nvPr/>
        </p:nvSpPr>
        <p:spPr>
          <a:xfrm>
            <a:off x="995825" y="2841079"/>
            <a:ext cx="3076249" cy="131127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Concede Finnis’s selection point in full. Show that judgments of significance are evaluative without being moral, and supply a criterion: participants’ self-understandings, with moral appraisal staged separately.</a:t>
            </a:r>
            <a:endParaRPr lang="en-US" sz="1250" dirty="0"/>
          </a:p>
        </p:txBody>
      </p:sp>
      <p:pic>
        <p:nvPicPr>
          <p:cNvPr id="8" name="Image 0" descr="line">    </p:cNvPr>
          <p:cNvPicPr>
            <a:picLocks noChangeAspect="1"/>
          </p:cNvPicPr>
          <p:nvPr/>
        </p:nvPicPr>
        <p:blipFill>
          <a:blip r:embed="rId1"/>
          <a:srcRect l="-10044" r="-10044" t="0" b="0"/>
          <a:stretch/>
        </p:blipFill>
        <p:spPr>
          <a:xfrm>
            <a:off x="995825" y="4203154"/>
            <a:ext cx="2986650" cy="10583"/>
          </a:xfrm>
          <a:prstGeom prst="rect">
            <a:avLst/>
          </a:prstGeom>
        </p:spPr>
      </p:pic>
      <p:sp>
        <p:nvSpPr>
          <p:cNvPr id="9" name="Text 6"/>
          <p:cNvSpPr/>
          <p:nvPr/>
        </p:nvSpPr>
        <p:spPr>
          <a:xfrm>
            <a:off x="995825" y="4289921"/>
            <a:ext cx="3076249"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Dickson, </a:t>
            </a:r>
            <a:r>
              <a:rPr lang="en-US" sz="1200" i="1" dirty="0">
                <a:solidFill>
                  <a:srgbClr val="191814"/>
                </a:solidFill>
                <a:latin typeface="Inter" pitchFamily="34" charset="0"/>
                <a:ea typeface="Inter" pitchFamily="34" charset="-122"/>
                <a:cs typeface="Inter" pitchFamily="34" charset="-120"/>
              </a:rPr>
              <a:t>Evaluation and Legal Theory</a:t>
            </a:r>
            <a:r>
              <a:rPr lang="en-US" sz="1200" dirty="0">
                <a:solidFill>
                  <a:srgbClr val="191814"/>
                </a:solidFill>
                <a:latin typeface="Inter" pitchFamily="34" charset="0"/>
                <a:ea typeface="Inter" pitchFamily="34" charset="-122"/>
                <a:cs typeface="Inter" pitchFamily="34" charset="-120"/>
              </a:rPr>
              <a:t> ch 3; or Marmor (2006) 26 </a:t>
            </a:r>
            <a:r>
              <a:rPr lang="en-US" sz="1200" i="1" dirty="0">
                <a:solidFill>
                  <a:srgbClr val="191814"/>
                </a:solidFill>
                <a:latin typeface="Inter" pitchFamily="34" charset="0"/>
                <a:ea typeface="Inter" pitchFamily="34" charset="-122"/>
                <a:cs typeface="Inter" pitchFamily="34" charset="-120"/>
              </a:rPr>
              <a:t>OJLS</a:t>
            </a:r>
            <a:r>
              <a:rPr lang="en-US" sz="1200" dirty="0">
                <a:solidFill>
                  <a:srgbClr val="191814"/>
                </a:solidFill>
                <a:latin typeface="Inter" pitchFamily="34" charset="0"/>
                <a:ea typeface="Inter" pitchFamily="34" charset="-122"/>
                <a:cs typeface="Inter" pitchFamily="34" charset="-120"/>
              </a:rPr>
              <a:t> 683; or Perry (1998) 4 </a:t>
            </a:r>
            <a:r>
              <a:rPr lang="en-US" sz="1200" i="1" dirty="0">
                <a:solidFill>
                  <a:srgbClr val="191814"/>
                </a:solidFill>
                <a:latin typeface="Inter" pitchFamily="34" charset="0"/>
                <a:ea typeface="Inter" pitchFamily="34" charset="-122"/>
                <a:cs typeface="Inter" pitchFamily="34" charset="-120"/>
              </a:rPr>
              <a:t>Legal Theory</a:t>
            </a:r>
            <a:r>
              <a:rPr lang="en-US" sz="1200" dirty="0">
                <a:solidFill>
                  <a:srgbClr val="191814"/>
                </a:solidFill>
                <a:latin typeface="Inter" pitchFamily="34" charset="0"/>
                <a:ea typeface="Inter" pitchFamily="34" charset="-122"/>
                <a:cs typeface="Inter" pitchFamily="34" charset="-120"/>
              </a:rPr>
              <a:t> 427 as the opponent you answer.</a:t>
            </a:r>
            <a:endParaRPr lang="en-US" sz="1200" dirty="0"/>
          </a:p>
        </p:txBody>
      </p:sp>
      <p:sp>
        <p:nvSpPr>
          <p:cNvPr id="10" name="Text 7"/>
          <p:cNvSpPr/>
          <p:nvPr/>
        </p:nvSpPr>
        <p:spPr>
          <a:xfrm>
            <a:off x="995825" y="5188967"/>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Safest and most crowded. Distinctiveness must come from how you answer the objection.</a:t>
            </a:r>
            <a:endParaRPr lang="en-US" sz="1200" dirty="0"/>
          </a:p>
        </p:txBody>
      </p:sp>
      <p:sp>
        <p:nvSpPr>
          <p:cNvPr id="11" name="Shape 8"/>
          <p:cNvSpPr/>
          <p:nvPr/>
        </p:nvSpPr>
        <p:spPr>
          <a:xfrm>
            <a:off x="4422750" y="1857350"/>
            <a:ext cx="3346417" cy="4128632"/>
          </a:xfrm>
          <a:prstGeom prst="roundRect">
            <a:avLst>
              <a:gd name="adj" fmla="val 3321"/>
            </a:avLst>
          </a:prstGeom>
          <a:solidFill>
            <a:srgbClr val="FFFFFF"/>
          </a:solidFill>
          <a:ln w="6350">
            <a:solidFill>
              <a:srgbClr val="E0D7C9"/>
            </a:solidFill>
            <a:prstDash val="solid"/>
          </a:ln>
        </p:spPr>
      </p:sp>
      <p:sp>
        <p:nvSpPr>
          <p:cNvPr id="12" name="Text 9"/>
          <p:cNvSpPr/>
          <p:nvPr/>
        </p:nvSpPr>
        <p:spPr>
          <a:xfrm>
            <a:off x="4602634"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595D"/>
                </a:solidFill>
                <a:latin typeface="Inter" pitchFamily="34" charset="0"/>
                <a:ea typeface="Inter" pitchFamily="34" charset="-122"/>
                <a:cs typeface="Inter" pitchFamily="34" charset="-120"/>
              </a:rPr>
              <a:t>OPTION B</a:t>
            </a:r>
            <a:endParaRPr lang="en-US" sz="1200" dirty="0"/>
          </a:p>
        </p:txBody>
      </p:sp>
      <p:sp>
        <p:nvSpPr>
          <p:cNvPr id="13" name="Text 10"/>
          <p:cNvSpPr/>
          <p:nvPr/>
        </p:nvSpPr>
        <p:spPr>
          <a:xfrm>
            <a:off x="4602634" y="2326754"/>
            <a:ext cx="3076249" cy="463533"/>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The value hides in “general”, not in “descriptive”</a:t>
            </a:r>
            <a:endParaRPr lang="en-US" sz="1500" dirty="0"/>
          </a:p>
        </p:txBody>
      </p:sp>
      <p:sp>
        <p:nvSpPr>
          <p:cNvPr id="14" name="Text 11"/>
          <p:cNvSpPr/>
          <p:nvPr/>
        </p:nvSpPr>
        <p:spPr>
          <a:xfrm>
            <a:off x="4602634" y="2841079"/>
            <a:ext cx="3076249" cy="131127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two Postscript claims have been audited asymmetrically. Generality is a value-laden achievement: the ch V “defects” are political valuations, and universalising a municipal paradigm is a choice.</a:t>
            </a:r>
            <a:endParaRPr lang="en-US" sz="1250" dirty="0"/>
          </a:p>
        </p:txBody>
      </p:sp>
      <p:pic>
        <p:nvPicPr>
          <p:cNvPr id="15" name="Image 1" descr="line">    </p:cNvPr>
          <p:cNvPicPr>
            <a:picLocks noChangeAspect="1"/>
          </p:cNvPicPr>
          <p:nvPr/>
        </p:nvPicPr>
        <p:blipFill>
          <a:blip r:embed="rId2"/>
          <a:srcRect l="-10044" r="-10044" t="0" b="0"/>
          <a:stretch/>
        </p:blipFill>
        <p:spPr>
          <a:xfrm>
            <a:off x="4602634" y="4203154"/>
            <a:ext cx="2986650" cy="10583"/>
          </a:xfrm>
          <a:prstGeom prst="rect">
            <a:avLst/>
          </a:prstGeom>
        </p:spPr>
      </p:pic>
      <p:sp>
        <p:nvSpPr>
          <p:cNvPr id="16" name="Text 12"/>
          <p:cNvSpPr/>
          <p:nvPr/>
        </p:nvSpPr>
        <p:spPr>
          <a:xfrm>
            <a:off x="4602634" y="4289921"/>
            <a:ext cx="3076249"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Raz, ‘Can There Be a Theory of Law?’ — the “parochial concept, universal inquiry” reply your argument answers.</a:t>
            </a:r>
            <a:endParaRPr lang="en-US" sz="1200" dirty="0"/>
          </a:p>
        </p:txBody>
      </p:sp>
      <p:sp>
        <p:nvSpPr>
          <p:cNvPr id="17" name="Text 13"/>
          <p:cNvSpPr/>
          <p:nvPr/>
        </p:nvSpPr>
        <p:spPr>
          <a:xfrm>
            <a:off x="4602634" y="5188967"/>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Must stay inside the methodology debate. Anchor every step to Raz, Marmor or Dickson.</a:t>
            </a:r>
            <a:endParaRPr lang="en-US" sz="1200" dirty="0"/>
          </a:p>
        </p:txBody>
      </p:sp>
      <p:sp>
        <p:nvSpPr>
          <p:cNvPr id="18" name="Shape 14"/>
          <p:cNvSpPr/>
          <p:nvPr/>
        </p:nvSpPr>
        <p:spPr>
          <a:xfrm>
            <a:off x="8029558" y="1857350"/>
            <a:ext cx="3346417" cy="4137232"/>
          </a:xfrm>
          <a:prstGeom prst="roundRect">
            <a:avLst>
              <a:gd name="adj" fmla="val 3321"/>
            </a:avLst>
          </a:prstGeom>
          <a:solidFill>
            <a:srgbClr val="FFFFFF"/>
          </a:solidFill>
          <a:ln w="6350">
            <a:solidFill>
              <a:srgbClr val="E0D7C9"/>
            </a:solidFill>
            <a:prstDash val="solid"/>
          </a:ln>
        </p:spPr>
      </p:sp>
      <p:sp>
        <p:nvSpPr>
          <p:cNvPr id="19" name="Text 15"/>
          <p:cNvSpPr/>
          <p:nvPr/>
        </p:nvSpPr>
        <p:spPr>
          <a:xfrm>
            <a:off x="8209442"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6110"/>
                </a:solidFill>
                <a:latin typeface="Inter" pitchFamily="34" charset="0"/>
                <a:ea typeface="Inter" pitchFamily="34" charset="-122"/>
                <a:cs typeface="Inter" pitchFamily="34" charset="-120"/>
              </a:rPr>
              <a:t>OPTION C</a:t>
            </a:r>
            <a:endParaRPr lang="en-US" sz="1200" dirty="0"/>
          </a:p>
        </p:txBody>
      </p:sp>
      <p:sp>
        <p:nvSpPr>
          <p:cNvPr id="20" name="Text 16"/>
          <p:cNvSpPr/>
          <p:nvPr/>
        </p:nvSpPr>
        <p:spPr>
          <a:xfrm>
            <a:off x="8209442" y="2326754"/>
            <a:ext cx="3076249" cy="463533"/>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The stalemate is itself the evidence</a:t>
            </a:r>
            <a:endParaRPr lang="en-US" sz="1500" dirty="0"/>
          </a:p>
        </p:txBody>
      </p:sp>
      <p:sp>
        <p:nvSpPr>
          <p:cNvPr id="21" name="Text 17"/>
          <p:cNvSpPr/>
          <p:nvPr/>
        </p:nvSpPr>
        <p:spPr>
          <a:xfrm>
            <a:off x="8209442" y="2841079"/>
            <a:ext cx="3076249" cy="1525588"/>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debate cannot resolve because conceptual analysis reclassifies every counterexample. Best explanation: several concepts under one word. A qualified yes — but only because the values moved into the choice of concept.</a:t>
            </a:r>
            <a:endParaRPr lang="en-US" sz="1250" dirty="0"/>
          </a:p>
        </p:txBody>
      </p:sp>
      <p:pic>
        <p:nvPicPr>
          <p:cNvPr id="22" name="Image 2" descr="line">    </p:cNvPr>
          <p:cNvPicPr>
            <a:picLocks noChangeAspect="1"/>
          </p:cNvPicPr>
          <p:nvPr/>
        </p:nvPicPr>
        <p:blipFill>
          <a:blip r:embed="rId3"/>
          <a:srcRect l="-10044" r="-10044" t="0" b="0"/>
          <a:stretch/>
        </p:blipFill>
        <p:spPr>
          <a:xfrm>
            <a:off x="8209442" y="4417467"/>
            <a:ext cx="2986650" cy="10583"/>
          </a:xfrm>
          <a:prstGeom prst="rect">
            <a:avLst/>
          </a:prstGeom>
        </p:spPr>
      </p:pic>
      <p:sp>
        <p:nvSpPr>
          <p:cNvPr id="23" name="Text 18"/>
          <p:cNvSpPr/>
          <p:nvPr/>
        </p:nvSpPr>
        <p:spPr>
          <a:xfrm>
            <a:off x="8209442" y="4504234"/>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Plunkett (2016) 22 </a:t>
            </a:r>
            <a:r>
              <a:rPr lang="en-US" sz="1200" i="1" dirty="0">
                <a:solidFill>
                  <a:srgbClr val="191814"/>
                </a:solidFill>
                <a:latin typeface="Inter" pitchFamily="34" charset="0"/>
                <a:ea typeface="Inter" pitchFamily="34" charset="-122"/>
                <a:cs typeface="Inter" pitchFamily="34" charset="-120"/>
              </a:rPr>
              <a:t>Legal Theory</a:t>
            </a:r>
            <a:r>
              <a:rPr lang="en-US" sz="1200" dirty="0">
                <a:solidFill>
                  <a:srgbClr val="191814"/>
                </a:solidFill>
                <a:latin typeface="Inter" pitchFamily="34" charset="0"/>
                <a:ea typeface="Inter" pitchFamily="34" charset="-122"/>
                <a:cs typeface="Inter" pitchFamily="34" charset="-120"/>
              </a:rPr>
              <a:t> 205; or Plunkett and Shapiro (2017) 128 </a:t>
            </a:r>
            <a:r>
              <a:rPr lang="en-US" sz="1200" i="1" dirty="0">
                <a:solidFill>
                  <a:srgbClr val="191814"/>
                </a:solidFill>
                <a:latin typeface="Inter" pitchFamily="34" charset="0"/>
                <a:ea typeface="Inter" pitchFamily="34" charset="-122"/>
                <a:cs typeface="Inter" pitchFamily="34" charset="-120"/>
              </a:rPr>
              <a:t>Ethics</a:t>
            </a:r>
            <a:r>
              <a:rPr lang="en-US" sz="1200" dirty="0">
                <a:solidFill>
                  <a:srgbClr val="191814"/>
                </a:solidFill>
                <a:latin typeface="Inter" pitchFamily="34" charset="0"/>
                <a:ea typeface="Inter" pitchFamily="34" charset="-122"/>
                <a:cs typeface="Inter" pitchFamily="34" charset="-120"/>
              </a:rPr>
              <a:t> 37.</a:t>
            </a:r>
            <a:endParaRPr lang="en-US" sz="1200" dirty="0"/>
          </a:p>
        </p:txBody>
      </p:sp>
      <p:sp>
        <p:nvSpPr>
          <p:cNvPr id="24" name="Text 19"/>
          <p:cNvSpPr/>
          <p:nvPr/>
        </p:nvSpPr>
        <p:spPr>
          <a:xfrm>
            <a:off x="8209442" y="5197574"/>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Highest ceiling, highest risk. A marker may read it as dodging “can” — refuse that reading explicitly.</a:t>
            </a:r>
            <a:endParaRPr lang="en-US" sz="1200" dirty="0"/>
          </a:p>
        </p:txBody>
      </p:sp>
      <p:sp>
        <p:nvSpPr>
          <p:cNvPr id="25" name="Text 20"/>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26" name="Text 21"/>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A SKELETON FOR QUESTION 1</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1,500 words, six moves</a:t>
            </a:r>
            <a:endParaRPr lang="en-US" sz="3000" dirty="0"/>
          </a:p>
        </p:txBody>
      </p:sp>
      <p:sp>
        <p:nvSpPr>
          <p:cNvPr id="4" name="Shape 2"/>
          <p:cNvSpPr/>
          <p:nvPr/>
        </p:nvSpPr>
        <p:spPr>
          <a:xfrm>
            <a:off x="815942" y="1882750"/>
            <a:ext cx="10560033" cy="465146"/>
          </a:xfrm>
          <a:prstGeom prst="roundRect">
            <a:avLst>
              <a:gd name="adj" fmla="val 18430"/>
            </a:avLst>
          </a:prstGeom>
          <a:solidFill>
            <a:srgbClr val="FFFFFF"/>
          </a:solidFill>
          <a:ln w="6350">
            <a:solidFill>
              <a:srgbClr val="E0D7C9"/>
            </a:solidFill>
            <a:prstDash val="solid"/>
          </a:ln>
        </p:spPr>
      </p:sp>
      <p:sp>
        <p:nvSpPr>
          <p:cNvPr id="5" name="Text 3"/>
          <p:cNvSpPr/>
          <p:nvPr/>
        </p:nvSpPr>
        <p:spPr>
          <a:xfrm>
            <a:off x="983134" y="1986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180</a:t>
            </a:r>
            <a:endParaRPr lang="en-US" sz="1450" dirty="0"/>
          </a:p>
        </p:txBody>
      </p:sp>
      <p:sp>
        <p:nvSpPr>
          <p:cNvPr id="6" name="Text 4"/>
          <p:cNvSpPr/>
          <p:nvPr/>
        </p:nvSpPr>
        <p:spPr>
          <a:xfrm>
            <a:off x="1846709" y="1999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  Introduction</a:t>
            </a:r>
            <a:endParaRPr lang="en-US" sz="1300" dirty="0"/>
          </a:p>
        </p:txBody>
      </p:sp>
      <p:sp>
        <p:nvSpPr>
          <p:cNvPr id="7" name="Text 5"/>
          <p:cNvSpPr/>
          <p:nvPr/>
        </p:nvSpPr>
        <p:spPr>
          <a:xfrm>
            <a:off x="4043784" y="2008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question, your answer, and the route. State the conclusion here.</a:t>
            </a:r>
            <a:endParaRPr lang="en-US" sz="1250" dirty="0"/>
          </a:p>
        </p:txBody>
      </p:sp>
      <p:sp>
        <p:nvSpPr>
          <p:cNvPr id="8" name="Shape 6"/>
          <p:cNvSpPr/>
          <p:nvPr/>
        </p:nvSpPr>
        <p:spPr>
          <a:xfrm>
            <a:off x="815942" y="2390750"/>
            <a:ext cx="10560033" cy="465146"/>
          </a:xfrm>
          <a:prstGeom prst="roundRect">
            <a:avLst>
              <a:gd name="adj" fmla="val 18430"/>
            </a:avLst>
          </a:prstGeom>
          <a:solidFill>
            <a:srgbClr val="FFFFFF"/>
          </a:solidFill>
          <a:ln w="6350">
            <a:solidFill>
              <a:srgbClr val="E0D7C9"/>
            </a:solidFill>
            <a:prstDash val="solid"/>
          </a:ln>
        </p:spPr>
      </p:sp>
      <p:sp>
        <p:nvSpPr>
          <p:cNvPr id="9" name="Text 7"/>
          <p:cNvSpPr/>
          <p:nvPr/>
        </p:nvSpPr>
        <p:spPr>
          <a:xfrm>
            <a:off x="983134" y="2494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200</a:t>
            </a:r>
            <a:endParaRPr lang="en-US" sz="1450" dirty="0"/>
          </a:p>
        </p:txBody>
      </p:sp>
      <p:sp>
        <p:nvSpPr>
          <p:cNvPr id="10" name="Text 8"/>
          <p:cNvSpPr/>
          <p:nvPr/>
        </p:nvSpPr>
        <p:spPr>
          <a:xfrm>
            <a:off x="1846709" y="2507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II  The distinction</a:t>
            </a:r>
            <a:endParaRPr lang="en-US" sz="1300" dirty="0"/>
          </a:p>
        </p:txBody>
      </p:sp>
      <p:sp>
        <p:nvSpPr>
          <p:cNvPr id="11" name="Text 9"/>
          <p:cNvSpPr/>
          <p:nvPr/>
        </p:nvSpPr>
        <p:spPr>
          <a:xfrm>
            <a:off x="4043784" y="2516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Value-free versus morally neutral. Define both.</a:t>
            </a:r>
            <a:endParaRPr lang="en-US" sz="1250" dirty="0"/>
          </a:p>
        </p:txBody>
      </p:sp>
      <p:sp>
        <p:nvSpPr>
          <p:cNvPr id="12" name="Shape 10"/>
          <p:cNvSpPr/>
          <p:nvPr/>
        </p:nvSpPr>
        <p:spPr>
          <a:xfrm>
            <a:off x="815942" y="2898750"/>
            <a:ext cx="10560033" cy="465146"/>
          </a:xfrm>
          <a:prstGeom prst="roundRect">
            <a:avLst>
              <a:gd name="adj" fmla="val 18430"/>
            </a:avLst>
          </a:prstGeom>
          <a:solidFill>
            <a:srgbClr val="FFFFFF"/>
          </a:solidFill>
          <a:ln w="6350">
            <a:solidFill>
              <a:srgbClr val="E0D7C9"/>
            </a:solidFill>
            <a:prstDash val="solid"/>
          </a:ln>
        </p:spPr>
      </p:sp>
      <p:sp>
        <p:nvSpPr>
          <p:cNvPr id="13" name="Text 11"/>
          <p:cNvSpPr/>
          <p:nvPr/>
        </p:nvSpPr>
        <p:spPr>
          <a:xfrm>
            <a:off x="983134" y="3002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300</a:t>
            </a:r>
            <a:endParaRPr lang="en-US" sz="1450" dirty="0"/>
          </a:p>
        </p:txBody>
      </p:sp>
      <p:sp>
        <p:nvSpPr>
          <p:cNvPr id="14" name="Text 12"/>
          <p:cNvSpPr/>
          <p:nvPr/>
        </p:nvSpPr>
        <p:spPr>
          <a:xfrm>
            <a:off x="1846709" y="3015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III  The objection</a:t>
            </a:r>
            <a:endParaRPr lang="en-US" sz="1300" dirty="0"/>
          </a:p>
        </p:txBody>
      </p:sp>
      <p:sp>
        <p:nvSpPr>
          <p:cNvPr id="15" name="Text 13"/>
          <p:cNvSpPr/>
          <p:nvPr/>
        </p:nvSpPr>
        <p:spPr>
          <a:xfrm>
            <a:off x="4043784" y="3024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strongest case against you, charitably stated.</a:t>
            </a:r>
            <a:endParaRPr lang="en-US" sz="1250" dirty="0"/>
          </a:p>
        </p:txBody>
      </p:sp>
      <p:sp>
        <p:nvSpPr>
          <p:cNvPr id="16" name="Shape 14"/>
          <p:cNvSpPr/>
          <p:nvPr/>
        </p:nvSpPr>
        <p:spPr>
          <a:xfrm>
            <a:off x="815942" y="3406750"/>
            <a:ext cx="10560033" cy="465146"/>
          </a:xfrm>
          <a:prstGeom prst="roundRect">
            <a:avLst>
              <a:gd name="adj" fmla="val 18430"/>
            </a:avLst>
          </a:prstGeom>
          <a:solidFill>
            <a:srgbClr val="FFFFFF"/>
          </a:solidFill>
          <a:ln w="6350">
            <a:solidFill>
              <a:srgbClr val="E0D7C9"/>
            </a:solidFill>
            <a:prstDash val="solid"/>
          </a:ln>
        </p:spPr>
      </p:sp>
      <p:sp>
        <p:nvSpPr>
          <p:cNvPr id="17" name="Text 15"/>
          <p:cNvSpPr/>
          <p:nvPr/>
        </p:nvSpPr>
        <p:spPr>
          <a:xfrm>
            <a:off x="983134" y="3510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400</a:t>
            </a:r>
            <a:endParaRPr lang="en-US" sz="1450" dirty="0"/>
          </a:p>
        </p:txBody>
      </p:sp>
      <p:sp>
        <p:nvSpPr>
          <p:cNvPr id="18" name="Text 16"/>
          <p:cNvSpPr/>
          <p:nvPr/>
        </p:nvSpPr>
        <p:spPr>
          <a:xfrm>
            <a:off x="1846709" y="3523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IV  Your answer</a:t>
            </a:r>
            <a:endParaRPr lang="en-US" sz="1300" dirty="0"/>
          </a:p>
        </p:txBody>
      </p:sp>
      <p:sp>
        <p:nvSpPr>
          <p:cNvPr id="19" name="Text 17"/>
          <p:cNvSpPr/>
          <p:nvPr/>
        </p:nvSpPr>
        <p:spPr>
          <a:xfrm>
            <a:off x="4043784" y="3532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criterion that does the work, and why it survives.</a:t>
            </a:r>
            <a:endParaRPr lang="en-US" sz="1250" dirty="0"/>
          </a:p>
        </p:txBody>
      </p:sp>
      <p:sp>
        <p:nvSpPr>
          <p:cNvPr id="20" name="Shape 18"/>
          <p:cNvSpPr/>
          <p:nvPr/>
        </p:nvSpPr>
        <p:spPr>
          <a:xfrm>
            <a:off x="815942" y="3914750"/>
            <a:ext cx="10560033" cy="465146"/>
          </a:xfrm>
          <a:prstGeom prst="roundRect">
            <a:avLst>
              <a:gd name="adj" fmla="val 18430"/>
            </a:avLst>
          </a:prstGeom>
          <a:solidFill>
            <a:srgbClr val="FFFFFF"/>
          </a:solidFill>
          <a:ln w="6350">
            <a:solidFill>
              <a:srgbClr val="E0D7C9"/>
            </a:solidFill>
            <a:prstDash val="solid"/>
          </a:ln>
        </p:spPr>
      </p:sp>
      <p:sp>
        <p:nvSpPr>
          <p:cNvPr id="21" name="Text 19"/>
          <p:cNvSpPr/>
          <p:nvPr/>
        </p:nvSpPr>
        <p:spPr>
          <a:xfrm>
            <a:off x="983134" y="4018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250</a:t>
            </a:r>
            <a:endParaRPr lang="en-US" sz="1450" dirty="0"/>
          </a:p>
        </p:txBody>
      </p:sp>
      <p:sp>
        <p:nvSpPr>
          <p:cNvPr id="22" name="Text 20"/>
          <p:cNvSpPr/>
          <p:nvPr/>
        </p:nvSpPr>
        <p:spPr>
          <a:xfrm>
            <a:off x="1846709" y="4031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V  The cost</a:t>
            </a:r>
            <a:endParaRPr lang="en-US" sz="1300" dirty="0"/>
          </a:p>
        </p:txBody>
      </p:sp>
      <p:sp>
        <p:nvSpPr>
          <p:cNvPr id="23" name="Text 21"/>
          <p:cNvSpPr/>
          <p:nvPr/>
        </p:nvSpPr>
        <p:spPr>
          <a:xfrm>
            <a:off x="4043784" y="4040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What your answer gives up, and why that is acceptable.</a:t>
            </a:r>
            <a:endParaRPr lang="en-US" sz="1250" dirty="0"/>
          </a:p>
        </p:txBody>
      </p:sp>
      <p:sp>
        <p:nvSpPr>
          <p:cNvPr id="24" name="Shape 22"/>
          <p:cNvSpPr/>
          <p:nvPr/>
        </p:nvSpPr>
        <p:spPr>
          <a:xfrm>
            <a:off x="815942" y="4422750"/>
            <a:ext cx="10560033" cy="465146"/>
          </a:xfrm>
          <a:prstGeom prst="roundRect">
            <a:avLst>
              <a:gd name="adj" fmla="val 18430"/>
            </a:avLst>
          </a:prstGeom>
          <a:solidFill>
            <a:srgbClr val="FFFFFF"/>
          </a:solidFill>
          <a:ln w="6350">
            <a:solidFill>
              <a:srgbClr val="E0D7C9"/>
            </a:solidFill>
            <a:prstDash val="solid"/>
          </a:ln>
        </p:spPr>
      </p:sp>
      <p:sp>
        <p:nvSpPr>
          <p:cNvPr id="25" name="Text 23"/>
          <p:cNvSpPr/>
          <p:nvPr/>
        </p:nvSpPr>
        <p:spPr>
          <a:xfrm>
            <a:off x="983134" y="4526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170</a:t>
            </a:r>
            <a:endParaRPr lang="en-US" sz="1450" dirty="0"/>
          </a:p>
        </p:txBody>
      </p:sp>
      <p:sp>
        <p:nvSpPr>
          <p:cNvPr id="26" name="Text 24"/>
          <p:cNvSpPr/>
          <p:nvPr/>
        </p:nvSpPr>
        <p:spPr>
          <a:xfrm>
            <a:off x="1846709" y="4539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VI  Conclusion</a:t>
            </a:r>
            <a:endParaRPr lang="en-US" sz="1300" dirty="0"/>
          </a:p>
        </p:txBody>
      </p:sp>
      <p:sp>
        <p:nvSpPr>
          <p:cNvPr id="27" name="Text 25"/>
          <p:cNvSpPr/>
          <p:nvPr/>
        </p:nvSpPr>
        <p:spPr>
          <a:xfrm>
            <a:off x="4043784" y="4548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answer to the question asked, not a summary.</a:t>
            </a:r>
            <a:endParaRPr lang="en-US" sz="1250" dirty="0"/>
          </a:p>
        </p:txBody>
      </p:sp>
      <p:sp>
        <p:nvSpPr>
          <p:cNvPr id="28" name="Shape 26"/>
          <p:cNvSpPr/>
          <p:nvPr/>
        </p:nvSpPr>
        <p:spPr>
          <a:xfrm>
            <a:off x="812767" y="5016500"/>
            <a:ext cx="10566383" cy="759354"/>
          </a:xfrm>
          <a:prstGeom prst="roundRect">
            <a:avLst>
              <a:gd name="adj" fmla="val 11707"/>
            </a:avLst>
          </a:prstGeom>
          <a:solidFill>
            <a:srgbClr val="FCEEE5"/>
          </a:solidFill>
          <a:ln/>
        </p:spPr>
      </p:sp>
      <p:sp>
        <p:nvSpPr>
          <p:cNvPr id="29" name="Shape 27"/>
          <p:cNvSpPr/>
          <p:nvPr/>
        </p:nvSpPr>
        <p:spPr>
          <a:xfrm>
            <a:off x="831817" y="5016500"/>
            <a:ext cx="0" cy="759354"/>
          </a:xfrm>
          <a:prstGeom prst="line">
            <a:avLst/>
          </a:prstGeom>
          <a:noFill/>
          <a:ln w="38100">
            <a:solidFill>
              <a:srgbClr val="B0451D"/>
            </a:solidFill>
            <a:prstDash val="solid"/>
          </a:ln>
        </p:spPr>
      </p:sp>
      <p:sp>
        <p:nvSpPr>
          <p:cNvPr id="30" name="Text 28"/>
          <p:cNvSpPr/>
          <p:nvPr/>
        </p:nvSpPr>
        <p:spPr>
          <a:xfrm>
            <a:off x="1027575" y="5156175"/>
            <a:ext cx="10479022"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Headings in AGLC4 rule 1.12 form. If a reader can reconstruct your argument from the six headings alone, the Structure criterion is already at HD.</a:t>
            </a:r>
            <a:endParaRPr lang="en-US" sz="1350" dirty="0"/>
          </a:p>
        </p:txBody>
      </p:sp>
      <p:sp>
        <p:nvSpPr>
          <p:cNvPr id="31" name="Text 29"/>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04 · Question 1</a:t>
            </a:r>
            <a:endParaRPr lang="en-US" sz="1200" dirty="0"/>
          </a:p>
        </p:txBody>
      </p:sp>
      <p:sp>
        <p:nvSpPr>
          <p:cNvPr id="32" name="Text 30"/>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05</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Question 2</a:t>
            </a:r>
            <a:endParaRPr lang="en-US" sz="4600" dirty="0"/>
          </a:p>
        </p:txBody>
      </p:sp>
      <p:sp>
        <p:nvSpPr>
          <p:cNvPr id="4" name="Text 2"/>
          <p:cNvSpPr/>
          <p:nvPr/>
        </p:nvSpPr>
        <p:spPr>
          <a:xfrm>
            <a:off x="812767" y="4191000"/>
            <a:ext cx="8110220"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Is minimum respect for Fuller’s principles essential to law, or does compliance simply make law more effective? A question about the nature of law.</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FULLER AND THE 1958 DEBATE</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Where Question 2 comes from</a:t>
            </a:r>
            <a:endParaRPr lang="en-US" sz="3000" dirty="0"/>
          </a:p>
        </p:txBody>
      </p:sp>
      <p:sp>
        <p:nvSpPr>
          <p:cNvPr id="4" name="Shape 2"/>
          <p:cNvSpPr/>
          <p:nvPr/>
        </p:nvSpPr>
        <p:spPr>
          <a:xfrm>
            <a:off x="815942" y="1882750"/>
            <a:ext cx="5149841" cy="1624186"/>
          </a:xfrm>
          <a:prstGeom prst="roundRect">
            <a:avLst>
              <a:gd name="adj" fmla="val 6842"/>
            </a:avLst>
          </a:prstGeom>
          <a:solidFill>
            <a:srgbClr val="FFFFFF"/>
          </a:solidFill>
          <a:ln w="6350">
            <a:solidFill>
              <a:srgbClr val="E0D7C9"/>
            </a:solidFill>
            <a:prstDash val="solid"/>
          </a:ln>
        </p:spPr>
      </p:sp>
      <p:sp>
        <p:nvSpPr>
          <p:cNvPr id="5" name="Text 3"/>
          <p:cNvSpPr/>
          <p:nvPr/>
        </p:nvSpPr>
        <p:spPr>
          <a:xfrm>
            <a:off x="995825" y="2062634"/>
            <a:ext cx="4933777" cy="266378"/>
          </a:xfrm>
          <a:prstGeom prst="rect">
            <a:avLst/>
          </a:prstGeom>
          <a:noFill/>
          <a:ln/>
        </p:spPr>
        <p:txBody>
          <a:bodyPr wrap="square" lIns="0" tIns="0" rIns="0" bIns="0" rtlCol="0" anchor="t">
            <a:normAutofit/>
          </a:bodyPr>
          <a:lstStyle/>
          <a:p>
            <a:pPr algn="l" indent="0" marL="0">
              <a:lnSpc>
                <a:spcPts val="1897"/>
              </a:lnSpc>
              <a:buNone/>
            </a:pPr>
            <a:r>
              <a:rPr lang="en-US" sz="1650" b="1" dirty="0">
                <a:solidFill>
                  <a:srgbClr val="1C595D"/>
                </a:solidFill>
                <a:latin typeface="Fraunces" pitchFamily="34" charset="0"/>
                <a:ea typeface="Fraunces" pitchFamily="34" charset="-122"/>
                <a:cs typeface="Fraunces" pitchFamily="34" charset="-120"/>
              </a:rPr>
              <a:t>Lon Fuller (1902–1978)</a:t>
            </a:r>
            <a:endParaRPr lang="en-US" sz="1650" dirty="0"/>
          </a:p>
        </p:txBody>
      </p:sp>
      <p:sp>
        <p:nvSpPr>
          <p:cNvPr id="6" name="Text 4"/>
          <p:cNvSpPr/>
          <p:nvPr/>
        </p:nvSpPr>
        <p:spPr>
          <a:xfrm>
            <a:off x="995825" y="2367111"/>
            <a:ext cx="4933777" cy="9853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Carter Professor of Jurisprudence, Harvard. ‘The Case of the Speluncean Explorers’ (1949); ‘Positivism and Fidelity to Law’ (1958) 71 </a:t>
            </a:r>
            <a:r>
              <a:rPr lang="en-US" sz="1350" i="1" dirty="0">
                <a:solidFill>
                  <a:srgbClr val="191814"/>
                </a:solidFill>
                <a:latin typeface="Inter" pitchFamily="34" charset="0"/>
                <a:ea typeface="Inter" pitchFamily="34" charset="-122"/>
                <a:cs typeface="Inter" pitchFamily="34" charset="-120"/>
              </a:rPr>
              <a:t>Harv L Rev</a:t>
            </a:r>
            <a:r>
              <a:rPr lang="en-US" sz="1350" dirty="0">
                <a:solidFill>
                  <a:srgbClr val="191814"/>
                </a:solidFill>
                <a:latin typeface="Inter" pitchFamily="34" charset="0"/>
                <a:ea typeface="Inter" pitchFamily="34" charset="-122"/>
                <a:cs typeface="Inter" pitchFamily="34" charset="-120"/>
              </a:rPr>
              <a:t> 630; </a:t>
            </a:r>
            <a:r>
              <a:rPr lang="en-US" sz="1350" i="1" dirty="0">
                <a:solidFill>
                  <a:srgbClr val="191814"/>
                </a:solidFill>
                <a:latin typeface="Inter" pitchFamily="34" charset="0"/>
                <a:ea typeface="Inter" pitchFamily="34" charset="-122"/>
                <a:cs typeface="Inter" pitchFamily="34" charset="-120"/>
              </a:rPr>
              <a:t>The Morality of Law</a:t>
            </a:r>
            <a:r>
              <a:rPr lang="en-US" sz="1350" dirty="0">
                <a:solidFill>
                  <a:srgbClr val="191814"/>
                </a:solidFill>
                <a:latin typeface="Inter" pitchFamily="34" charset="0"/>
                <a:ea typeface="Inter" pitchFamily="34" charset="-122"/>
                <a:cs typeface="Inter" pitchFamily="34" charset="-120"/>
              </a:rPr>
              <a:t> (1964; rev ed 1969).</a:t>
            </a:r>
            <a:endParaRPr lang="en-US" sz="1350" dirty="0"/>
          </a:p>
        </p:txBody>
      </p:sp>
      <p:sp>
        <p:nvSpPr>
          <p:cNvPr id="7" name="Shape 5"/>
          <p:cNvSpPr/>
          <p:nvPr/>
        </p:nvSpPr>
        <p:spPr>
          <a:xfrm>
            <a:off x="6226175" y="1882750"/>
            <a:ext cx="5149841" cy="1624186"/>
          </a:xfrm>
          <a:prstGeom prst="roundRect">
            <a:avLst>
              <a:gd name="adj" fmla="val 6842"/>
            </a:avLst>
          </a:prstGeom>
          <a:solidFill>
            <a:srgbClr val="FFFFFF"/>
          </a:solidFill>
          <a:ln w="6350">
            <a:solidFill>
              <a:srgbClr val="E0D7C9"/>
            </a:solidFill>
            <a:prstDash val="solid"/>
          </a:ln>
        </p:spPr>
      </p:sp>
      <p:sp>
        <p:nvSpPr>
          <p:cNvPr id="8" name="Text 6"/>
          <p:cNvSpPr/>
          <p:nvPr/>
        </p:nvSpPr>
        <p:spPr>
          <a:xfrm>
            <a:off x="6406059" y="2062634"/>
            <a:ext cx="4933777" cy="266378"/>
          </a:xfrm>
          <a:prstGeom prst="rect">
            <a:avLst/>
          </a:prstGeom>
          <a:noFill/>
          <a:ln/>
        </p:spPr>
        <p:txBody>
          <a:bodyPr wrap="square" lIns="0" tIns="0" rIns="0" bIns="0" rtlCol="0" anchor="t">
            <a:normAutofit/>
          </a:bodyPr>
          <a:lstStyle/>
          <a:p>
            <a:pPr algn="l" indent="0" marL="0">
              <a:lnSpc>
                <a:spcPts val="1897"/>
              </a:lnSpc>
              <a:buNone/>
            </a:pPr>
            <a:r>
              <a:rPr lang="en-US" sz="1650" b="1" dirty="0">
                <a:solidFill>
                  <a:srgbClr val="B0451D"/>
                </a:solidFill>
                <a:latin typeface="Fraunces" pitchFamily="34" charset="0"/>
                <a:ea typeface="Fraunces" pitchFamily="34" charset="-122"/>
                <a:cs typeface="Fraunces" pitchFamily="34" charset="-120"/>
              </a:rPr>
              <a:t>The 1958 exchange</a:t>
            </a:r>
            <a:endParaRPr lang="en-US" sz="1650" dirty="0"/>
          </a:p>
        </p:txBody>
      </p:sp>
      <p:sp>
        <p:nvSpPr>
          <p:cNvPr id="9" name="Text 7"/>
          <p:cNvSpPr/>
          <p:nvPr/>
        </p:nvSpPr>
        <p:spPr>
          <a:xfrm>
            <a:off x="6406059" y="2367111"/>
            <a:ext cx="4933777" cy="98534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Hart, ‘Positivism and the Separation of Law and Morals’, same volume. Both are on the reading list; Cane (ed), </a:t>
            </a:r>
            <a:r>
              <a:rPr lang="en-US" sz="1350" i="1" dirty="0">
                <a:solidFill>
                  <a:srgbClr val="191814"/>
                </a:solidFill>
                <a:latin typeface="Inter" pitchFamily="34" charset="0"/>
                <a:ea typeface="Inter" pitchFamily="34" charset="-122"/>
                <a:cs typeface="Inter" pitchFamily="34" charset="-120"/>
              </a:rPr>
              <a:t>The Hart–Fuller Debate in the Twenty-First Century</a:t>
            </a:r>
            <a:r>
              <a:rPr lang="en-US" sz="1350" dirty="0">
                <a:solidFill>
                  <a:srgbClr val="191814"/>
                </a:solidFill>
                <a:latin typeface="Inter" pitchFamily="34" charset="0"/>
                <a:ea typeface="Inter" pitchFamily="34" charset="-122"/>
                <a:cs typeface="Inter" pitchFamily="34" charset="-120"/>
              </a:rPr>
              <a:t> (2010) is the modern collection.</a:t>
            </a:r>
            <a:endParaRPr lang="en-US" sz="1350" dirty="0"/>
          </a:p>
        </p:txBody>
      </p:sp>
      <p:sp>
        <p:nvSpPr>
          <p:cNvPr id="10" name="Shape 8"/>
          <p:cNvSpPr/>
          <p:nvPr/>
        </p:nvSpPr>
        <p:spPr>
          <a:xfrm>
            <a:off x="828642" y="3238500"/>
            <a:ext cx="0" cy="898095"/>
          </a:xfrm>
          <a:prstGeom prst="line">
            <a:avLst/>
          </a:prstGeom>
          <a:noFill/>
          <a:ln w="31750">
            <a:solidFill>
              <a:srgbClr val="B0451D"/>
            </a:solidFill>
            <a:prstDash val="solid"/>
          </a:ln>
        </p:spPr>
      </p:sp>
      <p:sp>
        <p:nvSpPr>
          <p:cNvPr id="11" name="Text 9"/>
          <p:cNvSpPr/>
          <p:nvPr/>
        </p:nvSpPr>
        <p:spPr>
          <a:xfrm>
            <a:off x="1060400" y="3238500"/>
            <a:ext cx="10628313" cy="628898"/>
          </a:xfrm>
          <a:prstGeom prst="rect">
            <a:avLst/>
          </a:prstGeom>
          <a:noFill/>
          <a:ln/>
        </p:spPr>
        <p:txBody>
          <a:bodyPr wrap="square" lIns="0" tIns="0" rIns="0" bIns="0" rtlCol="0" anchor="t">
            <a:normAutofit/>
          </a:bodyPr>
          <a:lstStyle/>
          <a:p>
            <a:pPr algn="l" indent="0" marL="0">
              <a:lnSpc>
                <a:spcPts val="2376"/>
              </a:lnSpc>
              <a:buNone/>
            </a:pPr>
            <a:r>
              <a:rPr lang="en-US" sz="1800" i="1" dirty="0">
                <a:solidFill>
                  <a:srgbClr val="191814"/>
                </a:solidFill>
                <a:latin typeface="Fraunces" pitchFamily="34" charset="0"/>
                <a:ea typeface="Fraunces" pitchFamily="34" charset="-122"/>
                <a:cs typeface="Fraunces" pitchFamily="34" charset="-120"/>
              </a:rPr>
              <a:t>“Most of the issues raised by Professor Hart’s essay can be restated in terms of the distinction between order and good order.”</a:t>
            </a:r>
            <a:endParaRPr lang="en-US" sz="1800" dirty="0"/>
          </a:p>
        </p:txBody>
      </p:sp>
      <p:sp>
        <p:nvSpPr>
          <p:cNvPr id="12" name="Text 10"/>
          <p:cNvSpPr/>
          <p:nvPr/>
        </p:nvSpPr>
        <p:spPr>
          <a:xfrm>
            <a:off x="1060400" y="3930873"/>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Fuller, ‘Positivism and Fidelity to Law’, 644</a:t>
            </a:r>
            <a:endParaRPr lang="en-US" sz="1200" dirty="0"/>
          </a:p>
        </p:txBody>
      </p:sp>
      <p:sp>
        <p:nvSpPr>
          <p:cNvPr id="13" name="Shape 11"/>
          <p:cNvSpPr/>
          <p:nvPr/>
        </p:nvSpPr>
        <p:spPr>
          <a:xfrm>
            <a:off x="812767" y="4445000"/>
            <a:ext cx="10566383" cy="1069289"/>
          </a:xfrm>
          <a:prstGeom prst="roundRect">
            <a:avLst>
              <a:gd name="adj" fmla="val 8314"/>
            </a:avLst>
          </a:prstGeom>
          <a:solidFill>
            <a:srgbClr val="F2EBE0"/>
          </a:solidFill>
          <a:ln/>
        </p:spPr>
      </p:sp>
      <p:sp>
        <p:nvSpPr>
          <p:cNvPr id="14" name="Shape 12"/>
          <p:cNvSpPr/>
          <p:nvPr/>
        </p:nvSpPr>
        <p:spPr>
          <a:xfrm>
            <a:off x="831817" y="4445000"/>
            <a:ext cx="0" cy="1069289"/>
          </a:xfrm>
          <a:prstGeom prst="line">
            <a:avLst/>
          </a:prstGeom>
          <a:noFill/>
          <a:ln w="38100">
            <a:solidFill>
              <a:srgbClr val="7A6110"/>
            </a:solidFill>
            <a:prstDash val="solid"/>
          </a:ln>
        </p:spPr>
      </p:sp>
      <p:sp>
        <p:nvSpPr>
          <p:cNvPr id="15" name="Text 13"/>
          <p:cNvSpPr/>
          <p:nvPr/>
        </p:nvSpPr>
        <p:spPr>
          <a:xfrm>
            <a:off x="1027575" y="45846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Fuller’s opening demand, and why the principles exist</a:t>
            </a:r>
            <a:endParaRPr lang="en-US" sz="1500" dirty="0"/>
          </a:p>
        </p:txBody>
      </p:sp>
      <p:sp>
        <p:nvSpPr>
          <p:cNvPr id="16" name="Text 14"/>
          <p:cNvSpPr/>
          <p:nvPr/>
        </p:nvSpPr>
        <p:spPr>
          <a:xfrm>
            <a:off x="1027575" y="4876750"/>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Hart should “concern himself more closely with a definition of law that will make meaningful the obligation to fidelity to law” (635). The eight principles are his answer — an account of law built so that fidelity to it makes sense.</a:t>
            </a:r>
            <a:endParaRPr lang="en-US" sz="1400" dirty="0"/>
          </a:p>
        </p:txBody>
      </p:sp>
      <p:sp>
        <p:nvSpPr>
          <p:cNvPr id="17" name="Text 15"/>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18" name="Text 16"/>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FULLER’S EIGHT PRINCIPLES OF LEGALITY</a:t>
            </a:r>
            <a:endParaRPr lang="en-US" sz="1200" dirty="0"/>
          </a:p>
        </p:txBody>
      </p:sp>
      <p:sp>
        <p:nvSpPr>
          <p:cNvPr id="3" name="Text 1"/>
          <p:cNvSpPr/>
          <p:nvPr/>
        </p:nvSpPr>
        <p:spPr>
          <a:xfrm>
            <a:off x="812767" y="965175"/>
            <a:ext cx="10203180" cy="683716"/>
          </a:xfrm>
          <a:prstGeom prst="rect">
            <a:avLst/>
          </a:prstGeom>
          <a:noFill/>
          <a:ln/>
        </p:spPr>
        <p:txBody>
          <a:bodyPr wrap="square" lIns="0" tIns="0" rIns="0" bIns="0" rtlCol="0" anchor="t">
            <a:normAutofit/>
          </a:bodyPr>
          <a:lstStyle/>
          <a:p>
            <a:pPr algn="l" indent="0" marL="0">
              <a:lnSpc>
                <a:spcPts val="2592"/>
              </a:lnSpc>
              <a:buNone/>
            </a:pPr>
            <a:r>
              <a:rPr lang="en-US" sz="2400" b="1" dirty="0">
                <a:solidFill>
                  <a:srgbClr val="191814"/>
                </a:solidFill>
                <a:latin typeface="Fraunces" pitchFamily="34" charset="0"/>
                <a:ea typeface="Fraunces" pitchFamily="34" charset="-122"/>
                <a:cs typeface="Fraunces" pitchFamily="34" charset="-120"/>
              </a:rPr>
              <a:t>Law is “the enterprise of subjecting human conduct to the governance of rules”</a:t>
            </a:r>
            <a:endParaRPr lang="en-US" sz="2400" dirty="0"/>
          </a:p>
        </p:txBody>
      </p:sp>
      <p:sp>
        <p:nvSpPr>
          <p:cNvPr id="4" name="Shape 2"/>
          <p:cNvSpPr/>
          <p:nvPr/>
        </p:nvSpPr>
        <p:spPr>
          <a:xfrm>
            <a:off x="815942" y="1908175"/>
            <a:ext cx="2444725" cy="968061"/>
          </a:xfrm>
          <a:prstGeom prst="roundRect">
            <a:avLst>
              <a:gd name="adj" fmla="val 10167"/>
            </a:avLst>
          </a:prstGeom>
          <a:solidFill>
            <a:srgbClr val="FFFFFF"/>
          </a:solidFill>
          <a:ln w="6350">
            <a:solidFill>
              <a:srgbClr val="E0D7C9"/>
            </a:solidFill>
            <a:prstDash val="solid"/>
          </a:ln>
        </p:spPr>
      </p:sp>
      <p:sp>
        <p:nvSpPr>
          <p:cNvPr id="5" name="Text 3"/>
          <p:cNvSpPr/>
          <p:nvPr/>
        </p:nvSpPr>
        <p:spPr>
          <a:xfrm>
            <a:off x="957750" y="2037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1</a:t>
            </a:r>
            <a:endParaRPr lang="en-US" sz="1250" dirty="0"/>
          </a:p>
        </p:txBody>
      </p:sp>
      <p:sp>
        <p:nvSpPr>
          <p:cNvPr id="6" name="Text 4"/>
          <p:cNvSpPr/>
          <p:nvPr/>
        </p:nvSpPr>
        <p:spPr>
          <a:xfrm>
            <a:off x="957750" y="2297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General</a:t>
            </a:r>
            <a:endParaRPr lang="en-US" sz="1400" dirty="0"/>
          </a:p>
        </p:txBody>
      </p:sp>
      <p:sp>
        <p:nvSpPr>
          <p:cNvPr id="7" name="Text 5"/>
          <p:cNvSpPr/>
          <p:nvPr/>
        </p:nvSpPr>
        <p:spPr>
          <a:xfrm>
            <a:off x="957750" y="2549054"/>
            <a:ext cx="2225942" cy="22346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Rules, not ad hoc commands.</a:t>
            </a:r>
            <a:endParaRPr lang="en-US" sz="1200" dirty="0"/>
          </a:p>
        </p:txBody>
      </p:sp>
      <p:sp>
        <p:nvSpPr>
          <p:cNvPr id="8" name="Shape 6"/>
          <p:cNvSpPr/>
          <p:nvPr/>
        </p:nvSpPr>
        <p:spPr>
          <a:xfrm>
            <a:off x="3521058" y="1908175"/>
            <a:ext cx="2444725" cy="1166126"/>
          </a:xfrm>
          <a:prstGeom prst="roundRect">
            <a:avLst>
              <a:gd name="adj" fmla="val 8440"/>
            </a:avLst>
          </a:prstGeom>
          <a:solidFill>
            <a:srgbClr val="FFFFFF"/>
          </a:solidFill>
          <a:ln w="6350">
            <a:solidFill>
              <a:srgbClr val="E0D7C9"/>
            </a:solidFill>
            <a:prstDash val="solid"/>
          </a:ln>
        </p:spPr>
      </p:sp>
      <p:sp>
        <p:nvSpPr>
          <p:cNvPr id="9" name="Text 7"/>
          <p:cNvSpPr/>
          <p:nvPr/>
        </p:nvSpPr>
        <p:spPr>
          <a:xfrm>
            <a:off x="3662867" y="2037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2</a:t>
            </a:r>
            <a:endParaRPr lang="en-US" sz="1250" dirty="0"/>
          </a:p>
        </p:txBody>
      </p:sp>
      <p:sp>
        <p:nvSpPr>
          <p:cNvPr id="10" name="Text 8"/>
          <p:cNvSpPr/>
          <p:nvPr/>
        </p:nvSpPr>
        <p:spPr>
          <a:xfrm>
            <a:off x="3662867" y="2297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Public</a:t>
            </a:r>
            <a:endParaRPr lang="en-US" sz="1400" dirty="0"/>
          </a:p>
        </p:txBody>
      </p:sp>
      <p:sp>
        <p:nvSpPr>
          <p:cNvPr id="11" name="Text 9"/>
          <p:cNvSpPr/>
          <p:nvPr/>
        </p:nvSpPr>
        <p:spPr>
          <a:xfrm>
            <a:off x="3662867" y="2549054"/>
            <a:ext cx="2225942" cy="42153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Promulgated, so they can be known.</a:t>
            </a:r>
            <a:endParaRPr lang="en-US" sz="1200" dirty="0"/>
          </a:p>
        </p:txBody>
      </p:sp>
      <p:sp>
        <p:nvSpPr>
          <p:cNvPr id="12" name="Shape 10"/>
          <p:cNvSpPr/>
          <p:nvPr/>
        </p:nvSpPr>
        <p:spPr>
          <a:xfrm>
            <a:off x="6226175" y="1908175"/>
            <a:ext cx="2444725" cy="968061"/>
          </a:xfrm>
          <a:prstGeom prst="roundRect">
            <a:avLst>
              <a:gd name="adj" fmla="val 10167"/>
            </a:avLst>
          </a:prstGeom>
          <a:solidFill>
            <a:srgbClr val="FFFFFF"/>
          </a:solidFill>
          <a:ln w="6350">
            <a:solidFill>
              <a:srgbClr val="E0D7C9"/>
            </a:solidFill>
            <a:prstDash val="solid"/>
          </a:ln>
        </p:spPr>
      </p:sp>
      <p:sp>
        <p:nvSpPr>
          <p:cNvPr id="13" name="Text 11"/>
          <p:cNvSpPr/>
          <p:nvPr/>
        </p:nvSpPr>
        <p:spPr>
          <a:xfrm>
            <a:off x="6367983" y="2037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3</a:t>
            </a:r>
            <a:endParaRPr lang="en-US" sz="1250" dirty="0"/>
          </a:p>
        </p:txBody>
      </p:sp>
      <p:sp>
        <p:nvSpPr>
          <p:cNvPr id="14" name="Text 12"/>
          <p:cNvSpPr/>
          <p:nvPr/>
        </p:nvSpPr>
        <p:spPr>
          <a:xfrm>
            <a:off x="6367983" y="2297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Prospective</a:t>
            </a:r>
            <a:endParaRPr lang="en-US" sz="1400" dirty="0"/>
          </a:p>
        </p:txBody>
      </p:sp>
      <p:sp>
        <p:nvSpPr>
          <p:cNvPr id="15" name="Text 13"/>
          <p:cNvSpPr/>
          <p:nvPr/>
        </p:nvSpPr>
        <p:spPr>
          <a:xfrm>
            <a:off x="6367983" y="2549054"/>
            <a:ext cx="2225942" cy="22346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Not retrospective.</a:t>
            </a:r>
            <a:endParaRPr lang="en-US" sz="1200" dirty="0"/>
          </a:p>
        </p:txBody>
      </p:sp>
      <p:sp>
        <p:nvSpPr>
          <p:cNvPr id="16" name="Shape 14"/>
          <p:cNvSpPr/>
          <p:nvPr/>
        </p:nvSpPr>
        <p:spPr>
          <a:xfrm>
            <a:off x="8931250" y="1908175"/>
            <a:ext cx="2444725" cy="968061"/>
          </a:xfrm>
          <a:prstGeom prst="roundRect">
            <a:avLst>
              <a:gd name="adj" fmla="val 10167"/>
            </a:avLst>
          </a:prstGeom>
          <a:solidFill>
            <a:srgbClr val="FFFFFF"/>
          </a:solidFill>
          <a:ln w="6350">
            <a:solidFill>
              <a:srgbClr val="E0D7C9"/>
            </a:solidFill>
            <a:prstDash val="solid"/>
          </a:ln>
        </p:spPr>
      </p:sp>
      <p:sp>
        <p:nvSpPr>
          <p:cNvPr id="17" name="Text 15"/>
          <p:cNvSpPr/>
          <p:nvPr/>
        </p:nvSpPr>
        <p:spPr>
          <a:xfrm>
            <a:off x="9073059" y="2037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4</a:t>
            </a:r>
            <a:endParaRPr lang="en-US" sz="1250" dirty="0"/>
          </a:p>
        </p:txBody>
      </p:sp>
      <p:sp>
        <p:nvSpPr>
          <p:cNvPr id="18" name="Text 16"/>
          <p:cNvSpPr/>
          <p:nvPr/>
        </p:nvSpPr>
        <p:spPr>
          <a:xfrm>
            <a:off x="9073059" y="2297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Clear</a:t>
            </a:r>
            <a:endParaRPr lang="en-US" sz="1400" dirty="0"/>
          </a:p>
        </p:txBody>
      </p:sp>
      <p:sp>
        <p:nvSpPr>
          <p:cNvPr id="19" name="Text 17"/>
          <p:cNvSpPr/>
          <p:nvPr/>
        </p:nvSpPr>
        <p:spPr>
          <a:xfrm>
            <a:off x="9073059" y="2549054"/>
            <a:ext cx="2225942" cy="22346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Intelligible to those bound.</a:t>
            </a:r>
            <a:endParaRPr lang="en-US" sz="1200" dirty="0"/>
          </a:p>
        </p:txBody>
      </p:sp>
      <p:sp>
        <p:nvSpPr>
          <p:cNvPr id="20" name="Shape 18"/>
          <p:cNvSpPr/>
          <p:nvPr/>
        </p:nvSpPr>
        <p:spPr>
          <a:xfrm>
            <a:off x="815942" y="3051175"/>
            <a:ext cx="2444725" cy="968061"/>
          </a:xfrm>
          <a:prstGeom prst="roundRect">
            <a:avLst>
              <a:gd name="adj" fmla="val 10167"/>
            </a:avLst>
          </a:prstGeom>
          <a:solidFill>
            <a:srgbClr val="FFFFFF"/>
          </a:solidFill>
          <a:ln w="6350">
            <a:solidFill>
              <a:srgbClr val="E0D7C9"/>
            </a:solidFill>
            <a:prstDash val="solid"/>
          </a:ln>
        </p:spPr>
      </p:sp>
      <p:sp>
        <p:nvSpPr>
          <p:cNvPr id="21" name="Text 19"/>
          <p:cNvSpPr/>
          <p:nvPr/>
        </p:nvSpPr>
        <p:spPr>
          <a:xfrm>
            <a:off x="957750" y="3180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5</a:t>
            </a:r>
            <a:endParaRPr lang="en-US" sz="1250" dirty="0"/>
          </a:p>
        </p:txBody>
      </p:sp>
      <p:sp>
        <p:nvSpPr>
          <p:cNvPr id="22" name="Text 20"/>
          <p:cNvSpPr/>
          <p:nvPr/>
        </p:nvSpPr>
        <p:spPr>
          <a:xfrm>
            <a:off x="957750" y="3440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Coherent</a:t>
            </a:r>
            <a:endParaRPr lang="en-US" sz="1400" dirty="0"/>
          </a:p>
        </p:txBody>
      </p:sp>
      <p:sp>
        <p:nvSpPr>
          <p:cNvPr id="23" name="Text 21"/>
          <p:cNvSpPr/>
          <p:nvPr/>
        </p:nvSpPr>
        <p:spPr>
          <a:xfrm>
            <a:off x="957750" y="3692054"/>
            <a:ext cx="2225942" cy="223465"/>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Not contradictory.</a:t>
            </a:r>
            <a:endParaRPr lang="en-US" sz="1200" dirty="0"/>
          </a:p>
        </p:txBody>
      </p:sp>
      <p:sp>
        <p:nvSpPr>
          <p:cNvPr id="24" name="Shape 22"/>
          <p:cNvSpPr/>
          <p:nvPr/>
        </p:nvSpPr>
        <p:spPr>
          <a:xfrm>
            <a:off x="3521058" y="3051175"/>
            <a:ext cx="2444725" cy="1166126"/>
          </a:xfrm>
          <a:prstGeom prst="roundRect">
            <a:avLst>
              <a:gd name="adj" fmla="val 8440"/>
            </a:avLst>
          </a:prstGeom>
          <a:solidFill>
            <a:srgbClr val="FFFFFF"/>
          </a:solidFill>
          <a:ln w="6350">
            <a:solidFill>
              <a:srgbClr val="E0D7C9"/>
            </a:solidFill>
            <a:prstDash val="solid"/>
          </a:ln>
        </p:spPr>
      </p:sp>
      <p:sp>
        <p:nvSpPr>
          <p:cNvPr id="25" name="Text 23"/>
          <p:cNvSpPr/>
          <p:nvPr/>
        </p:nvSpPr>
        <p:spPr>
          <a:xfrm>
            <a:off x="3662867" y="3180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6</a:t>
            </a:r>
            <a:endParaRPr lang="en-US" sz="1250" dirty="0"/>
          </a:p>
        </p:txBody>
      </p:sp>
      <p:sp>
        <p:nvSpPr>
          <p:cNvPr id="26" name="Text 24"/>
          <p:cNvSpPr/>
          <p:nvPr/>
        </p:nvSpPr>
        <p:spPr>
          <a:xfrm>
            <a:off x="3662867" y="3440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Practicable</a:t>
            </a:r>
            <a:endParaRPr lang="en-US" sz="1400" dirty="0"/>
          </a:p>
        </p:txBody>
      </p:sp>
      <p:sp>
        <p:nvSpPr>
          <p:cNvPr id="27" name="Text 25"/>
          <p:cNvSpPr/>
          <p:nvPr/>
        </p:nvSpPr>
        <p:spPr>
          <a:xfrm>
            <a:off x="3662867" y="3692054"/>
            <a:ext cx="2225942" cy="42153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Not demanding the impossible.</a:t>
            </a:r>
            <a:endParaRPr lang="en-US" sz="1200" dirty="0"/>
          </a:p>
        </p:txBody>
      </p:sp>
      <p:sp>
        <p:nvSpPr>
          <p:cNvPr id="28" name="Shape 26"/>
          <p:cNvSpPr/>
          <p:nvPr/>
        </p:nvSpPr>
        <p:spPr>
          <a:xfrm>
            <a:off x="6226175" y="3051175"/>
            <a:ext cx="2444725" cy="1166126"/>
          </a:xfrm>
          <a:prstGeom prst="roundRect">
            <a:avLst>
              <a:gd name="adj" fmla="val 8440"/>
            </a:avLst>
          </a:prstGeom>
          <a:solidFill>
            <a:srgbClr val="FFFFFF"/>
          </a:solidFill>
          <a:ln w="6350">
            <a:solidFill>
              <a:srgbClr val="E0D7C9"/>
            </a:solidFill>
            <a:prstDash val="solid"/>
          </a:ln>
        </p:spPr>
      </p:sp>
      <p:sp>
        <p:nvSpPr>
          <p:cNvPr id="29" name="Text 27"/>
          <p:cNvSpPr/>
          <p:nvPr/>
        </p:nvSpPr>
        <p:spPr>
          <a:xfrm>
            <a:off x="6367983" y="3180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7</a:t>
            </a:r>
            <a:endParaRPr lang="en-US" sz="1250" dirty="0"/>
          </a:p>
        </p:txBody>
      </p:sp>
      <p:sp>
        <p:nvSpPr>
          <p:cNvPr id="30" name="Text 28"/>
          <p:cNvSpPr/>
          <p:nvPr/>
        </p:nvSpPr>
        <p:spPr>
          <a:xfrm>
            <a:off x="6367983" y="3440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Stable</a:t>
            </a:r>
            <a:endParaRPr lang="en-US" sz="1400" dirty="0"/>
          </a:p>
        </p:txBody>
      </p:sp>
      <p:sp>
        <p:nvSpPr>
          <p:cNvPr id="31" name="Text 29"/>
          <p:cNvSpPr/>
          <p:nvPr/>
        </p:nvSpPr>
        <p:spPr>
          <a:xfrm>
            <a:off x="6367983" y="3692054"/>
            <a:ext cx="2225942" cy="42153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Not changed beyond reliance.</a:t>
            </a:r>
            <a:endParaRPr lang="en-US" sz="1200" dirty="0"/>
          </a:p>
        </p:txBody>
      </p:sp>
      <p:sp>
        <p:nvSpPr>
          <p:cNvPr id="32" name="Shape 30"/>
          <p:cNvSpPr/>
          <p:nvPr/>
        </p:nvSpPr>
        <p:spPr>
          <a:xfrm>
            <a:off x="8931250" y="3051175"/>
            <a:ext cx="2444725" cy="1166126"/>
          </a:xfrm>
          <a:prstGeom prst="roundRect">
            <a:avLst>
              <a:gd name="adj" fmla="val 8440"/>
            </a:avLst>
          </a:prstGeom>
          <a:solidFill>
            <a:srgbClr val="FFFFFF"/>
          </a:solidFill>
          <a:ln w="6350">
            <a:solidFill>
              <a:srgbClr val="E0D7C9"/>
            </a:solidFill>
            <a:prstDash val="solid"/>
          </a:ln>
        </p:spPr>
      </p:sp>
      <p:sp>
        <p:nvSpPr>
          <p:cNvPr id="33" name="Text 31"/>
          <p:cNvSpPr/>
          <p:nvPr/>
        </p:nvSpPr>
        <p:spPr>
          <a:xfrm>
            <a:off x="9073059" y="3180283"/>
            <a:ext cx="2225942"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Fraunces" pitchFamily="34" charset="0"/>
                <a:ea typeface="Fraunces" pitchFamily="34" charset="-122"/>
                <a:cs typeface="Fraunces" pitchFamily="34" charset="-120"/>
              </a:rPr>
              <a:t>8</a:t>
            </a:r>
            <a:endParaRPr lang="en-US" sz="1250" dirty="0"/>
          </a:p>
        </p:txBody>
      </p:sp>
      <p:sp>
        <p:nvSpPr>
          <p:cNvPr id="34" name="Text 32"/>
          <p:cNvSpPr/>
          <p:nvPr/>
        </p:nvSpPr>
        <p:spPr>
          <a:xfrm>
            <a:off x="9073059" y="3440609"/>
            <a:ext cx="2225942" cy="238762"/>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91814"/>
                </a:solidFill>
                <a:latin typeface="Fraunces" pitchFamily="34" charset="0"/>
                <a:ea typeface="Fraunces" pitchFamily="34" charset="-122"/>
                <a:cs typeface="Fraunces" pitchFamily="34" charset="-120"/>
              </a:rPr>
              <a:t>Congruent</a:t>
            </a:r>
            <a:endParaRPr lang="en-US" sz="1400" dirty="0"/>
          </a:p>
        </p:txBody>
      </p:sp>
      <p:sp>
        <p:nvSpPr>
          <p:cNvPr id="35" name="Text 33"/>
          <p:cNvSpPr/>
          <p:nvPr/>
        </p:nvSpPr>
        <p:spPr>
          <a:xfrm>
            <a:off x="9073059" y="3692054"/>
            <a:ext cx="2225942" cy="421531"/>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E5850"/>
                </a:solidFill>
                <a:latin typeface="Inter" pitchFamily="34" charset="0"/>
                <a:ea typeface="Inter" pitchFamily="34" charset="-122"/>
                <a:cs typeface="Inter" pitchFamily="34" charset="-120"/>
              </a:rPr>
              <a:t>Official action matches the rules.</a:t>
            </a:r>
            <a:endParaRPr lang="en-US" sz="1200" dirty="0"/>
          </a:p>
        </p:txBody>
      </p:sp>
      <p:sp>
        <p:nvSpPr>
          <p:cNvPr id="36" name="Shape 34"/>
          <p:cNvSpPr/>
          <p:nvPr/>
        </p:nvSpPr>
        <p:spPr>
          <a:xfrm>
            <a:off x="812767" y="4254500"/>
            <a:ext cx="5156191" cy="1290836"/>
          </a:xfrm>
          <a:prstGeom prst="roundRect">
            <a:avLst>
              <a:gd name="adj" fmla="val 7871"/>
            </a:avLst>
          </a:prstGeom>
          <a:solidFill>
            <a:srgbClr val="F2EBE0"/>
          </a:solidFill>
          <a:ln/>
        </p:spPr>
      </p:sp>
      <p:sp>
        <p:nvSpPr>
          <p:cNvPr id="37" name="Text 35"/>
          <p:cNvSpPr/>
          <p:nvPr/>
        </p:nvSpPr>
        <p:spPr>
          <a:xfrm>
            <a:off x="977842" y="4419575"/>
            <a:ext cx="49708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King Rex</a:t>
            </a:r>
            <a:endParaRPr lang="en-US" sz="1500" dirty="0"/>
          </a:p>
        </p:txBody>
      </p:sp>
      <p:sp>
        <p:nvSpPr>
          <p:cNvPr id="38" name="Text 36"/>
          <p:cNvSpPr/>
          <p:nvPr/>
        </p:nvSpPr>
        <p:spPr>
          <a:xfrm>
            <a:off x="977842" y="4711650"/>
            <a:ext cx="4970822" cy="69401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Fuller’s parable of a monarch who fails in each of the eight directions in turn. He does not make bad law; he fails to make law at all.</a:t>
            </a:r>
            <a:endParaRPr lang="en-US" sz="1300" dirty="0"/>
          </a:p>
        </p:txBody>
      </p:sp>
      <p:sp>
        <p:nvSpPr>
          <p:cNvPr id="39" name="Shape 37"/>
          <p:cNvSpPr/>
          <p:nvPr/>
        </p:nvSpPr>
        <p:spPr>
          <a:xfrm>
            <a:off x="6229350" y="4260850"/>
            <a:ext cx="5143491" cy="1299303"/>
          </a:xfrm>
          <a:prstGeom prst="roundRect">
            <a:avLst>
              <a:gd name="adj" fmla="val 7331"/>
            </a:avLst>
          </a:prstGeom>
          <a:solidFill>
            <a:srgbClr val="E5EEEC"/>
          </a:solidFill>
          <a:ln w="12700">
            <a:solidFill>
              <a:srgbClr val="1C595D"/>
            </a:solidFill>
            <a:prstDash val="solid"/>
          </a:ln>
        </p:spPr>
      </p:sp>
      <p:sp>
        <p:nvSpPr>
          <p:cNvPr id="40" name="Text 38"/>
          <p:cNvSpPr/>
          <p:nvPr/>
        </p:nvSpPr>
        <p:spPr>
          <a:xfrm>
            <a:off x="6398658" y="4430142"/>
            <a:ext cx="4949021"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Why “morality”</a:t>
            </a:r>
            <a:endParaRPr lang="en-US" sz="1500" dirty="0"/>
          </a:p>
        </p:txBody>
      </p:sp>
      <p:sp>
        <p:nvSpPr>
          <p:cNvPr id="41" name="Text 39"/>
          <p:cNvSpPr/>
          <p:nvPr/>
        </p:nvSpPr>
        <p:spPr>
          <a:xfrm>
            <a:off x="6398658" y="4722217"/>
            <a:ext cx="4949021" cy="69401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91814"/>
                </a:solidFill>
                <a:latin typeface="Inter" pitchFamily="34" charset="0"/>
                <a:ea typeface="Inter" pitchFamily="34" charset="-122"/>
                <a:cs typeface="Inter" pitchFamily="34" charset="-120"/>
              </a:rPr>
              <a:t>Governing by rules a person can know and follow treats them as a responsible, self-directing agent. For Fuller that is a moral relationship, not a technique.</a:t>
            </a:r>
            <a:endParaRPr lang="en-US" sz="1300" dirty="0"/>
          </a:p>
        </p:txBody>
      </p:sp>
      <p:sp>
        <p:nvSpPr>
          <p:cNvPr id="42" name="Text 40"/>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43" name="Text 41"/>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WHAT FULLER CLAIMS ON TOP OF THE LIST</a:t>
            </a:r>
            <a:endParaRPr lang="en-US" sz="1200" dirty="0"/>
          </a:p>
        </p:txBody>
      </p:sp>
      <p:sp>
        <p:nvSpPr>
          <p:cNvPr id="3" name="Text 1"/>
          <p:cNvSpPr/>
          <p:nvPr/>
        </p:nvSpPr>
        <p:spPr>
          <a:xfrm>
            <a:off x="812767" y="914375"/>
            <a:ext cx="10203180" cy="395693"/>
          </a:xfrm>
          <a:prstGeom prst="rect">
            <a:avLst/>
          </a:prstGeom>
          <a:noFill/>
          <a:ln/>
        </p:spPr>
        <p:txBody>
          <a:bodyPr wrap="square" lIns="0" tIns="0" rIns="0" bIns="0" rtlCol="0" anchor="t">
            <a:normAutofit/>
          </a:bodyPr>
          <a:lstStyle/>
          <a:p>
            <a:pPr algn="l" indent="0" marL="0">
              <a:lnSpc>
                <a:spcPts val="2916"/>
              </a:lnSpc>
              <a:buNone/>
            </a:pPr>
            <a:r>
              <a:rPr lang="en-US" sz="2700" b="1" dirty="0">
                <a:solidFill>
                  <a:srgbClr val="191814"/>
                </a:solidFill>
                <a:latin typeface="Fraunces" pitchFamily="34" charset="0"/>
                <a:ea typeface="Fraunces" pitchFamily="34" charset="-122"/>
                <a:cs typeface="Fraunces" pitchFamily="34" charset="-120"/>
              </a:rPr>
              <a:t>Four moves, and only the first is about the eight</a:t>
            </a:r>
            <a:endParaRPr lang="en-US" sz="2700" dirty="0"/>
          </a:p>
        </p:txBody>
      </p:sp>
      <p:sp>
        <p:nvSpPr>
          <p:cNvPr id="4" name="Shape 2"/>
          <p:cNvSpPr/>
          <p:nvPr/>
        </p:nvSpPr>
        <p:spPr>
          <a:xfrm>
            <a:off x="815942" y="1882750"/>
            <a:ext cx="5149841" cy="1343066"/>
          </a:xfrm>
          <a:prstGeom prst="roundRect">
            <a:avLst>
              <a:gd name="adj" fmla="val 8274"/>
            </a:avLst>
          </a:prstGeom>
          <a:solidFill>
            <a:srgbClr val="FFFFFF"/>
          </a:solidFill>
          <a:ln w="6350">
            <a:solidFill>
              <a:srgbClr val="E0D7C9"/>
            </a:solidFill>
            <a:prstDash val="solid"/>
          </a:ln>
        </p:spPr>
      </p:sp>
      <p:sp>
        <p:nvSpPr>
          <p:cNvPr id="5" name="Text 3"/>
          <p:cNvSpPr/>
          <p:nvPr/>
        </p:nvSpPr>
        <p:spPr>
          <a:xfrm>
            <a:off x="995825" y="2062634"/>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1 · Total failure is not law</a:t>
            </a:r>
            <a:endParaRPr lang="en-US" sz="1550" dirty="0"/>
          </a:p>
        </p:txBody>
      </p:sp>
      <p:sp>
        <p:nvSpPr>
          <p:cNvPr id="6" name="Text 4"/>
          <p:cNvSpPr/>
          <p:nvPr/>
        </p:nvSpPr>
        <p:spPr>
          <a:xfrm>
            <a:off x="995825" y="2352501"/>
            <a:ext cx="4933777"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 total failure in any one of these eight directions … results in something that is not properly called a legal system at all” (</a:t>
            </a:r>
            <a:r>
              <a:rPr lang="en-US" sz="1300" i="1" dirty="0">
                <a:solidFill>
                  <a:srgbClr val="5E5850"/>
                </a:solidFill>
                <a:latin typeface="Inter" pitchFamily="34" charset="0"/>
                <a:ea typeface="Inter" pitchFamily="34" charset="-122"/>
                <a:cs typeface="Inter" pitchFamily="34" charset="-120"/>
              </a:rPr>
              <a:t>MoL</a:t>
            </a:r>
            <a:r>
              <a:rPr lang="en-US" sz="1300" dirty="0">
                <a:solidFill>
                  <a:srgbClr val="5E5850"/>
                </a:solidFill>
                <a:latin typeface="Inter" pitchFamily="34" charset="0"/>
                <a:ea typeface="Inter" pitchFamily="34" charset="-122"/>
                <a:cs typeface="Inter" pitchFamily="34" charset="-120"/>
              </a:rPr>
              <a:t> 39). Note </a:t>
            </a:r>
            <a:r>
              <a:rPr lang="en-US" sz="1300" b="1" dirty="0">
                <a:solidFill>
                  <a:srgbClr val="5E5850"/>
                </a:solidFill>
                <a:latin typeface="Inter" pitchFamily="34" charset="0"/>
                <a:ea typeface="Inter" pitchFamily="34" charset="-122"/>
                <a:cs typeface="Inter" pitchFamily="34" charset="-120"/>
              </a:rPr>
              <a:t>total</a:t>
            </a:r>
            <a:r>
              <a:rPr lang="en-US" sz="1300" dirty="0">
                <a:solidFill>
                  <a:srgbClr val="5E5850"/>
                </a:solidFill>
                <a:latin typeface="Inter" pitchFamily="34" charset="0"/>
                <a:ea typeface="Inter" pitchFamily="34" charset="-122"/>
                <a:cs typeface="Inter" pitchFamily="34" charset="-120"/>
              </a:rPr>
              <a:t>, and note it is about a </a:t>
            </a:r>
            <a:r>
              <a:rPr lang="en-US" sz="1300" i="1" dirty="0">
                <a:solidFill>
                  <a:srgbClr val="5E5850"/>
                </a:solidFill>
                <a:latin typeface="Inter" pitchFamily="34" charset="0"/>
                <a:ea typeface="Inter" pitchFamily="34" charset="-122"/>
                <a:cs typeface="Inter" pitchFamily="34" charset="-120"/>
              </a:rPr>
              <a:t>system</a:t>
            </a:r>
            <a:r>
              <a:rPr lang="en-US" sz="1300" dirty="0">
                <a:solidFill>
                  <a:srgbClr val="5E5850"/>
                </a:solidFill>
                <a:latin typeface="Inter" pitchFamily="34" charset="0"/>
                <a:ea typeface="Inter" pitchFamily="34" charset="-122"/>
                <a:cs typeface="Inter" pitchFamily="34" charset="-120"/>
              </a:rPr>
              <a:t>.</a:t>
            </a:r>
            <a:endParaRPr lang="en-US" sz="1300" dirty="0"/>
          </a:p>
        </p:txBody>
      </p:sp>
      <p:sp>
        <p:nvSpPr>
          <p:cNvPr id="7" name="Shape 5"/>
          <p:cNvSpPr/>
          <p:nvPr/>
        </p:nvSpPr>
        <p:spPr>
          <a:xfrm>
            <a:off x="6226175" y="1882750"/>
            <a:ext cx="5149841" cy="1574205"/>
          </a:xfrm>
          <a:prstGeom prst="roundRect">
            <a:avLst>
              <a:gd name="adj" fmla="val 7059"/>
            </a:avLst>
          </a:prstGeom>
          <a:solidFill>
            <a:srgbClr val="FFFFFF"/>
          </a:solidFill>
          <a:ln w="6350">
            <a:solidFill>
              <a:srgbClr val="E0D7C9"/>
            </a:solidFill>
            <a:prstDash val="solid"/>
          </a:ln>
        </p:spPr>
      </p:sp>
      <p:sp>
        <p:nvSpPr>
          <p:cNvPr id="8" name="Text 6"/>
          <p:cNvSpPr/>
          <p:nvPr/>
        </p:nvSpPr>
        <p:spPr>
          <a:xfrm>
            <a:off x="6406059" y="2062634"/>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2 · Reciprocity</a:t>
            </a:r>
            <a:endParaRPr lang="en-US" sz="1550" dirty="0"/>
          </a:p>
        </p:txBody>
      </p:sp>
      <p:sp>
        <p:nvSpPr>
          <p:cNvPr id="9" name="Text 7"/>
          <p:cNvSpPr/>
          <p:nvPr/>
        </p:nvSpPr>
        <p:spPr>
          <a:xfrm>
            <a:off x="6406059" y="2352501"/>
            <a:ext cx="4933777"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Legality creates a two-way bond: the citizen follows the rules, the government abides by its own declared rules. Break the bond and the ground of fidelity disappears (39–40).</a:t>
            </a:r>
            <a:endParaRPr lang="en-US" sz="1300" dirty="0"/>
          </a:p>
        </p:txBody>
      </p:sp>
      <p:sp>
        <p:nvSpPr>
          <p:cNvPr id="10" name="Shape 8"/>
          <p:cNvSpPr/>
          <p:nvPr/>
        </p:nvSpPr>
        <p:spPr>
          <a:xfrm>
            <a:off x="815942" y="3241675"/>
            <a:ext cx="5149841" cy="1343066"/>
          </a:xfrm>
          <a:prstGeom prst="roundRect">
            <a:avLst>
              <a:gd name="adj" fmla="val 8274"/>
            </a:avLst>
          </a:prstGeom>
          <a:solidFill>
            <a:srgbClr val="FFFFFF"/>
          </a:solidFill>
          <a:ln w="6350">
            <a:solidFill>
              <a:srgbClr val="E0D7C9"/>
            </a:solidFill>
            <a:prstDash val="solid"/>
          </a:ln>
        </p:spPr>
      </p:sp>
      <p:sp>
        <p:nvSpPr>
          <p:cNvPr id="11" name="Text 9"/>
          <p:cNvSpPr/>
          <p:nvPr/>
        </p:nvSpPr>
        <p:spPr>
          <a:xfrm>
            <a:off x="995825" y="3421559"/>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3 · Agency and dignity</a:t>
            </a:r>
            <a:endParaRPr lang="en-US" sz="1550" dirty="0"/>
          </a:p>
        </p:txBody>
      </p:sp>
      <p:sp>
        <p:nvSpPr>
          <p:cNvPr id="12" name="Text 10"/>
          <p:cNvSpPr/>
          <p:nvPr/>
        </p:nvSpPr>
        <p:spPr>
          <a:xfrm>
            <a:off x="995825" y="3711426"/>
            <a:ext cx="4933777"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To govern by rules is to treat the subject as a responsible agent capable of understanding and following them; departures are an affront to dignity (162).</a:t>
            </a:r>
            <a:endParaRPr lang="en-US" sz="1300" dirty="0"/>
          </a:p>
        </p:txBody>
      </p:sp>
      <p:sp>
        <p:nvSpPr>
          <p:cNvPr id="13" name="Shape 11"/>
          <p:cNvSpPr/>
          <p:nvPr/>
        </p:nvSpPr>
        <p:spPr>
          <a:xfrm>
            <a:off x="6226175" y="3241675"/>
            <a:ext cx="5149841" cy="1343066"/>
          </a:xfrm>
          <a:prstGeom prst="roundRect">
            <a:avLst>
              <a:gd name="adj" fmla="val 8274"/>
            </a:avLst>
          </a:prstGeom>
          <a:solidFill>
            <a:srgbClr val="FFFFFF"/>
          </a:solidFill>
          <a:ln w="6350">
            <a:solidFill>
              <a:srgbClr val="E0D7C9"/>
            </a:solidFill>
            <a:prstDash val="solid"/>
          </a:ln>
        </p:spPr>
      </p:sp>
      <p:sp>
        <p:nvSpPr>
          <p:cNvPr id="14" name="Text 12"/>
          <p:cNvSpPr/>
          <p:nvPr/>
        </p:nvSpPr>
        <p:spPr>
          <a:xfrm>
            <a:off x="6406059" y="3421559"/>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4 · A purposive enterprise</a:t>
            </a:r>
            <a:endParaRPr lang="en-US" sz="1550" dirty="0"/>
          </a:p>
        </p:txBody>
      </p:sp>
      <p:sp>
        <p:nvSpPr>
          <p:cNvPr id="15" name="Text 13"/>
          <p:cNvSpPr/>
          <p:nvPr/>
        </p:nvSpPr>
        <p:spPr>
          <a:xfrm>
            <a:off x="6406059" y="3711426"/>
            <a:ext cx="4933777"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Law is not a datum but an </a:t>
            </a:r>
            <a:r>
              <a:rPr lang="en-US" sz="1300" b="1" dirty="0">
                <a:solidFill>
                  <a:srgbClr val="5E5850"/>
                </a:solidFill>
                <a:latin typeface="Inter" pitchFamily="34" charset="0"/>
                <a:ea typeface="Inter" pitchFamily="34" charset="-122"/>
                <a:cs typeface="Inter" pitchFamily="34" charset="-120"/>
              </a:rPr>
              <a:t>activity</a:t>
            </a:r>
            <a:r>
              <a:rPr lang="en-US" sz="1300" dirty="0">
                <a:solidFill>
                  <a:srgbClr val="5E5850"/>
                </a:solidFill>
                <a:latin typeface="Inter" pitchFamily="34" charset="0"/>
                <a:ea typeface="Inter" pitchFamily="34" charset="-122"/>
                <a:cs typeface="Inter" pitchFamily="34" charset="-120"/>
              </a:rPr>
              <a:t>. Enterprises can fail — and can fail </a:t>
            </a:r>
            <a:r>
              <a:rPr lang="en-US" sz="1300" i="1" dirty="0">
                <a:solidFill>
                  <a:srgbClr val="5E5850"/>
                </a:solidFill>
                <a:latin typeface="Inter" pitchFamily="34" charset="0"/>
                <a:ea typeface="Inter" pitchFamily="34" charset="-122"/>
                <a:cs typeface="Inter" pitchFamily="34" charset="-120"/>
              </a:rPr>
              <a:t>as</a:t>
            </a:r>
            <a:r>
              <a:rPr lang="en-US" sz="1300" dirty="0">
                <a:solidFill>
                  <a:srgbClr val="5E5850"/>
                </a:solidFill>
                <a:latin typeface="Inter" pitchFamily="34" charset="0"/>
                <a:ea typeface="Inter" pitchFamily="34" charset="-122"/>
                <a:cs typeface="Inter" pitchFamily="34" charset="-120"/>
              </a:rPr>
              <a:t> enterprises, which is a different thing from failing morally.</a:t>
            </a:r>
            <a:endParaRPr lang="en-US" sz="1300" dirty="0"/>
          </a:p>
        </p:txBody>
      </p:sp>
      <p:sp>
        <p:nvSpPr>
          <p:cNvPr id="16" name="Shape 14"/>
          <p:cNvSpPr/>
          <p:nvPr/>
        </p:nvSpPr>
        <p:spPr>
          <a:xfrm>
            <a:off x="812767" y="4508500"/>
            <a:ext cx="10566383" cy="1069289"/>
          </a:xfrm>
          <a:prstGeom prst="roundRect">
            <a:avLst>
              <a:gd name="adj" fmla="val 8314"/>
            </a:avLst>
          </a:prstGeom>
          <a:solidFill>
            <a:srgbClr val="F2EBE0"/>
          </a:solidFill>
          <a:ln/>
        </p:spPr>
      </p:sp>
      <p:sp>
        <p:nvSpPr>
          <p:cNvPr id="17" name="Shape 15"/>
          <p:cNvSpPr/>
          <p:nvPr/>
        </p:nvSpPr>
        <p:spPr>
          <a:xfrm>
            <a:off x="831817" y="4508500"/>
            <a:ext cx="0" cy="1069289"/>
          </a:xfrm>
          <a:prstGeom prst="line">
            <a:avLst/>
          </a:prstGeom>
          <a:noFill/>
          <a:ln w="38100">
            <a:solidFill>
              <a:srgbClr val="7A6110"/>
            </a:solidFill>
            <a:prstDash val="solid"/>
          </a:ln>
        </p:spPr>
      </p:sp>
      <p:sp>
        <p:nvSpPr>
          <p:cNvPr id="18" name="Text 16"/>
          <p:cNvSpPr/>
          <p:nvPr/>
        </p:nvSpPr>
        <p:spPr>
          <a:xfrm>
            <a:off x="1027575" y="46481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The essay’s leverage is in the gaps between these</a:t>
            </a:r>
            <a:endParaRPr lang="en-US" sz="1500" dirty="0"/>
          </a:p>
        </p:txBody>
      </p:sp>
      <p:sp>
        <p:nvSpPr>
          <p:cNvPr id="19" name="Text 17"/>
          <p:cNvSpPr/>
          <p:nvPr/>
        </p:nvSpPr>
        <p:spPr>
          <a:xfrm>
            <a:off x="1027575" y="4940250"/>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(1) is a threshold claim about existence. (3) is a moral claim. Nothing forces them to stand or fall together — and the question’s two limbs assume they do.</a:t>
            </a:r>
            <a:endParaRPr lang="en-US" sz="1400" dirty="0"/>
          </a:p>
        </p:txBody>
      </p:sp>
      <p:sp>
        <p:nvSpPr>
          <p:cNvPr id="20" name="Text 18"/>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21" name="Text 19"/>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HART’S REPLY</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i="1" dirty="0">
                <a:solidFill>
                  <a:srgbClr val="191814"/>
                </a:solidFill>
                <a:latin typeface="Fraunces" pitchFamily="34" charset="0"/>
                <a:ea typeface="Fraunces" pitchFamily="34" charset="-122"/>
                <a:cs typeface="Fraunces" pitchFamily="34" charset="-120"/>
              </a:rPr>
              <a:t>CL</a:t>
            </a:r>
            <a:r>
              <a:rPr lang="en-US" sz="3000" b="1" dirty="0">
                <a:solidFill>
                  <a:srgbClr val="191814"/>
                </a:solidFill>
                <a:latin typeface="Fraunces" pitchFamily="34" charset="0"/>
                <a:ea typeface="Fraunces" pitchFamily="34" charset="-122"/>
                <a:cs typeface="Fraunces" pitchFamily="34" charset="-120"/>
              </a:rPr>
              <a:t> ch IX §3, ‘Legal Validity and Moral Value’</a:t>
            </a:r>
            <a:endParaRPr lang="en-US" sz="3000" dirty="0"/>
          </a:p>
        </p:txBody>
      </p:sp>
      <p:sp>
        <p:nvSpPr>
          <p:cNvPr id="4" name="Text 2"/>
          <p:cNvSpPr/>
          <p:nvPr/>
        </p:nvSpPr>
        <p:spPr>
          <a:xfrm>
            <a:off x="812767" y="1828750"/>
            <a:ext cx="10883374" cy="55936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191814"/>
                </a:solidFill>
                <a:latin typeface="Inter" pitchFamily="34" charset="0"/>
                <a:ea typeface="Inter" pitchFamily="34" charset="-122"/>
                <a:cs typeface="Inter" pitchFamily="34" charset="-120"/>
              </a:rPr>
              <a:t>Hart sorts “the necessary connection between law and morality” into </a:t>
            </a:r>
            <a:r>
              <a:rPr lang="en-US" sz="1450" b="1" dirty="0">
                <a:solidFill>
                  <a:srgbClr val="191814"/>
                </a:solidFill>
                <a:latin typeface="Inter" pitchFamily="34" charset="0"/>
                <a:ea typeface="Inter" pitchFamily="34" charset="-122"/>
                <a:cs typeface="Inter" pitchFamily="34" charset="-120"/>
              </a:rPr>
              <a:t>six</a:t>
            </a:r>
            <a:r>
              <a:rPr lang="en-US" sz="1450" dirty="0">
                <a:solidFill>
                  <a:srgbClr val="191814"/>
                </a:solidFill>
                <a:latin typeface="Inter" pitchFamily="34" charset="0"/>
                <a:ea typeface="Inter" pitchFamily="34" charset="-122"/>
                <a:cs typeface="Inter" pitchFamily="34" charset="-120"/>
              </a:rPr>
              <a:t> separate claims, and concedes two outright — numbers 2 and 5.</a:t>
            </a:r>
            <a:endParaRPr lang="en-US" sz="1450" dirty="0"/>
          </a:p>
        </p:txBody>
      </p:sp>
      <p:sp>
        <p:nvSpPr>
          <p:cNvPr id="5" name="Shape 3"/>
          <p:cNvSpPr/>
          <p:nvPr/>
        </p:nvSpPr>
        <p:spPr>
          <a:xfrm>
            <a:off x="815942" y="2352675"/>
            <a:ext cx="1655936" cy="812163"/>
          </a:xfrm>
          <a:prstGeom prst="roundRect">
            <a:avLst>
              <a:gd name="adj" fmla="val 8991"/>
            </a:avLst>
          </a:prstGeom>
          <a:solidFill>
            <a:srgbClr val="FFFFFF"/>
          </a:solidFill>
          <a:ln w="6350">
            <a:solidFill>
              <a:srgbClr val="E0D7C9"/>
            </a:solidFill>
            <a:prstDash val="solid"/>
          </a:ln>
        </p:spPr>
      </p:sp>
      <p:sp>
        <p:nvSpPr>
          <p:cNvPr id="6" name="Text 4"/>
          <p:cNvSpPr/>
          <p:nvPr/>
        </p:nvSpPr>
        <p:spPr>
          <a:xfrm>
            <a:off x="894259" y="2456392"/>
            <a:ext cx="1499303" cy="63013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1</a:t>
            </a:r>
            <a:endParaRPr lang="en-US" sz="1200" dirty="0"/>
          </a:p>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Power and authority</a:t>
            </a:r>
            <a:endParaRPr lang="en-US" sz="1200" dirty="0"/>
          </a:p>
        </p:txBody>
      </p:sp>
      <p:sp>
        <p:nvSpPr>
          <p:cNvPr id="7" name="Shape 5"/>
          <p:cNvSpPr/>
          <p:nvPr/>
        </p:nvSpPr>
        <p:spPr>
          <a:xfrm>
            <a:off x="2595670" y="2355850"/>
            <a:ext cx="1660211" cy="805813"/>
          </a:xfrm>
          <a:prstGeom prst="roundRect">
            <a:avLst>
              <a:gd name="adj" fmla="val 8668"/>
            </a:avLst>
          </a:prstGeom>
          <a:solidFill>
            <a:srgbClr val="E5EEEC"/>
          </a:solidFill>
          <a:ln w="12700">
            <a:solidFill>
              <a:srgbClr val="1C595D"/>
            </a:solidFill>
            <a:prstDash val="solid"/>
          </a:ln>
        </p:spPr>
      </p:sp>
      <p:sp>
        <p:nvSpPr>
          <p:cNvPr id="8" name="Text 6"/>
          <p:cNvSpPr/>
          <p:nvPr/>
        </p:nvSpPr>
        <p:spPr>
          <a:xfrm>
            <a:off x="2676103" y="2461683"/>
            <a:ext cx="1499344" cy="619547"/>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C595D"/>
                </a:solidFill>
                <a:latin typeface="Inter" pitchFamily="34" charset="0"/>
                <a:ea typeface="Inter" pitchFamily="34" charset="-122"/>
                <a:cs typeface="Inter" pitchFamily="34" charset="-120"/>
              </a:rPr>
              <a:t>2</a:t>
            </a:r>
            <a:endParaRPr lang="en-US" sz="1200" dirty="0"/>
          </a:p>
          <a:p>
            <a:pPr algn="ctr" indent="0" marL="0">
              <a:lnSpc>
                <a:spcPts val="1560"/>
              </a:lnSpc>
              <a:buNone/>
            </a:pPr>
            <a:r>
              <a:rPr lang="en-US" sz="1200" b="1" dirty="0">
                <a:solidFill>
                  <a:srgbClr val="1C595D"/>
                </a:solidFill>
                <a:latin typeface="Inter" pitchFamily="34" charset="0"/>
                <a:ea typeface="Inter" pitchFamily="34" charset="-122"/>
                <a:cs typeface="Inter" pitchFamily="34" charset="-120"/>
              </a:rPr>
              <a:t>Influence of morality</a:t>
            </a:r>
            <a:endParaRPr lang="en-US" sz="1200" dirty="0"/>
          </a:p>
        </p:txBody>
      </p:sp>
      <p:sp>
        <p:nvSpPr>
          <p:cNvPr id="9" name="Shape 7"/>
          <p:cNvSpPr/>
          <p:nvPr/>
        </p:nvSpPr>
        <p:spPr>
          <a:xfrm>
            <a:off x="4379673" y="2352675"/>
            <a:ext cx="1655936" cy="812163"/>
          </a:xfrm>
          <a:prstGeom prst="roundRect">
            <a:avLst>
              <a:gd name="adj" fmla="val 8991"/>
            </a:avLst>
          </a:prstGeom>
          <a:solidFill>
            <a:srgbClr val="FFFFFF"/>
          </a:solidFill>
          <a:ln w="6350">
            <a:solidFill>
              <a:srgbClr val="E0D7C9"/>
            </a:solidFill>
            <a:prstDash val="solid"/>
          </a:ln>
        </p:spPr>
      </p:sp>
      <p:sp>
        <p:nvSpPr>
          <p:cNvPr id="10" name="Text 8"/>
          <p:cNvSpPr/>
          <p:nvPr/>
        </p:nvSpPr>
        <p:spPr>
          <a:xfrm>
            <a:off x="4457989" y="2456392"/>
            <a:ext cx="1499303" cy="63013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3</a:t>
            </a:r>
            <a:endParaRPr lang="en-US" sz="1200" dirty="0"/>
          </a:p>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Interpretation</a:t>
            </a:r>
            <a:endParaRPr lang="en-US" sz="1200" dirty="0"/>
          </a:p>
        </p:txBody>
      </p:sp>
      <p:sp>
        <p:nvSpPr>
          <p:cNvPr id="11" name="Shape 9"/>
          <p:cNvSpPr/>
          <p:nvPr/>
        </p:nvSpPr>
        <p:spPr>
          <a:xfrm>
            <a:off x="6156226" y="2352675"/>
            <a:ext cx="1655977" cy="812163"/>
          </a:xfrm>
          <a:prstGeom prst="roundRect">
            <a:avLst>
              <a:gd name="adj" fmla="val 8991"/>
            </a:avLst>
          </a:prstGeom>
          <a:solidFill>
            <a:srgbClr val="FFFFFF"/>
          </a:solidFill>
          <a:ln w="6350">
            <a:solidFill>
              <a:srgbClr val="E0D7C9"/>
            </a:solidFill>
            <a:prstDash val="solid"/>
          </a:ln>
        </p:spPr>
      </p:sp>
      <p:sp>
        <p:nvSpPr>
          <p:cNvPr id="12" name="Text 10"/>
          <p:cNvSpPr/>
          <p:nvPr/>
        </p:nvSpPr>
        <p:spPr>
          <a:xfrm>
            <a:off x="6234542" y="2456392"/>
            <a:ext cx="1499344" cy="63013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4</a:t>
            </a:r>
            <a:endParaRPr lang="en-US" sz="1200" dirty="0"/>
          </a:p>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Criticism of law</a:t>
            </a:r>
            <a:endParaRPr lang="en-US" sz="1200" dirty="0"/>
          </a:p>
        </p:txBody>
      </p:sp>
      <p:sp>
        <p:nvSpPr>
          <p:cNvPr id="13" name="Shape 11"/>
          <p:cNvSpPr/>
          <p:nvPr/>
        </p:nvSpPr>
        <p:spPr>
          <a:xfrm>
            <a:off x="7935995" y="2355850"/>
            <a:ext cx="1660211" cy="805813"/>
          </a:xfrm>
          <a:prstGeom prst="roundRect">
            <a:avLst>
              <a:gd name="adj" fmla="val 8668"/>
            </a:avLst>
          </a:prstGeom>
          <a:solidFill>
            <a:srgbClr val="E5EEEC"/>
          </a:solidFill>
          <a:ln w="12700">
            <a:solidFill>
              <a:srgbClr val="1C595D"/>
            </a:solidFill>
            <a:prstDash val="solid"/>
          </a:ln>
        </p:spPr>
      </p:sp>
      <p:sp>
        <p:nvSpPr>
          <p:cNvPr id="14" name="Text 12"/>
          <p:cNvSpPr/>
          <p:nvPr/>
        </p:nvSpPr>
        <p:spPr>
          <a:xfrm>
            <a:off x="8016428" y="2461683"/>
            <a:ext cx="1499344" cy="619547"/>
          </a:xfrm>
          <a:prstGeom prst="rect">
            <a:avLst/>
          </a:prstGeom>
          <a:noFill/>
          <a:ln/>
        </p:spPr>
        <p:txBody>
          <a:bodyPr wrap="square" lIns="0" tIns="0" rIns="0" bIns="0" rtlCol="0" anchor="t">
            <a:normAutofit/>
          </a:bodyPr>
          <a:lstStyle/>
          <a:p>
            <a:pPr algn="ctr" indent="0" marL="0">
              <a:lnSpc>
                <a:spcPts val="1560"/>
              </a:lnSpc>
              <a:buNone/>
            </a:pPr>
            <a:r>
              <a:rPr lang="en-US" sz="1200" b="1" dirty="0">
                <a:solidFill>
                  <a:srgbClr val="1C595D"/>
                </a:solidFill>
                <a:latin typeface="Inter" pitchFamily="34" charset="0"/>
                <a:ea typeface="Inter" pitchFamily="34" charset="-122"/>
                <a:cs typeface="Inter" pitchFamily="34" charset="-120"/>
              </a:rPr>
              <a:t>5</a:t>
            </a:r>
            <a:endParaRPr lang="en-US" sz="1200" dirty="0"/>
          </a:p>
          <a:p>
            <a:pPr algn="ctr" indent="0" marL="0">
              <a:lnSpc>
                <a:spcPts val="1560"/>
              </a:lnSpc>
              <a:buNone/>
            </a:pPr>
            <a:r>
              <a:rPr lang="en-US" sz="1200" b="1" dirty="0">
                <a:solidFill>
                  <a:srgbClr val="1C595D"/>
                </a:solidFill>
                <a:latin typeface="Inter" pitchFamily="34" charset="0"/>
                <a:ea typeface="Inter" pitchFamily="34" charset="-122"/>
                <a:cs typeface="Inter" pitchFamily="34" charset="-120"/>
              </a:rPr>
              <a:t>Principles of legality</a:t>
            </a:r>
            <a:endParaRPr lang="en-US" sz="1200" dirty="0"/>
          </a:p>
        </p:txBody>
      </p:sp>
      <p:sp>
        <p:nvSpPr>
          <p:cNvPr id="15" name="Shape 13"/>
          <p:cNvSpPr/>
          <p:nvPr/>
        </p:nvSpPr>
        <p:spPr>
          <a:xfrm>
            <a:off x="9719997" y="2352675"/>
            <a:ext cx="1655977" cy="812163"/>
          </a:xfrm>
          <a:prstGeom prst="roundRect">
            <a:avLst>
              <a:gd name="adj" fmla="val 8991"/>
            </a:avLst>
          </a:prstGeom>
          <a:solidFill>
            <a:srgbClr val="FFFFFF"/>
          </a:solidFill>
          <a:ln w="6350">
            <a:solidFill>
              <a:srgbClr val="E0D7C9"/>
            </a:solidFill>
            <a:prstDash val="solid"/>
          </a:ln>
        </p:spPr>
      </p:sp>
      <p:sp>
        <p:nvSpPr>
          <p:cNvPr id="16" name="Text 14"/>
          <p:cNvSpPr/>
          <p:nvPr/>
        </p:nvSpPr>
        <p:spPr>
          <a:xfrm>
            <a:off x="9798314" y="2456392"/>
            <a:ext cx="1499344" cy="630130"/>
          </a:xfrm>
          <a:prstGeom prst="rect">
            <a:avLst/>
          </a:prstGeom>
          <a:noFill/>
          <a:ln/>
        </p:spPr>
        <p:txBody>
          <a:bodyPr wrap="square" lIns="0" tIns="0" rIns="0" bIns="0" rtlCol="0" anchor="t">
            <a:normAutofit/>
          </a:bodyPr>
          <a:lstStyle/>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6</a:t>
            </a:r>
            <a:endParaRPr lang="en-US" sz="1200" dirty="0"/>
          </a:p>
          <a:p>
            <a:pPr algn="ctr" indent="0" marL="0">
              <a:lnSpc>
                <a:spcPts val="1560"/>
              </a:lnSpc>
              <a:buNone/>
            </a:pPr>
            <a:r>
              <a:rPr lang="en-US" sz="1200" dirty="0">
                <a:solidFill>
                  <a:srgbClr val="191814"/>
                </a:solidFill>
                <a:latin typeface="Inter" pitchFamily="34" charset="0"/>
                <a:ea typeface="Inter" pitchFamily="34" charset="-122"/>
                <a:cs typeface="Inter" pitchFamily="34" charset="-120"/>
              </a:rPr>
              <a:t>Validity and resistance</a:t>
            </a:r>
            <a:endParaRPr lang="en-US" sz="1200" dirty="0"/>
          </a:p>
        </p:txBody>
      </p:sp>
      <p:sp>
        <p:nvSpPr>
          <p:cNvPr id="17" name="Shape 15"/>
          <p:cNvSpPr/>
          <p:nvPr/>
        </p:nvSpPr>
        <p:spPr>
          <a:xfrm>
            <a:off x="828642" y="3302000"/>
            <a:ext cx="0" cy="1367317"/>
          </a:xfrm>
          <a:prstGeom prst="line">
            <a:avLst/>
          </a:prstGeom>
          <a:noFill/>
          <a:ln w="31750">
            <a:solidFill>
              <a:srgbClr val="B0451D"/>
            </a:solidFill>
            <a:prstDash val="solid"/>
          </a:ln>
        </p:spPr>
      </p:sp>
      <p:sp>
        <p:nvSpPr>
          <p:cNvPr id="18" name="Text 16"/>
          <p:cNvSpPr/>
          <p:nvPr/>
        </p:nvSpPr>
        <p:spPr>
          <a:xfrm>
            <a:off x="1060400" y="3302000"/>
            <a:ext cx="10628313" cy="1098120"/>
          </a:xfrm>
          <a:prstGeom prst="rect">
            <a:avLst/>
          </a:prstGeom>
          <a:noFill/>
          <a:ln/>
        </p:spPr>
        <p:txBody>
          <a:bodyPr wrap="square" lIns="0" tIns="0" rIns="0" bIns="0" rtlCol="0" anchor="t">
            <a:normAutofit/>
          </a:bodyPr>
          <a:lstStyle/>
          <a:p>
            <a:pPr algn="l" indent="0" marL="0">
              <a:lnSpc>
                <a:spcPts val="2112"/>
              </a:lnSpc>
              <a:buNone/>
            </a:pPr>
            <a:r>
              <a:rPr lang="en-US" sz="1600" i="1" dirty="0">
                <a:solidFill>
                  <a:srgbClr val="191814"/>
                </a:solidFill>
                <a:latin typeface="Fraunces" pitchFamily="34" charset="0"/>
                <a:ea typeface="Fraunces" pitchFamily="34" charset="-122"/>
                <a:cs typeface="Fraunces" pitchFamily="34" charset="-120"/>
              </a:rPr>
              <a:t>“One critic of positivism has seen in these something amounting to a necessary connection between law and morality, and suggested that they be called ‘the inner morality of law’. Again, if this is what the necessary connection of law and morality means, we may accept it. It is unfortunately compatible with very great iniquity.”</a:t>
            </a:r>
            <a:endParaRPr lang="en-US" sz="1600" dirty="0"/>
          </a:p>
        </p:txBody>
      </p:sp>
      <p:sp>
        <p:nvSpPr>
          <p:cNvPr id="19" name="Text 17"/>
          <p:cNvSpPr/>
          <p:nvPr/>
        </p:nvSpPr>
        <p:spPr>
          <a:xfrm>
            <a:off x="1060400" y="4463604"/>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Hart, </a:t>
            </a:r>
            <a:r>
              <a:rPr lang="en-US" sz="1200" i="1" dirty="0">
                <a:solidFill>
                  <a:srgbClr val="5E5850"/>
                </a:solidFill>
                <a:latin typeface="Inter" pitchFamily="34" charset="0"/>
                <a:ea typeface="Inter" pitchFamily="34" charset="-122"/>
                <a:cs typeface="Inter" pitchFamily="34" charset="-120"/>
              </a:rPr>
              <a:t>The Concept of Law</a:t>
            </a:r>
            <a:r>
              <a:rPr lang="en-US" sz="1200" dirty="0">
                <a:solidFill>
                  <a:srgbClr val="5E5850"/>
                </a:solidFill>
                <a:latin typeface="Inter" pitchFamily="34" charset="0"/>
                <a:ea typeface="Inter" pitchFamily="34" charset="-122"/>
                <a:cs typeface="Inter" pitchFamily="34" charset="-120"/>
              </a:rPr>
              <a:t>, 207 — the sentence Question 2 is arguing with</a:t>
            </a:r>
            <a:endParaRPr lang="en-US" sz="1200" dirty="0"/>
          </a:p>
        </p:txBody>
      </p:sp>
      <p:sp>
        <p:nvSpPr>
          <p:cNvPr id="20" name="Shape 18"/>
          <p:cNvSpPr/>
          <p:nvPr/>
        </p:nvSpPr>
        <p:spPr>
          <a:xfrm>
            <a:off x="812767" y="4902175"/>
            <a:ext cx="10566383" cy="1069289"/>
          </a:xfrm>
          <a:prstGeom prst="roundRect">
            <a:avLst>
              <a:gd name="adj" fmla="val 8314"/>
            </a:avLst>
          </a:prstGeom>
          <a:solidFill>
            <a:srgbClr val="FCEEE5"/>
          </a:solidFill>
          <a:ln/>
        </p:spPr>
      </p:sp>
      <p:sp>
        <p:nvSpPr>
          <p:cNvPr id="21" name="Shape 19"/>
          <p:cNvSpPr/>
          <p:nvPr/>
        </p:nvSpPr>
        <p:spPr>
          <a:xfrm>
            <a:off x="831817" y="4902175"/>
            <a:ext cx="0" cy="1069289"/>
          </a:xfrm>
          <a:prstGeom prst="line">
            <a:avLst/>
          </a:prstGeom>
          <a:noFill/>
          <a:ln w="38100">
            <a:solidFill>
              <a:srgbClr val="B0451D"/>
            </a:solidFill>
            <a:prstDash val="solid"/>
          </a:ln>
        </p:spPr>
      </p:sp>
      <p:sp>
        <p:nvSpPr>
          <p:cNvPr id="22" name="Text 20"/>
          <p:cNvSpPr/>
          <p:nvPr/>
        </p:nvSpPr>
        <p:spPr>
          <a:xfrm>
            <a:off x="1027575" y="50418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B0451D"/>
                </a:solidFill>
                <a:latin typeface="Fraunces" pitchFamily="34" charset="0"/>
                <a:ea typeface="Fraunces" pitchFamily="34" charset="-122"/>
                <a:cs typeface="Fraunces" pitchFamily="34" charset="-120"/>
              </a:rPr>
              <a:t>Read it carefully</a:t>
            </a:r>
            <a:endParaRPr lang="en-US" sz="1500" dirty="0"/>
          </a:p>
        </p:txBody>
      </p:sp>
      <p:sp>
        <p:nvSpPr>
          <p:cNvPr id="23" name="Text 21"/>
          <p:cNvSpPr/>
          <p:nvPr/>
        </p:nvSpPr>
        <p:spPr>
          <a:xfrm>
            <a:off x="1027575" y="5333950"/>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Hart </a:t>
            </a:r>
            <a:r>
              <a:rPr lang="en-US" sz="1400" i="1" dirty="0">
                <a:solidFill>
                  <a:srgbClr val="191814"/>
                </a:solidFill>
                <a:latin typeface="Inter" pitchFamily="34" charset="0"/>
                <a:ea typeface="Inter" pitchFamily="34" charset="-122"/>
                <a:cs typeface="Inter" pitchFamily="34" charset="-120"/>
              </a:rPr>
              <a:t>accepts</a:t>
            </a:r>
            <a:r>
              <a:rPr lang="en-US" sz="1400" dirty="0">
                <a:solidFill>
                  <a:srgbClr val="191814"/>
                </a:solidFill>
                <a:latin typeface="Inter" pitchFamily="34" charset="0"/>
                <a:ea typeface="Inter" pitchFamily="34" charset="-122"/>
                <a:cs typeface="Inter" pitchFamily="34" charset="-120"/>
              </a:rPr>
              <a:t> that the principles are necessarily connected to law. What he denies is that the connection carries the moral weight Fuller wants. He answers the question’s first limb </a:t>
            </a:r>
            <a:r>
              <a:rPr lang="en-US" sz="1400" b="1" dirty="0">
                <a:solidFill>
                  <a:srgbClr val="191814"/>
                </a:solidFill>
                <a:latin typeface="Inter" pitchFamily="34" charset="0"/>
                <a:ea typeface="Inter" pitchFamily="34" charset="-122"/>
                <a:cs typeface="Inter" pitchFamily="34" charset="-120"/>
              </a:rPr>
              <a:t>yes</a:t>
            </a:r>
            <a:r>
              <a:rPr lang="en-US" sz="1400" dirty="0">
                <a:solidFill>
                  <a:srgbClr val="191814"/>
                </a:solidFill>
                <a:latin typeface="Inter" pitchFamily="34" charset="0"/>
                <a:ea typeface="Inter" pitchFamily="34" charset="-122"/>
                <a:cs typeface="Inter" pitchFamily="34" charset="-120"/>
              </a:rPr>
              <a:t>.</a:t>
            </a:r>
            <a:endParaRPr lang="en-US" sz="1400" dirty="0"/>
          </a:p>
        </p:txBody>
      </p:sp>
      <p:sp>
        <p:nvSpPr>
          <p:cNvPr id="24" name="Text 22"/>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25" name="Text 23"/>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E2B2C"/>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8128000" y="1270000"/>
            <a:ext cx="2794000" cy="2794000"/>
          </a:xfrm>
          <a:prstGeom prst="rect">
            <a:avLst/>
          </a:prstGeom>
        </p:spPr>
      </p:pic>
      <p:sp>
        <p:nvSpPr>
          <p:cNvPr id="3"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87C"/>
                </a:solidFill>
                <a:latin typeface="Inter" pitchFamily="34" charset="0"/>
                <a:ea typeface="Inter" pitchFamily="34" charset="-122"/>
                <a:cs typeface="Inter" pitchFamily="34" charset="-120"/>
              </a:rPr>
              <a:t>THE POISONER</a:t>
            </a:r>
            <a:endParaRPr lang="en-US" sz="1200" dirty="0"/>
          </a:p>
        </p:txBody>
      </p:sp>
      <p:sp>
        <p:nvSpPr>
          <p:cNvPr id="4" name="Text 1"/>
          <p:cNvSpPr/>
          <p:nvPr/>
        </p:nvSpPr>
        <p:spPr>
          <a:xfrm>
            <a:off x="812767" y="914375"/>
            <a:ext cx="10203180" cy="478044"/>
          </a:xfrm>
          <a:prstGeom prst="rect">
            <a:avLst/>
          </a:prstGeom>
          <a:noFill/>
          <a:ln/>
        </p:spPr>
        <p:txBody>
          <a:bodyPr wrap="square" lIns="0" tIns="0" rIns="0" bIns="0" rtlCol="0" anchor="t">
            <a:normAutofit/>
          </a:bodyPr>
          <a:lstStyle/>
          <a:p>
            <a:pPr algn="l" indent="0" marL="0">
              <a:lnSpc>
                <a:spcPts val="3564"/>
              </a:lnSpc>
              <a:buNone/>
            </a:pPr>
            <a:r>
              <a:rPr lang="en-US" sz="3300" b="1" dirty="0">
                <a:solidFill>
                  <a:srgbClr val="FBF6ED"/>
                </a:solidFill>
                <a:latin typeface="Fraunces" pitchFamily="34" charset="0"/>
                <a:ea typeface="Fraunces" pitchFamily="34" charset="-122"/>
                <a:cs typeface="Fraunces" pitchFamily="34" charset="-120"/>
              </a:rPr>
              <a:t>What Hart is actually objecting to</a:t>
            </a:r>
            <a:endParaRPr lang="en-US" sz="3300" dirty="0"/>
          </a:p>
        </p:txBody>
      </p:sp>
      <p:sp>
        <p:nvSpPr>
          <p:cNvPr id="5" name="Text 2"/>
          <p:cNvSpPr/>
          <p:nvPr/>
        </p:nvSpPr>
        <p:spPr>
          <a:xfrm>
            <a:off x="812767" y="2032000"/>
            <a:ext cx="7717790" cy="11684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FBF6ED"/>
                </a:solidFill>
                <a:latin typeface="Inter" pitchFamily="34" charset="0"/>
                <a:ea typeface="Inter" pitchFamily="34" charset="-122"/>
                <a:cs typeface="Inter" pitchFamily="34" charset="-120"/>
              </a:rPr>
              <a:t>In his 1965 review of </a:t>
            </a:r>
            <a:r>
              <a:rPr lang="en-US" sz="1500" i="1" dirty="0">
                <a:solidFill>
                  <a:srgbClr val="FBF6ED"/>
                </a:solidFill>
                <a:latin typeface="Inter" pitchFamily="34" charset="0"/>
                <a:ea typeface="Inter" pitchFamily="34" charset="-122"/>
                <a:cs typeface="Inter" pitchFamily="34" charset="-120"/>
              </a:rPr>
              <a:t>The Morality of Law</a:t>
            </a:r>
            <a:r>
              <a:rPr lang="en-US" sz="1500" dirty="0">
                <a:solidFill>
                  <a:srgbClr val="FBF6ED"/>
                </a:solidFill>
                <a:latin typeface="Inter" pitchFamily="34" charset="0"/>
                <a:ea typeface="Inter" pitchFamily="34" charset="-122"/>
                <a:cs typeface="Inter" pitchFamily="34" charset="-120"/>
              </a:rPr>
              <a:t>, Hart makes the objection everyone quotes: the principles of legality are principles of </a:t>
            </a:r>
            <a:r>
              <a:rPr lang="en-US" sz="1500" b="1" dirty="0">
                <a:solidFill>
                  <a:srgbClr val="FBF6ED"/>
                </a:solidFill>
                <a:latin typeface="Inter" pitchFamily="34" charset="0"/>
                <a:ea typeface="Inter" pitchFamily="34" charset="-122"/>
                <a:cs typeface="Inter" pitchFamily="34" charset="-120"/>
              </a:rPr>
              <a:t>efficacy</a:t>
            </a:r>
            <a:r>
              <a:rPr lang="en-US" sz="1500" dirty="0">
                <a:solidFill>
                  <a:srgbClr val="FBF6ED"/>
                </a:solidFill>
                <a:latin typeface="Inter" pitchFamily="34" charset="0"/>
                <a:ea typeface="Inter" pitchFamily="34" charset="-122"/>
                <a:cs typeface="Inter" pitchFamily="34" charset="-120"/>
              </a:rPr>
              <a:t>. Poisoning has its own inner principles too — use a tasteless, undetectable poison in a dose small enough to escape suspicion — and no one calls those the morality of poisoning.</a:t>
            </a:r>
            <a:endParaRPr lang="en-US" sz="1500" dirty="0"/>
          </a:p>
        </p:txBody>
      </p:sp>
      <p:sp>
        <p:nvSpPr>
          <p:cNvPr id="6" name="Shape 3"/>
          <p:cNvSpPr/>
          <p:nvPr/>
        </p:nvSpPr>
        <p:spPr>
          <a:xfrm>
            <a:off x="812767" y="3302000"/>
            <a:ext cx="5156191" cy="1236266"/>
          </a:xfrm>
          <a:prstGeom prst="roundRect">
            <a:avLst>
              <a:gd name="adj" fmla="val 9246"/>
            </a:avLst>
          </a:prstGeom>
          <a:solidFill>
            <a:srgbClr val="27393A"/>
          </a:solidFill>
          <a:ln/>
        </p:spPr>
      </p:sp>
      <p:sp>
        <p:nvSpPr>
          <p:cNvPr id="7" name="Text 4"/>
          <p:cNvSpPr/>
          <p:nvPr/>
        </p:nvSpPr>
        <p:spPr>
          <a:xfrm>
            <a:off x="1015959" y="3505175"/>
            <a:ext cx="489230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A87C"/>
                </a:solidFill>
                <a:latin typeface="Fraunces" pitchFamily="34" charset="0"/>
                <a:ea typeface="Fraunces" pitchFamily="34" charset="-122"/>
                <a:cs typeface="Fraunces" pitchFamily="34" charset="-120"/>
              </a:rPr>
              <a:t>The usual reading</a:t>
            </a:r>
            <a:endParaRPr lang="en-US" sz="1600" dirty="0"/>
          </a:p>
        </p:txBody>
      </p:sp>
      <p:sp>
        <p:nvSpPr>
          <p:cNvPr id="8" name="Text 5"/>
          <p:cNvSpPr/>
          <p:nvPr/>
        </p:nvSpPr>
        <p:spPr>
          <a:xfrm>
            <a:off x="1015959" y="3837905"/>
            <a:ext cx="4892302" cy="52256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BF6ED"/>
                </a:solidFill>
                <a:latin typeface="Inter" pitchFamily="34" charset="0"/>
                <a:ea typeface="Inter" pitchFamily="34" charset="-122"/>
                <a:cs typeface="Inter" pitchFamily="34" charset="-120"/>
              </a:rPr>
              <a:t>Legality has no moral value. It is mere technique. This is the reading the question’s second limb states.</a:t>
            </a:r>
            <a:endParaRPr lang="en-US" sz="1350" dirty="0"/>
          </a:p>
        </p:txBody>
      </p:sp>
      <p:sp>
        <p:nvSpPr>
          <p:cNvPr id="9" name="Shape 6"/>
          <p:cNvSpPr/>
          <p:nvPr/>
        </p:nvSpPr>
        <p:spPr>
          <a:xfrm>
            <a:off x="6229350" y="3308350"/>
            <a:ext cx="5143491" cy="1741901"/>
          </a:xfrm>
          <a:prstGeom prst="roundRect">
            <a:avLst>
              <a:gd name="adj" fmla="val 6197"/>
            </a:avLst>
          </a:prstGeom>
          <a:solidFill>
            <a:srgbClr val="27393A"/>
          </a:solidFill>
          <a:ln w="12700">
            <a:solidFill>
              <a:srgbClr val="E8A87C"/>
            </a:solidFill>
            <a:prstDash val="solid"/>
          </a:ln>
        </p:spPr>
      </p:sp>
      <p:sp>
        <p:nvSpPr>
          <p:cNvPr id="10" name="Text 7"/>
          <p:cNvSpPr/>
          <p:nvPr/>
        </p:nvSpPr>
        <p:spPr>
          <a:xfrm>
            <a:off x="6436775" y="3515767"/>
            <a:ext cx="4870501"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A87C"/>
                </a:solidFill>
                <a:latin typeface="Fraunces" pitchFamily="34" charset="0"/>
                <a:ea typeface="Fraunces" pitchFamily="34" charset="-122"/>
                <a:cs typeface="Fraunces" pitchFamily="34" charset="-120"/>
              </a:rPr>
              <a:t>The better reading</a:t>
            </a:r>
            <a:endParaRPr lang="en-US" sz="1600" dirty="0"/>
          </a:p>
        </p:txBody>
      </p:sp>
      <p:sp>
        <p:nvSpPr>
          <p:cNvPr id="11" name="Text 8"/>
          <p:cNvSpPr/>
          <p:nvPr/>
        </p:nvSpPr>
        <p:spPr>
          <a:xfrm>
            <a:off x="6436775" y="3848472"/>
            <a:ext cx="4870501" cy="1019737"/>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FBF6ED"/>
                </a:solidFill>
                <a:latin typeface="Inter" pitchFamily="34" charset="0"/>
                <a:ea typeface="Inter" pitchFamily="34" charset="-122"/>
                <a:cs typeface="Inter" pitchFamily="34" charset="-120"/>
              </a:rPr>
              <a:t>Hart objects to the </a:t>
            </a:r>
            <a:r>
              <a:rPr lang="en-US" sz="1350" b="1" dirty="0">
                <a:solidFill>
                  <a:srgbClr val="FBF6ED"/>
                </a:solidFill>
                <a:latin typeface="Inter" pitchFamily="34" charset="0"/>
                <a:ea typeface="Inter" pitchFamily="34" charset="-122"/>
                <a:cs typeface="Inter" pitchFamily="34" charset="-120"/>
              </a:rPr>
              <a:t>word</a:t>
            </a:r>
            <a:r>
              <a:rPr lang="en-US" sz="1350" dirty="0">
                <a:solidFill>
                  <a:srgbClr val="FBF6ED"/>
                </a:solidFill>
                <a:latin typeface="Inter" pitchFamily="34" charset="0"/>
                <a:ea typeface="Inter" pitchFamily="34" charset="-122"/>
                <a:cs typeface="Inter" pitchFamily="34" charset="-120"/>
              </a:rPr>
              <a:t> “morality” — to the provenance of the value, not its existence. He never denied that conformity to the principles is of moral value; he denied that it flows from law’s inner nature.</a:t>
            </a:r>
            <a:endParaRPr lang="en-US" sz="1350" dirty="0"/>
          </a:p>
        </p:txBody>
      </p:sp>
      <p:sp>
        <p:nvSpPr>
          <p:cNvPr id="12" name="Text 9"/>
          <p:cNvSpPr/>
          <p:nvPr/>
        </p:nvSpPr>
        <p:spPr>
          <a:xfrm>
            <a:off x="812767" y="5080000"/>
            <a:ext cx="10883374" cy="558783"/>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BFC9C6"/>
                </a:solidFill>
                <a:latin typeface="Inter" pitchFamily="34" charset="0"/>
                <a:ea typeface="Inter" pitchFamily="34" charset="-122"/>
                <a:cs typeface="Inter" pitchFamily="34" charset="-120"/>
              </a:rPr>
              <a:t>If the better reading is right, the question’s second limb is a </a:t>
            </a:r>
            <a:r>
              <a:rPr lang="en-US" sz="1400" b="1" dirty="0">
                <a:solidFill>
                  <a:srgbClr val="BFC9C6"/>
                </a:solidFill>
                <a:latin typeface="Inter" pitchFamily="34" charset="0"/>
                <a:ea typeface="Inter" pitchFamily="34" charset="-122"/>
                <a:cs typeface="Inter" pitchFamily="34" charset="-120"/>
              </a:rPr>
              <a:t>caricature of no one</a:t>
            </a:r>
            <a:r>
              <a:rPr lang="en-US" sz="1400" dirty="0">
                <a:solidFill>
                  <a:srgbClr val="BFC9C6"/>
                </a:solidFill>
                <a:latin typeface="Inter" pitchFamily="34" charset="0"/>
                <a:ea typeface="Inter" pitchFamily="34" charset="-122"/>
                <a:cs typeface="Inter" pitchFamily="34" charset="-120"/>
              </a:rPr>
              <a:t>. Saying so, and proving it from Hart’s text, is one of the strongest openings available for Question 2.</a:t>
            </a:r>
            <a:endParaRPr lang="en-US" sz="1400" dirty="0"/>
          </a:p>
        </p:txBody>
      </p:sp>
      <p:sp>
        <p:nvSpPr>
          <p:cNvPr id="13" name="Text 10"/>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895"/>
                </a:solidFill>
                <a:latin typeface="Inter" pitchFamily="34" charset="0"/>
                <a:ea typeface="Inter" pitchFamily="34" charset="-122"/>
                <a:cs typeface="Inter" pitchFamily="34" charset="-120"/>
              </a:rPr>
              <a:t>Part 05 · Question 2</a:t>
            </a:r>
            <a:endParaRPr lang="en-US" sz="1200" dirty="0"/>
          </a:p>
        </p:txBody>
      </p:sp>
      <p:sp>
        <p:nvSpPr>
          <p:cNvPr id="14" name="Text 11"/>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9895"/>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RAZ AND THE SECOND LIMB</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The instrument analogy, stated precisely</a:t>
            </a:r>
            <a:endParaRPr lang="en-US" sz="3000" dirty="0"/>
          </a:p>
        </p:txBody>
      </p:sp>
      <p:sp>
        <p:nvSpPr>
          <p:cNvPr id="4" name="Shape 2"/>
          <p:cNvSpPr/>
          <p:nvPr/>
        </p:nvSpPr>
        <p:spPr>
          <a:xfrm>
            <a:off x="828642" y="1841500"/>
            <a:ext cx="0" cy="1149490"/>
          </a:xfrm>
          <a:prstGeom prst="line">
            <a:avLst/>
          </a:prstGeom>
          <a:noFill/>
          <a:ln w="31750">
            <a:solidFill>
              <a:srgbClr val="B0451D"/>
            </a:solidFill>
            <a:prstDash val="solid"/>
          </a:ln>
        </p:spPr>
      </p:sp>
      <p:sp>
        <p:nvSpPr>
          <p:cNvPr id="5" name="Text 3"/>
          <p:cNvSpPr/>
          <p:nvPr/>
        </p:nvSpPr>
        <p:spPr>
          <a:xfrm>
            <a:off x="1060400" y="1841500"/>
            <a:ext cx="10628313" cy="880294"/>
          </a:xfrm>
          <a:prstGeom prst="rect">
            <a:avLst/>
          </a:prstGeom>
          <a:noFill/>
          <a:ln/>
        </p:spPr>
        <p:txBody>
          <a:bodyPr wrap="square" lIns="0" tIns="0" rIns="0" bIns="0" rtlCol="0" anchor="t">
            <a:normAutofit/>
          </a:bodyPr>
          <a:lstStyle/>
          <a:p>
            <a:pPr algn="l" indent="0" marL="0">
              <a:lnSpc>
                <a:spcPts val="2244"/>
              </a:lnSpc>
              <a:buNone/>
            </a:pPr>
            <a:r>
              <a:rPr lang="en-US" sz="1700" i="1" dirty="0">
                <a:solidFill>
                  <a:srgbClr val="191814"/>
                </a:solidFill>
                <a:latin typeface="Fraunces" pitchFamily="34" charset="0"/>
                <a:ea typeface="Fraunces" pitchFamily="34" charset="-122"/>
                <a:cs typeface="Fraunces" pitchFamily="34" charset="-120"/>
              </a:rPr>
              <a:t>“Like other instruments, the law has a specific virtue which is morally neutral in being neutral as to the end to which the instrument is put. It is the virtue of efficiency; the virtue of the instrument as an instrument.”</a:t>
            </a:r>
            <a:endParaRPr lang="en-US" sz="1700" dirty="0"/>
          </a:p>
        </p:txBody>
      </p:sp>
      <p:sp>
        <p:nvSpPr>
          <p:cNvPr id="6" name="Text 4"/>
          <p:cNvSpPr/>
          <p:nvPr/>
        </p:nvSpPr>
        <p:spPr>
          <a:xfrm>
            <a:off x="1060400" y="2785269"/>
            <a:ext cx="10628313" cy="231114"/>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Raz, ‘The Rule of Law and its Virtue’, </a:t>
            </a:r>
            <a:r>
              <a:rPr lang="en-US" sz="1200" i="1" dirty="0">
                <a:solidFill>
                  <a:srgbClr val="5E5850"/>
                </a:solidFill>
                <a:latin typeface="Inter" pitchFamily="34" charset="0"/>
                <a:ea typeface="Inter" pitchFamily="34" charset="-122"/>
                <a:cs typeface="Inter" pitchFamily="34" charset="-120"/>
              </a:rPr>
              <a:t>The Authority of Law</a:t>
            </a:r>
            <a:r>
              <a:rPr lang="en-US" sz="1200" dirty="0">
                <a:solidFill>
                  <a:srgbClr val="5E5850"/>
                </a:solidFill>
                <a:latin typeface="Inter" pitchFamily="34" charset="0"/>
                <a:ea typeface="Inter" pitchFamily="34" charset="-122"/>
                <a:cs typeface="Inter" pitchFamily="34" charset="-120"/>
              </a:rPr>
              <a:t> (1979) ch 11, 226</a:t>
            </a:r>
            <a:endParaRPr lang="en-US" sz="1200" dirty="0"/>
          </a:p>
        </p:txBody>
      </p:sp>
      <p:sp>
        <p:nvSpPr>
          <p:cNvPr id="7" name="Shape 5"/>
          <p:cNvSpPr/>
          <p:nvPr/>
        </p:nvSpPr>
        <p:spPr>
          <a:xfrm>
            <a:off x="815942" y="3241675"/>
            <a:ext cx="5149841" cy="1369607"/>
          </a:xfrm>
          <a:prstGeom prst="roundRect">
            <a:avLst>
              <a:gd name="adj" fmla="val 8114"/>
            </a:avLst>
          </a:prstGeom>
          <a:solidFill>
            <a:srgbClr val="FFFFFF"/>
          </a:solidFill>
          <a:ln w="6350">
            <a:solidFill>
              <a:srgbClr val="E0D7C9"/>
            </a:solidFill>
            <a:prstDash val="solid"/>
          </a:ln>
        </p:spPr>
      </p:sp>
      <p:sp>
        <p:nvSpPr>
          <p:cNvPr id="8" name="Text 6"/>
          <p:cNvSpPr/>
          <p:nvPr/>
        </p:nvSpPr>
        <p:spPr>
          <a:xfrm>
            <a:off x="995825" y="3421559"/>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What this gives the second limb</a:t>
            </a:r>
            <a:endParaRPr lang="en-US" sz="1550" dirty="0"/>
          </a:p>
        </p:txBody>
      </p:sp>
      <p:sp>
        <p:nvSpPr>
          <p:cNvPr id="9" name="Text 7"/>
          <p:cNvSpPr/>
          <p:nvPr/>
        </p:nvSpPr>
        <p:spPr>
          <a:xfrm>
            <a:off x="995825" y="3711426"/>
            <a:ext cx="4933777"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A principled version of “compliance just makes law more effective”. The rule of law is the excellence proper to law </a:t>
            </a:r>
            <a:r>
              <a:rPr lang="en-US" sz="1350" i="1" dirty="0">
                <a:solidFill>
                  <a:srgbClr val="191814"/>
                </a:solidFill>
                <a:latin typeface="Inter" pitchFamily="34" charset="0"/>
                <a:ea typeface="Inter" pitchFamily="34" charset="-122"/>
                <a:cs typeface="Inter" pitchFamily="34" charset="-120"/>
              </a:rPr>
              <a:t>qua</a:t>
            </a:r>
            <a:r>
              <a:rPr lang="en-US" sz="1350" dirty="0">
                <a:solidFill>
                  <a:srgbClr val="191814"/>
                </a:solidFill>
                <a:latin typeface="Inter" pitchFamily="34" charset="0"/>
                <a:ea typeface="Inter" pitchFamily="34" charset="-122"/>
                <a:cs typeface="Inter" pitchFamily="34" charset="-120"/>
              </a:rPr>
              <a:t> instrument.</a:t>
            </a:r>
            <a:endParaRPr lang="en-US" sz="1350" dirty="0"/>
          </a:p>
        </p:txBody>
      </p:sp>
      <p:sp>
        <p:nvSpPr>
          <p:cNvPr id="10" name="Shape 8"/>
          <p:cNvSpPr/>
          <p:nvPr/>
        </p:nvSpPr>
        <p:spPr>
          <a:xfrm>
            <a:off x="6226175" y="3241675"/>
            <a:ext cx="5149841" cy="1369607"/>
          </a:xfrm>
          <a:prstGeom prst="roundRect">
            <a:avLst>
              <a:gd name="adj" fmla="val 8114"/>
            </a:avLst>
          </a:prstGeom>
          <a:solidFill>
            <a:srgbClr val="FFFFFF"/>
          </a:solidFill>
          <a:ln w="6350">
            <a:solidFill>
              <a:srgbClr val="E0D7C9"/>
            </a:solidFill>
            <a:prstDash val="solid"/>
          </a:ln>
        </p:spPr>
      </p:sp>
      <p:sp>
        <p:nvSpPr>
          <p:cNvPr id="11" name="Text 9"/>
          <p:cNvSpPr/>
          <p:nvPr/>
        </p:nvSpPr>
        <p:spPr>
          <a:xfrm>
            <a:off x="6406059" y="3421559"/>
            <a:ext cx="4933777" cy="251784"/>
          </a:xfrm>
          <a:prstGeom prst="rect">
            <a:avLst/>
          </a:prstGeom>
          <a:noFill/>
          <a:ln/>
        </p:spPr>
        <p:txBody>
          <a:bodyPr wrap="square" lIns="0" tIns="0" rIns="0" bIns="0" rtlCol="0" anchor="t">
            <a:normAutofit/>
          </a:bodyPr>
          <a:lstStyle/>
          <a:p>
            <a:pPr algn="l" indent="0" marL="0">
              <a:lnSpc>
                <a:spcPts val="1783"/>
              </a:lnSpc>
              <a:buNone/>
            </a:pPr>
            <a:r>
              <a:rPr lang="en-US" sz="1550" b="1" dirty="0">
                <a:solidFill>
                  <a:srgbClr val="191814"/>
                </a:solidFill>
                <a:latin typeface="Fraunces" pitchFamily="34" charset="0"/>
                <a:ea typeface="Fraunces" pitchFamily="34" charset="-122"/>
                <a:cs typeface="Fraunces" pitchFamily="34" charset="-120"/>
              </a:rPr>
              <a:t>What it does not give it</a:t>
            </a:r>
            <a:endParaRPr lang="en-US" sz="1550" dirty="0"/>
          </a:p>
        </p:txBody>
      </p:sp>
      <p:sp>
        <p:nvSpPr>
          <p:cNvPr id="12" name="Text 10"/>
          <p:cNvSpPr/>
          <p:nvPr/>
        </p:nvSpPr>
        <p:spPr>
          <a:xfrm>
            <a:off x="6406059" y="3711426"/>
            <a:ext cx="4933777"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Raz does not say legality is worthless. Recent scholarship reads him as a </a:t>
            </a:r>
            <a:r>
              <a:rPr lang="en-US" sz="1350" b="1" dirty="0">
                <a:solidFill>
                  <a:srgbClr val="191814"/>
                </a:solidFill>
                <a:latin typeface="Inter" pitchFamily="34" charset="0"/>
                <a:ea typeface="Inter" pitchFamily="34" charset="-122"/>
                <a:cs typeface="Inter" pitchFamily="34" charset="-120"/>
              </a:rPr>
              <a:t>moral</a:t>
            </a:r>
            <a:r>
              <a:rPr lang="en-US" sz="1350" dirty="0">
                <a:solidFill>
                  <a:srgbClr val="191814"/>
                </a:solidFill>
                <a:latin typeface="Inter" pitchFamily="34" charset="0"/>
                <a:ea typeface="Inter" pitchFamily="34" charset="-122"/>
                <a:cs typeface="Inter" pitchFamily="34" charset="-120"/>
              </a:rPr>
              <a:t> instrumentalist — legality matters because it protects autonomy and dignity.</a:t>
            </a:r>
            <a:endParaRPr lang="en-US" sz="1350" dirty="0"/>
          </a:p>
        </p:txBody>
      </p:sp>
      <p:sp>
        <p:nvSpPr>
          <p:cNvPr id="13" name="Shape 11"/>
          <p:cNvSpPr/>
          <p:nvPr/>
        </p:nvSpPr>
        <p:spPr>
          <a:xfrm>
            <a:off x="812767" y="4445000"/>
            <a:ext cx="10566383" cy="1318204"/>
          </a:xfrm>
          <a:prstGeom prst="roundRect">
            <a:avLst>
              <a:gd name="adj" fmla="val 6744"/>
            </a:avLst>
          </a:prstGeom>
          <a:solidFill>
            <a:srgbClr val="F2EBE0"/>
          </a:solidFill>
          <a:ln/>
        </p:spPr>
      </p:sp>
      <p:sp>
        <p:nvSpPr>
          <p:cNvPr id="14" name="Shape 12"/>
          <p:cNvSpPr/>
          <p:nvPr/>
        </p:nvSpPr>
        <p:spPr>
          <a:xfrm>
            <a:off x="831817" y="4445000"/>
            <a:ext cx="0" cy="1318204"/>
          </a:xfrm>
          <a:prstGeom prst="line">
            <a:avLst/>
          </a:prstGeom>
          <a:noFill/>
          <a:ln w="38100">
            <a:solidFill>
              <a:srgbClr val="1C595D"/>
            </a:solidFill>
            <a:prstDash val="solid"/>
          </a:ln>
        </p:spPr>
      </p:sp>
      <p:sp>
        <p:nvSpPr>
          <p:cNvPr id="15" name="Text 13"/>
          <p:cNvSpPr/>
          <p:nvPr/>
        </p:nvSpPr>
        <p:spPr>
          <a:xfrm>
            <a:off x="1027575" y="45846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C595D"/>
                </a:solidFill>
                <a:latin typeface="Fraunces" pitchFamily="34" charset="0"/>
                <a:ea typeface="Fraunces" pitchFamily="34" charset="-122"/>
                <a:cs typeface="Fraunces" pitchFamily="34" charset="-120"/>
              </a:rPr>
              <a:t>Why this matters to your mark</a:t>
            </a:r>
            <a:endParaRPr lang="en-US" sz="1500" dirty="0"/>
          </a:p>
        </p:txBody>
      </p:sp>
      <p:sp>
        <p:nvSpPr>
          <p:cNvPr id="16" name="Text 14"/>
          <p:cNvSpPr/>
          <p:nvPr/>
        </p:nvSpPr>
        <p:spPr>
          <a:xfrm>
            <a:off x="1027575" y="4876750"/>
            <a:ext cx="10479022" cy="77214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An essay that attacks “Raz says the rule of law is just efficiency” is attacking a position no careful reader holds. Show you know the difference between the virtue of an instrument </a:t>
            </a:r>
            <a:r>
              <a:rPr lang="en-US" sz="1400" i="1" dirty="0">
                <a:solidFill>
                  <a:srgbClr val="191814"/>
                </a:solidFill>
                <a:latin typeface="Inter" pitchFamily="34" charset="0"/>
                <a:ea typeface="Inter" pitchFamily="34" charset="-122"/>
                <a:cs typeface="Inter" pitchFamily="34" charset="-120"/>
              </a:rPr>
              <a:t>as</a:t>
            </a:r>
            <a:r>
              <a:rPr lang="en-US" sz="1400" dirty="0">
                <a:solidFill>
                  <a:srgbClr val="191814"/>
                </a:solidFill>
                <a:latin typeface="Inter" pitchFamily="34" charset="0"/>
                <a:ea typeface="Inter" pitchFamily="34" charset="-122"/>
                <a:cs typeface="Inter" pitchFamily="34" charset="-120"/>
              </a:rPr>
              <a:t> an instrument and a denial of moral value, and you have pre-empted the obvious objection to your own argument.</a:t>
            </a:r>
            <a:endParaRPr lang="en-US" sz="1400" dirty="0"/>
          </a:p>
        </p:txBody>
      </p:sp>
      <p:sp>
        <p:nvSpPr>
          <p:cNvPr id="17" name="Text 15"/>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18" name="Text 16"/>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CONTEMPORARY FIELD</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Six moves you can borrow</a:t>
            </a:r>
            <a:endParaRPr lang="en-US" sz="3000" dirty="0"/>
          </a:p>
        </p:txBody>
      </p:sp>
      <p:sp>
        <p:nvSpPr>
          <p:cNvPr id="4" name="Shape 2"/>
          <p:cNvSpPr/>
          <p:nvPr/>
        </p:nvSpPr>
        <p:spPr>
          <a:xfrm>
            <a:off x="815942" y="1857350"/>
            <a:ext cx="3346417" cy="1566887"/>
          </a:xfrm>
          <a:prstGeom prst="roundRect">
            <a:avLst>
              <a:gd name="adj" fmla="val 7092"/>
            </a:avLst>
          </a:prstGeom>
          <a:solidFill>
            <a:srgbClr val="FFFFFF"/>
          </a:solidFill>
          <a:ln w="6350">
            <a:solidFill>
              <a:srgbClr val="E0D7C9"/>
            </a:solidFill>
            <a:prstDash val="solid"/>
          </a:ln>
        </p:spPr>
      </p:sp>
      <p:sp>
        <p:nvSpPr>
          <p:cNvPr id="5" name="Text 3"/>
          <p:cNvSpPr/>
          <p:nvPr/>
        </p:nvSpPr>
        <p:spPr>
          <a:xfrm>
            <a:off x="995825" y="20372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Kramer</a:t>
            </a:r>
            <a:endParaRPr lang="en-US" sz="1500" dirty="0"/>
          </a:p>
        </p:txBody>
      </p:sp>
      <p:sp>
        <p:nvSpPr>
          <p:cNvPr id="6" name="Text 4"/>
          <p:cNvSpPr/>
          <p:nvPr/>
        </p:nvSpPr>
        <p:spPr>
          <a:xfrm>
            <a:off x="995825" y="2319809"/>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The rule of law is morally neutral in value: a wicked regime with long-term exploitative ends has </a:t>
            </a:r>
            <a:r>
              <a:rPr lang="en-US" sz="1300" b="1" dirty="0">
                <a:solidFill>
                  <a:srgbClr val="5E5850"/>
                </a:solidFill>
                <a:latin typeface="Inter" pitchFamily="34" charset="0"/>
                <a:ea typeface="Inter" pitchFamily="34" charset="-122"/>
                <a:cs typeface="Inter" pitchFamily="34" charset="-120"/>
              </a:rPr>
              <a:t>prudential</a:t>
            </a:r>
            <a:r>
              <a:rPr lang="en-US" sz="1300" dirty="0">
                <a:solidFill>
                  <a:srgbClr val="5E5850"/>
                </a:solidFill>
                <a:latin typeface="Inter" pitchFamily="34" charset="0"/>
                <a:ea typeface="Inter" pitchFamily="34" charset="-122"/>
                <a:cs typeface="Inter" pitchFamily="34" charset="-120"/>
              </a:rPr>
              <a:t> reasons to comply fully.</a:t>
            </a:r>
            <a:endParaRPr lang="en-US" sz="1300" dirty="0"/>
          </a:p>
        </p:txBody>
      </p:sp>
      <p:sp>
        <p:nvSpPr>
          <p:cNvPr id="7" name="Shape 5"/>
          <p:cNvSpPr/>
          <p:nvPr/>
        </p:nvSpPr>
        <p:spPr>
          <a:xfrm>
            <a:off x="4422750" y="1857350"/>
            <a:ext cx="3346417" cy="1798026"/>
          </a:xfrm>
          <a:prstGeom prst="roundRect">
            <a:avLst>
              <a:gd name="adj" fmla="val 6180"/>
            </a:avLst>
          </a:prstGeom>
          <a:solidFill>
            <a:srgbClr val="FFFFFF"/>
          </a:solidFill>
          <a:ln w="6350">
            <a:solidFill>
              <a:srgbClr val="E0D7C9"/>
            </a:solidFill>
            <a:prstDash val="solid"/>
          </a:ln>
        </p:spPr>
      </p:sp>
      <p:sp>
        <p:nvSpPr>
          <p:cNvPr id="8" name="Text 6"/>
          <p:cNvSpPr/>
          <p:nvPr/>
        </p:nvSpPr>
        <p:spPr>
          <a:xfrm>
            <a:off x="4602634" y="20372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Simmonds</a:t>
            </a:r>
            <a:endParaRPr lang="en-US" sz="1500" dirty="0"/>
          </a:p>
        </p:txBody>
      </p:sp>
      <p:sp>
        <p:nvSpPr>
          <p:cNvPr id="9" name="Text 7"/>
          <p:cNvSpPr/>
          <p:nvPr/>
        </p:nvSpPr>
        <p:spPr>
          <a:xfrm>
            <a:off x="4602634" y="2319809"/>
            <a:ext cx="3076249" cy="118109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Law is understood by reference to an </a:t>
            </a:r>
            <a:r>
              <a:rPr lang="en-US" sz="1300" b="1" dirty="0">
                <a:solidFill>
                  <a:srgbClr val="5E5850"/>
                </a:solidFill>
                <a:latin typeface="Inter" pitchFamily="34" charset="0"/>
                <a:ea typeface="Inter" pitchFamily="34" charset="-122"/>
                <a:cs typeface="Inter" pitchFamily="34" charset="-120"/>
              </a:rPr>
              <a:t>archetype</a:t>
            </a:r>
            <a:r>
              <a:rPr lang="en-US" sz="1300" dirty="0">
                <a:solidFill>
                  <a:srgbClr val="5E5850"/>
                </a:solidFill>
                <a:latin typeface="Inter" pitchFamily="34" charset="0"/>
                <a:ea typeface="Inter" pitchFamily="34" charset="-122"/>
                <a:cs typeface="Inter" pitchFamily="34" charset="-120"/>
              </a:rPr>
              <a:t> — governance by rules securing independence from the power of others — instantiated by degrees.</a:t>
            </a:r>
            <a:endParaRPr lang="en-US" sz="1300" dirty="0"/>
          </a:p>
        </p:txBody>
      </p:sp>
      <p:sp>
        <p:nvSpPr>
          <p:cNvPr id="10" name="Shape 8"/>
          <p:cNvSpPr/>
          <p:nvPr/>
        </p:nvSpPr>
        <p:spPr>
          <a:xfrm>
            <a:off x="8029558" y="1857350"/>
            <a:ext cx="3346417" cy="1798026"/>
          </a:xfrm>
          <a:prstGeom prst="roundRect">
            <a:avLst>
              <a:gd name="adj" fmla="val 6180"/>
            </a:avLst>
          </a:prstGeom>
          <a:solidFill>
            <a:srgbClr val="FFFFFF"/>
          </a:solidFill>
          <a:ln w="6350">
            <a:solidFill>
              <a:srgbClr val="E0D7C9"/>
            </a:solidFill>
            <a:prstDash val="solid"/>
          </a:ln>
        </p:spPr>
      </p:sp>
      <p:sp>
        <p:nvSpPr>
          <p:cNvPr id="11" name="Text 9"/>
          <p:cNvSpPr/>
          <p:nvPr/>
        </p:nvSpPr>
        <p:spPr>
          <a:xfrm>
            <a:off x="8209442" y="20372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Waldron</a:t>
            </a:r>
            <a:endParaRPr lang="en-US" sz="1500" dirty="0"/>
          </a:p>
        </p:txBody>
      </p:sp>
      <p:sp>
        <p:nvSpPr>
          <p:cNvPr id="12" name="Text 10"/>
          <p:cNvSpPr/>
          <p:nvPr/>
        </p:nvSpPr>
        <p:spPr>
          <a:xfrm>
            <a:off x="8209442" y="2319809"/>
            <a:ext cx="3076249" cy="118109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Hart answered two different questions inconsistently: is legality criterial for the concept of law, and how does it relate to the standards we judge systems by?</a:t>
            </a:r>
            <a:endParaRPr lang="en-US" sz="1300" dirty="0"/>
          </a:p>
        </p:txBody>
      </p:sp>
      <p:sp>
        <p:nvSpPr>
          <p:cNvPr id="13" name="Shape 11"/>
          <p:cNvSpPr/>
          <p:nvPr/>
        </p:nvSpPr>
        <p:spPr>
          <a:xfrm>
            <a:off x="815942" y="3533750"/>
            <a:ext cx="3346417" cy="1798026"/>
          </a:xfrm>
          <a:prstGeom prst="roundRect">
            <a:avLst>
              <a:gd name="adj" fmla="val 6180"/>
            </a:avLst>
          </a:prstGeom>
          <a:solidFill>
            <a:srgbClr val="FFFFFF"/>
          </a:solidFill>
          <a:ln w="6350">
            <a:solidFill>
              <a:srgbClr val="E0D7C9"/>
            </a:solidFill>
            <a:prstDash val="solid"/>
          </a:ln>
        </p:spPr>
      </p:sp>
      <p:sp>
        <p:nvSpPr>
          <p:cNvPr id="14" name="Text 12"/>
          <p:cNvSpPr/>
          <p:nvPr/>
        </p:nvSpPr>
        <p:spPr>
          <a:xfrm>
            <a:off x="995825" y="3713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Rundle</a:t>
            </a:r>
            <a:endParaRPr lang="en-US" sz="1500" dirty="0"/>
          </a:p>
        </p:txBody>
      </p:sp>
      <p:sp>
        <p:nvSpPr>
          <p:cNvPr id="15" name="Text 13"/>
          <p:cNvSpPr/>
          <p:nvPr/>
        </p:nvSpPr>
        <p:spPr>
          <a:xfrm>
            <a:off x="995825" y="3996184"/>
            <a:ext cx="3076249" cy="118109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Fuller’s real subject is the relation between the </a:t>
            </a:r>
            <a:r>
              <a:rPr lang="en-US" sz="1300" b="1" dirty="0">
                <a:solidFill>
                  <a:srgbClr val="5E5850"/>
                </a:solidFill>
                <a:latin typeface="Inter" pitchFamily="34" charset="0"/>
                <a:ea typeface="Inter" pitchFamily="34" charset="-122"/>
                <a:cs typeface="Inter" pitchFamily="34" charset="-120"/>
              </a:rPr>
              <a:t>form</a:t>
            </a:r>
            <a:r>
              <a:rPr lang="en-US" sz="1300" dirty="0">
                <a:solidFill>
                  <a:srgbClr val="5E5850"/>
                </a:solidFill>
                <a:latin typeface="Inter" pitchFamily="34" charset="0"/>
                <a:ea typeface="Inter" pitchFamily="34" charset="-122"/>
                <a:cs typeface="Inter" pitchFamily="34" charset="-120"/>
              </a:rPr>
              <a:t> of law and human agency. A regime that abandons legality has stopped addressing anyone.</a:t>
            </a:r>
            <a:endParaRPr lang="en-US" sz="1300" dirty="0"/>
          </a:p>
        </p:txBody>
      </p:sp>
      <p:sp>
        <p:nvSpPr>
          <p:cNvPr id="16" name="Shape 14"/>
          <p:cNvSpPr/>
          <p:nvPr/>
        </p:nvSpPr>
        <p:spPr>
          <a:xfrm>
            <a:off x="4422750" y="3533750"/>
            <a:ext cx="3346417" cy="1798026"/>
          </a:xfrm>
          <a:prstGeom prst="roundRect">
            <a:avLst>
              <a:gd name="adj" fmla="val 6180"/>
            </a:avLst>
          </a:prstGeom>
          <a:solidFill>
            <a:srgbClr val="FFFFFF"/>
          </a:solidFill>
          <a:ln w="6350">
            <a:solidFill>
              <a:srgbClr val="E0D7C9"/>
            </a:solidFill>
            <a:prstDash val="solid"/>
          </a:ln>
        </p:spPr>
      </p:sp>
      <p:sp>
        <p:nvSpPr>
          <p:cNvPr id="17" name="Text 15"/>
          <p:cNvSpPr/>
          <p:nvPr/>
        </p:nvSpPr>
        <p:spPr>
          <a:xfrm>
            <a:off x="4602634" y="3713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Colleen Murphy</a:t>
            </a:r>
            <a:endParaRPr lang="en-US" sz="1500" dirty="0"/>
          </a:p>
        </p:txBody>
      </p:sp>
      <p:sp>
        <p:nvSpPr>
          <p:cNvPr id="18" name="Text 16"/>
          <p:cNvSpPr/>
          <p:nvPr/>
        </p:nvSpPr>
        <p:spPr>
          <a:xfrm>
            <a:off x="4602634" y="3996184"/>
            <a:ext cx="3076249" cy="1181092"/>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Compliance constitutes a relationship treating citizens as responsible agents — so legality has non-instrumental as well as instrumental moral value.</a:t>
            </a:r>
            <a:endParaRPr lang="en-US" sz="1300" dirty="0"/>
          </a:p>
        </p:txBody>
      </p:sp>
      <p:sp>
        <p:nvSpPr>
          <p:cNvPr id="19" name="Shape 17"/>
          <p:cNvSpPr/>
          <p:nvPr/>
        </p:nvSpPr>
        <p:spPr>
          <a:xfrm>
            <a:off x="8029558" y="3533750"/>
            <a:ext cx="3346417" cy="1566887"/>
          </a:xfrm>
          <a:prstGeom prst="roundRect">
            <a:avLst>
              <a:gd name="adj" fmla="val 7092"/>
            </a:avLst>
          </a:prstGeom>
          <a:solidFill>
            <a:srgbClr val="FFFFFF"/>
          </a:solidFill>
          <a:ln w="6350">
            <a:solidFill>
              <a:srgbClr val="E0D7C9"/>
            </a:solidFill>
            <a:prstDash val="solid"/>
          </a:ln>
        </p:spPr>
      </p:sp>
      <p:sp>
        <p:nvSpPr>
          <p:cNvPr id="20" name="Text 18"/>
          <p:cNvSpPr/>
          <p:nvPr/>
        </p:nvSpPr>
        <p:spPr>
          <a:xfrm>
            <a:off x="8209442" y="3713634"/>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Bennett</a:t>
            </a:r>
            <a:endParaRPr lang="en-US" sz="1500" dirty="0"/>
          </a:p>
        </p:txBody>
      </p:sp>
      <p:sp>
        <p:nvSpPr>
          <p:cNvPr id="21" name="Text 19"/>
          <p:cNvSpPr/>
          <p:nvPr/>
        </p:nvSpPr>
        <p:spPr>
          <a:xfrm>
            <a:off x="8209442" y="3996184"/>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Hart and Raz never understood their arguments about instrumental value as denials of moral value. The usual attribution is a misreading.</a:t>
            </a:r>
            <a:endParaRPr lang="en-US" sz="1300" dirty="0"/>
          </a:p>
        </p:txBody>
      </p:sp>
      <p:sp>
        <p:nvSpPr>
          <p:cNvPr id="22" name="Text 20"/>
          <p:cNvSpPr/>
          <p:nvPr/>
        </p:nvSpPr>
        <p:spPr>
          <a:xfrm>
            <a:off x="812767" y="5270500"/>
            <a:ext cx="10883374" cy="522569"/>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5E5850"/>
                </a:solidFill>
                <a:latin typeface="Inter" pitchFamily="34" charset="0"/>
                <a:ea typeface="Inter" pitchFamily="34" charset="-122"/>
                <a:cs typeface="Inter" pitchFamily="34" charset="-120"/>
              </a:rPr>
              <a:t>Several of these are freely available and peer-reviewed, which matters when a day is left. Waldron’s SEP entry ‘The Rule of Law’ and Finnis’s SEP entry §1.3 are on the reading list and both open.</a:t>
            </a:r>
            <a:endParaRPr lang="en-US" sz="1350" dirty="0"/>
          </a:p>
        </p:txBody>
      </p:sp>
      <p:sp>
        <p:nvSpPr>
          <p:cNvPr id="23" name="Text 21"/>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24" name="Text 22"/>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MOVE THAT WINS QUESTION 2</a:t>
            </a:r>
            <a:endParaRPr lang="en-US" sz="1200" dirty="0"/>
          </a:p>
        </p:txBody>
      </p:sp>
      <p:sp>
        <p:nvSpPr>
          <p:cNvPr id="3" name="Text 1"/>
          <p:cNvSpPr/>
          <p:nvPr/>
        </p:nvSpPr>
        <p:spPr>
          <a:xfrm>
            <a:off x="812767" y="952500"/>
            <a:ext cx="10203180" cy="409459"/>
          </a:xfrm>
          <a:prstGeom prst="rect">
            <a:avLst/>
          </a:prstGeom>
          <a:noFill/>
          <a:ln/>
        </p:spPr>
        <p:txBody>
          <a:bodyPr wrap="square" lIns="0" tIns="0" rIns="0" bIns="0" rtlCol="0" anchor="t">
            <a:normAutofit/>
          </a:bodyPr>
          <a:lstStyle/>
          <a:p>
            <a:pPr algn="l" indent="0" marL="0">
              <a:lnSpc>
                <a:spcPts val="3024"/>
              </a:lnSpc>
              <a:buNone/>
            </a:pPr>
            <a:r>
              <a:rPr lang="en-US" sz="2800" b="1" dirty="0">
                <a:solidFill>
                  <a:srgbClr val="191814"/>
                </a:solidFill>
                <a:latin typeface="Fraunces" pitchFamily="34" charset="0"/>
                <a:ea typeface="Fraunces" pitchFamily="34" charset="-122"/>
                <a:cs typeface="Fraunces" pitchFamily="34" charset="-120"/>
              </a:rPr>
              <a:t>The two limbs are not contradictories</a:t>
            </a:r>
            <a:endParaRPr lang="en-US" sz="2800" dirty="0"/>
          </a:p>
        </p:txBody>
      </p:sp>
      <p:sp>
        <p:nvSpPr>
          <p:cNvPr id="4" name="Text 2"/>
          <p:cNvSpPr/>
          <p:nvPr/>
        </p:nvSpPr>
        <p:spPr>
          <a:xfrm>
            <a:off x="2091754" y="1778000"/>
            <a:ext cx="4617567" cy="247650"/>
          </a:xfrm>
          <a:prstGeom prst="rect">
            <a:avLst/>
          </a:prstGeom>
          <a:noFill/>
          <a:ln/>
        </p:spPr>
        <p:txBody>
          <a:bodyPr wrap="square" lIns="0" tIns="0" rIns="0" bIns="0" rtlCol="0" anchor="t">
            <a:normAutofit/>
          </a:bodyPr>
          <a:lstStyle/>
          <a:p>
            <a:pPr algn="ctr" indent="0" marL="0">
              <a:lnSpc>
                <a:spcPts val="1750"/>
              </a:lnSpc>
              <a:buNone/>
            </a:pPr>
            <a:r>
              <a:rPr lang="en-US" sz="1250" b="1" spc="100" kern="0" dirty="0">
                <a:solidFill>
                  <a:srgbClr val="1C595D"/>
                </a:solidFill>
                <a:latin typeface="Inter" pitchFamily="34" charset="0"/>
                <a:ea typeface="Inter" pitchFamily="34" charset="-122"/>
                <a:cs typeface="Inter" pitchFamily="34" charset="-120"/>
              </a:rPr>
              <a:t>CONSTITUTIVE — YES</a:t>
            </a:r>
            <a:endParaRPr lang="en-US" sz="1250" dirty="0"/>
          </a:p>
        </p:txBody>
      </p:sp>
      <p:sp>
        <p:nvSpPr>
          <p:cNvPr id="5" name="Text 3"/>
          <p:cNvSpPr/>
          <p:nvPr/>
        </p:nvSpPr>
        <p:spPr>
          <a:xfrm>
            <a:off x="6828829" y="1778000"/>
            <a:ext cx="4617567" cy="247650"/>
          </a:xfrm>
          <a:prstGeom prst="rect">
            <a:avLst/>
          </a:prstGeom>
          <a:noFill/>
          <a:ln/>
        </p:spPr>
        <p:txBody>
          <a:bodyPr wrap="square" lIns="0" tIns="0" rIns="0" bIns="0" rtlCol="0" anchor="t">
            <a:normAutofit/>
          </a:bodyPr>
          <a:lstStyle/>
          <a:p>
            <a:pPr algn="ctr" indent="0" marL="0">
              <a:lnSpc>
                <a:spcPts val="1750"/>
              </a:lnSpc>
              <a:buNone/>
            </a:pPr>
            <a:r>
              <a:rPr lang="en-US" sz="1250" b="1" spc="100" kern="0" dirty="0">
                <a:solidFill>
                  <a:srgbClr val="B0451D"/>
                </a:solidFill>
                <a:latin typeface="Inter" pitchFamily="34" charset="0"/>
                <a:ea typeface="Inter" pitchFamily="34" charset="-122"/>
                <a:cs typeface="Inter" pitchFamily="34" charset="-120"/>
              </a:rPr>
              <a:t>CONSTITUTIVE — NO</a:t>
            </a:r>
            <a:endParaRPr lang="en-US" sz="1250" dirty="0"/>
          </a:p>
        </p:txBody>
      </p:sp>
      <p:sp>
        <p:nvSpPr>
          <p:cNvPr id="6" name="Text 4"/>
          <p:cNvSpPr/>
          <p:nvPr/>
        </p:nvSpPr>
        <p:spPr>
          <a:xfrm>
            <a:off x="812767" y="2476500"/>
            <a:ext cx="12573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1C595D"/>
                </a:solidFill>
                <a:latin typeface="Inter" pitchFamily="34" charset="0"/>
                <a:ea typeface="Inter" pitchFamily="34" charset="-122"/>
                <a:cs typeface="Inter" pitchFamily="34" charset="-120"/>
              </a:rPr>
              <a:t>Morally</a:t>
            </a:r>
            <a:endParaRPr lang="en-US" sz="1250" dirty="0"/>
          </a:p>
          <a:p>
            <a:pPr algn="l" indent="0" marL="0">
              <a:lnSpc>
                <a:spcPts val="1750"/>
              </a:lnSpc>
              <a:buNone/>
            </a:pPr>
            <a:r>
              <a:rPr lang="en-US" sz="1250" b="1" dirty="0">
                <a:solidFill>
                  <a:srgbClr val="1C595D"/>
                </a:solidFill>
                <a:latin typeface="Inter" pitchFamily="34" charset="0"/>
                <a:ea typeface="Inter" pitchFamily="34" charset="-122"/>
                <a:cs typeface="Inter" pitchFamily="34" charset="-120"/>
              </a:rPr>
              <a:t>valuable</a:t>
            </a:r>
            <a:endParaRPr lang="en-US" sz="1250" dirty="0"/>
          </a:p>
          <a:p>
            <a:pPr algn="l" indent="0" marL="0">
              <a:lnSpc>
                <a:spcPts val="1750"/>
              </a:lnSpc>
              <a:buNone/>
            </a:pPr>
            <a:r>
              <a:rPr lang="en-US" sz="1250" b="1" dirty="0">
                <a:solidFill>
                  <a:srgbClr val="1C595D"/>
                </a:solidFill>
                <a:latin typeface="Inter" pitchFamily="34" charset="0"/>
                <a:ea typeface="Inter" pitchFamily="34" charset="-122"/>
                <a:cs typeface="Inter" pitchFamily="34" charset="-120"/>
              </a:rPr>
              <a:t>— yes</a:t>
            </a:r>
            <a:endParaRPr lang="en-US" sz="1250" dirty="0"/>
          </a:p>
        </p:txBody>
      </p:sp>
      <p:sp>
        <p:nvSpPr>
          <p:cNvPr id="7" name="Text 5"/>
          <p:cNvSpPr/>
          <p:nvPr/>
        </p:nvSpPr>
        <p:spPr>
          <a:xfrm>
            <a:off x="812767" y="4000500"/>
            <a:ext cx="1257300" cy="6921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B0451D"/>
                </a:solidFill>
                <a:latin typeface="Inter" pitchFamily="34" charset="0"/>
                <a:ea typeface="Inter" pitchFamily="34" charset="-122"/>
                <a:cs typeface="Inter" pitchFamily="34" charset="-120"/>
              </a:rPr>
              <a:t>Morally</a:t>
            </a:r>
            <a:endParaRPr lang="en-US" sz="1250" dirty="0"/>
          </a:p>
          <a:p>
            <a:pPr algn="l" indent="0" marL="0">
              <a:lnSpc>
                <a:spcPts val="1750"/>
              </a:lnSpc>
              <a:buNone/>
            </a:pPr>
            <a:r>
              <a:rPr lang="en-US" sz="1250" b="1" dirty="0">
                <a:solidFill>
                  <a:srgbClr val="B0451D"/>
                </a:solidFill>
                <a:latin typeface="Inter" pitchFamily="34" charset="0"/>
                <a:ea typeface="Inter" pitchFamily="34" charset="-122"/>
                <a:cs typeface="Inter" pitchFamily="34" charset="-120"/>
              </a:rPr>
              <a:t>valuable</a:t>
            </a:r>
            <a:endParaRPr lang="en-US" sz="1250" dirty="0"/>
          </a:p>
          <a:p>
            <a:pPr algn="l" indent="0" marL="0">
              <a:lnSpc>
                <a:spcPts val="1750"/>
              </a:lnSpc>
              <a:buNone/>
            </a:pPr>
            <a:r>
              <a:rPr lang="en-US" sz="1250" b="1" dirty="0">
                <a:solidFill>
                  <a:srgbClr val="B0451D"/>
                </a:solidFill>
                <a:latin typeface="Inter" pitchFamily="34" charset="0"/>
                <a:ea typeface="Inter" pitchFamily="34" charset="-122"/>
                <a:cs typeface="Inter" pitchFamily="34" charset="-120"/>
              </a:rPr>
              <a:t>— no</a:t>
            </a:r>
            <a:endParaRPr lang="en-US" sz="1250" dirty="0"/>
          </a:p>
        </p:txBody>
      </p:sp>
      <p:sp>
        <p:nvSpPr>
          <p:cNvPr id="8" name="Shape 6"/>
          <p:cNvSpPr/>
          <p:nvPr/>
        </p:nvSpPr>
        <p:spPr>
          <a:xfrm>
            <a:off x="2165350" y="2076425"/>
            <a:ext cx="4470375" cy="1013553"/>
          </a:xfrm>
          <a:prstGeom prst="roundRect">
            <a:avLst>
              <a:gd name="adj" fmla="val 9398"/>
            </a:avLst>
          </a:prstGeom>
          <a:solidFill>
            <a:srgbClr val="E5EEEC"/>
          </a:solidFill>
          <a:ln w="12700">
            <a:solidFill>
              <a:srgbClr val="1C595D"/>
            </a:solidFill>
            <a:prstDash val="solid"/>
          </a:ln>
        </p:spPr>
      </p:sp>
      <p:sp>
        <p:nvSpPr>
          <p:cNvPr id="9" name="Text 7"/>
          <p:cNvSpPr/>
          <p:nvPr/>
        </p:nvSpPr>
        <p:spPr>
          <a:xfrm>
            <a:off x="2347350" y="2233042"/>
            <a:ext cx="4229566"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C595D"/>
                </a:solidFill>
                <a:latin typeface="Fraunces" pitchFamily="34" charset="0"/>
                <a:ea typeface="Fraunces" pitchFamily="34" charset="-122"/>
                <a:cs typeface="Fraunces" pitchFamily="34" charset="-120"/>
              </a:rPr>
              <a:t>Full Fullerian</a:t>
            </a:r>
            <a:endParaRPr lang="en-US" sz="1450" dirty="0"/>
          </a:p>
        </p:txBody>
      </p:sp>
      <p:sp>
        <p:nvSpPr>
          <p:cNvPr id="10" name="Text 8"/>
          <p:cNvSpPr/>
          <p:nvPr/>
        </p:nvSpPr>
        <p:spPr>
          <a:xfrm>
            <a:off x="2347350" y="2504728"/>
            <a:ext cx="4229566"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Fuller, Rundle, Simmonds. Legality is constitutive </a:t>
            </a:r>
            <a:r>
              <a:rPr lang="en-US" sz="1250" i="1" dirty="0">
                <a:solidFill>
                  <a:srgbClr val="191814"/>
                </a:solidFill>
                <a:latin typeface="Inter" pitchFamily="34" charset="0"/>
                <a:ea typeface="Inter" pitchFamily="34" charset="-122"/>
                <a:cs typeface="Inter" pitchFamily="34" charset="-120"/>
              </a:rPr>
              <a:t>and</a:t>
            </a:r>
            <a:r>
              <a:rPr lang="en-US" sz="1250" dirty="0">
                <a:solidFill>
                  <a:srgbClr val="191814"/>
                </a:solidFill>
                <a:latin typeface="Inter" pitchFamily="34" charset="0"/>
                <a:ea typeface="Inter" pitchFamily="34" charset="-122"/>
                <a:cs typeface="Inter" pitchFamily="34" charset="-120"/>
              </a:rPr>
              <a:t> its moral character is why.</a:t>
            </a:r>
            <a:endParaRPr lang="en-US" sz="1250" dirty="0"/>
          </a:p>
        </p:txBody>
      </p:sp>
      <p:sp>
        <p:nvSpPr>
          <p:cNvPr id="11" name="Shape 9"/>
          <p:cNvSpPr/>
          <p:nvPr/>
        </p:nvSpPr>
        <p:spPr>
          <a:xfrm>
            <a:off x="6899250" y="2073250"/>
            <a:ext cx="4476725" cy="1009319"/>
          </a:xfrm>
          <a:prstGeom prst="roundRect">
            <a:avLst>
              <a:gd name="adj" fmla="val 9752"/>
            </a:avLst>
          </a:prstGeom>
          <a:solidFill>
            <a:srgbClr val="FFFFFF"/>
          </a:solidFill>
          <a:ln w="6350">
            <a:solidFill>
              <a:srgbClr val="E0D7C9"/>
            </a:solidFill>
            <a:prstDash val="solid"/>
          </a:ln>
        </p:spPr>
      </p:sp>
      <p:sp>
        <p:nvSpPr>
          <p:cNvPr id="12" name="Text 10"/>
          <p:cNvSpPr/>
          <p:nvPr/>
        </p:nvSpPr>
        <p:spPr>
          <a:xfrm>
            <a:off x="7079134" y="2227734"/>
            <a:ext cx="424046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7A6110"/>
                </a:solidFill>
                <a:latin typeface="Fraunces" pitchFamily="34" charset="0"/>
                <a:ea typeface="Fraunces" pitchFamily="34" charset="-122"/>
                <a:cs typeface="Fraunces" pitchFamily="34" charset="-120"/>
              </a:rPr>
              <a:t>Moral but not constitutive</a:t>
            </a:r>
            <a:endParaRPr lang="en-US" sz="1450" dirty="0"/>
          </a:p>
        </p:txBody>
      </p:sp>
      <p:sp>
        <p:nvSpPr>
          <p:cNvPr id="13" name="Text 11"/>
          <p:cNvSpPr/>
          <p:nvPr/>
        </p:nvSpPr>
        <p:spPr>
          <a:xfrm>
            <a:off x="7079134" y="2499444"/>
            <a:ext cx="4240467"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Waldron, Colleen Murphy. Genuinely valuable — but a system can be law without it.</a:t>
            </a:r>
            <a:endParaRPr lang="en-US" sz="1250" dirty="0"/>
          </a:p>
        </p:txBody>
      </p:sp>
      <p:sp>
        <p:nvSpPr>
          <p:cNvPr id="14" name="Shape 12"/>
          <p:cNvSpPr/>
          <p:nvPr/>
        </p:nvSpPr>
        <p:spPr>
          <a:xfrm>
            <a:off x="2162175" y="3597250"/>
            <a:ext cx="4476725" cy="1009319"/>
          </a:xfrm>
          <a:prstGeom prst="roundRect">
            <a:avLst>
              <a:gd name="adj" fmla="val 9752"/>
            </a:avLst>
          </a:prstGeom>
          <a:solidFill>
            <a:srgbClr val="FFFFFF"/>
          </a:solidFill>
          <a:ln w="6350">
            <a:solidFill>
              <a:srgbClr val="E0D7C9"/>
            </a:solidFill>
            <a:prstDash val="solid"/>
          </a:ln>
        </p:spPr>
      </p:sp>
      <p:sp>
        <p:nvSpPr>
          <p:cNvPr id="15" name="Text 13"/>
          <p:cNvSpPr/>
          <p:nvPr/>
        </p:nvSpPr>
        <p:spPr>
          <a:xfrm>
            <a:off x="2342059" y="3751734"/>
            <a:ext cx="424046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C595D"/>
                </a:solidFill>
                <a:latin typeface="Fraunces" pitchFamily="34" charset="0"/>
                <a:ea typeface="Fraunces" pitchFamily="34" charset="-122"/>
                <a:cs typeface="Fraunces" pitchFamily="34" charset="-120"/>
              </a:rPr>
              <a:t>Constitutive but non-moral</a:t>
            </a:r>
            <a:endParaRPr lang="en-US" sz="1450" dirty="0"/>
          </a:p>
        </p:txBody>
      </p:sp>
      <p:sp>
        <p:nvSpPr>
          <p:cNvPr id="16" name="Text 14"/>
          <p:cNvSpPr/>
          <p:nvPr/>
        </p:nvSpPr>
        <p:spPr>
          <a:xfrm>
            <a:off x="2342059" y="4023444"/>
            <a:ext cx="4240467"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Raz on the usual reading. Necessary to law as an instrument; the moral question is separate.</a:t>
            </a:r>
            <a:endParaRPr lang="en-US" sz="1250" dirty="0"/>
          </a:p>
        </p:txBody>
      </p:sp>
      <p:sp>
        <p:nvSpPr>
          <p:cNvPr id="17" name="Shape 15"/>
          <p:cNvSpPr/>
          <p:nvPr/>
        </p:nvSpPr>
        <p:spPr>
          <a:xfrm>
            <a:off x="6902425" y="3600425"/>
            <a:ext cx="4470375" cy="1013553"/>
          </a:xfrm>
          <a:prstGeom prst="roundRect">
            <a:avLst>
              <a:gd name="adj" fmla="val 9398"/>
            </a:avLst>
          </a:prstGeom>
          <a:solidFill>
            <a:srgbClr val="FCEEE5"/>
          </a:solidFill>
          <a:ln w="12700">
            <a:solidFill>
              <a:srgbClr val="B0451D"/>
            </a:solidFill>
            <a:prstDash val="solid"/>
          </a:ln>
        </p:spPr>
      </p:sp>
      <p:sp>
        <p:nvSpPr>
          <p:cNvPr id="18" name="Text 16"/>
          <p:cNvSpPr/>
          <p:nvPr/>
        </p:nvSpPr>
        <p:spPr>
          <a:xfrm>
            <a:off x="7084425" y="3757042"/>
            <a:ext cx="4229566"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B0451D"/>
                </a:solidFill>
                <a:latin typeface="Fraunces" pitchFamily="34" charset="0"/>
                <a:ea typeface="Fraunces" pitchFamily="34" charset="-122"/>
                <a:cs typeface="Fraunces" pitchFamily="34" charset="-120"/>
              </a:rPr>
              <a:t>Pure efficacy</a:t>
            </a:r>
            <a:endParaRPr lang="en-US" sz="1450" dirty="0"/>
          </a:p>
        </p:txBody>
      </p:sp>
      <p:sp>
        <p:nvSpPr>
          <p:cNvPr id="19" name="Text 17"/>
          <p:cNvSpPr/>
          <p:nvPr/>
        </p:nvSpPr>
        <p:spPr>
          <a:xfrm>
            <a:off x="7084425" y="4028728"/>
            <a:ext cx="4229566"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Kramer; Hart as usually read. Compliance makes law work better, and nothing more follows.</a:t>
            </a:r>
            <a:endParaRPr lang="en-US" sz="1250" dirty="0"/>
          </a:p>
        </p:txBody>
      </p:sp>
      <p:sp>
        <p:nvSpPr>
          <p:cNvPr id="20" name="Shape 18"/>
          <p:cNvSpPr/>
          <p:nvPr/>
        </p:nvSpPr>
        <p:spPr>
          <a:xfrm>
            <a:off x="812767" y="4826000"/>
            <a:ext cx="10566383" cy="999339"/>
          </a:xfrm>
          <a:prstGeom prst="roundRect">
            <a:avLst>
              <a:gd name="adj" fmla="val 8896"/>
            </a:avLst>
          </a:prstGeom>
          <a:solidFill>
            <a:srgbClr val="F2EBE0"/>
          </a:solidFill>
          <a:ln/>
        </p:spPr>
      </p:sp>
      <p:sp>
        <p:nvSpPr>
          <p:cNvPr id="21" name="Shape 19"/>
          <p:cNvSpPr/>
          <p:nvPr/>
        </p:nvSpPr>
        <p:spPr>
          <a:xfrm>
            <a:off x="831817" y="4826000"/>
            <a:ext cx="0" cy="999339"/>
          </a:xfrm>
          <a:prstGeom prst="line">
            <a:avLst/>
          </a:prstGeom>
          <a:noFill/>
          <a:ln w="38100">
            <a:solidFill>
              <a:srgbClr val="7A6110"/>
            </a:solidFill>
            <a:prstDash val="solid"/>
          </a:ln>
        </p:spPr>
      </p:sp>
      <p:sp>
        <p:nvSpPr>
          <p:cNvPr id="22" name="Text 20"/>
          <p:cNvSpPr/>
          <p:nvPr/>
        </p:nvSpPr>
        <p:spPr>
          <a:xfrm>
            <a:off x="1027575" y="4965675"/>
            <a:ext cx="10479022"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The question offers you the top-left box or the bottom-right box. </a:t>
            </a:r>
            <a:r>
              <a:rPr lang="en-US" sz="1350" b="1" dirty="0">
                <a:solidFill>
                  <a:srgbClr val="191814"/>
                </a:solidFill>
                <a:latin typeface="Inter" pitchFamily="34" charset="0"/>
                <a:ea typeface="Inter" pitchFamily="34" charset="-122"/>
                <a:cs typeface="Inter" pitchFamily="34" charset="-120"/>
              </a:rPr>
              <a:t>Four positions are on the board, and two of them are the interesting ones.</a:t>
            </a:r>
            <a:r>
              <a:rPr lang="en-US" sz="1350" dirty="0">
                <a:solidFill>
                  <a:srgbClr val="191814"/>
                </a:solidFill>
                <a:latin typeface="Inter" pitchFamily="34" charset="0"/>
                <a:ea typeface="Inter" pitchFamily="34" charset="-122"/>
                <a:cs typeface="Inter" pitchFamily="34" charset="-120"/>
              </a:rPr>
              <a:t> Add Finnis’s central case, Simmonds’ degrees and Fuller’s threshold for </a:t>
            </a:r>
            <a:r>
              <a:rPr lang="en-US" sz="1350" i="1" dirty="0">
                <a:solidFill>
                  <a:srgbClr val="191814"/>
                </a:solidFill>
                <a:latin typeface="Inter" pitchFamily="34" charset="0"/>
                <a:ea typeface="Inter" pitchFamily="34" charset="-122"/>
                <a:cs typeface="Inter" pitchFamily="34" charset="-120"/>
              </a:rPr>
              <a:t>total</a:t>
            </a:r>
            <a:r>
              <a:rPr lang="en-US" sz="1350" dirty="0">
                <a:solidFill>
                  <a:srgbClr val="191814"/>
                </a:solidFill>
                <a:latin typeface="Inter" pitchFamily="34" charset="0"/>
                <a:ea typeface="Inter" pitchFamily="34" charset="-122"/>
                <a:cs typeface="Inter" pitchFamily="34" charset="-120"/>
              </a:rPr>
              <a:t> failure, and “count as law” stops being a yes-or-no question.</a:t>
            </a:r>
            <a:endParaRPr lang="en-US" sz="1350" dirty="0"/>
          </a:p>
        </p:txBody>
      </p:sp>
      <p:sp>
        <p:nvSpPr>
          <p:cNvPr id="23" name="Text 21"/>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24" name="Text 22"/>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THREE ANSWERS YOU COULD DEFEND</a:t>
            </a:r>
            <a:endParaRPr lang="en-US" sz="1200" dirty="0"/>
          </a:p>
        </p:txBody>
      </p:sp>
      <p:sp>
        <p:nvSpPr>
          <p:cNvPr id="3" name="Text 1"/>
          <p:cNvSpPr/>
          <p:nvPr/>
        </p:nvSpPr>
        <p:spPr>
          <a:xfrm>
            <a:off x="812767" y="914375"/>
            <a:ext cx="10203180" cy="409459"/>
          </a:xfrm>
          <a:prstGeom prst="rect">
            <a:avLst/>
          </a:prstGeom>
          <a:noFill/>
          <a:ln/>
        </p:spPr>
        <p:txBody>
          <a:bodyPr wrap="square" lIns="0" tIns="0" rIns="0" bIns="0" rtlCol="0" anchor="t">
            <a:normAutofit/>
          </a:bodyPr>
          <a:lstStyle/>
          <a:p>
            <a:pPr algn="l" indent="0" marL="0">
              <a:lnSpc>
                <a:spcPts val="3024"/>
              </a:lnSpc>
              <a:buNone/>
            </a:pPr>
            <a:r>
              <a:rPr lang="en-US" sz="2800" b="1" dirty="0">
                <a:solidFill>
                  <a:srgbClr val="191814"/>
                </a:solidFill>
                <a:latin typeface="Fraunces" pitchFamily="34" charset="0"/>
                <a:ea typeface="Fraunces" pitchFamily="34" charset="-122"/>
                <a:cs typeface="Fraunces" pitchFamily="34" charset="-120"/>
              </a:rPr>
              <a:t>Question 2 — all arguable, all defensible</a:t>
            </a:r>
            <a:endParaRPr lang="en-US" sz="2800" dirty="0"/>
          </a:p>
        </p:txBody>
      </p:sp>
      <p:sp>
        <p:nvSpPr>
          <p:cNvPr id="4" name="Shape 2"/>
          <p:cNvSpPr/>
          <p:nvPr/>
        </p:nvSpPr>
        <p:spPr>
          <a:xfrm>
            <a:off x="815942" y="1857350"/>
            <a:ext cx="3346417" cy="3721960"/>
          </a:xfrm>
          <a:prstGeom prst="roundRect">
            <a:avLst>
              <a:gd name="adj" fmla="val 3321"/>
            </a:avLst>
          </a:prstGeom>
          <a:solidFill>
            <a:srgbClr val="FFFFFF"/>
          </a:solidFill>
          <a:ln w="6350">
            <a:solidFill>
              <a:srgbClr val="E0D7C9"/>
            </a:solidFill>
            <a:prstDash val="solid"/>
          </a:ln>
        </p:spPr>
      </p:sp>
      <p:sp>
        <p:nvSpPr>
          <p:cNvPr id="5" name="Text 3"/>
          <p:cNvSpPr/>
          <p:nvPr/>
        </p:nvSpPr>
        <p:spPr>
          <a:xfrm>
            <a:off x="995825"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OPTION A</a:t>
            </a:r>
            <a:endParaRPr lang="en-US" sz="1200" dirty="0"/>
          </a:p>
        </p:txBody>
      </p:sp>
      <p:sp>
        <p:nvSpPr>
          <p:cNvPr id="6" name="Text 4"/>
          <p:cNvSpPr/>
          <p:nvPr/>
        </p:nvSpPr>
        <p:spPr>
          <a:xfrm>
            <a:off x="995825" y="2326754"/>
            <a:ext cx="3076249" cy="682600"/>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The two limbs are not exhaustive, and the second is a caricature</a:t>
            </a:r>
            <a:endParaRPr lang="en-US" sz="1500" dirty="0"/>
          </a:p>
        </p:txBody>
      </p:sp>
      <p:sp>
        <p:nvSpPr>
          <p:cNvPr id="7" name="Text 5"/>
          <p:cNvSpPr/>
          <p:nvPr/>
        </p:nvSpPr>
        <p:spPr>
          <a:xfrm>
            <a:off x="995825" y="3060154"/>
            <a:ext cx="3076249" cy="109696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A condition can be constitutive without being moral. Fuller’s threshold concerns </a:t>
            </a:r>
            <a:r>
              <a:rPr lang="en-US" sz="1250" i="1" dirty="0">
                <a:solidFill>
                  <a:srgbClr val="5E5850"/>
                </a:solidFill>
                <a:latin typeface="Inter" pitchFamily="34" charset="0"/>
                <a:ea typeface="Inter" pitchFamily="34" charset="-122"/>
                <a:cs typeface="Inter" pitchFamily="34" charset="-120"/>
              </a:rPr>
              <a:t>total</a:t>
            </a:r>
            <a:r>
              <a:rPr lang="en-US" sz="1250" dirty="0">
                <a:solidFill>
                  <a:srgbClr val="5E5850"/>
                </a:solidFill>
                <a:latin typeface="Inter" pitchFamily="34" charset="0"/>
                <a:ea typeface="Inter" pitchFamily="34" charset="-122"/>
                <a:cs typeface="Inter" pitchFamily="34" charset="-120"/>
              </a:rPr>
              <a:t> failure of a </a:t>
            </a:r>
            <a:r>
              <a:rPr lang="en-US" sz="1250" i="1" dirty="0">
                <a:solidFill>
                  <a:srgbClr val="5E5850"/>
                </a:solidFill>
                <a:latin typeface="Inter" pitchFamily="34" charset="0"/>
                <a:ea typeface="Inter" pitchFamily="34" charset="-122"/>
                <a:cs typeface="Inter" pitchFamily="34" charset="-120"/>
              </a:rPr>
              <a:t>system</a:t>
            </a:r>
            <a:r>
              <a:rPr lang="en-US" sz="1250" dirty="0">
                <a:solidFill>
                  <a:srgbClr val="5E5850"/>
                </a:solidFill>
                <a:latin typeface="Inter" pitchFamily="34" charset="0"/>
                <a:ea typeface="Inter" pitchFamily="34" charset="-122"/>
                <a:cs typeface="Inter" pitchFamily="34" charset="-120"/>
              </a:rPr>
              <a:t>; Hart’s 207 concerns content. They are consistent.</a:t>
            </a:r>
            <a:endParaRPr lang="en-US" sz="1250" dirty="0"/>
          </a:p>
        </p:txBody>
      </p:sp>
      <p:pic>
        <p:nvPicPr>
          <p:cNvPr id="8" name="Image 0" descr="line">    </p:cNvPr>
          <p:cNvPicPr>
            <a:picLocks noChangeAspect="1"/>
          </p:cNvPicPr>
          <p:nvPr/>
        </p:nvPicPr>
        <p:blipFill>
          <a:blip r:embed="rId1"/>
          <a:srcRect l="-10044" r="-10044" t="0" b="0"/>
          <a:stretch/>
        </p:blipFill>
        <p:spPr>
          <a:xfrm>
            <a:off x="995825" y="4207892"/>
            <a:ext cx="2986650" cy="10583"/>
          </a:xfrm>
          <a:prstGeom prst="rect">
            <a:avLst/>
          </a:prstGeom>
        </p:spPr>
      </p:pic>
      <p:sp>
        <p:nvSpPr>
          <p:cNvPr id="9" name="Text 6"/>
          <p:cNvSpPr/>
          <p:nvPr/>
        </p:nvSpPr>
        <p:spPr>
          <a:xfrm>
            <a:off x="995825" y="4294684"/>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Bennett (2011) 30 </a:t>
            </a:r>
            <a:r>
              <a:rPr lang="en-US" sz="1200" i="1" dirty="0">
                <a:solidFill>
                  <a:srgbClr val="191814"/>
                </a:solidFill>
                <a:latin typeface="Inter" pitchFamily="34" charset="0"/>
                <a:ea typeface="Inter" pitchFamily="34" charset="-122"/>
                <a:cs typeface="Inter" pitchFamily="34" charset="-120"/>
              </a:rPr>
              <a:t>Law and Philosophy</a:t>
            </a:r>
            <a:r>
              <a:rPr lang="en-US" sz="1200" dirty="0">
                <a:solidFill>
                  <a:srgbClr val="191814"/>
                </a:solidFill>
                <a:latin typeface="Inter" pitchFamily="34" charset="0"/>
                <a:ea typeface="Inter" pitchFamily="34" charset="-122"/>
                <a:cs typeface="Inter" pitchFamily="34" charset="-120"/>
              </a:rPr>
              <a:t> 603 — its thesis </a:t>
            </a:r>
            <a:r>
              <a:rPr lang="en-US" sz="1200" i="1" dirty="0">
                <a:solidFill>
                  <a:srgbClr val="191814"/>
                </a:solidFill>
                <a:latin typeface="Inter" pitchFamily="34" charset="0"/>
                <a:ea typeface="Inter" pitchFamily="34" charset="-122"/>
                <a:cs typeface="Inter" pitchFamily="34" charset="-120"/>
              </a:rPr>
              <a:t>is</a:t>
            </a:r>
            <a:r>
              <a:rPr lang="en-US" sz="1200" dirty="0">
                <a:solidFill>
                  <a:srgbClr val="191814"/>
                </a:solidFill>
                <a:latin typeface="Inter" pitchFamily="34" charset="0"/>
                <a:ea typeface="Inter" pitchFamily="34" charset="-122"/>
                <a:cs typeface="Inter" pitchFamily="34" charset="-120"/>
              </a:rPr>
              <a:t> your premise, and it is free.</a:t>
            </a:r>
            <a:endParaRPr lang="en-US" sz="1200" dirty="0"/>
          </a:p>
        </p:txBody>
      </p:sp>
      <p:sp>
        <p:nvSpPr>
          <p:cNvPr id="10" name="Text 7"/>
          <p:cNvSpPr/>
          <p:nvPr/>
        </p:nvSpPr>
        <p:spPr>
          <a:xfrm>
            <a:off x="995825" y="4987999"/>
            <a:ext cx="3076249"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You must answer Kramer, not merely cite </a:t>
            </a:r>
            <a:r>
              <a:rPr lang="en-US" sz="1200" i="1" dirty="0">
                <a:solidFill>
                  <a:srgbClr val="5E5850"/>
                </a:solidFill>
                <a:latin typeface="Inter" pitchFamily="34" charset="0"/>
                <a:ea typeface="Inter" pitchFamily="34" charset="-122"/>
                <a:cs typeface="Inter" pitchFamily="34" charset="-120"/>
              </a:rPr>
              <a:t>MoL</a:t>
            </a:r>
            <a:r>
              <a:rPr lang="en-US" sz="1200" dirty="0">
                <a:solidFill>
                  <a:srgbClr val="5E5850"/>
                </a:solidFill>
                <a:latin typeface="Inter" pitchFamily="34" charset="0"/>
                <a:ea typeface="Inter" pitchFamily="34" charset="-122"/>
                <a:cs typeface="Inter" pitchFamily="34" charset="-120"/>
              </a:rPr>
              <a:t> 162 at him.</a:t>
            </a:r>
            <a:endParaRPr lang="en-US" sz="1200" dirty="0"/>
          </a:p>
        </p:txBody>
      </p:sp>
      <p:sp>
        <p:nvSpPr>
          <p:cNvPr id="11" name="Shape 8"/>
          <p:cNvSpPr/>
          <p:nvPr/>
        </p:nvSpPr>
        <p:spPr>
          <a:xfrm>
            <a:off x="4422750" y="1857350"/>
            <a:ext cx="3346417" cy="3914320"/>
          </a:xfrm>
          <a:prstGeom prst="roundRect">
            <a:avLst>
              <a:gd name="adj" fmla="val 3321"/>
            </a:avLst>
          </a:prstGeom>
          <a:solidFill>
            <a:srgbClr val="FFFFFF"/>
          </a:solidFill>
          <a:ln w="6350">
            <a:solidFill>
              <a:srgbClr val="E0D7C9"/>
            </a:solidFill>
            <a:prstDash val="solid"/>
          </a:ln>
        </p:spPr>
      </p:sp>
      <p:sp>
        <p:nvSpPr>
          <p:cNvPr id="12" name="Text 9"/>
          <p:cNvSpPr/>
          <p:nvPr/>
        </p:nvSpPr>
        <p:spPr>
          <a:xfrm>
            <a:off x="4602634"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C595D"/>
                </a:solidFill>
                <a:latin typeface="Inter" pitchFamily="34" charset="0"/>
                <a:ea typeface="Inter" pitchFamily="34" charset="-122"/>
                <a:cs typeface="Inter" pitchFamily="34" charset="-120"/>
              </a:rPr>
              <a:t>OPTION B</a:t>
            </a:r>
            <a:endParaRPr lang="en-US" sz="1200" dirty="0"/>
          </a:p>
        </p:txBody>
      </p:sp>
      <p:sp>
        <p:nvSpPr>
          <p:cNvPr id="13" name="Text 10"/>
          <p:cNvSpPr/>
          <p:nvPr/>
        </p:nvSpPr>
        <p:spPr>
          <a:xfrm>
            <a:off x="4602634" y="2326754"/>
            <a:ext cx="3076249" cy="463533"/>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“Counts as law” does not take a yes-or-no answer</a:t>
            </a:r>
            <a:endParaRPr lang="en-US" sz="1500" dirty="0"/>
          </a:p>
        </p:txBody>
      </p:sp>
      <p:sp>
        <p:nvSpPr>
          <p:cNvPr id="14" name="Text 11"/>
          <p:cNvSpPr/>
          <p:nvPr/>
        </p:nvSpPr>
        <p:spPr>
          <a:xfrm>
            <a:off x="4602634" y="2841079"/>
            <a:ext cx="3076249" cy="109696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Both limbs presuppose that legality is binary. A procedurally defective statute is law in a shallow sense and not law in a deeper, evaluative one. The principles are legality’s evaluative dimension.</a:t>
            </a:r>
            <a:endParaRPr lang="en-US" sz="1250" dirty="0"/>
          </a:p>
        </p:txBody>
      </p:sp>
      <p:pic>
        <p:nvPicPr>
          <p:cNvPr id="15" name="Image 1" descr="line">    </p:cNvPr>
          <p:cNvPicPr>
            <a:picLocks noChangeAspect="1"/>
          </p:cNvPicPr>
          <p:nvPr/>
        </p:nvPicPr>
        <p:blipFill>
          <a:blip r:embed="rId2"/>
          <a:srcRect l="-10044" r="-10044" t="0" b="0"/>
          <a:stretch/>
        </p:blipFill>
        <p:spPr>
          <a:xfrm>
            <a:off x="4602634" y="3988842"/>
            <a:ext cx="2986650" cy="10583"/>
          </a:xfrm>
          <a:prstGeom prst="rect">
            <a:avLst/>
          </a:prstGeom>
        </p:spPr>
      </p:pic>
      <p:sp>
        <p:nvSpPr>
          <p:cNvPr id="16" name="Text 12"/>
          <p:cNvSpPr/>
          <p:nvPr/>
        </p:nvSpPr>
        <p:spPr>
          <a:xfrm>
            <a:off x="4602634" y="4075609"/>
            <a:ext cx="3076249"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Simmonds (2005) 55 </a:t>
            </a:r>
            <a:r>
              <a:rPr lang="en-US" sz="1200" i="1" dirty="0">
                <a:solidFill>
                  <a:srgbClr val="191814"/>
                </a:solidFill>
                <a:latin typeface="Inter" pitchFamily="34" charset="0"/>
                <a:ea typeface="Inter" pitchFamily="34" charset="-122"/>
                <a:cs typeface="Inter" pitchFamily="34" charset="-120"/>
              </a:rPr>
              <a:t>UTLJ</a:t>
            </a:r>
            <a:r>
              <a:rPr lang="en-US" sz="1200" dirty="0">
                <a:solidFill>
                  <a:srgbClr val="191814"/>
                </a:solidFill>
                <a:latin typeface="Inter" pitchFamily="34" charset="0"/>
                <a:ea typeface="Inter" pitchFamily="34" charset="-122"/>
                <a:cs typeface="Inter" pitchFamily="34" charset="-120"/>
              </a:rPr>
              <a:t> 61 on the archetype; or Flanagan and de Almeida (2024) 43 </a:t>
            </a:r>
            <a:r>
              <a:rPr lang="en-US" sz="1200" i="1" dirty="0">
                <a:solidFill>
                  <a:srgbClr val="191814"/>
                </a:solidFill>
                <a:latin typeface="Inter" pitchFamily="34" charset="0"/>
                <a:ea typeface="Inter" pitchFamily="34" charset="-122"/>
                <a:cs typeface="Inter" pitchFamily="34" charset="-120"/>
              </a:rPr>
              <a:t>Law and Philosophy</a:t>
            </a:r>
            <a:r>
              <a:rPr lang="en-US" sz="1200" dirty="0">
                <a:solidFill>
                  <a:srgbClr val="191814"/>
                </a:solidFill>
                <a:latin typeface="Inter" pitchFamily="34" charset="0"/>
                <a:ea typeface="Inter" pitchFamily="34" charset="-122"/>
                <a:cs typeface="Inter" pitchFamily="34" charset="-120"/>
              </a:rPr>
              <a:t> 507, open access.</a:t>
            </a:r>
            <a:endParaRPr lang="en-US" sz="1200" dirty="0"/>
          </a:p>
        </p:txBody>
      </p:sp>
      <p:sp>
        <p:nvSpPr>
          <p:cNvPr id="17" name="Text 13"/>
          <p:cNvSpPr/>
          <p:nvPr/>
        </p:nvSpPr>
        <p:spPr>
          <a:xfrm>
            <a:off x="4602634" y="4974654"/>
            <a:ext cx="3076249" cy="642541"/>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Handle is/ought explicitly: usage is evidence about the concept, not the world.</a:t>
            </a:r>
            <a:endParaRPr lang="en-US" sz="1200" dirty="0"/>
          </a:p>
        </p:txBody>
      </p:sp>
      <p:sp>
        <p:nvSpPr>
          <p:cNvPr id="18" name="Shape 14"/>
          <p:cNvSpPr/>
          <p:nvPr/>
        </p:nvSpPr>
        <p:spPr>
          <a:xfrm>
            <a:off x="8029558" y="1857350"/>
            <a:ext cx="3346417" cy="3922919"/>
          </a:xfrm>
          <a:prstGeom prst="roundRect">
            <a:avLst>
              <a:gd name="adj" fmla="val 3321"/>
            </a:avLst>
          </a:prstGeom>
          <a:solidFill>
            <a:srgbClr val="FFFFFF"/>
          </a:solidFill>
          <a:ln w="6350">
            <a:solidFill>
              <a:srgbClr val="E0D7C9"/>
            </a:solidFill>
            <a:prstDash val="solid"/>
          </a:ln>
        </p:spPr>
      </p:sp>
      <p:sp>
        <p:nvSpPr>
          <p:cNvPr id="19" name="Text 15"/>
          <p:cNvSpPr/>
          <p:nvPr/>
        </p:nvSpPr>
        <p:spPr>
          <a:xfrm>
            <a:off x="8209442" y="2037234"/>
            <a:ext cx="307624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6110"/>
                </a:solidFill>
                <a:latin typeface="Inter" pitchFamily="34" charset="0"/>
                <a:ea typeface="Inter" pitchFamily="34" charset="-122"/>
                <a:cs typeface="Inter" pitchFamily="34" charset="-120"/>
              </a:rPr>
              <a:t>OPTION C</a:t>
            </a:r>
            <a:endParaRPr lang="en-US" sz="1200" dirty="0"/>
          </a:p>
        </p:txBody>
      </p:sp>
      <p:sp>
        <p:nvSpPr>
          <p:cNvPr id="20" name="Text 16"/>
          <p:cNvSpPr/>
          <p:nvPr/>
        </p:nvSpPr>
        <p:spPr>
          <a:xfrm>
            <a:off x="8209442" y="2326754"/>
            <a:ext cx="3076249" cy="463533"/>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Law is a reciprocal practice, so the analogies do not transfer</a:t>
            </a:r>
            <a:endParaRPr lang="en-US" sz="1500" dirty="0"/>
          </a:p>
        </p:txBody>
      </p:sp>
      <p:sp>
        <p:nvSpPr>
          <p:cNvPr id="21" name="Text 17"/>
          <p:cNvSpPr/>
          <p:nvPr/>
        </p:nvSpPr>
        <p:spPr>
          <a:xfrm>
            <a:off x="8209442" y="2841079"/>
            <a:ext cx="3076249" cy="131127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poisoner and the instrument model law as something done </a:t>
            </a:r>
            <a:r>
              <a:rPr lang="en-US" sz="1250" i="1" dirty="0">
                <a:solidFill>
                  <a:srgbClr val="5E5850"/>
                </a:solidFill>
                <a:latin typeface="Inter" pitchFamily="34" charset="0"/>
                <a:ea typeface="Inter" pitchFamily="34" charset="-122"/>
                <a:cs typeface="Inter" pitchFamily="34" charset="-120"/>
              </a:rPr>
              <a:t>to</a:t>
            </a:r>
            <a:r>
              <a:rPr lang="en-US" sz="1250" dirty="0">
                <a:solidFill>
                  <a:srgbClr val="5E5850"/>
                </a:solidFill>
                <a:latin typeface="Inter" pitchFamily="34" charset="0"/>
                <a:ea typeface="Inter" pitchFamily="34" charset="-122"/>
                <a:cs typeface="Inter" pitchFamily="34" charset="-120"/>
              </a:rPr>
              <a:t> people. Fuller models it as a relationship </a:t>
            </a:r>
            <a:r>
              <a:rPr lang="en-US" sz="1250" i="1" dirty="0">
                <a:solidFill>
                  <a:srgbClr val="5E5850"/>
                </a:solidFill>
                <a:latin typeface="Inter" pitchFamily="34" charset="0"/>
                <a:ea typeface="Inter" pitchFamily="34" charset="-122"/>
                <a:cs typeface="Inter" pitchFamily="34" charset="-120"/>
              </a:rPr>
              <a:t>with</a:t>
            </a:r>
            <a:r>
              <a:rPr lang="en-US" sz="1250" dirty="0">
                <a:solidFill>
                  <a:srgbClr val="5E5850"/>
                </a:solidFill>
                <a:latin typeface="Inter" pitchFamily="34" charset="0"/>
                <a:ea typeface="Inter" pitchFamily="34" charset="-122"/>
                <a:cs typeface="Inter" pitchFamily="34" charset="-120"/>
              </a:rPr>
              <a:t> them. An activity with an addressee who must be able to follow the rules differs structurally.</a:t>
            </a:r>
            <a:endParaRPr lang="en-US" sz="1250" dirty="0"/>
          </a:p>
        </p:txBody>
      </p:sp>
      <p:pic>
        <p:nvPicPr>
          <p:cNvPr id="22" name="Image 2" descr="line">    </p:cNvPr>
          <p:cNvPicPr>
            <a:picLocks noChangeAspect="1"/>
          </p:cNvPicPr>
          <p:nvPr/>
        </p:nvPicPr>
        <p:blipFill>
          <a:blip r:embed="rId3"/>
          <a:srcRect l="-10044" r="-10044" t="0" b="0"/>
          <a:stretch/>
        </p:blipFill>
        <p:spPr>
          <a:xfrm>
            <a:off x="8209442" y="4203154"/>
            <a:ext cx="2986650" cy="10583"/>
          </a:xfrm>
          <a:prstGeom prst="rect">
            <a:avLst/>
          </a:prstGeom>
        </p:spPr>
      </p:pic>
      <p:sp>
        <p:nvSpPr>
          <p:cNvPr id="23" name="Text 18"/>
          <p:cNvSpPr/>
          <p:nvPr/>
        </p:nvSpPr>
        <p:spPr>
          <a:xfrm>
            <a:off x="8209442" y="4289921"/>
            <a:ext cx="3076249" cy="848254"/>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91814"/>
                </a:solidFill>
                <a:latin typeface="Inter" pitchFamily="34" charset="0"/>
                <a:ea typeface="Inter" pitchFamily="34" charset="-122"/>
                <a:cs typeface="Inter" pitchFamily="34" charset="-120"/>
              </a:rPr>
              <a:t>Annotate:</a:t>
            </a:r>
            <a:r>
              <a:rPr lang="en-US" sz="1200" dirty="0">
                <a:solidFill>
                  <a:srgbClr val="191814"/>
                </a:solidFill>
                <a:latin typeface="Inter" pitchFamily="34" charset="0"/>
                <a:ea typeface="Inter" pitchFamily="34" charset="-122"/>
                <a:cs typeface="Inter" pitchFamily="34" charset="-120"/>
              </a:rPr>
              <a:t> Rundle (2013) 32 </a:t>
            </a:r>
            <a:r>
              <a:rPr lang="en-US" sz="1200" i="1" dirty="0">
                <a:solidFill>
                  <a:srgbClr val="191814"/>
                </a:solidFill>
                <a:latin typeface="Inter" pitchFamily="34" charset="0"/>
                <a:ea typeface="Inter" pitchFamily="34" charset="-122"/>
                <a:cs typeface="Inter" pitchFamily="34" charset="-120"/>
              </a:rPr>
              <a:t>Law and Philosophy</a:t>
            </a:r>
            <a:r>
              <a:rPr lang="en-US" sz="1200" dirty="0">
                <a:solidFill>
                  <a:srgbClr val="191814"/>
                </a:solidFill>
                <a:latin typeface="Inter" pitchFamily="34" charset="0"/>
                <a:ea typeface="Inter" pitchFamily="34" charset="-122"/>
                <a:cs typeface="Inter" pitchFamily="34" charset="-120"/>
              </a:rPr>
              <a:t> 767; or Colleen Murphy (2005) 24 </a:t>
            </a:r>
            <a:r>
              <a:rPr lang="en-US" sz="1200" i="1" dirty="0">
                <a:solidFill>
                  <a:srgbClr val="191814"/>
                </a:solidFill>
                <a:latin typeface="Inter" pitchFamily="34" charset="0"/>
                <a:ea typeface="Inter" pitchFamily="34" charset="-122"/>
                <a:cs typeface="Inter" pitchFamily="34" charset="-120"/>
              </a:rPr>
              <a:t>Law and Philosophy</a:t>
            </a:r>
            <a:r>
              <a:rPr lang="en-US" sz="1200" dirty="0">
                <a:solidFill>
                  <a:srgbClr val="191814"/>
                </a:solidFill>
                <a:latin typeface="Inter" pitchFamily="34" charset="0"/>
                <a:ea typeface="Inter" pitchFamily="34" charset="-122"/>
                <a:cs typeface="Inter" pitchFamily="34" charset="-120"/>
              </a:rPr>
              <a:t> 239, free author PDF.</a:t>
            </a:r>
            <a:endParaRPr lang="en-US" sz="1200" dirty="0"/>
          </a:p>
        </p:txBody>
      </p:sp>
      <p:sp>
        <p:nvSpPr>
          <p:cNvPr id="24" name="Text 19"/>
          <p:cNvSpPr/>
          <p:nvPr/>
        </p:nvSpPr>
        <p:spPr>
          <a:xfrm>
            <a:off x="8209442" y="5188967"/>
            <a:ext cx="3076249" cy="436827"/>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5E5850"/>
                </a:solidFill>
                <a:latin typeface="Inter" pitchFamily="34" charset="0"/>
                <a:ea typeface="Inter" pitchFamily="34" charset="-122"/>
                <a:cs typeface="Inter" pitchFamily="34" charset="-120"/>
              </a:rPr>
              <a:t>Risk:</a:t>
            </a:r>
            <a:r>
              <a:rPr lang="en-US" sz="1200" dirty="0">
                <a:solidFill>
                  <a:srgbClr val="5E5850"/>
                </a:solidFill>
                <a:latin typeface="Inter" pitchFamily="34" charset="0"/>
                <a:ea typeface="Inter" pitchFamily="34" charset="-122"/>
                <a:cs typeface="Inter" pitchFamily="34" charset="-120"/>
              </a:rPr>
              <a:t> Kramer’s self-interested tyrant complies fully. Meet that head-on.</a:t>
            </a:r>
            <a:endParaRPr lang="en-US" sz="1200" dirty="0"/>
          </a:p>
        </p:txBody>
      </p:sp>
      <p:sp>
        <p:nvSpPr>
          <p:cNvPr id="25" name="Text 20"/>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26" name="Text 21"/>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A SKELETON FOR QUESTION 2</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1,500 words, six moves</a:t>
            </a:r>
            <a:endParaRPr lang="en-US" sz="3000" dirty="0"/>
          </a:p>
        </p:txBody>
      </p:sp>
      <p:sp>
        <p:nvSpPr>
          <p:cNvPr id="4" name="Shape 2"/>
          <p:cNvSpPr/>
          <p:nvPr/>
        </p:nvSpPr>
        <p:spPr>
          <a:xfrm>
            <a:off x="815942" y="1882750"/>
            <a:ext cx="10560033" cy="465146"/>
          </a:xfrm>
          <a:prstGeom prst="roundRect">
            <a:avLst>
              <a:gd name="adj" fmla="val 18430"/>
            </a:avLst>
          </a:prstGeom>
          <a:solidFill>
            <a:srgbClr val="FFFFFF"/>
          </a:solidFill>
          <a:ln w="6350">
            <a:solidFill>
              <a:srgbClr val="E0D7C9"/>
            </a:solidFill>
            <a:prstDash val="solid"/>
          </a:ln>
        </p:spPr>
      </p:sp>
      <p:sp>
        <p:nvSpPr>
          <p:cNvPr id="5" name="Text 3"/>
          <p:cNvSpPr/>
          <p:nvPr/>
        </p:nvSpPr>
        <p:spPr>
          <a:xfrm>
            <a:off x="983134" y="1986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170</a:t>
            </a:r>
            <a:endParaRPr lang="en-US" sz="1450" dirty="0"/>
          </a:p>
        </p:txBody>
      </p:sp>
      <p:sp>
        <p:nvSpPr>
          <p:cNvPr id="6" name="Text 4"/>
          <p:cNvSpPr/>
          <p:nvPr/>
        </p:nvSpPr>
        <p:spPr>
          <a:xfrm>
            <a:off x="1846709" y="1999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  Introduction</a:t>
            </a:r>
            <a:endParaRPr lang="en-US" sz="1300" dirty="0"/>
          </a:p>
        </p:txBody>
      </p:sp>
      <p:sp>
        <p:nvSpPr>
          <p:cNvPr id="7" name="Text 5"/>
          <p:cNvSpPr/>
          <p:nvPr/>
        </p:nvSpPr>
        <p:spPr>
          <a:xfrm>
            <a:off x="4043784" y="2008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The question, your answer, the route. Name the conclusion.</a:t>
            </a:r>
            <a:endParaRPr lang="en-US" sz="1250" dirty="0"/>
          </a:p>
        </p:txBody>
      </p:sp>
      <p:sp>
        <p:nvSpPr>
          <p:cNvPr id="8" name="Shape 6"/>
          <p:cNvSpPr/>
          <p:nvPr/>
        </p:nvSpPr>
        <p:spPr>
          <a:xfrm>
            <a:off x="815942" y="2390750"/>
            <a:ext cx="10560033" cy="465146"/>
          </a:xfrm>
          <a:prstGeom prst="roundRect">
            <a:avLst>
              <a:gd name="adj" fmla="val 18430"/>
            </a:avLst>
          </a:prstGeom>
          <a:solidFill>
            <a:srgbClr val="FFFFFF"/>
          </a:solidFill>
          <a:ln w="6350">
            <a:solidFill>
              <a:srgbClr val="E0D7C9"/>
            </a:solidFill>
            <a:prstDash val="solid"/>
          </a:ln>
        </p:spPr>
      </p:sp>
      <p:sp>
        <p:nvSpPr>
          <p:cNvPr id="9" name="Text 7"/>
          <p:cNvSpPr/>
          <p:nvPr/>
        </p:nvSpPr>
        <p:spPr>
          <a:xfrm>
            <a:off x="983134" y="2494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250</a:t>
            </a:r>
            <a:endParaRPr lang="en-US" sz="1450" dirty="0"/>
          </a:p>
        </p:txBody>
      </p:sp>
      <p:sp>
        <p:nvSpPr>
          <p:cNvPr id="10" name="Text 8"/>
          <p:cNvSpPr/>
          <p:nvPr/>
        </p:nvSpPr>
        <p:spPr>
          <a:xfrm>
            <a:off x="1846709" y="2507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II  Two axes</a:t>
            </a:r>
            <a:endParaRPr lang="en-US" sz="1300" dirty="0"/>
          </a:p>
        </p:txBody>
      </p:sp>
      <p:sp>
        <p:nvSpPr>
          <p:cNvPr id="11" name="Text 9"/>
          <p:cNvSpPr/>
          <p:nvPr/>
        </p:nvSpPr>
        <p:spPr>
          <a:xfrm>
            <a:off x="4043784" y="2516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Constitutive? and moral? come apart. The key-elements paragraph.</a:t>
            </a:r>
            <a:endParaRPr lang="en-US" sz="1250" dirty="0"/>
          </a:p>
        </p:txBody>
      </p:sp>
      <p:sp>
        <p:nvSpPr>
          <p:cNvPr id="12" name="Shape 10"/>
          <p:cNvSpPr/>
          <p:nvPr/>
        </p:nvSpPr>
        <p:spPr>
          <a:xfrm>
            <a:off x="815942" y="2898750"/>
            <a:ext cx="10560033" cy="465146"/>
          </a:xfrm>
          <a:prstGeom prst="roundRect">
            <a:avLst>
              <a:gd name="adj" fmla="val 18430"/>
            </a:avLst>
          </a:prstGeom>
          <a:solidFill>
            <a:srgbClr val="FFFFFF"/>
          </a:solidFill>
          <a:ln w="6350">
            <a:solidFill>
              <a:srgbClr val="E0D7C9"/>
            </a:solidFill>
            <a:prstDash val="solid"/>
          </a:ln>
        </p:spPr>
      </p:sp>
      <p:sp>
        <p:nvSpPr>
          <p:cNvPr id="13" name="Text 11"/>
          <p:cNvSpPr/>
          <p:nvPr/>
        </p:nvSpPr>
        <p:spPr>
          <a:xfrm>
            <a:off x="983134" y="3002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280</a:t>
            </a:r>
            <a:endParaRPr lang="en-US" sz="1450" dirty="0"/>
          </a:p>
        </p:txBody>
      </p:sp>
      <p:sp>
        <p:nvSpPr>
          <p:cNvPr id="14" name="Text 12"/>
          <p:cNvSpPr/>
          <p:nvPr/>
        </p:nvSpPr>
        <p:spPr>
          <a:xfrm>
            <a:off x="1846709" y="3015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III  Fuller, charitably</a:t>
            </a:r>
            <a:endParaRPr lang="en-US" sz="1300" dirty="0"/>
          </a:p>
        </p:txBody>
      </p:sp>
      <p:sp>
        <p:nvSpPr>
          <p:cNvPr id="15" name="Text 13"/>
          <p:cNvSpPr/>
          <p:nvPr/>
        </p:nvSpPr>
        <p:spPr>
          <a:xfrm>
            <a:off x="4043784" y="3024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Total failure of a system, reciprocity, agency — not </a:t>
            </a:r>
            <a:r>
              <a:rPr lang="en-US" sz="1250" i="1" dirty="0">
                <a:solidFill>
                  <a:srgbClr val="5E5850"/>
                </a:solidFill>
                <a:latin typeface="Inter" pitchFamily="34" charset="0"/>
                <a:ea typeface="Inter" pitchFamily="34" charset="-122"/>
                <a:cs typeface="Inter" pitchFamily="34" charset="-120"/>
              </a:rPr>
              <a:t>lex iniusta non est lex</a:t>
            </a:r>
            <a:r>
              <a:rPr lang="en-US" sz="1250" dirty="0">
                <a:solidFill>
                  <a:srgbClr val="5E5850"/>
                </a:solidFill>
                <a:latin typeface="Inter" pitchFamily="34" charset="0"/>
                <a:ea typeface="Inter" pitchFamily="34" charset="-122"/>
                <a:cs typeface="Inter" pitchFamily="34" charset="-120"/>
              </a:rPr>
              <a:t>.</a:t>
            </a:r>
            <a:endParaRPr lang="en-US" sz="1250" dirty="0"/>
          </a:p>
        </p:txBody>
      </p:sp>
      <p:sp>
        <p:nvSpPr>
          <p:cNvPr id="16" name="Shape 14"/>
          <p:cNvSpPr/>
          <p:nvPr/>
        </p:nvSpPr>
        <p:spPr>
          <a:xfrm>
            <a:off x="815942" y="3406750"/>
            <a:ext cx="10560033" cy="669660"/>
          </a:xfrm>
          <a:prstGeom prst="roundRect">
            <a:avLst>
              <a:gd name="adj" fmla="val 12801"/>
            </a:avLst>
          </a:prstGeom>
          <a:solidFill>
            <a:srgbClr val="FFFFFF"/>
          </a:solidFill>
          <a:ln w="6350">
            <a:solidFill>
              <a:srgbClr val="E0D7C9"/>
            </a:solidFill>
            <a:prstDash val="solid"/>
          </a:ln>
        </p:spPr>
      </p:sp>
      <p:sp>
        <p:nvSpPr>
          <p:cNvPr id="17" name="Text 15"/>
          <p:cNvSpPr/>
          <p:nvPr/>
        </p:nvSpPr>
        <p:spPr>
          <a:xfrm>
            <a:off x="983134" y="3612679"/>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300</a:t>
            </a:r>
            <a:endParaRPr lang="en-US" sz="1450" dirty="0"/>
          </a:p>
        </p:txBody>
      </p:sp>
      <p:sp>
        <p:nvSpPr>
          <p:cNvPr id="18" name="Text 16"/>
          <p:cNvSpPr/>
          <p:nvPr/>
        </p:nvSpPr>
        <p:spPr>
          <a:xfrm>
            <a:off x="1846709" y="3510434"/>
            <a:ext cx="2092960"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IV  The strongest objection</a:t>
            </a:r>
            <a:endParaRPr lang="en-US" sz="1300" dirty="0"/>
          </a:p>
        </p:txBody>
      </p:sp>
      <p:sp>
        <p:nvSpPr>
          <p:cNvPr id="19" name="Text 17"/>
          <p:cNvSpPr/>
          <p:nvPr/>
        </p:nvSpPr>
        <p:spPr>
          <a:xfrm>
            <a:off x="4043784" y="363440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Kramer’s prudent tyrant, Hart at 207, or Raz at 226, at full strength.</a:t>
            </a:r>
            <a:endParaRPr lang="en-US" sz="1250" dirty="0"/>
          </a:p>
        </p:txBody>
      </p:sp>
      <p:sp>
        <p:nvSpPr>
          <p:cNvPr id="20" name="Shape 18"/>
          <p:cNvSpPr/>
          <p:nvPr/>
        </p:nvSpPr>
        <p:spPr>
          <a:xfrm>
            <a:off x="815942" y="3914750"/>
            <a:ext cx="10560033" cy="465146"/>
          </a:xfrm>
          <a:prstGeom prst="roundRect">
            <a:avLst>
              <a:gd name="adj" fmla="val 18430"/>
            </a:avLst>
          </a:prstGeom>
          <a:solidFill>
            <a:srgbClr val="FFFFFF"/>
          </a:solidFill>
          <a:ln w="6350">
            <a:solidFill>
              <a:srgbClr val="E0D7C9"/>
            </a:solidFill>
            <a:prstDash val="solid"/>
          </a:ln>
        </p:spPr>
      </p:sp>
      <p:sp>
        <p:nvSpPr>
          <p:cNvPr id="21" name="Text 19"/>
          <p:cNvSpPr/>
          <p:nvPr/>
        </p:nvSpPr>
        <p:spPr>
          <a:xfrm>
            <a:off x="983134" y="4018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350</a:t>
            </a:r>
            <a:endParaRPr lang="en-US" sz="1450" dirty="0"/>
          </a:p>
        </p:txBody>
      </p:sp>
      <p:sp>
        <p:nvSpPr>
          <p:cNvPr id="22" name="Text 20"/>
          <p:cNvSpPr/>
          <p:nvPr/>
        </p:nvSpPr>
        <p:spPr>
          <a:xfrm>
            <a:off x="1846709" y="4031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V  Your answer</a:t>
            </a:r>
            <a:endParaRPr lang="en-US" sz="1300" dirty="0"/>
          </a:p>
        </p:txBody>
      </p:sp>
      <p:sp>
        <p:nvSpPr>
          <p:cNvPr id="23" name="Text 21"/>
          <p:cNvSpPr/>
          <p:nvPr/>
        </p:nvSpPr>
        <p:spPr>
          <a:xfrm>
            <a:off x="4043784" y="4040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Where the objection fails and why your position survives.</a:t>
            </a:r>
            <a:endParaRPr lang="en-US" sz="1250" dirty="0"/>
          </a:p>
        </p:txBody>
      </p:sp>
      <p:sp>
        <p:nvSpPr>
          <p:cNvPr id="24" name="Shape 22"/>
          <p:cNvSpPr/>
          <p:nvPr/>
        </p:nvSpPr>
        <p:spPr>
          <a:xfrm>
            <a:off x="815942" y="4422750"/>
            <a:ext cx="10560033" cy="465146"/>
          </a:xfrm>
          <a:prstGeom prst="roundRect">
            <a:avLst>
              <a:gd name="adj" fmla="val 18430"/>
            </a:avLst>
          </a:prstGeom>
          <a:solidFill>
            <a:srgbClr val="FFFFFF"/>
          </a:solidFill>
          <a:ln w="6350">
            <a:solidFill>
              <a:srgbClr val="E0D7C9"/>
            </a:solidFill>
            <a:prstDash val="solid"/>
          </a:ln>
        </p:spPr>
      </p:sp>
      <p:sp>
        <p:nvSpPr>
          <p:cNvPr id="25" name="Text 23"/>
          <p:cNvSpPr/>
          <p:nvPr/>
        </p:nvSpPr>
        <p:spPr>
          <a:xfrm>
            <a:off x="983134" y="452643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150</a:t>
            </a:r>
            <a:endParaRPr lang="en-US" sz="1450" dirty="0"/>
          </a:p>
        </p:txBody>
      </p:sp>
      <p:sp>
        <p:nvSpPr>
          <p:cNvPr id="26" name="Text 24"/>
          <p:cNvSpPr/>
          <p:nvPr/>
        </p:nvSpPr>
        <p:spPr>
          <a:xfrm>
            <a:off x="1846709" y="4539754"/>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VI  Conclusion</a:t>
            </a:r>
            <a:endParaRPr lang="en-US" sz="1300" dirty="0"/>
          </a:p>
        </p:txBody>
      </p:sp>
      <p:sp>
        <p:nvSpPr>
          <p:cNvPr id="27" name="Text 25"/>
          <p:cNvSpPr/>
          <p:nvPr/>
        </p:nvSpPr>
        <p:spPr>
          <a:xfrm>
            <a:off x="4043784" y="4548138"/>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Answer the question as asked, in its own terms.</a:t>
            </a:r>
            <a:endParaRPr lang="en-US" sz="1250" dirty="0"/>
          </a:p>
        </p:txBody>
      </p:sp>
      <p:sp>
        <p:nvSpPr>
          <p:cNvPr id="28" name="Shape 26"/>
          <p:cNvSpPr/>
          <p:nvPr/>
        </p:nvSpPr>
        <p:spPr>
          <a:xfrm>
            <a:off x="812767" y="5016500"/>
            <a:ext cx="10566383" cy="759354"/>
          </a:xfrm>
          <a:prstGeom prst="roundRect">
            <a:avLst>
              <a:gd name="adj" fmla="val 11707"/>
            </a:avLst>
          </a:prstGeom>
          <a:solidFill>
            <a:srgbClr val="E5EEEC"/>
          </a:solidFill>
          <a:ln/>
        </p:spPr>
      </p:sp>
      <p:sp>
        <p:nvSpPr>
          <p:cNvPr id="29" name="Shape 27"/>
          <p:cNvSpPr/>
          <p:nvPr/>
        </p:nvSpPr>
        <p:spPr>
          <a:xfrm>
            <a:off x="831817" y="5016500"/>
            <a:ext cx="0" cy="759354"/>
          </a:xfrm>
          <a:prstGeom prst="line">
            <a:avLst/>
          </a:prstGeom>
          <a:noFill/>
          <a:ln w="38100">
            <a:solidFill>
              <a:srgbClr val="1C595D"/>
            </a:solidFill>
            <a:prstDash val="solid"/>
          </a:ln>
        </p:spPr>
      </p:sp>
      <p:sp>
        <p:nvSpPr>
          <p:cNvPr id="30" name="Text 28"/>
          <p:cNvSpPr/>
          <p:nvPr/>
        </p:nvSpPr>
        <p:spPr>
          <a:xfrm>
            <a:off x="1027575" y="5156175"/>
            <a:ext cx="10479022"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Cases (</a:t>
            </a:r>
            <a:r>
              <a:rPr lang="en-US" sz="1350" i="1" dirty="0">
                <a:solidFill>
                  <a:srgbClr val="191814"/>
                </a:solidFill>
                <a:latin typeface="Inter" pitchFamily="34" charset="0"/>
                <a:ea typeface="Inter" pitchFamily="34" charset="-122"/>
                <a:cs typeface="Inter" pitchFamily="34" charset="-120"/>
              </a:rPr>
              <a:t>Polyukhovich</a:t>
            </a:r>
            <a:r>
              <a:rPr lang="en-US" sz="1350" dirty="0">
                <a:solidFill>
                  <a:srgbClr val="191814"/>
                </a:solidFill>
                <a:latin typeface="Inter" pitchFamily="34" charset="0"/>
                <a:ea typeface="Inter" pitchFamily="34" charset="-122"/>
                <a:cs typeface="Inter" pitchFamily="34" charset="-120"/>
              </a:rPr>
              <a:t> on retrospectivity, </a:t>
            </a:r>
            <a:r>
              <a:rPr lang="en-US" sz="1350" i="1" dirty="0">
                <a:solidFill>
                  <a:srgbClr val="191814"/>
                </a:solidFill>
                <a:latin typeface="Inter" pitchFamily="34" charset="0"/>
                <a:ea typeface="Inter" pitchFamily="34" charset="-122"/>
                <a:cs typeface="Inter" pitchFamily="34" charset="-120"/>
              </a:rPr>
              <a:t>Plaintiff S157</a:t>
            </a:r>
            <a:r>
              <a:rPr lang="en-US" sz="1350" dirty="0">
                <a:solidFill>
                  <a:srgbClr val="191814"/>
                </a:solidFill>
                <a:latin typeface="Inter" pitchFamily="34" charset="0"/>
                <a:ea typeface="Inter" pitchFamily="34" charset="-122"/>
                <a:cs typeface="Inter" pitchFamily="34" charset="-120"/>
              </a:rPr>
              <a:t> on congruence) are illustration only — Instruction 5 makes them supplementary. One case, one sentence, at most.</a:t>
            </a:r>
            <a:endParaRPr lang="en-US" sz="1350" dirty="0"/>
          </a:p>
        </p:txBody>
      </p:sp>
      <p:sp>
        <p:nvSpPr>
          <p:cNvPr id="31" name="Text 29"/>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05 · Question 2</a:t>
            </a:r>
            <a:endParaRPr lang="en-US" sz="1200" dirty="0"/>
          </a:p>
        </p:txBody>
      </p:sp>
      <p:sp>
        <p:nvSpPr>
          <p:cNvPr id="32" name="Text 30"/>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B0451D"/>
        </a:solidFill>
      </p:bgPr>
    </p:bg>
    <p:spTree>
      <p:nvGrpSpPr>
        <p:cNvPr id="1" name=""/>
        <p:cNvGrpSpPr/>
        <p:nvPr/>
      </p:nvGrpSpPr>
      <p:grpSpPr>
        <a:xfrm>
          <a:off x="0" y="0"/>
          <a:ext cx="0" cy="0"/>
          <a:chOff x="0" y="0"/>
          <a:chExt cx="0" cy="0"/>
        </a:xfrm>
      </p:grpSpPr>
      <p:sp>
        <p:nvSpPr>
          <p:cNvPr id="2" name="Text 0"/>
          <p:cNvSpPr/>
          <p:nvPr/>
        </p:nvSpPr>
        <p:spPr>
          <a:xfrm>
            <a:off x="812767" y="1905000"/>
            <a:ext cx="6540500" cy="1168400"/>
          </a:xfrm>
          <a:prstGeom prst="rect">
            <a:avLst/>
          </a:prstGeom>
          <a:noFill/>
          <a:ln/>
        </p:spPr>
        <p:txBody>
          <a:bodyPr wrap="square" lIns="0" tIns="0" rIns="0" bIns="0" rtlCol="0" anchor="t">
            <a:normAutofit/>
          </a:bodyPr>
          <a:lstStyle/>
          <a:p>
            <a:pPr algn="l" indent="0" marL="0">
              <a:lnSpc>
                <a:spcPts val="9000"/>
              </a:lnSpc>
              <a:buNone/>
            </a:pPr>
            <a:r>
              <a:rPr lang="en-US" sz="9000" dirty="0">
                <a:solidFill>
                  <a:srgbClr val="E38A5F"/>
                </a:solidFill>
                <a:latin typeface="Fraunces" pitchFamily="34" charset="0"/>
                <a:ea typeface="Fraunces" pitchFamily="34" charset="-122"/>
                <a:cs typeface="Fraunces" pitchFamily="34" charset="-120"/>
              </a:rPr>
              <a:t>06</a:t>
            </a:r>
            <a:endParaRPr lang="en-US" sz="9000" dirty="0"/>
          </a:p>
        </p:txBody>
      </p:sp>
      <p:sp>
        <p:nvSpPr>
          <p:cNvPr id="3" name="Text 1"/>
          <p:cNvSpPr/>
          <p:nvPr/>
        </p:nvSpPr>
        <p:spPr>
          <a:xfrm>
            <a:off x="812767" y="3175000"/>
            <a:ext cx="9810750" cy="638779"/>
          </a:xfrm>
          <a:prstGeom prst="rect">
            <a:avLst/>
          </a:prstGeom>
          <a:noFill/>
          <a:ln/>
        </p:spPr>
        <p:txBody>
          <a:bodyPr wrap="square" lIns="0" tIns="0" rIns="0" bIns="0" rtlCol="0" anchor="t">
            <a:normAutofit/>
          </a:bodyPr>
          <a:lstStyle/>
          <a:p>
            <a:pPr algn="l" indent="0" marL="0">
              <a:lnSpc>
                <a:spcPts val="4830"/>
              </a:lnSpc>
              <a:buNone/>
            </a:pPr>
            <a:r>
              <a:rPr lang="en-US" sz="4600" b="1" dirty="0">
                <a:solidFill>
                  <a:srgbClr val="FBF6ED"/>
                </a:solidFill>
                <a:latin typeface="Fraunces" pitchFamily="34" charset="0"/>
                <a:ea typeface="Fraunces" pitchFamily="34" charset="-122"/>
                <a:cs typeface="Fraunces" pitchFamily="34" charset="-120"/>
              </a:rPr>
              <a:t>Building it</a:t>
            </a:r>
            <a:endParaRPr lang="en-US" sz="4600" dirty="0"/>
          </a:p>
        </p:txBody>
      </p:sp>
      <p:sp>
        <p:nvSpPr>
          <p:cNvPr id="4" name="Text 2"/>
          <p:cNvSpPr/>
          <p:nvPr/>
        </p:nvSpPr>
        <p:spPr>
          <a:xfrm>
            <a:off x="812767" y="4191000"/>
            <a:ext cx="8110220" cy="634934"/>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F3D9C8"/>
                </a:solidFill>
                <a:latin typeface="Inter" pitchFamily="34" charset="0"/>
                <a:ea typeface="Inter" pitchFamily="34" charset="-122"/>
                <a:cs typeface="Inter" pitchFamily="34" charset="-120"/>
              </a:rPr>
              <a:t>Word budget, structure, the annotated source, the reflective paragraph, AGLC4 — and what to do with the time that is left.</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WORD BUDGET</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1,500 words is about five paragraphs of real argument</a:t>
            </a:r>
            <a:endParaRPr lang="en-US" sz="3000" dirty="0"/>
          </a:p>
        </p:txBody>
      </p:sp>
      <p:sp>
        <p:nvSpPr>
          <p:cNvPr id="4" name="Text 2"/>
          <p:cNvSpPr/>
          <p:nvPr/>
        </p:nvSpPr>
        <p:spPr>
          <a:xfrm>
            <a:off x="812767" y="1946870"/>
            <a:ext cx="2616200" cy="265385"/>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Introduction</a:t>
            </a:r>
            <a:endParaRPr lang="en-US" sz="1350" dirty="0"/>
          </a:p>
        </p:txBody>
      </p:sp>
      <p:sp>
        <p:nvSpPr>
          <p:cNvPr id="5" name="Shape 3"/>
          <p:cNvSpPr/>
          <p:nvPr/>
        </p:nvSpPr>
        <p:spPr>
          <a:xfrm>
            <a:off x="3505150" y="1879575"/>
            <a:ext cx="1339825" cy="374633"/>
          </a:xfrm>
          <a:prstGeom prst="roundRect">
            <a:avLst>
              <a:gd name="adj" fmla="val 13560"/>
            </a:avLst>
          </a:prstGeom>
          <a:solidFill>
            <a:srgbClr val="B0451D"/>
          </a:solidFill>
          <a:ln/>
        </p:spPr>
      </p:sp>
      <p:sp>
        <p:nvSpPr>
          <p:cNvPr id="6" name="Text 4"/>
          <p:cNvSpPr/>
          <p:nvPr/>
        </p:nvSpPr>
        <p:spPr>
          <a:xfrm>
            <a:off x="3619417" y="1955750"/>
            <a:ext cx="1162091"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150–180</a:t>
            </a:r>
            <a:endParaRPr lang="en-US" sz="1250" dirty="0"/>
          </a:p>
        </p:txBody>
      </p:sp>
      <p:sp>
        <p:nvSpPr>
          <p:cNvPr id="7" name="Text 5"/>
          <p:cNvSpPr/>
          <p:nvPr/>
        </p:nvSpPr>
        <p:spPr>
          <a:xfrm>
            <a:off x="812767" y="2391370"/>
            <a:ext cx="2616200" cy="265385"/>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Unpacking the question</a:t>
            </a:r>
            <a:endParaRPr lang="en-US" sz="1350" dirty="0"/>
          </a:p>
        </p:txBody>
      </p:sp>
      <p:sp>
        <p:nvSpPr>
          <p:cNvPr id="8" name="Shape 6"/>
          <p:cNvSpPr/>
          <p:nvPr/>
        </p:nvSpPr>
        <p:spPr>
          <a:xfrm>
            <a:off x="3505150" y="2324075"/>
            <a:ext cx="1828767" cy="374633"/>
          </a:xfrm>
          <a:prstGeom prst="roundRect">
            <a:avLst>
              <a:gd name="adj" fmla="val 13560"/>
            </a:avLst>
          </a:prstGeom>
          <a:solidFill>
            <a:srgbClr val="B0451D"/>
          </a:solidFill>
          <a:ln/>
        </p:spPr>
      </p:sp>
      <p:sp>
        <p:nvSpPr>
          <p:cNvPr id="9" name="Text 7"/>
          <p:cNvSpPr/>
          <p:nvPr/>
        </p:nvSpPr>
        <p:spPr>
          <a:xfrm>
            <a:off x="3619417" y="2400250"/>
            <a:ext cx="1651033"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200–250</a:t>
            </a:r>
            <a:endParaRPr lang="en-US" sz="1250" dirty="0"/>
          </a:p>
        </p:txBody>
      </p:sp>
      <p:sp>
        <p:nvSpPr>
          <p:cNvPr id="10" name="Text 8"/>
          <p:cNvSpPr/>
          <p:nvPr/>
        </p:nvSpPr>
        <p:spPr>
          <a:xfrm>
            <a:off x="812767" y="2835870"/>
            <a:ext cx="2616200" cy="265385"/>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The opposing view, charitably</a:t>
            </a:r>
            <a:endParaRPr lang="en-US" sz="1350" dirty="0"/>
          </a:p>
        </p:txBody>
      </p:sp>
      <p:sp>
        <p:nvSpPr>
          <p:cNvPr id="11" name="Shape 9"/>
          <p:cNvSpPr/>
          <p:nvPr/>
        </p:nvSpPr>
        <p:spPr>
          <a:xfrm>
            <a:off x="3505150" y="2768575"/>
            <a:ext cx="2190750" cy="374633"/>
          </a:xfrm>
          <a:prstGeom prst="roundRect">
            <a:avLst>
              <a:gd name="adj" fmla="val 13560"/>
            </a:avLst>
          </a:prstGeom>
          <a:solidFill>
            <a:srgbClr val="B0451D"/>
          </a:solidFill>
          <a:ln/>
        </p:spPr>
      </p:sp>
      <p:sp>
        <p:nvSpPr>
          <p:cNvPr id="12" name="Text 10"/>
          <p:cNvSpPr/>
          <p:nvPr/>
        </p:nvSpPr>
        <p:spPr>
          <a:xfrm>
            <a:off x="3619417" y="2844750"/>
            <a:ext cx="2021083"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280–300</a:t>
            </a:r>
            <a:endParaRPr lang="en-US" sz="1250" dirty="0"/>
          </a:p>
        </p:txBody>
      </p:sp>
      <p:sp>
        <p:nvSpPr>
          <p:cNvPr id="13" name="Text 11"/>
          <p:cNvSpPr/>
          <p:nvPr/>
        </p:nvSpPr>
        <p:spPr>
          <a:xfrm>
            <a:off x="812767" y="3280370"/>
            <a:ext cx="2616200" cy="265385"/>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Your argument</a:t>
            </a:r>
            <a:endParaRPr lang="en-US" sz="1350" dirty="0"/>
          </a:p>
        </p:txBody>
      </p:sp>
      <p:sp>
        <p:nvSpPr>
          <p:cNvPr id="14" name="Shape 12"/>
          <p:cNvSpPr/>
          <p:nvPr/>
        </p:nvSpPr>
        <p:spPr>
          <a:xfrm>
            <a:off x="3505150" y="3213075"/>
            <a:ext cx="2921000" cy="374633"/>
          </a:xfrm>
          <a:prstGeom prst="roundRect">
            <a:avLst>
              <a:gd name="adj" fmla="val 13560"/>
            </a:avLst>
          </a:prstGeom>
          <a:solidFill>
            <a:srgbClr val="1C595D"/>
          </a:solidFill>
          <a:ln/>
        </p:spPr>
      </p:sp>
      <p:sp>
        <p:nvSpPr>
          <p:cNvPr id="15" name="Text 13"/>
          <p:cNvSpPr/>
          <p:nvPr/>
        </p:nvSpPr>
        <p:spPr>
          <a:xfrm>
            <a:off x="3619417" y="3289250"/>
            <a:ext cx="2773240"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350–400</a:t>
            </a:r>
            <a:endParaRPr lang="en-US" sz="1250" dirty="0"/>
          </a:p>
        </p:txBody>
      </p:sp>
      <p:sp>
        <p:nvSpPr>
          <p:cNvPr id="16" name="Text 14"/>
          <p:cNvSpPr/>
          <p:nvPr/>
        </p:nvSpPr>
        <p:spPr>
          <a:xfrm>
            <a:off x="812767" y="3657575"/>
            <a:ext cx="2616200" cy="505371"/>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What it costs, what you set aside</a:t>
            </a:r>
            <a:endParaRPr lang="en-US" sz="1350" dirty="0"/>
          </a:p>
        </p:txBody>
      </p:sp>
      <p:sp>
        <p:nvSpPr>
          <p:cNvPr id="17" name="Shape 15"/>
          <p:cNvSpPr/>
          <p:nvPr/>
        </p:nvSpPr>
        <p:spPr>
          <a:xfrm>
            <a:off x="3505150" y="3710236"/>
            <a:ext cx="1828767" cy="374633"/>
          </a:xfrm>
          <a:prstGeom prst="roundRect">
            <a:avLst>
              <a:gd name="adj" fmla="val 13560"/>
            </a:avLst>
          </a:prstGeom>
          <a:solidFill>
            <a:srgbClr val="B0451D"/>
          </a:solidFill>
          <a:ln/>
        </p:spPr>
      </p:sp>
      <p:sp>
        <p:nvSpPr>
          <p:cNvPr id="18" name="Text 16"/>
          <p:cNvSpPr/>
          <p:nvPr/>
        </p:nvSpPr>
        <p:spPr>
          <a:xfrm>
            <a:off x="3619417" y="3786436"/>
            <a:ext cx="1651033"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200–250</a:t>
            </a:r>
            <a:endParaRPr lang="en-US" sz="1250" dirty="0"/>
          </a:p>
        </p:txBody>
      </p:sp>
      <p:sp>
        <p:nvSpPr>
          <p:cNvPr id="19" name="Text 17"/>
          <p:cNvSpPr/>
          <p:nvPr/>
        </p:nvSpPr>
        <p:spPr>
          <a:xfrm>
            <a:off x="812767" y="4169370"/>
            <a:ext cx="2616200" cy="265385"/>
          </a:xfrm>
          <a:prstGeom prst="rect">
            <a:avLst/>
          </a:prstGeom>
          <a:noFill/>
          <a:ln/>
        </p:spPr>
        <p:txBody>
          <a:bodyPr wrap="square" lIns="0" tIns="0" rIns="0" bIns="0" rtlCol="0" anchor="t">
            <a:normAutofit/>
          </a:bodyPr>
          <a:lstStyle/>
          <a:p>
            <a:pPr algn="l" indent="0" marL="0">
              <a:lnSpc>
                <a:spcPts val="1890"/>
              </a:lnSpc>
              <a:buNone/>
            </a:pPr>
            <a:r>
              <a:rPr lang="en-US" sz="1350" b="1" dirty="0">
                <a:solidFill>
                  <a:srgbClr val="191814"/>
                </a:solidFill>
                <a:latin typeface="Inter" pitchFamily="34" charset="0"/>
                <a:ea typeface="Inter" pitchFamily="34" charset="-122"/>
                <a:cs typeface="Inter" pitchFamily="34" charset="-120"/>
              </a:rPr>
              <a:t>Conclusion</a:t>
            </a:r>
            <a:endParaRPr lang="en-US" sz="1350" dirty="0"/>
          </a:p>
        </p:txBody>
      </p:sp>
      <p:sp>
        <p:nvSpPr>
          <p:cNvPr id="20" name="Shape 18"/>
          <p:cNvSpPr/>
          <p:nvPr/>
        </p:nvSpPr>
        <p:spPr>
          <a:xfrm>
            <a:off x="3505150" y="4102075"/>
            <a:ext cx="1219192" cy="374633"/>
          </a:xfrm>
          <a:prstGeom prst="roundRect">
            <a:avLst>
              <a:gd name="adj" fmla="val 13560"/>
            </a:avLst>
          </a:prstGeom>
          <a:solidFill>
            <a:srgbClr val="B0451D"/>
          </a:solidFill>
          <a:ln/>
        </p:spPr>
      </p:sp>
      <p:sp>
        <p:nvSpPr>
          <p:cNvPr id="21" name="Text 19"/>
          <p:cNvSpPr/>
          <p:nvPr/>
        </p:nvSpPr>
        <p:spPr>
          <a:xfrm>
            <a:off x="3619417" y="4178250"/>
            <a:ext cx="1041458" cy="247650"/>
          </a:xfrm>
          <a:prstGeom prst="rect">
            <a:avLst/>
          </a:prstGeom>
          <a:noFill/>
          <a:ln/>
        </p:spPr>
        <p:txBody>
          <a:bodyPr wrap="square" lIns="0" tIns="0" rIns="0" bIns="0" rtlCol="0" anchor="t">
            <a:normAutofit/>
          </a:bodyPr>
          <a:lstStyle/>
          <a:p>
            <a:pPr algn="l" indent="0" marL="0">
              <a:lnSpc>
                <a:spcPts val="1750"/>
              </a:lnSpc>
              <a:buNone/>
            </a:pPr>
            <a:r>
              <a:rPr lang="en-US" sz="1250" b="1" dirty="0">
                <a:solidFill>
                  <a:srgbClr val="FBF6ED"/>
                </a:solidFill>
                <a:latin typeface="Inter" pitchFamily="34" charset="0"/>
                <a:ea typeface="Inter" pitchFamily="34" charset="-122"/>
                <a:cs typeface="Inter" pitchFamily="34" charset="-120"/>
              </a:rPr>
              <a:t>150–170</a:t>
            </a:r>
            <a:endParaRPr lang="en-US" sz="1250" dirty="0"/>
          </a:p>
        </p:txBody>
      </p:sp>
      <p:sp>
        <p:nvSpPr>
          <p:cNvPr id="22" name="Shape 20"/>
          <p:cNvSpPr/>
          <p:nvPr/>
        </p:nvSpPr>
        <p:spPr>
          <a:xfrm>
            <a:off x="815942" y="4727550"/>
            <a:ext cx="5149841" cy="1009319"/>
          </a:xfrm>
          <a:prstGeom prst="roundRect">
            <a:avLst>
              <a:gd name="adj" fmla="val 9752"/>
            </a:avLst>
          </a:prstGeom>
          <a:solidFill>
            <a:srgbClr val="FFFFFF"/>
          </a:solidFill>
          <a:ln w="6350">
            <a:solidFill>
              <a:srgbClr val="E0D7C9"/>
            </a:solidFill>
            <a:prstDash val="solid"/>
          </a:ln>
        </p:spPr>
      </p:sp>
      <p:sp>
        <p:nvSpPr>
          <p:cNvPr id="23" name="Text 21"/>
          <p:cNvSpPr/>
          <p:nvPr/>
        </p:nvSpPr>
        <p:spPr>
          <a:xfrm>
            <a:off x="970442" y="4882059"/>
            <a:ext cx="498606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B0451D"/>
                </a:solidFill>
                <a:latin typeface="Fraunces" pitchFamily="34" charset="0"/>
                <a:ea typeface="Fraunces" pitchFamily="34" charset="-122"/>
                <a:cs typeface="Fraunces" pitchFamily="34" charset="-120"/>
              </a:rPr>
              <a:t>Counted</a:t>
            </a:r>
            <a:endParaRPr lang="en-US" sz="1450" dirty="0"/>
          </a:p>
        </p:txBody>
      </p:sp>
      <p:sp>
        <p:nvSpPr>
          <p:cNvPr id="24" name="Text 22"/>
          <p:cNvSpPr/>
          <p:nvPr/>
        </p:nvSpPr>
        <p:spPr>
          <a:xfrm>
            <a:off x="970442" y="5153744"/>
            <a:ext cx="4986067"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Body text, quotations, and — literally read — the title and headings. Keep headings to three or four words.</a:t>
            </a:r>
            <a:endParaRPr lang="en-US" sz="1250" dirty="0"/>
          </a:p>
        </p:txBody>
      </p:sp>
      <p:sp>
        <p:nvSpPr>
          <p:cNvPr id="25" name="Shape 23"/>
          <p:cNvSpPr/>
          <p:nvPr/>
        </p:nvSpPr>
        <p:spPr>
          <a:xfrm>
            <a:off x="6226175" y="4727550"/>
            <a:ext cx="5149841" cy="1009319"/>
          </a:xfrm>
          <a:prstGeom prst="roundRect">
            <a:avLst>
              <a:gd name="adj" fmla="val 9752"/>
            </a:avLst>
          </a:prstGeom>
          <a:solidFill>
            <a:srgbClr val="FFFFFF"/>
          </a:solidFill>
          <a:ln w="6350">
            <a:solidFill>
              <a:srgbClr val="E0D7C9"/>
            </a:solidFill>
            <a:prstDash val="solid"/>
          </a:ln>
        </p:spPr>
      </p:sp>
      <p:sp>
        <p:nvSpPr>
          <p:cNvPr id="26" name="Text 24"/>
          <p:cNvSpPr/>
          <p:nvPr/>
        </p:nvSpPr>
        <p:spPr>
          <a:xfrm>
            <a:off x="6380675" y="4882059"/>
            <a:ext cx="4986067"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C595D"/>
                </a:solidFill>
                <a:latin typeface="Fraunces" pitchFamily="34" charset="0"/>
                <a:ea typeface="Fraunces" pitchFamily="34" charset="-122"/>
                <a:cs typeface="Fraunces" pitchFamily="34" charset="-120"/>
              </a:rPr>
              <a:t>Not counted</a:t>
            </a:r>
            <a:endParaRPr lang="en-US" sz="1450" dirty="0"/>
          </a:p>
        </p:txBody>
      </p:sp>
      <p:sp>
        <p:nvSpPr>
          <p:cNvPr id="27" name="Text 25"/>
          <p:cNvSpPr/>
          <p:nvPr/>
        </p:nvSpPr>
        <p:spPr>
          <a:xfrm>
            <a:off x="6380675" y="5153744"/>
            <a:ext cx="4986067"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91814"/>
                </a:solidFill>
                <a:latin typeface="Inter" pitchFamily="34" charset="0"/>
                <a:ea typeface="Inter" pitchFamily="34" charset="-122"/>
                <a:cs typeface="Inter" pitchFamily="34" charset="-120"/>
              </a:rPr>
              <a:t>Name, Student ID, footnotes, bibliography, and the reflective paragraph. Untick “include footnotes” in Word.</a:t>
            </a:r>
            <a:endParaRPr lang="en-US" sz="1250" dirty="0"/>
          </a:p>
        </p:txBody>
      </p:sp>
      <p:sp>
        <p:nvSpPr>
          <p:cNvPr id="28" name="Text 26"/>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29" name="Text 27"/>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STRUCTURE THAT MIRRORS THE ARGUMENT</a:t>
            </a:r>
            <a:endParaRPr lang="en-US" sz="1200" dirty="0"/>
          </a:p>
        </p:txBody>
      </p:sp>
      <p:sp>
        <p:nvSpPr>
          <p:cNvPr id="3" name="Text 1"/>
          <p:cNvSpPr/>
          <p:nvPr/>
        </p:nvSpPr>
        <p:spPr>
          <a:xfrm>
            <a:off x="812767" y="965175"/>
            <a:ext cx="10203180" cy="368283"/>
          </a:xfrm>
          <a:prstGeom prst="rect">
            <a:avLst/>
          </a:prstGeom>
          <a:noFill/>
          <a:ln/>
        </p:spPr>
        <p:txBody>
          <a:bodyPr wrap="square" lIns="0" tIns="0" rIns="0" bIns="0" rtlCol="0" anchor="t">
            <a:normAutofit/>
          </a:bodyPr>
          <a:lstStyle/>
          <a:p>
            <a:pPr algn="l" indent="0" marL="0">
              <a:lnSpc>
                <a:spcPts val="2700"/>
              </a:lnSpc>
              <a:buNone/>
            </a:pPr>
            <a:r>
              <a:rPr lang="en-US" sz="2500" b="1" dirty="0">
                <a:solidFill>
                  <a:srgbClr val="191814"/>
                </a:solidFill>
                <a:latin typeface="Fraunces" pitchFamily="34" charset="0"/>
                <a:ea typeface="Fraunces" pitchFamily="34" charset="-122"/>
                <a:cs typeface="Fraunces" pitchFamily="34" charset="-120"/>
              </a:rPr>
              <a:t>Can a reader see the shape from the headings alone?</a:t>
            </a:r>
            <a:endParaRPr lang="en-US" sz="2500" dirty="0"/>
          </a:p>
        </p:txBody>
      </p:sp>
      <p:sp>
        <p:nvSpPr>
          <p:cNvPr id="4" name="Shape 2"/>
          <p:cNvSpPr/>
          <p:nvPr/>
        </p:nvSpPr>
        <p:spPr>
          <a:xfrm>
            <a:off x="815942" y="1908175"/>
            <a:ext cx="5149841" cy="2399498"/>
          </a:xfrm>
          <a:prstGeom prst="roundRect">
            <a:avLst>
              <a:gd name="adj" fmla="val 4631"/>
            </a:avLst>
          </a:prstGeom>
          <a:solidFill>
            <a:srgbClr val="FFFFFF"/>
          </a:solidFill>
          <a:ln w="6350">
            <a:solidFill>
              <a:srgbClr val="E0D7C9"/>
            </a:solidFill>
            <a:prstDash val="solid"/>
          </a:ln>
        </p:spPr>
      </p:sp>
      <p:sp>
        <p:nvSpPr>
          <p:cNvPr id="5" name="Text 3"/>
          <p:cNvSpPr/>
          <p:nvPr/>
        </p:nvSpPr>
        <p:spPr>
          <a:xfrm>
            <a:off x="1008559" y="2100783"/>
            <a:ext cx="4907547"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B0451D"/>
                </a:solidFill>
                <a:latin typeface="Fraunces" pitchFamily="34" charset="0"/>
                <a:ea typeface="Fraunces" pitchFamily="34" charset="-122"/>
                <a:cs typeface="Fraunces" pitchFamily="34" charset="-120"/>
              </a:rPr>
              <a:t>Headings that describe topics</a:t>
            </a:r>
            <a:endParaRPr lang="en-US" sz="1550" dirty="0"/>
          </a:p>
        </p:txBody>
      </p:sp>
      <p:sp>
        <p:nvSpPr>
          <p:cNvPr id="6" name="Text 4"/>
          <p:cNvSpPr/>
          <p:nvPr/>
        </p:nvSpPr>
        <p:spPr>
          <a:xfrm>
            <a:off x="1008559" y="2413198"/>
            <a:ext cx="4907547"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 Introduction</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II Hart’s View</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III Finnis’s View</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IV Dickson’s View</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V Conclusion</a:t>
            </a:r>
            <a:endParaRPr lang="en-US" sz="1300" dirty="0"/>
          </a:p>
        </p:txBody>
      </p:sp>
      <p:sp>
        <p:nvSpPr>
          <p:cNvPr id="7" name="Text 5"/>
          <p:cNvSpPr/>
          <p:nvPr/>
        </p:nvSpPr>
        <p:spPr>
          <a:xfrm>
            <a:off x="1008559" y="3686423"/>
            <a:ext cx="4907547"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B0451D"/>
                </a:solidFill>
                <a:latin typeface="Inter" pitchFamily="34" charset="0"/>
                <a:ea typeface="Inter" pitchFamily="34" charset="-122"/>
                <a:cs typeface="Inter" pitchFamily="34" charset="-120"/>
              </a:rPr>
              <a:t>A table of contents for a literature review. The structure reveals no argument, because there is none.</a:t>
            </a:r>
            <a:endParaRPr lang="en-US" sz="1250" dirty="0"/>
          </a:p>
        </p:txBody>
      </p:sp>
      <p:sp>
        <p:nvSpPr>
          <p:cNvPr id="8" name="Shape 6"/>
          <p:cNvSpPr/>
          <p:nvPr/>
        </p:nvSpPr>
        <p:spPr>
          <a:xfrm>
            <a:off x="6229350" y="1911350"/>
            <a:ext cx="5143491" cy="2403731"/>
          </a:xfrm>
          <a:prstGeom prst="roundRect">
            <a:avLst>
              <a:gd name="adj" fmla="val 4491"/>
            </a:avLst>
          </a:prstGeom>
          <a:solidFill>
            <a:srgbClr val="E5EEEC"/>
          </a:solidFill>
          <a:ln w="12700">
            <a:solidFill>
              <a:srgbClr val="1C595D"/>
            </a:solidFill>
            <a:prstDash val="solid"/>
          </a:ln>
        </p:spPr>
      </p:sp>
      <p:sp>
        <p:nvSpPr>
          <p:cNvPr id="9" name="Text 7"/>
          <p:cNvSpPr/>
          <p:nvPr/>
        </p:nvSpPr>
        <p:spPr>
          <a:xfrm>
            <a:off x="6424083" y="2106067"/>
            <a:ext cx="4896646"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595D"/>
                </a:solidFill>
                <a:latin typeface="Fraunces" pitchFamily="34" charset="0"/>
                <a:ea typeface="Fraunces" pitchFamily="34" charset="-122"/>
                <a:cs typeface="Fraunces" pitchFamily="34" charset="-120"/>
              </a:rPr>
              <a:t>Headings that are the argument</a:t>
            </a:r>
            <a:endParaRPr lang="en-US" sz="1550" dirty="0"/>
          </a:p>
        </p:txBody>
      </p:sp>
      <p:sp>
        <p:nvSpPr>
          <p:cNvPr id="10" name="Text 8"/>
          <p:cNvSpPr/>
          <p:nvPr/>
        </p:nvSpPr>
        <p:spPr>
          <a:xfrm>
            <a:off x="6424083" y="2418482"/>
            <a:ext cx="4896646"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 Two Senses of Value-Freedom</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II Why Selection Is Evaluative</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III Why It Is Not Moral</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IV The Criterion and Its Cost</a:t>
            </a:r>
            <a:endParaRPr lang="en-US" sz="1300" dirty="0"/>
          </a:p>
          <a:p>
            <a:pPr algn="l" indent="0" marL="0">
              <a:lnSpc>
                <a:spcPts val="1885"/>
              </a:lnSpc>
              <a:buNone/>
            </a:pPr>
            <a:r>
              <a:rPr lang="en-US" sz="1300" dirty="0">
                <a:solidFill>
                  <a:srgbClr val="5E5850"/>
                </a:solidFill>
                <a:latin typeface="Inter" pitchFamily="34" charset="0"/>
                <a:ea typeface="Inter" pitchFamily="34" charset="-122"/>
                <a:cs typeface="Inter" pitchFamily="34" charset="-120"/>
              </a:rPr>
              <a:t>V Conclusion</a:t>
            </a:r>
            <a:endParaRPr lang="en-US" sz="1300" dirty="0"/>
          </a:p>
        </p:txBody>
      </p:sp>
      <p:sp>
        <p:nvSpPr>
          <p:cNvPr id="11" name="Text 9"/>
          <p:cNvSpPr/>
          <p:nvPr/>
        </p:nvSpPr>
        <p:spPr>
          <a:xfrm>
            <a:off x="6424083" y="3691706"/>
            <a:ext cx="4896646"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1C595D"/>
                </a:solidFill>
                <a:latin typeface="Inter" pitchFamily="34" charset="0"/>
                <a:ea typeface="Inter" pitchFamily="34" charset="-122"/>
                <a:cs typeface="Inter" pitchFamily="34" charset="-120"/>
              </a:rPr>
              <a:t>Read the five headings and you have the argument. That is what “mirrors the development of the core argument” means.</a:t>
            </a:r>
            <a:endParaRPr lang="en-US" sz="1250" dirty="0"/>
          </a:p>
        </p:txBody>
      </p:sp>
      <p:sp>
        <p:nvSpPr>
          <p:cNvPr id="12" name="Shape 10"/>
          <p:cNvSpPr/>
          <p:nvPr/>
        </p:nvSpPr>
        <p:spPr>
          <a:xfrm>
            <a:off x="812767" y="4318000"/>
            <a:ext cx="10566383" cy="1069289"/>
          </a:xfrm>
          <a:prstGeom prst="roundRect">
            <a:avLst>
              <a:gd name="adj" fmla="val 8314"/>
            </a:avLst>
          </a:prstGeom>
          <a:solidFill>
            <a:srgbClr val="F2EBE0"/>
          </a:solidFill>
          <a:ln/>
        </p:spPr>
      </p:sp>
      <p:sp>
        <p:nvSpPr>
          <p:cNvPr id="13" name="Shape 11"/>
          <p:cNvSpPr/>
          <p:nvPr/>
        </p:nvSpPr>
        <p:spPr>
          <a:xfrm>
            <a:off x="831817" y="4318000"/>
            <a:ext cx="0" cy="1069289"/>
          </a:xfrm>
          <a:prstGeom prst="line">
            <a:avLst/>
          </a:prstGeom>
          <a:noFill/>
          <a:ln w="38100">
            <a:solidFill>
              <a:srgbClr val="7A6110"/>
            </a:solidFill>
            <a:prstDash val="solid"/>
          </a:ln>
        </p:spPr>
      </p:sp>
      <p:sp>
        <p:nvSpPr>
          <p:cNvPr id="14" name="Text 12"/>
          <p:cNvSpPr/>
          <p:nvPr/>
        </p:nvSpPr>
        <p:spPr>
          <a:xfrm>
            <a:off x="1027575" y="44576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The introduction has four jobs</a:t>
            </a:r>
            <a:endParaRPr lang="en-US" sz="1500" dirty="0"/>
          </a:p>
        </p:txBody>
      </p:sp>
      <p:sp>
        <p:nvSpPr>
          <p:cNvPr id="15" name="Text 13"/>
          <p:cNvSpPr/>
          <p:nvPr/>
        </p:nvSpPr>
        <p:spPr>
          <a:xfrm>
            <a:off x="1027575" y="4749750"/>
            <a:ext cx="10479022" cy="52323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91814"/>
                </a:solidFill>
                <a:latin typeface="Inter" pitchFamily="34" charset="0"/>
                <a:ea typeface="Inter" pitchFamily="34" charset="-122"/>
                <a:cs typeface="Inter" pitchFamily="34" charset="-120"/>
              </a:rPr>
              <a:t>Which question you are answering · how you are answering it · what your conclusion is · how the essay gets there. The convenor set out all four. A conclusion that merely says “yes” or “no” is not enough: articulate and defend a position.</a:t>
            </a:r>
            <a:endParaRPr lang="en-US" sz="1400" dirty="0"/>
          </a:p>
        </p:txBody>
      </p:sp>
      <p:sp>
        <p:nvSpPr>
          <p:cNvPr id="16" name="Text 14"/>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17" name="Text 15"/>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ANNOTATED SOURCE</a:t>
            </a:r>
            <a:endParaRPr lang="en-US" sz="1200" dirty="0"/>
          </a:p>
        </p:txBody>
      </p:sp>
      <p:sp>
        <p:nvSpPr>
          <p:cNvPr id="3" name="Text 1"/>
          <p:cNvSpPr/>
          <p:nvPr/>
        </p:nvSpPr>
        <p:spPr>
          <a:xfrm>
            <a:off x="812767" y="965175"/>
            <a:ext cx="10203180" cy="381967"/>
          </a:xfrm>
          <a:prstGeom prst="rect">
            <a:avLst/>
          </a:prstGeom>
          <a:noFill/>
          <a:ln/>
        </p:spPr>
        <p:txBody>
          <a:bodyPr wrap="square" lIns="0" tIns="0" rIns="0" bIns="0" rtlCol="0" anchor="t">
            <a:normAutofit/>
          </a:bodyPr>
          <a:lstStyle/>
          <a:p>
            <a:pPr algn="l" indent="0" marL="0">
              <a:lnSpc>
                <a:spcPts val="2808"/>
              </a:lnSpc>
              <a:buNone/>
            </a:pPr>
            <a:r>
              <a:rPr lang="en-US" sz="2600" b="1" dirty="0">
                <a:solidFill>
                  <a:srgbClr val="191814"/>
                </a:solidFill>
                <a:latin typeface="Fraunces" pitchFamily="34" charset="0"/>
                <a:ea typeface="Fraunces" pitchFamily="34" charset="-122"/>
                <a:cs typeface="Fraunces" pitchFamily="34" charset="-120"/>
              </a:rPr>
              <a:t>The cheapest marks here, and the most often wasted</a:t>
            </a:r>
            <a:endParaRPr lang="en-US" sz="2600" dirty="0"/>
          </a:p>
        </p:txBody>
      </p:sp>
      <p:sp>
        <p:nvSpPr>
          <p:cNvPr id="4" name="Text 2"/>
          <p:cNvSpPr/>
          <p:nvPr/>
        </p:nvSpPr>
        <p:spPr>
          <a:xfrm>
            <a:off x="812767" y="1905000"/>
            <a:ext cx="10883374" cy="54100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91814"/>
                </a:solidFill>
                <a:latin typeface="Inter" pitchFamily="34" charset="0"/>
                <a:ea typeface="Inter" pitchFamily="34" charset="-122"/>
                <a:cs typeface="Inter" pitchFamily="34" charset="-120"/>
              </a:rPr>
              <a:t>One journal article or book chapter — </a:t>
            </a:r>
            <a:r>
              <a:rPr lang="en-US" sz="1400" b="1" dirty="0">
                <a:solidFill>
                  <a:srgbClr val="191814"/>
                </a:solidFill>
                <a:latin typeface="Inter" pitchFamily="34" charset="0"/>
                <a:ea typeface="Inter" pitchFamily="34" charset="-122"/>
                <a:cs typeface="Inter" pitchFamily="34" charset="-120"/>
              </a:rPr>
              <a:t>secondary</a:t>
            </a:r>
            <a:r>
              <a:rPr lang="en-US" sz="1400" dirty="0">
                <a:solidFill>
                  <a:srgbClr val="191814"/>
                </a:solidFill>
                <a:latin typeface="Inter" pitchFamily="34" charset="0"/>
                <a:ea typeface="Inter" pitchFamily="34" charset="-122"/>
                <a:cs typeface="Inter" pitchFamily="34" charset="-120"/>
              </a:rPr>
              <a:t>, not Hart or Fuller themselves. The source your argument most substantially builds upon </a:t>
            </a:r>
            <a:r>
              <a:rPr lang="en-US" sz="1400" i="1" dirty="0">
                <a:solidFill>
                  <a:srgbClr val="191814"/>
                </a:solidFill>
                <a:latin typeface="Inter" pitchFamily="34" charset="0"/>
                <a:ea typeface="Inter" pitchFamily="34" charset="-122"/>
                <a:cs typeface="Inter" pitchFamily="34" charset="-120"/>
              </a:rPr>
              <a:t>and/or responds to</a:t>
            </a:r>
            <a:r>
              <a:rPr lang="en-US" sz="1400" dirty="0">
                <a:solidFill>
                  <a:srgbClr val="191814"/>
                </a:solidFill>
                <a:latin typeface="Inter" pitchFamily="34" charset="0"/>
                <a:ea typeface="Inter" pitchFamily="34" charset="-122"/>
                <a:cs typeface="Inter" pitchFamily="34" charset="-120"/>
              </a:rPr>
              <a:t>. At least three passages, each doing three things:</a:t>
            </a:r>
            <a:endParaRPr lang="en-US" sz="1400" dirty="0"/>
          </a:p>
        </p:txBody>
      </p:sp>
      <p:sp>
        <p:nvSpPr>
          <p:cNvPr id="5" name="Shape 3"/>
          <p:cNvSpPr/>
          <p:nvPr/>
        </p:nvSpPr>
        <p:spPr>
          <a:xfrm>
            <a:off x="819117" y="2546350"/>
            <a:ext cx="3340067" cy="1269082"/>
          </a:xfrm>
          <a:prstGeom prst="roundRect">
            <a:avLst>
              <a:gd name="adj" fmla="val 7505"/>
            </a:avLst>
          </a:prstGeom>
          <a:solidFill>
            <a:srgbClr val="FCEEE5"/>
          </a:solidFill>
          <a:ln w="12700">
            <a:solidFill>
              <a:srgbClr val="B0451D"/>
            </a:solidFill>
            <a:prstDash val="solid"/>
          </a:ln>
        </p:spPr>
      </p:sp>
      <p:sp>
        <p:nvSpPr>
          <p:cNvPr id="6" name="Text 4"/>
          <p:cNvSpPr/>
          <p:nvPr/>
        </p:nvSpPr>
        <p:spPr>
          <a:xfrm>
            <a:off x="975734" y="2702967"/>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a</a:t>
            </a:r>
            <a:endParaRPr lang="en-US" sz="1300" dirty="0"/>
          </a:p>
        </p:txBody>
      </p:sp>
      <p:sp>
        <p:nvSpPr>
          <p:cNvPr id="7" name="Text 5"/>
          <p:cNvSpPr/>
          <p:nvPr/>
        </p:nvSpPr>
        <p:spPr>
          <a:xfrm>
            <a:off x="975734" y="2984872"/>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Which claim it supports</a:t>
            </a:r>
            <a:endParaRPr lang="en-US" sz="1450" dirty="0"/>
          </a:p>
        </p:txBody>
      </p:sp>
      <p:sp>
        <p:nvSpPr>
          <p:cNvPr id="8" name="Text 6"/>
          <p:cNvSpPr/>
          <p:nvPr/>
        </p:nvSpPr>
        <p:spPr>
          <a:xfrm>
            <a:off x="975734" y="3247380"/>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Name the move: “supports the criterion in Part IV, fn 17”. Be that specific.</a:t>
            </a:r>
            <a:endParaRPr lang="en-US" sz="1200" dirty="0"/>
          </a:p>
        </p:txBody>
      </p:sp>
      <p:sp>
        <p:nvSpPr>
          <p:cNvPr id="9" name="Shape 7"/>
          <p:cNvSpPr/>
          <p:nvPr/>
        </p:nvSpPr>
        <p:spPr>
          <a:xfrm>
            <a:off x="4425925" y="2546350"/>
            <a:ext cx="3340067" cy="1269082"/>
          </a:xfrm>
          <a:prstGeom prst="roundRect">
            <a:avLst>
              <a:gd name="adj" fmla="val 7505"/>
            </a:avLst>
          </a:prstGeom>
          <a:solidFill>
            <a:srgbClr val="FCEEE5"/>
          </a:solidFill>
          <a:ln w="12700">
            <a:solidFill>
              <a:srgbClr val="B0451D"/>
            </a:solidFill>
            <a:prstDash val="solid"/>
          </a:ln>
        </p:spPr>
      </p:sp>
      <p:sp>
        <p:nvSpPr>
          <p:cNvPr id="10" name="Text 8"/>
          <p:cNvSpPr/>
          <p:nvPr/>
        </p:nvSpPr>
        <p:spPr>
          <a:xfrm>
            <a:off x="4582542" y="2702967"/>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b</a:t>
            </a:r>
            <a:endParaRPr lang="en-US" sz="1300" dirty="0"/>
          </a:p>
        </p:txBody>
      </p:sp>
      <p:sp>
        <p:nvSpPr>
          <p:cNvPr id="11" name="Text 9"/>
          <p:cNvSpPr/>
          <p:nvPr/>
        </p:nvSpPr>
        <p:spPr>
          <a:xfrm>
            <a:off x="4582542" y="2984872"/>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Build or respond</a:t>
            </a:r>
            <a:endParaRPr lang="en-US" sz="1450" dirty="0"/>
          </a:p>
        </p:txBody>
      </p:sp>
      <p:sp>
        <p:nvSpPr>
          <p:cNvPr id="12" name="Text 10"/>
          <p:cNvSpPr/>
          <p:nvPr/>
        </p:nvSpPr>
        <p:spPr>
          <a:xfrm>
            <a:off x="4582542" y="3247380"/>
            <a:ext cx="3117638" cy="436827"/>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Say which. The instruction asks for it in terms.</a:t>
            </a:r>
            <a:endParaRPr lang="en-US" sz="1200" dirty="0"/>
          </a:p>
        </p:txBody>
      </p:sp>
      <p:sp>
        <p:nvSpPr>
          <p:cNvPr id="13" name="Shape 11"/>
          <p:cNvSpPr/>
          <p:nvPr/>
        </p:nvSpPr>
        <p:spPr>
          <a:xfrm>
            <a:off x="8032733" y="2546350"/>
            <a:ext cx="3340067" cy="1474796"/>
          </a:xfrm>
          <a:prstGeom prst="roundRect">
            <a:avLst>
              <a:gd name="adj" fmla="val 6459"/>
            </a:avLst>
          </a:prstGeom>
          <a:solidFill>
            <a:srgbClr val="FCEEE5"/>
          </a:solidFill>
          <a:ln w="12700">
            <a:solidFill>
              <a:srgbClr val="B0451D"/>
            </a:solidFill>
            <a:prstDash val="solid"/>
          </a:ln>
        </p:spPr>
      </p:sp>
      <p:sp>
        <p:nvSpPr>
          <p:cNvPr id="14" name="Text 12"/>
          <p:cNvSpPr/>
          <p:nvPr/>
        </p:nvSpPr>
        <p:spPr>
          <a:xfrm>
            <a:off x="8189350" y="2702967"/>
            <a:ext cx="3117638"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0451D"/>
                </a:solidFill>
                <a:latin typeface="Fraunces" pitchFamily="34" charset="0"/>
                <a:ea typeface="Fraunces" pitchFamily="34" charset="-122"/>
                <a:cs typeface="Fraunces" pitchFamily="34" charset="-120"/>
              </a:rPr>
              <a:t>c</a:t>
            </a:r>
            <a:endParaRPr lang="en-US" sz="1300" dirty="0"/>
          </a:p>
        </p:txBody>
      </p:sp>
      <p:sp>
        <p:nvSpPr>
          <p:cNvPr id="15" name="Text 13"/>
          <p:cNvSpPr/>
          <p:nvPr/>
        </p:nvSpPr>
        <p:spPr>
          <a:xfrm>
            <a:off x="8189350" y="2984872"/>
            <a:ext cx="3117638" cy="237149"/>
          </a:xfrm>
          <a:prstGeom prst="rect">
            <a:avLst/>
          </a:prstGeom>
          <a:noFill/>
          <a:ln/>
        </p:spPr>
        <p:txBody>
          <a:bodyPr wrap="square" lIns="0" tIns="0" rIns="0" bIns="0" rtlCol="0" anchor="t">
            <a:normAutofit/>
          </a:bodyPr>
          <a:lstStyle/>
          <a:p>
            <a:pPr algn="l" indent="0" marL="0">
              <a:lnSpc>
                <a:spcPts val="1667"/>
              </a:lnSpc>
              <a:buNone/>
            </a:pPr>
            <a:r>
              <a:rPr lang="en-US" sz="1450" b="1" dirty="0">
                <a:solidFill>
                  <a:srgbClr val="191814"/>
                </a:solidFill>
                <a:latin typeface="Fraunces" pitchFamily="34" charset="0"/>
                <a:ea typeface="Fraunces" pitchFamily="34" charset="-122"/>
                <a:cs typeface="Fraunces" pitchFamily="34" charset="-120"/>
              </a:rPr>
              <a:t>Findable</a:t>
            </a:r>
            <a:endParaRPr lang="en-US" sz="1450" dirty="0"/>
          </a:p>
        </p:txBody>
      </p:sp>
      <p:sp>
        <p:nvSpPr>
          <p:cNvPr id="16" name="Text 14"/>
          <p:cNvSpPr/>
          <p:nvPr/>
        </p:nvSpPr>
        <p:spPr>
          <a:xfrm>
            <a:off x="8189350" y="3247380"/>
            <a:ext cx="3117638" cy="64254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5E5850"/>
                </a:solidFill>
                <a:latin typeface="Inter" pitchFamily="34" charset="0"/>
                <a:ea typeface="Inter" pitchFamily="34" charset="-122"/>
                <a:cs typeface="Inter" pitchFamily="34" charset="-120"/>
              </a:rPr>
              <a:t>A marker must be able to follow it to a point in the essay. Use section or footnote numbers.</a:t>
            </a:r>
            <a:endParaRPr lang="en-US" sz="1200" dirty="0"/>
          </a:p>
        </p:txBody>
      </p:sp>
      <p:sp>
        <p:nvSpPr>
          <p:cNvPr id="17" name="Shape 15"/>
          <p:cNvSpPr/>
          <p:nvPr/>
        </p:nvSpPr>
        <p:spPr>
          <a:xfrm>
            <a:off x="815942" y="3813175"/>
            <a:ext cx="10560033" cy="1081088"/>
          </a:xfrm>
          <a:prstGeom prst="roundRect">
            <a:avLst>
              <a:gd name="adj" fmla="val 9104"/>
            </a:avLst>
          </a:prstGeom>
          <a:solidFill>
            <a:srgbClr val="FFFFFF"/>
          </a:solidFill>
          <a:ln w="6350">
            <a:solidFill>
              <a:srgbClr val="E0D7C9"/>
            </a:solidFill>
            <a:prstDash val="solid"/>
          </a:ln>
        </p:spPr>
      </p:sp>
      <p:sp>
        <p:nvSpPr>
          <p:cNvPr id="18" name="Text 16"/>
          <p:cNvSpPr/>
          <p:nvPr/>
        </p:nvSpPr>
        <p:spPr>
          <a:xfrm>
            <a:off x="1008559" y="3980359"/>
            <a:ext cx="10480044" cy="246327"/>
          </a:xfrm>
          <a:prstGeom prst="rect">
            <a:avLst/>
          </a:prstGeom>
          <a:noFill/>
          <a:ln/>
        </p:spPr>
        <p:txBody>
          <a:bodyPr wrap="square" lIns="0" tIns="0" rIns="0" bIns="0" rtlCol="0" anchor="t">
            <a:normAutofit/>
          </a:bodyPr>
          <a:lstStyle/>
          <a:p>
            <a:pPr algn="l" indent="0" marL="0">
              <a:lnSpc>
                <a:spcPts val="1740"/>
              </a:lnSpc>
              <a:buNone/>
            </a:pPr>
            <a:r>
              <a:rPr lang="en-US" sz="1450" b="1" dirty="0">
                <a:solidFill>
                  <a:srgbClr val="1C595D"/>
                </a:solidFill>
                <a:latin typeface="Fraunces" pitchFamily="34" charset="0"/>
                <a:ea typeface="Fraunces" pitchFamily="34" charset="-122"/>
                <a:cs typeface="Fraunces" pitchFamily="34" charset="-120"/>
              </a:rPr>
              <a:t>A model annotation</a:t>
            </a:r>
            <a:endParaRPr lang="en-US" sz="1450" dirty="0"/>
          </a:p>
        </p:txBody>
      </p:sp>
      <p:sp>
        <p:nvSpPr>
          <p:cNvPr id="19" name="Text 17"/>
          <p:cNvSpPr/>
          <p:nvPr/>
        </p:nvSpPr>
        <p:spPr>
          <a:xfrm>
            <a:off x="1008559" y="4264794"/>
            <a:ext cx="10480044" cy="48767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91814"/>
                </a:solidFill>
                <a:latin typeface="Inter" pitchFamily="34" charset="0"/>
                <a:ea typeface="Inter" pitchFamily="34" charset="-122"/>
                <a:cs typeface="Inter" pitchFamily="34" charset="-120"/>
              </a:rPr>
              <a:t>“Bennett’s reading of the poisoner passage is the foundation of Part III, fn 14: I </a:t>
            </a:r>
            <a:r>
              <a:rPr lang="en-US" sz="1300" b="1" dirty="0">
                <a:solidFill>
                  <a:srgbClr val="191814"/>
                </a:solidFill>
                <a:latin typeface="Inter" pitchFamily="34" charset="0"/>
                <a:ea typeface="Inter" pitchFamily="34" charset="-122"/>
                <a:cs typeface="Inter" pitchFamily="34" charset="-120"/>
              </a:rPr>
              <a:t>build on</a:t>
            </a:r>
            <a:r>
              <a:rPr lang="en-US" sz="1300" dirty="0">
                <a:solidFill>
                  <a:srgbClr val="191814"/>
                </a:solidFill>
                <a:latin typeface="Inter" pitchFamily="34" charset="0"/>
                <a:ea typeface="Inter" pitchFamily="34" charset="-122"/>
                <a:cs typeface="Inter" pitchFamily="34" charset="-120"/>
              </a:rPr>
              <a:t> his claim that Hart objected to the label rather than the value. But I </a:t>
            </a:r>
            <a:r>
              <a:rPr lang="en-US" sz="1300" b="1" dirty="0">
                <a:solidFill>
                  <a:srgbClr val="191814"/>
                </a:solidFill>
                <a:latin typeface="Inter" pitchFamily="34" charset="0"/>
                <a:ea typeface="Inter" pitchFamily="34" charset="-122"/>
                <a:cs typeface="Inter" pitchFamily="34" charset="-120"/>
              </a:rPr>
              <a:t>respond against</a:t>
            </a:r>
            <a:r>
              <a:rPr lang="en-US" sz="1300" dirty="0">
                <a:solidFill>
                  <a:srgbClr val="191814"/>
                </a:solidFill>
                <a:latin typeface="Inter" pitchFamily="34" charset="0"/>
                <a:ea typeface="Inter" pitchFamily="34" charset="-122"/>
                <a:cs typeface="Inter" pitchFamily="34" charset="-120"/>
              </a:rPr>
              <a:t> his conclusion that this makes Raz a moral instrumentalist — see Part IV, fn 21.”</a:t>
            </a:r>
            <a:endParaRPr lang="en-US" sz="1300" dirty="0"/>
          </a:p>
        </p:txBody>
      </p:sp>
      <p:sp>
        <p:nvSpPr>
          <p:cNvPr id="20" name="Shape 18"/>
          <p:cNvSpPr/>
          <p:nvPr/>
        </p:nvSpPr>
        <p:spPr>
          <a:xfrm>
            <a:off x="812767" y="4889500"/>
            <a:ext cx="10566383" cy="759354"/>
          </a:xfrm>
          <a:prstGeom prst="roundRect">
            <a:avLst>
              <a:gd name="adj" fmla="val 11707"/>
            </a:avLst>
          </a:prstGeom>
          <a:solidFill>
            <a:srgbClr val="FCEEE5"/>
          </a:solidFill>
          <a:ln/>
        </p:spPr>
      </p:sp>
      <p:sp>
        <p:nvSpPr>
          <p:cNvPr id="21" name="Shape 19"/>
          <p:cNvSpPr/>
          <p:nvPr/>
        </p:nvSpPr>
        <p:spPr>
          <a:xfrm>
            <a:off x="831817" y="4889500"/>
            <a:ext cx="0" cy="759354"/>
          </a:xfrm>
          <a:prstGeom prst="line">
            <a:avLst/>
          </a:prstGeom>
          <a:noFill/>
          <a:ln w="38100">
            <a:solidFill>
              <a:srgbClr val="B0451D"/>
            </a:solidFill>
            <a:prstDash val="solid"/>
          </a:ln>
        </p:spPr>
      </p:sp>
      <p:sp>
        <p:nvSpPr>
          <p:cNvPr id="22" name="Text 20"/>
          <p:cNvSpPr/>
          <p:nvPr/>
        </p:nvSpPr>
        <p:spPr>
          <a:xfrm>
            <a:off x="1027575" y="5029175"/>
            <a:ext cx="10479022"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Margin comments in a PDF or hand-written scribbles are both fine. Do this </a:t>
            </a:r>
            <a:r>
              <a:rPr lang="en-US" sz="1350" b="1" dirty="0">
                <a:solidFill>
                  <a:srgbClr val="191814"/>
                </a:solidFill>
                <a:latin typeface="Inter" pitchFamily="34" charset="0"/>
                <a:ea typeface="Inter" pitchFamily="34" charset="-122"/>
                <a:cs typeface="Inter" pitchFamily="34" charset="-120"/>
              </a:rPr>
              <a:t>after</a:t>
            </a:r>
            <a:r>
              <a:rPr lang="en-US" sz="1350" dirty="0">
                <a:solidFill>
                  <a:srgbClr val="191814"/>
                </a:solidFill>
                <a:latin typeface="Inter" pitchFamily="34" charset="0"/>
                <a:ea typeface="Inter" pitchFamily="34" charset="-122"/>
                <a:cs typeface="Inter" pitchFamily="34" charset="-120"/>
              </a:rPr>
              <a:t> the essay is drafted, so the links are real. Three annotations naming footnote numbers beat eight saying “interesting point”.</a:t>
            </a:r>
            <a:endParaRPr lang="en-US" sz="1350" dirty="0"/>
          </a:p>
        </p:txBody>
      </p:sp>
      <p:sp>
        <p:nvSpPr>
          <p:cNvPr id="23" name="Text 21"/>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24" name="Text 22"/>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THE LLM PARAGRAPH</a:t>
            </a:r>
            <a:endParaRPr lang="en-US" sz="1200" dirty="0"/>
          </a:p>
        </p:txBody>
      </p:sp>
      <p:sp>
        <p:nvSpPr>
          <p:cNvPr id="3" name="Text 1"/>
          <p:cNvSpPr/>
          <p:nvPr/>
        </p:nvSpPr>
        <p:spPr>
          <a:xfrm>
            <a:off x="812767" y="965175"/>
            <a:ext cx="10203180" cy="381967"/>
          </a:xfrm>
          <a:prstGeom prst="rect">
            <a:avLst/>
          </a:prstGeom>
          <a:noFill/>
          <a:ln/>
        </p:spPr>
        <p:txBody>
          <a:bodyPr wrap="square" lIns="0" tIns="0" rIns="0" bIns="0" rtlCol="0" anchor="t">
            <a:normAutofit/>
          </a:bodyPr>
          <a:lstStyle/>
          <a:p>
            <a:pPr algn="l" indent="0" marL="0">
              <a:lnSpc>
                <a:spcPts val="2808"/>
              </a:lnSpc>
              <a:buNone/>
            </a:pPr>
            <a:r>
              <a:rPr lang="en-US" sz="2600" b="1" dirty="0">
                <a:solidFill>
                  <a:srgbClr val="191814"/>
                </a:solidFill>
                <a:latin typeface="Fraunces" pitchFamily="34" charset="0"/>
                <a:ea typeface="Fraunces" pitchFamily="34" charset="-122"/>
                <a:cs typeface="Fraunces" pitchFamily="34" charset="-120"/>
              </a:rPr>
              <a:t>Up to 200 words — and vagueness is expressly unsatisfactory</a:t>
            </a:r>
            <a:endParaRPr lang="en-US" sz="2600" dirty="0"/>
          </a:p>
        </p:txBody>
      </p:sp>
      <p:sp>
        <p:nvSpPr>
          <p:cNvPr id="4" name="Shape 2"/>
          <p:cNvSpPr/>
          <p:nvPr/>
        </p:nvSpPr>
        <p:spPr>
          <a:xfrm>
            <a:off x="815942" y="1908175"/>
            <a:ext cx="5149841" cy="2134088"/>
          </a:xfrm>
          <a:prstGeom prst="roundRect">
            <a:avLst>
              <a:gd name="adj" fmla="val 5207"/>
            </a:avLst>
          </a:prstGeom>
          <a:solidFill>
            <a:srgbClr val="FFFFFF"/>
          </a:solidFill>
          <a:ln w="6350">
            <a:solidFill>
              <a:srgbClr val="E0D7C9"/>
            </a:solidFill>
            <a:prstDash val="solid"/>
          </a:ln>
        </p:spPr>
      </p:sp>
      <p:sp>
        <p:nvSpPr>
          <p:cNvPr id="5" name="Text 3"/>
          <p:cNvSpPr/>
          <p:nvPr/>
        </p:nvSpPr>
        <p:spPr>
          <a:xfrm>
            <a:off x="1008559" y="2100783"/>
            <a:ext cx="4907547"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1C595D"/>
                </a:solidFill>
                <a:latin typeface="Fraunces" pitchFamily="34" charset="0"/>
                <a:ea typeface="Fraunces" pitchFamily="34" charset="-122"/>
                <a:cs typeface="Fraunces" pitchFamily="34" charset="-120"/>
              </a:rPr>
              <a:t>Four things it must address</a:t>
            </a:r>
            <a:endParaRPr lang="en-US" sz="1550" dirty="0"/>
          </a:p>
        </p:txBody>
      </p:sp>
      <p:sp>
        <p:nvSpPr>
          <p:cNvPr id="6" name="Text 4"/>
          <p:cNvSpPr/>
          <p:nvPr/>
        </p:nvSpPr>
        <p:spPr>
          <a:xfrm>
            <a:off x="1008559" y="2413198"/>
            <a:ext cx="4907547" cy="1461839"/>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1. What you used the LLM for.</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2. What you did with the output — adopted, verified, or rejected.</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3. Where it was inaccurate, or where you pushed back.</a:t>
            </a:r>
            <a:endParaRPr lang="en-US" sz="1300" dirty="0"/>
          </a:p>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4. Whether it helped you find or understand the annotated source.</a:t>
            </a:r>
            <a:endParaRPr lang="en-US" sz="1300" dirty="0"/>
          </a:p>
        </p:txBody>
      </p:sp>
      <p:sp>
        <p:nvSpPr>
          <p:cNvPr id="7" name="Shape 5"/>
          <p:cNvSpPr/>
          <p:nvPr/>
        </p:nvSpPr>
        <p:spPr>
          <a:xfrm>
            <a:off x="6229350" y="1911350"/>
            <a:ext cx="5143491" cy="1898915"/>
          </a:xfrm>
          <a:prstGeom prst="roundRect">
            <a:avLst>
              <a:gd name="adj" fmla="val 5685"/>
            </a:avLst>
          </a:prstGeom>
          <a:solidFill>
            <a:srgbClr val="FCEEE5"/>
          </a:solidFill>
          <a:ln w="12700">
            <a:solidFill>
              <a:srgbClr val="B0451D"/>
            </a:solidFill>
            <a:prstDash val="solid"/>
          </a:ln>
        </p:spPr>
      </p:sp>
      <p:sp>
        <p:nvSpPr>
          <p:cNvPr id="8" name="Text 6"/>
          <p:cNvSpPr/>
          <p:nvPr/>
        </p:nvSpPr>
        <p:spPr>
          <a:xfrm>
            <a:off x="6424083" y="2106067"/>
            <a:ext cx="4896646" cy="261623"/>
          </a:xfrm>
          <a:prstGeom prst="rect">
            <a:avLst/>
          </a:prstGeom>
          <a:noFill/>
          <a:ln/>
        </p:spPr>
        <p:txBody>
          <a:bodyPr wrap="square" lIns="0" tIns="0" rIns="0" bIns="0" rtlCol="0" anchor="t">
            <a:normAutofit/>
          </a:bodyPr>
          <a:lstStyle/>
          <a:p>
            <a:pPr algn="l" indent="0" marL="0">
              <a:lnSpc>
                <a:spcPts val="1860"/>
              </a:lnSpc>
              <a:buNone/>
            </a:pPr>
            <a:r>
              <a:rPr lang="en-US" sz="1550" b="1" dirty="0">
                <a:solidFill>
                  <a:srgbClr val="B0451D"/>
                </a:solidFill>
                <a:latin typeface="Fraunces" pitchFamily="34" charset="0"/>
                <a:ea typeface="Fraunces" pitchFamily="34" charset="-122"/>
                <a:cs typeface="Fraunces" pitchFamily="34" charset="-120"/>
              </a:rPr>
              <a:t>You already have item 3</a:t>
            </a:r>
            <a:endParaRPr lang="en-US" sz="1550" dirty="0"/>
          </a:p>
        </p:txBody>
      </p:sp>
      <p:sp>
        <p:nvSpPr>
          <p:cNvPr id="9" name="Text 7"/>
          <p:cNvSpPr/>
          <p:nvPr/>
        </p:nvSpPr>
        <p:spPr>
          <a:xfrm>
            <a:off x="6424083" y="2418482"/>
            <a:ext cx="4896646" cy="1222433"/>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91814"/>
                </a:solidFill>
                <a:latin typeface="Inter" pitchFamily="34" charset="0"/>
                <a:ea typeface="Inter" pitchFamily="34" charset="-122"/>
                <a:cs typeface="Inter" pitchFamily="34" charset="-120"/>
              </a:rPr>
              <a:t>This project’s own record includes a fabricated Raz quotation about knives, a fabricated Murphy quotation, a wrong page for Hart’s 1965 review, and an article attributed to the wrong journal — each caught by checking the publisher’s record.</a:t>
            </a:r>
            <a:endParaRPr lang="en-US" sz="1300" dirty="0"/>
          </a:p>
        </p:txBody>
      </p:sp>
      <p:sp>
        <p:nvSpPr>
          <p:cNvPr id="10" name="Shape 8"/>
          <p:cNvSpPr/>
          <p:nvPr/>
        </p:nvSpPr>
        <p:spPr>
          <a:xfrm>
            <a:off x="812767" y="4064000"/>
            <a:ext cx="10566383" cy="1291415"/>
          </a:xfrm>
          <a:prstGeom prst="roundRect">
            <a:avLst>
              <a:gd name="adj" fmla="val 6884"/>
            </a:avLst>
          </a:prstGeom>
          <a:solidFill>
            <a:srgbClr val="F2EBE0"/>
          </a:solidFill>
          <a:ln/>
        </p:spPr>
      </p:sp>
      <p:sp>
        <p:nvSpPr>
          <p:cNvPr id="11" name="Shape 9"/>
          <p:cNvSpPr/>
          <p:nvPr/>
        </p:nvSpPr>
        <p:spPr>
          <a:xfrm>
            <a:off x="831817" y="4064000"/>
            <a:ext cx="0" cy="1291415"/>
          </a:xfrm>
          <a:prstGeom prst="line">
            <a:avLst/>
          </a:prstGeom>
          <a:noFill/>
          <a:ln w="38100">
            <a:solidFill>
              <a:srgbClr val="7A6110"/>
            </a:solidFill>
            <a:prstDash val="solid"/>
          </a:ln>
        </p:spPr>
      </p:sp>
      <p:sp>
        <p:nvSpPr>
          <p:cNvPr id="12" name="Text 10"/>
          <p:cNvSpPr/>
          <p:nvPr/>
        </p:nvSpPr>
        <p:spPr>
          <a:xfrm>
            <a:off x="1027575" y="4203675"/>
            <a:ext cx="10479022" cy="253975"/>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7A6110"/>
                </a:solidFill>
                <a:latin typeface="Fraunces" pitchFamily="34" charset="0"/>
                <a:ea typeface="Fraunces" pitchFamily="34" charset="-122"/>
                <a:cs typeface="Fraunces" pitchFamily="34" charset="-120"/>
              </a:rPr>
              <a:t>Placement</a:t>
            </a:r>
            <a:endParaRPr lang="en-US" sz="1500" dirty="0"/>
          </a:p>
        </p:txBody>
      </p:sp>
      <p:sp>
        <p:nvSpPr>
          <p:cNvPr id="13" name="Text 11"/>
          <p:cNvSpPr/>
          <p:nvPr/>
        </p:nvSpPr>
        <p:spPr>
          <a:xfrm>
            <a:off x="1027575" y="4495750"/>
            <a:ext cx="10479022" cy="745356"/>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At the end of the essay, excluded from the word count. The Instructions list the components as essay, then reflective paragraph, then annotated source, and put the bibliography “at the end of the essay”. Essay → bibliography → reflective paragraph → annotated source is defensible. If you used no LLM at any stage, you must say so explicitly.</a:t>
            </a:r>
            <a:endParaRPr lang="en-US" sz="1350" dirty="0"/>
          </a:p>
        </p:txBody>
      </p:sp>
      <p:sp>
        <p:nvSpPr>
          <p:cNvPr id="14" name="Text 12"/>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15" name="Text 13"/>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AGLC4, THE PARTS YOU WILL ACTUALLY TOUCH</a:t>
            </a:r>
            <a:endParaRPr lang="en-US" sz="1200" dirty="0"/>
          </a:p>
        </p:txBody>
      </p:sp>
      <p:sp>
        <p:nvSpPr>
          <p:cNvPr id="3" name="Text 1"/>
          <p:cNvSpPr/>
          <p:nvPr/>
        </p:nvSpPr>
        <p:spPr>
          <a:xfrm>
            <a:off x="812767" y="965175"/>
            <a:ext cx="10203180" cy="381967"/>
          </a:xfrm>
          <a:prstGeom prst="rect">
            <a:avLst/>
          </a:prstGeom>
          <a:noFill/>
          <a:ln/>
        </p:spPr>
        <p:txBody>
          <a:bodyPr wrap="square" lIns="0" tIns="0" rIns="0" bIns="0" rtlCol="0" anchor="t">
            <a:normAutofit/>
          </a:bodyPr>
          <a:lstStyle/>
          <a:p>
            <a:pPr algn="l" indent="0" marL="0">
              <a:lnSpc>
                <a:spcPts val="2808"/>
              </a:lnSpc>
              <a:buNone/>
            </a:pPr>
            <a:r>
              <a:rPr lang="en-US" sz="2600" b="1" dirty="0">
                <a:solidFill>
                  <a:srgbClr val="191814"/>
                </a:solidFill>
                <a:latin typeface="Fraunces" pitchFamily="34" charset="0"/>
                <a:ea typeface="Fraunces" pitchFamily="34" charset="-122"/>
                <a:cs typeface="Fraunces" pitchFamily="34" charset="-120"/>
              </a:rPr>
              <a:t>Look every rule up before you use it</a:t>
            </a:r>
            <a:endParaRPr lang="en-US" sz="2600" dirty="0"/>
          </a:p>
        </p:txBody>
      </p:sp>
      <p:sp>
        <p:nvSpPr>
          <p:cNvPr id="4" name="Shape 2"/>
          <p:cNvSpPr/>
          <p:nvPr/>
        </p:nvSpPr>
        <p:spPr>
          <a:xfrm>
            <a:off x="815942" y="1908175"/>
            <a:ext cx="3346417" cy="1566887"/>
          </a:xfrm>
          <a:prstGeom prst="roundRect">
            <a:avLst>
              <a:gd name="adj" fmla="val 7092"/>
            </a:avLst>
          </a:prstGeom>
          <a:solidFill>
            <a:srgbClr val="FFFFFF"/>
          </a:solidFill>
          <a:ln w="6350">
            <a:solidFill>
              <a:srgbClr val="E0D7C9"/>
            </a:solidFill>
            <a:prstDash val="solid"/>
          </a:ln>
        </p:spPr>
      </p:sp>
      <p:sp>
        <p:nvSpPr>
          <p:cNvPr id="5" name="Text 3"/>
          <p:cNvSpPr/>
          <p:nvPr/>
        </p:nvSpPr>
        <p:spPr>
          <a:xfrm>
            <a:off x="995825" y="2088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Footnotes</a:t>
            </a:r>
            <a:endParaRPr lang="en-US" sz="1500" dirty="0"/>
          </a:p>
        </p:txBody>
      </p:sp>
      <p:sp>
        <p:nvSpPr>
          <p:cNvPr id="6" name="Text 4"/>
          <p:cNvSpPr/>
          <p:nvPr/>
        </p:nvSpPr>
        <p:spPr>
          <a:xfrm>
            <a:off x="995825" y="2370609"/>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Numbered, after punctuation, references only. No commentary — Instruction 9 overrides AGLC4’s own permission for discursive notes.</a:t>
            </a:r>
            <a:endParaRPr lang="en-US" sz="1300" dirty="0"/>
          </a:p>
        </p:txBody>
      </p:sp>
      <p:sp>
        <p:nvSpPr>
          <p:cNvPr id="7" name="Shape 5"/>
          <p:cNvSpPr/>
          <p:nvPr/>
        </p:nvSpPr>
        <p:spPr>
          <a:xfrm>
            <a:off x="4422750" y="1908175"/>
            <a:ext cx="3346417" cy="1335749"/>
          </a:xfrm>
          <a:prstGeom prst="roundRect">
            <a:avLst>
              <a:gd name="adj" fmla="val 8319"/>
            </a:avLst>
          </a:prstGeom>
          <a:solidFill>
            <a:srgbClr val="FFFFFF"/>
          </a:solidFill>
          <a:ln w="6350">
            <a:solidFill>
              <a:srgbClr val="E0D7C9"/>
            </a:solidFill>
            <a:prstDash val="solid"/>
          </a:ln>
        </p:spPr>
      </p:sp>
      <p:sp>
        <p:nvSpPr>
          <p:cNvPr id="8" name="Text 6"/>
          <p:cNvSpPr/>
          <p:nvPr/>
        </p:nvSpPr>
        <p:spPr>
          <a:xfrm>
            <a:off x="4602634" y="2088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Journal articles</a:t>
            </a:r>
            <a:endParaRPr lang="en-US" sz="1500" dirty="0"/>
          </a:p>
        </p:txBody>
      </p:sp>
      <p:sp>
        <p:nvSpPr>
          <p:cNvPr id="9" name="Text 7"/>
          <p:cNvSpPr/>
          <p:nvPr/>
        </p:nvSpPr>
        <p:spPr>
          <a:xfrm>
            <a:off x="4602634" y="2370609"/>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Author, ‘Title’ (Year) Volume(Issue) </a:t>
            </a:r>
            <a:r>
              <a:rPr lang="en-US" sz="1300" i="1" dirty="0">
                <a:solidFill>
                  <a:srgbClr val="5E5850"/>
                </a:solidFill>
                <a:latin typeface="Inter" pitchFamily="34" charset="0"/>
                <a:ea typeface="Inter" pitchFamily="34" charset="-122"/>
                <a:cs typeface="Inter" pitchFamily="34" charset="-120"/>
              </a:rPr>
              <a:t>Journal</a:t>
            </a:r>
            <a:r>
              <a:rPr lang="en-US" sz="1300" dirty="0">
                <a:solidFill>
                  <a:srgbClr val="5E5850"/>
                </a:solidFill>
                <a:latin typeface="Inter" pitchFamily="34" charset="0"/>
                <a:ea typeface="Inter" pitchFamily="34" charset="-122"/>
                <a:cs typeface="Inter" pitchFamily="34" charset="-120"/>
              </a:rPr>
              <a:t> StartPage, Pinpoint. Only the </a:t>
            </a:r>
            <a:r>
              <a:rPr lang="en-US" sz="1300" b="1" dirty="0">
                <a:solidFill>
                  <a:srgbClr val="5E5850"/>
                </a:solidFill>
                <a:latin typeface="Inter" pitchFamily="34" charset="0"/>
                <a:ea typeface="Inter" pitchFamily="34" charset="-122"/>
                <a:cs typeface="Inter" pitchFamily="34" charset="-120"/>
              </a:rPr>
              <a:t>starting</a:t>
            </a:r>
            <a:r>
              <a:rPr lang="en-US" sz="1300" dirty="0">
                <a:solidFill>
                  <a:srgbClr val="5E5850"/>
                </a:solidFill>
                <a:latin typeface="Inter" pitchFamily="34" charset="0"/>
                <a:ea typeface="Inter" pitchFamily="34" charset="-122"/>
                <a:cs typeface="Inter" pitchFamily="34" charset="-120"/>
              </a:rPr>
              <a:t> page, then the pinpoint.</a:t>
            </a:r>
            <a:endParaRPr lang="en-US" sz="1300" dirty="0"/>
          </a:p>
        </p:txBody>
      </p:sp>
      <p:sp>
        <p:nvSpPr>
          <p:cNvPr id="10" name="Shape 8"/>
          <p:cNvSpPr/>
          <p:nvPr/>
        </p:nvSpPr>
        <p:spPr>
          <a:xfrm>
            <a:off x="8029558" y="1908175"/>
            <a:ext cx="3346417" cy="1566887"/>
          </a:xfrm>
          <a:prstGeom prst="roundRect">
            <a:avLst>
              <a:gd name="adj" fmla="val 7092"/>
            </a:avLst>
          </a:prstGeom>
          <a:solidFill>
            <a:srgbClr val="FFFFFF"/>
          </a:solidFill>
          <a:ln w="6350">
            <a:solidFill>
              <a:srgbClr val="E0D7C9"/>
            </a:solidFill>
            <a:prstDash val="solid"/>
          </a:ln>
        </p:spPr>
      </p:sp>
      <p:sp>
        <p:nvSpPr>
          <p:cNvPr id="11" name="Text 9"/>
          <p:cNvSpPr/>
          <p:nvPr/>
        </p:nvSpPr>
        <p:spPr>
          <a:xfrm>
            <a:off x="8209442" y="2088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Books and chapters</a:t>
            </a:r>
            <a:endParaRPr lang="en-US" sz="1500" dirty="0"/>
          </a:p>
        </p:txBody>
      </p:sp>
      <p:sp>
        <p:nvSpPr>
          <p:cNvPr id="12" name="Text 10"/>
          <p:cNvSpPr/>
          <p:nvPr/>
        </p:nvSpPr>
        <p:spPr>
          <a:xfrm>
            <a:off x="8209442" y="2370609"/>
            <a:ext cx="3076249" cy="949953"/>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Author, </a:t>
            </a:r>
            <a:r>
              <a:rPr lang="en-US" sz="1300" i="1" dirty="0">
                <a:solidFill>
                  <a:srgbClr val="5E5850"/>
                </a:solidFill>
                <a:latin typeface="Inter" pitchFamily="34" charset="0"/>
                <a:ea typeface="Inter" pitchFamily="34" charset="-122"/>
                <a:cs typeface="Inter" pitchFamily="34" charset="-120"/>
              </a:rPr>
              <a:t>Title</a:t>
            </a:r>
            <a:r>
              <a:rPr lang="en-US" sz="1300" dirty="0">
                <a:solidFill>
                  <a:srgbClr val="5E5850"/>
                </a:solidFill>
                <a:latin typeface="Inter" pitchFamily="34" charset="0"/>
                <a:ea typeface="Inter" pitchFamily="34" charset="-122"/>
                <a:cs typeface="Inter" pitchFamily="34" charset="-120"/>
              </a:rPr>
              <a:t> (Publisher, edition, year) Pinpoint. A chapter: Author, ‘Chapter’ in Editor (ed), </a:t>
            </a:r>
            <a:r>
              <a:rPr lang="en-US" sz="1300" i="1" dirty="0">
                <a:solidFill>
                  <a:srgbClr val="5E5850"/>
                </a:solidFill>
                <a:latin typeface="Inter" pitchFamily="34" charset="0"/>
                <a:ea typeface="Inter" pitchFamily="34" charset="-122"/>
                <a:cs typeface="Inter" pitchFamily="34" charset="-120"/>
              </a:rPr>
              <a:t>Book</a:t>
            </a:r>
            <a:r>
              <a:rPr lang="en-US" sz="1300" dirty="0">
                <a:solidFill>
                  <a:srgbClr val="5E5850"/>
                </a:solidFill>
                <a:latin typeface="Inter" pitchFamily="34" charset="0"/>
                <a:ea typeface="Inter" pitchFamily="34" charset="-122"/>
                <a:cs typeface="Inter" pitchFamily="34" charset="-120"/>
              </a:rPr>
              <a:t> (Publisher, year) StartPage.</a:t>
            </a:r>
            <a:endParaRPr lang="en-US" sz="1300" dirty="0"/>
          </a:p>
        </p:txBody>
      </p:sp>
      <p:sp>
        <p:nvSpPr>
          <p:cNvPr id="13" name="Shape 11"/>
          <p:cNvSpPr/>
          <p:nvPr/>
        </p:nvSpPr>
        <p:spPr>
          <a:xfrm>
            <a:off x="815942" y="3432175"/>
            <a:ext cx="3346417" cy="1335749"/>
          </a:xfrm>
          <a:prstGeom prst="roundRect">
            <a:avLst>
              <a:gd name="adj" fmla="val 8319"/>
            </a:avLst>
          </a:prstGeom>
          <a:solidFill>
            <a:srgbClr val="F2EBE0"/>
          </a:solidFill>
          <a:ln w="6350">
            <a:solidFill>
              <a:srgbClr val="E0D7C9"/>
            </a:solidFill>
            <a:prstDash val="solid"/>
          </a:ln>
        </p:spPr>
      </p:sp>
      <p:sp>
        <p:nvSpPr>
          <p:cNvPr id="14" name="Text 12"/>
          <p:cNvSpPr/>
          <p:nvPr/>
        </p:nvSpPr>
        <p:spPr>
          <a:xfrm>
            <a:off x="995825" y="3612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Bibliography — r 1.13</a:t>
            </a:r>
            <a:endParaRPr lang="en-US" sz="1500" dirty="0"/>
          </a:p>
        </p:txBody>
      </p:sp>
      <p:sp>
        <p:nvSpPr>
          <p:cNvPr id="15" name="Text 13"/>
          <p:cNvSpPr/>
          <p:nvPr/>
        </p:nvSpPr>
        <p:spPr>
          <a:xfrm>
            <a:off x="995825" y="3894609"/>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Every source </a:t>
            </a:r>
            <a:r>
              <a:rPr lang="en-US" sz="1300" b="1" dirty="0">
                <a:solidFill>
                  <a:srgbClr val="5E5850"/>
                </a:solidFill>
                <a:latin typeface="Inter" pitchFamily="34" charset="0"/>
                <a:ea typeface="Inter" pitchFamily="34" charset="-122"/>
                <a:cs typeface="Inter" pitchFamily="34" charset="-120"/>
              </a:rPr>
              <a:t>relied upon</a:t>
            </a:r>
            <a:r>
              <a:rPr lang="en-US" sz="1300" dirty="0">
                <a:solidFill>
                  <a:srgbClr val="5E5850"/>
                </a:solidFill>
                <a:latin typeface="Inter" pitchFamily="34" charset="0"/>
                <a:ea typeface="Inter" pitchFamily="34" charset="-122"/>
                <a:cs typeface="Inter" pitchFamily="34" charset="-120"/>
              </a:rPr>
              <a:t>, not only those cited. First author inverted, alphabetical, no closing full stops.</a:t>
            </a:r>
            <a:endParaRPr lang="en-US" sz="1300" dirty="0"/>
          </a:p>
        </p:txBody>
      </p:sp>
      <p:sp>
        <p:nvSpPr>
          <p:cNvPr id="16" name="Shape 14"/>
          <p:cNvSpPr/>
          <p:nvPr/>
        </p:nvSpPr>
        <p:spPr>
          <a:xfrm>
            <a:off x="4422750" y="3432175"/>
            <a:ext cx="3346417" cy="1335749"/>
          </a:xfrm>
          <a:prstGeom prst="roundRect">
            <a:avLst>
              <a:gd name="adj" fmla="val 8319"/>
            </a:avLst>
          </a:prstGeom>
          <a:solidFill>
            <a:srgbClr val="F2EBE0"/>
          </a:solidFill>
          <a:ln w="6350">
            <a:solidFill>
              <a:srgbClr val="E0D7C9"/>
            </a:solidFill>
            <a:prstDash val="solid"/>
          </a:ln>
        </p:spPr>
      </p:sp>
      <p:sp>
        <p:nvSpPr>
          <p:cNvPr id="17" name="Text 15"/>
          <p:cNvSpPr/>
          <p:nvPr/>
        </p:nvSpPr>
        <p:spPr>
          <a:xfrm>
            <a:off x="4602634" y="3612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Headings — r 1.12</a:t>
            </a:r>
            <a:endParaRPr lang="en-US" sz="1500" dirty="0"/>
          </a:p>
        </p:txBody>
      </p:sp>
      <p:sp>
        <p:nvSpPr>
          <p:cNvPr id="18" name="Text 16"/>
          <p:cNvSpPr/>
          <p:nvPr/>
        </p:nvSpPr>
        <p:spPr>
          <a:xfrm>
            <a:off x="4602634" y="3894609"/>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I LEVEL ONE large-and-small caps centred; A Level Two italic centred; 1 Level Three italic left.</a:t>
            </a:r>
            <a:endParaRPr lang="en-US" sz="1300" dirty="0"/>
          </a:p>
        </p:txBody>
      </p:sp>
      <p:sp>
        <p:nvSpPr>
          <p:cNvPr id="19" name="Shape 17"/>
          <p:cNvSpPr/>
          <p:nvPr/>
        </p:nvSpPr>
        <p:spPr>
          <a:xfrm>
            <a:off x="8029558" y="3432175"/>
            <a:ext cx="3346417" cy="1335749"/>
          </a:xfrm>
          <a:prstGeom prst="roundRect">
            <a:avLst>
              <a:gd name="adj" fmla="val 8319"/>
            </a:avLst>
          </a:prstGeom>
          <a:solidFill>
            <a:srgbClr val="F2EBE0"/>
          </a:solidFill>
          <a:ln w="6350">
            <a:solidFill>
              <a:srgbClr val="E0D7C9"/>
            </a:solidFill>
            <a:prstDash val="solid"/>
          </a:ln>
        </p:spPr>
      </p:sp>
      <p:sp>
        <p:nvSpPr>
          <p:cNvPr id="20" name="Text 18"/>
          <p:cNvSpPr/>
          <p:nvPr/>
        </p:nvSpPr>
        <p:spPr>
          <a:xfrm>
            <a:off x="8209442" y="3612059"/>
            <a:ext cx="3076249" cy="244467"/>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191814"/>
                </a:solidFill>
                <a:latin typeface="Fraunces" pitchFamily="34" charset="0"/>
                <a:ea typeface="Fraunces" pitchFamily="34" charset="-122"/>
                <a:cs typeface="Fraunces" pitchFamily="34" charset="-120"/>
              </a:rPr>
              <a:t>Document</a:t>
            </a:r>
            <a:endParaRPr lang="en-US" sz="1500" dirty="0"/>
          </a:p>
        </p:txBody>
      </p:sp>
      <p:sp>
        <p:nvSpPr>
          <p:cNvPr id="21" name="Text 19"/>
          <p:cNvSpPr/>
          <p:nvPr/>
        </p:nvSpPr>
        <p:spPr>
          <a:xfrm>
            <a:off x="8209442" y="3894609"/>
            <a:ext cx="3076249" cy="718815"/>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E5850"/>
                </a:solidFill>
                <a:latin typeface="Inter" pitchFamily="34" charset="0"/>
                <a:ea typeface="Inter" pitchFamily="34" charset="-122"/>
                <a:cs typeface="Inter" pitchFamily="34" charset="-120"/>
              </a:rPr>
              <a:t>Times New Roman. Body 12pt double-spaced; footnotes 10pt single-spaced. Indent or space paragraphs.</a:t>
            </a:r>
            <a:endParaRPr lang="en-US" sz="1300" dirty="0"/>
          </a:p>
        </p:txBody>
      </p:sp>
      <p:sp>
        <p:nvSpPr>
          <p:cNvPr id="22" name="Shape 20"/>
          <p:cNvSpPr/>
          <p:nvPr/>
        </p:nvSpPr>
        <p:spPr>
          <a:xfrm>
            <a:off x="812767" y="4762500"/>
            <a:ext cx="10566383" cy="759354"/>
          </a:xfrm>
          <a:prstGeom prst="roundRect">
            <a:avLst>
              <a:gd name="adj" fmla="val 11707"/>
            </a:avLst>
          </a:prstGeom>
          <a:solidFill>
            <a:srgbClr val="FCEEE5"/>
          </a:solidFill>
          <a:ln/>
        </p:spPr>
      </p:sp>
      <p:sp>
        <p:nvSpPr>
          <p:cNvPr id="23" name="Shape 21"/>
          <p:cNvSpPr/>
          <p:nvPr/>
        </p:nvSpPr>
        <p:spPr>
          <a:xfrm>
            <a:off x="831817" y="4762500"/>
            <a:ext cx="0" cy="759354"/>
          </a:xfrm>
          <a:prstGeom prst="line">
            <a:avLst/>
          </a:prstGeom>
          <a:noFill/>
          <a:ln w="38100">
            <a:solidFill>
              <a:srgbClr val="B0451D"/>
            </a:solidFill>
            <a:prstDash val="solid"/>
          </a:ln>
        </p:spPr>
      </p:sp>
      <p:sp>
        <p:nvSpPr>
          <p:cNvPr id="24" name="Text 22"/>
          <p:cNvSpPr/>
          <p:nvPr/>
        </p:nvSpPr>
        <p:spPr>
          <a:xfrm>
            <a:off x="1027575" y="4902175"/>
            <a:ext cx="10479022" cy="505371"/>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191814"/>
                </a:solidFill>
                <a:latin typeface="Inter" pitchFamily="34" charset="0"/>
                <a:ea typeface="Inter" pitchFamily="34" charset="-122"/>
                <a:cs typeface="Inter" pitchFamily="34" charset="-120"/>
              </a:rPr>
              <a:t>The AGLC4 PDF is in this project. Open it for the exact rule before every citation decision — the Style criterion says “complies with AGLC4” and “all instructions are precisely followed”, and a marker sees a wrong volume format at a glance.</a:t>
            </a:r>
            <a:endParaRPr lang="en-US" sz="1350" dirty="0"/>
          </a:p>
        </p:txBody>
      </p:sp>
      <p:sp>
        <p:nvSpPr>
          <p:cNvPr id="25" name="Text 23"/>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26" name="Text 24"/>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TRAPS</a:t>
            </a:r>
            <a:endParaRPr lang="en-US" sz="1200" dirty="0"/>
          </a:p>
        </p:txBody>
      </p:sp>
      <p:sp>
        <p:nvSpPr>
          <p:cNvPr id="3" name="Text 1"/>
          <p:cNvSpPr/>
          <p:nvPr/>
        </p:nvSpPr>
        <p:spPr>
          <a:xfrm>
            <a:off x="812767" y="914375"/>
            <a:ext cx="10203180" cy="436868"/>
          </a:xfrm>
          <a:prstGeom prst="rect">
            <a:avLst/>
          </a:prstGeom>
          <a:noFill/>
          <a:ln/>
        </p:spPr>
        <p:txBody>
          <a:bodyPr wrap="square" lIns="0" tIns="0" rIns="0" bIns="0" rtlCol="0" anchor="t">
            <a:normAutofit/>
          </a:bodyPr>
          <a:lstStyle/>
          <a:p>
            <a:pPr algn="l" indent="0" marL="0">
              <a:lnSpc>
                <a:spcPts val="3240"/>
              </a:lnSpc>
              <a:buNone/>
            </a:pPr>
            <a:r>
              <a:rPr lang="en-US" sz="3000" b="1" dirty="0">
                <a:solidFill>
                  <a:srgbClr val="191814"/>
                </a:solidFill>
                <a:latin typeface="Fraunces" pitchFamily="34" charset="0"/>
                <a:ea typeface="Fraunces" pitchFamily="34" charset="-122"/>
                <a:cs typeface="Fraunces" pitchFamily="34" charset="-120"/>
              </a:rPr>
              <a:t>Each of these is a real mark, quietly lost</a:t>
            </a:r>
            <a:endParaRPr lang="en-US" sz="3000" dirty="0"/>
          </a:p>
        </p:txBody>
      </p:sp>
      <p:sp>
        <p:nvSpPr>
          <p:cNvPr id="4" name="Shape 2"/>
          <p:cNvSpPr/>
          <p:nvPr/>
        </p:nvSpPr>
        <p:spPr>
          <a:xfrm>
            <a:off x="815942" y="1882750"/>
            <a:ext cx="5149841" cy="720510"/>
          </a:xfrm>
          <a:prstGeom prst="roundRect">
            <a:avLst>
              <a:gd name="adj" fmla="val 10135"/>
            </a:avLst>
          </a:prstGeom>
          <a:solidFill>
            <a:srgbClr val="FFFFFF"/>
          </a:solidFill>
          <a:ln w="6350">
            <a:solidFill>
              <a:srgbClr val="E0D7C9"/>
            </a:solidFill>
            <a:prstDash val="solid"/>
          </a:ln>
        </p:spPr>
      </p:sp>
      <p:sp>
        <p:nvSpPr>
          <p:cNvPr id="5" name="Text 3"/>
          <p:cNvSpPr/>
          <p:nvPr/>
        </p:nvSpPr>
        <p:spPr>
          <a:xfrm>
            <a:off x="970459" y="2011867"/>
            <a:ext cx="4986032"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Surveying instead of arguing.</a:t>
            </a:r>
            <a:r>
              <a:rPr lang="en-US" sz="1300" dirty="0">
                <a:solidFill>
                  <a:srgbClr val="191814"/>
                </a:solidFill>
                <a:latin typeface="Inter" pitchFamily="34" charset="0"/>
                <a:ea typeface="Inter" pitchFamily="34" charset="-122"/>
                <a:cs typeface="Inter" pitchFamily="34" charset="-120"/>
              </a:rPr>
              <a:t> Five theorists summarised, then a verdict. Caps you at Credit on Analysis.</a:t>
            </a:r>
            <a:endParaRPr lang="en-US" sz="1300" dirty="0"/>
          </a:p>
        </p:txBody>
      </p:sp>
      <p:sp>
        <p:nvSpPr>
          <p:cNvPr id="6" name="Shape 4"/>
          <p:cNvSpPr/>
          <p:nvPr/>
        </p:nvSpPr>
        <p:spPr>
          <a:xfrm>
            <a:off x="815942" y="2723877"/>
            <a:ext cx="5149841" cy="951648"/>
          </a:xfrm>
          <a:prstGeom prst="roundRect">
            <a:avLst>
              <a:gd name="adj" fmla="val 7674"/>
            </a:avLst>
          </a:prstGeom>
          <a:solidFill>
            <a:srgbClr val="FFFFFF"/>
          </a:solidFill>
          <a:ln w="6350">
            <a:solidFill>
              <a:srgbClr val="E0D7C9"/>
            </a:solidFill>
            <a:prstDash val="solid"/>
          </a:ln>
        </p:spPr>
      </p:sp>
      <p:sp>
        <p:nvSpPr>
          <p:cNvPr id="7" name="Text 5"/>
          <p:cNvSpPr/>
          <p:nvPr/>
        </p:nvSpPr>
        <p:spPr>
          <a:xfrm>
            <a:off x="970459" y="2852994"/>
            <a:ext cx="4986032" cy="7188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Answering the topic, not the question.</a:t>
            </a:r>
            <a:r>
              <a:rPr lang="en-US" sz="1300" dirty="0">
                <a:solidFill>
                  <a:srgbClr val="191814"/>
                </a:solidFill>
                <a:latin typeface="Inter" pitchFamily="34" charset="0"/>
                <a:ea typeface="Inter" pitchFamily="34" charset="-122"/>
                <a:cs typeface="Inter" pitchFamily="34" charset="-120"/>
              </a:rPr>
              <a:t> For Q1, drifting into whether law is connected to morality. For Q2, arguing about unjust laws rather than defective ones.</a:t>
            </a:r>
            <a:endParaRPr lang="en-US" sz="1300" dirty="0"/>
          </a:p>
        </p:txBody>
      </p:sp>
      <p:sp>
        <p:nvSpPr>
          <p:cNvPr id="8" name="Shape 6"/>
          <p:cNvSpPr/>
          <p:nvPr/>
        </p:nvSpPr>
        <p:spPr>
          <a:xfrm>
            <a:off x="815942" y="3796134"/>
            <a:ext cx="5149841" cy="951648"/>
          </a:xfrm>
          <a:prstGeom prst="roundRect">
            <a:avLst>
              <a:gd name="adj" fmla="val 7674"/>
            </a:avLst>
          </a:prstGeom>
          <a:solidFill>
            <a:srgbClr val="FFFFFF"/>
          </a:solidFill>
          <a:ln w="6350">
            <a:solidFill>
              <a:srgbClr val="E0D7C9"/>
            </a:solidFill>
            <a:prstDash val="solid"/>
          </a:ln>
        </p:spPr>
      </p:sp>
      <p:sp>
        <p:nvSpPr>
          <p:cNvPr id="9" name="Text 7"/>
          <p:cNvSpPr/>
          <p:nvPr/>
        </p:nvSpPr>
        <p:spPr>
          <a:xfrm>
            <a:off x="970459" y="3925251"/>
            <a:ext cx="4986032" cy="7188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Only reading-list sources.</a:t>
            </a:r>
            <a:r>
              <a:rPr lang="en-US" sz="1300" dirty="0">
                <a:solidFill>
                  <a:srgbClr val="191814"/>
                </a:solidFill>
                <a:latin typeface="Inter" pitchFamily="34" charset="0"/>
                <a:ea typeface="Inter" pitchFamily="34" charset="-122"/>
                <a:cs typeface="Inter" pitchFamily="34" charset="-120"/>
              </a:rPr>
              <a:t> The Research criterion requires </a:t>
            </a:r>
            <a:r>
              <a:rPr lang="en-US" sz="1300" i="1" dirty="0">
                <a:solidFill>
                  <a:srgbClr val="191814"/>
                </a:solidFill>
                <a:latin typeface="Inter" pitchFamily="34" charset="0"/>
                <a:ea typeface="Inter" pitchFamily="34" charset="-122"/>
                <a:cs typeface="Inter" pitchFamily="34" charset="-120"/>
              </a:rPr>
              <a:t>both</a:t>
            </a:r>
            <a:r>
              <a:rPr lang="en-US" sz="1300" dirty="0">
                <a:solidFill>
                  <a:srgbClr val="191814"/>
                </a:solidFill>
                <a:latin typeface="Inter" pitchFamily="34" charset="0"/>
                <a:ea typeface="Inter" pitchFamily="34" charset="-122"/>
                <a:cs typeface="Inter" pitchFamily="34" charset="-120"/>
              </a:rPr>
              <a:t> the reading list and independent research. Two or three well-chosen outside articles are enough.</a:t>
            </a:r>
            <a:endParaRPr lang="en-US" sz="1300" dirty="0"/>
          </a:p>
        </p:txBody>
      </p:sp>
      <p:sp>
        <p:nvSpPr>
          <p:cNvPr id="10" name="Shape 8"/>
          <p:cNvSpPr/>
          <p:nvPr/>
        </p:nvSpPr>
        <p:spPr>
          <a:xfrm>
            <a:off x="815942" y="4868391"/>
            <a:ext cx="5149841" cy="720510"/>
          </a:xfrm>
          <a:prstGeom prst="roundRect">
            <a:avLst>
              <a:gd name="adj" fmla="val 10135"/>
            </a:avLst>
          </a:prstGeom>
          <a:solidFill>
            <a:srgbClr val="FFFFFF"/>
          </a:solidFill>
          <a:ln w="6350">
            <a:solidFill>
              <a:srgbClr val="E0D7C9"/>
            </a:solidFill>
            <a:prstDash val="solid"/>
          </a:ln>
        </p:spPr>
      </p:sp>
      <p:sp>
        <p:nvSpPr>
          <p:cNvPr id="11" name="Text 9"/>
          <p:cNvSpPr/>
          <p:nvPr/>
        </p:nvSpPr>
        <p:spPr>
          <a:xfrm>
            <a:off x="970459" y="4997508"/>
            <a:ext cx="4986032"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Analysis in the footnotes.</a:t>
            </a:r>
            <a:r>
              <a:rPr lang="en-US" sz="1300" dirty="0">
                <a:solidFill>
                  <a:srgbClr val="191814"/>
                </a:solidFill>
                <a:latin typeface="Inter" pitchFamily="34" charset="0"/>
                <a:ea typeface="Inter" pitchFamily="34" charset="-122"/>
                <a:cs typeface="Inter" pitchFamily="34" charset="-120"/>
              </a:rPr>
              <a:t> Explicitly prohibited. Move it into the body or cut it.</a:t>
            </a:r>
            <a:endParaRPr lang="en-US" sz="1300" dirty="0"/>
          </a:p>
        </p:txBody>
      </p:sp>
      <p:sp>
        <p:nvSpPr>
          <p:cNvPr id="12" name="Shape 10"/>
          <p:cNvSpPr/>
          <p:nvPr/>
        </p:nvSpPr>
        <p:spPr>
          <a:xfrm>
            <a:off x="6226175" y="1882750"/>
            <a:ext cx="5149841" cy="951648"/>
          </a:xfrm>
          <a:prstGeom prst="roundRect">
            <a:avLst>
              <a:gd name="adj" fmla="val 7674"/>
            </a:avLst>
          </a:prstGeom>
          <a:solidFill>
            <a:srgbClr val="FFFFFF"/>
          </a:solidFill>
          <a:ln w="6350">
            <a:solidFill>
              <a:srgbClr val="E0D7C9"/>
            </a:solidFill>
            <a:prstDash val="solid"/>
          </a:ln>
        </p:spPr>
      </p:sp>
      <p:sp>
        <p:nvSpPr>
          <p:cNvPr id="13" name="Text 11"/>
          <p:cNvSpPr/>
          <p:nvPr/>
        </p:nvSpPr>
        <p:spPr>
          <a:xfrm>
            <a:off x="6380692" y="2011867"/>
            <a:ext cx="4986032" cy="7188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Quoting a lecture transcript or slide.</a:t>
            </a:r>
            <a:r>
              <a:rPr lang="en-US" sz="1300" dirty="0">
                <a:solidFill>
                  <a:srgbClr val="191814"/>
                </a:solidFill>
                <a:latin typeface="Inter" pitchFamily="34" charset="0"/>
                <a:ea typeface="Inter" pitchFamily="34" charset="-122"/>
                <a:cs typeface="Inter" pitchFamily="34" charset="-120"/>
              </a:rPr>
              <a:t> Neither is a citable scholarly source. Cite the published work — and check the pinpoint, since the slides mix editions of </a:t>
            </a:r>
            <a:r>
              <a:rPr lang="en-US" sz="1300" i="1" dirty="0">
                <a:solidFill>
                  <a:srgbClr val="191814"/>
                </a:solidFill>
                <a:latin typeface="Inter" pitchFamily="34" charset="0"/>
                <a:ea typeface="Inter" pitchFamily="34" charset="-122"/>
                <a:cs typeface="Inter" pitchFamily="34" charset="-120"/>
              </a:rPr>
              <a:t>The Concept of Law</a:t>
            </a:r>
            <a:r>
              <a:rPr lang="en-US" sz="1300" dirty="0">
                <a:solidFill>
                  <a:srgbClr val="191814"/>
                </a:solidFill>
                <a:latin typeface="Inter" pitchFamily="34" charset="0"/>
                <a:ea typeface="Inter" pitchFamily="34" charset="-122"/>
                <a:cs typeface="Inter" pitchFamily="34" charset="-120"/>
              </a:rPr>
              <a:t>.</a:t>
            </a:r>
            <a:endParaRPr lang="en-US" sz="1300" dirty="0"/>
          </a:p>
        </p:txBody>
      </p:sp>
      <p:sp>
        <p:nvSpPr>
          <p:cNvPr id="14" name="Shape 12"/>
          <p:cNvSpPr/>
          <p:nvPr/>
        </p:nvSpPr>
        <p:spPr>
          <a:xfrm>
            <a:off x="6226175" y="2955007"/>
            <a:ext cx="5149841" cy="951648"/>
          </a:xfrm>
          <a:prstGeom prst="roundRect">
            <a:avLst>
              <a:gd name="adj" fmla="val 7674"/>
            </a:avLst>
          </a:prstGeom>
          <a:solidFill>
            <a:srgbClr val="FFFFFF"/>
          </a:solidFill>
          <a:ln w="6350">
            <a:solidFill>
              <a:srgbClr val="E0D7C9"/>
            </a:solidFill>
            <a:prstDash val="solid"/>
          </a:ln>
        </p:spPr>
      </p:sp>
      <p:sp>
        <p:nvSpPr>
          <p:cNvPr id="15" name="Text 13"/>
          <p:cNvSpPr/>
          <p:nvPr/>
        </p:nvSpPr>
        <p:spPr>
          <a:xfrm>
            <a:off x="6380692" y="3084124"/>
            <a:ext cx="4986032" cy="718815"/>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Trusting a quotation you have not seen.</a:t>
            </a:r>
            <a:r>
              <a:rPr lang="en-US" sz="1300" dirty="0">
                <a:solidFill>
                  <a:srgbClr val="191814"/>
                </a:solidFill>
                <a:latin typeface="Inter" pitchFamily="34" charset="0"/>
                <a:ea typeface="Inter" pitchFamily="34" charset="-122"/>
                <a:cs typeface="Inter" pitchFamily="34" charset="-120"/>
              </a:rPr>
              <a:t> Every quotation must be verified in the source itself. A fabricated quotation is the single most damaging error available here.</a:t>
            </a:r>
            <a:endParaRPr lang="en-US" sz="1300" dirty="0"/>
          </a:p>
        </p:txBody>
      </p:sp>
      <p:sp>
        <p:nvSpPr>
          <p:cNvPr id="16" name="Shape 14"/>
          <p:cNvSpPr/>
          <p:nvPr/>
        </p:nvSpPr>
        <p:spPr>
          <a:xfrm>
            <a:off x="6226175" y="4027264"/>
            <a:ext cx="5149841" cy="720510"/>
          </a:xfrm>
          <a:prstGeom prst="roundRect">
            <a:avLst>
              <a:gd name="adj" fmla="val 10135"/>
            </a:avLst>
          </a:prstGeom>
          <a:solidFill>
            <a:srgbClr val="FFFFFF"/>
          </a:solidFill>
          <a:ln w="6350">
            <a:solidFill>
              <a:srgbClr val="E0D7C9"/>
            </a:solidFill>
            <a:prstDash val="solid"/>
          </a:ln>
        </p:spPr>
      </p:sp>
      <p:sp>
        <p:nvSpPr>
          <p:cNvPr id="17" name="Text 15"/>
          <p:cNvSpPr/>
          <p:nvPr/>
        </p:nvSpPr>
        <p:spPr>
          <a:xfrm>
            <a:off x="6380692" y="4156381"/>
            <a:ext cx="4986032"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Annotating the primary text.</a:t>
            </a:r>
            <a:r>
              <a:rPr lang="en-US" sz="1300" dirty="0">
                <a:solidFill>
                  <a:srgbClr val="191814"/>
                </a:solidFill>
                <a:latin typeface="Inter" pitchFamily="34" charset="0"/>
                <a:ea typeface="Inter" pitchFamily="34" charset="-122"/>
                <a:cs typeface="Inter" pitchFamily="34" charset="-120"/>
              </a:rPr>
              <a:t> Hart or Fuller is expressly </a:t>
            </a:r>
            <a:r>
              <a:rPr lang="en-US" sz="1300" i="1" dirty="0">
                <a:solidFill>
                  <a:srgbClr val="191814"/>
                </a:solidFill>
                <a:latin typeface="Inter" pitchFamily="34" charset="0"/>
                <a:ea typeface="Inter" pitchFamily="34" charset="-122"/>
                <a:cs typeface="Inter" pitchFamily="34" charset="-120"/>
              </a:rPr>
              <a:t>not</a:t>
            </a:r>
            <a:r>
              <a:rPr lang="en-US" sz="1300" dirty="0">
                <a:solidFill>
                  <a:srgbClr val="191814"/>
                </a:solidFill>
                <a:latin typeface="Inter" pitchFamily="34" charset="0"/>
                <a:ea typeface="Inter" pitchFamily="34" charset="-122"/>
                <a:cs typeface="Inter" pitchFamily="34" charset="-120"/>
              </a:rPr>
              <a:t> what Task 3 wants. Use a secondary source.</a:t>
            </a:r>
            <a:endParaRPr lang="en-US" sz="1300" dirty="0"/>
          </a:p>
        </p:txBody>
      </p:sp>
      <p:sp>
        <p:nvSpPr>
          <p:cNvPr id="18" name="Shape 16"/>
          <p:cNvSpPr/>
          <p:nvPr/>
        </p:nvSpPr>
        <p:spPr>
          <a:xfrm>
            <a:off x="6226175" y="4868391"/>
            <a:ext cx="5149841" cy="720510"/>
          </a:xfrm>
          <a:prstGeom prst="roundRect">
            <a:avLst>
              <a:gd name="adj" fmla="val 10135"/>
            </a:avLst>
          </a:prstGeom>
          <a:solidFill>
            <a:srgbClr val="FFFFFF"/>
          </a:solidFill>
          <a:ln w="6350">
            <a:solidFill>
              <a:srgbClr val="E0D7C9"/>
            </a:solidFill>
            <a:prstDash val="solid"/>
          </a:ln>
        </p:spPr>
      </p:sp>
      <p:sp>
        <p:nvSpPr>
          <p:cNvPr id="19" name="Text 17"/>
          <p:cNvSpPr/>
          <p:nvPr/>
        </p:nvSpPr>
        <p:spPr>
          <a:xfrm>
            <a:off x="6380692" y="4997508"/>
            <a:ext cx="4986032"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Going over 1,500 words.</a:t>
            </a:r>
            <a:r>
              <a:rPr lang="en-US" sz="1300" dirty="0">
                <a:solidFill>
                  <a:srgbClr val="191814"/>
                </a:solidFill>
                <a:latin typeface="Inter" pitchFamily="34" charset="0"/>
                <a:ea typeface="Inter" pitchFamily="34" charset="-122"/>
                <a:cs typeface="Inter" pitchFamily="34" charset="-120"/>
              </a:rPr>
              <a:t> The excess is not marked, and the excess is almost always your conclusion.</a:t>
            </a:r>
            <a:endParaRPr lang="en-US" sz="1300" dirty="0"/>
          </a:p>
        </p:txBody>
      </p:sp>
      <p:sp>
        <p:nvSpPr>
          <p:cNvPr id="20" name="Text 18"/>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21" name="Text 19"/>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812767" y="635000"/>
            <a:ext cx="981075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0451D"/>
                </a:solidFill>
                <a:latin typeface="Inter" pitchFamily="34" charset="0"/>
                <a:ea typeface="Inter" pitchFamily="34" charset="-122"/>
                <a:cs typeface="Inter" pitchFamily="34" charset="-120"/>
              </a:rPr>
              <a:t>WHAT TO DO WITH THE TIME THAT IS LEFT</a:t>
            </a:r>
            <a:endParaRPr lang="en-US" sz="1200" dirty="0"/>
          </a:p>
        </p:txBody>
      </p:sp>
      <p:sp>
        <p:nvSpPr>
          <p:cNvPr id="3" name="Text 1"/>
          <p:cNvSpPr/>
          <p:nvPr/>
        </p:nvSpPr>
        <p:spPr>
          <a:xfrm>
            <a:off x="812767" y="965175"/>
            <a:ext cx="10203180" cy="381967"/>
          </a:xfrm>
          <a:prstGeom prst="rect">
            <a:avLst/>
          </a:prstGeom>
          <a:noFill/>
          <a:ln/>
        </p:spPr>
        <p:txBody>
          <a:bodyPr wrap="square" lIns="0" tIns="0" rIns="0" bIns="0" rtlCol="0" anchor="t">
            <a:normAutofit/>
          </a:bodyPr>
          <a:lstStyle/>
          <a:p>
            <a:pPr algn="l" indent="0" marL="0">
              <a:lnSpc>
                <a:spcPts val="2808"/>
              </a:lnSpc>
              <a:buNone/>
            </a:pPr>
            <a:r>
              <a:rPr lang="en-US" sz="2600" b="1" dirty="0">
                <a:solidFill>
                  <a:srgbClr val="191814"/>
                </a:solidFill>
                <a:latin typeface="Fraunces" pitchFamily="34" charset="0"/>
                <a:ea typeface="Fraunces" pitchFamily="34" charset="-122"/>
                <a:cs typeface="Fraunces" pitchFamily="34" charset="-120"/>
              </a:rPr>
              <a:t>A working sequence, not a wish list</a:t>
            </a:r>
            <a:endParaRPr lang="en-US" sz="2600" dirty="0"/>
          </a:p>
        </p:txBody>
      </p:sp>
      <p:sp>
        <p:nvSpPr>
          <p:cNvPr id="4" name="Shape 2"/>
          <p:cNvSpPr/>
          <p:nvPr/>
        </p:nvSpPr>
        <p:spPr>
          <a:xfrm>
            <a:off x="815942" y="1908175"/>
            <a:ext cx="10560033" cy="636009"/>
          </a:xfrm>
          <a:prstGeom prst="roundRect">
            <a:avLst>
              <a:gd name="adj" fmla="val 13479"/>
            </a:avLst>
          </a:prstGeom>
          <a:solidFill>
            <a:srgbClr val="FFFFFF"/>
          </a:solidFill>
          <a:ln w="6350">
            <a:solidFill>
              <a:srgbClr val="E0D7C9"/>
            </a:solidFill>
            <a:prstDash val="solid"/>
          </a:ln>
        </p:spPr>
      </p:sp>
      <p:sp>
        <p:nvSpPr>
          <p:cNvPr id="5" name="Text 3"/>
          <p:cNvSpPr/>
          <p:nvPr/>
        </p:nvSpPr>
        <p:spPr>
          <a:xfrm>
            <a:off x="983134" y="2097261"/>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1</a:t>
            </a:r>
            <a:endParaRPr lang="en-US" sz="1450" dirty="0"/>
          </a:p>
        </p:txBody>
      </p:sp>
      <p:sp>
        <p:nvSpPr>
          <p:cNvPr id="6" name="Text 4"/>
          <p:cNvSpPr/>
          <p:nvPr/>
        </p:nvSpPr>
        <p:spPr>
          <a:xfrm>
            <a:off x="1846709" y="2110581"/>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Pick the question</a:t>
            </a:r>
            <a:endParaRPr lang="en-US" sz="1300" dirty="0"/>
          </a:p>
        </p:txBody>
      </p:sp>
      <p:sp>
        <p:nvSpPr>
          <p:cNvPr id="7" name="Text 5"/>
          <p:cNvSpPr/>
          <p:nvPr/>
        </p:nvSpPr>
        <p:spPr>
          <a:xfrm>
            <a:off x="4043784" y="2011859"/>
            <a:ext cx="7379949" cy="454025"/>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Read the two option slides again and commit. Indecision costs more than a slightly weaker thesis.</a:t>
            </a:r>
            <a:endParaRPr lang="en-US" sz="1250" dirty="0"/>
          </a:p>
        </p:txBody>
      </p:sp>
      <p:sp>
        <p:nvSpPr>
          <p:cNvPr id="8" name="Shape 6"/>
          <p:cNvSpPr/>
          <p:nvPr/>
        </p:nvSpPr>
        <p:spPr>
          <a:xfrm>
            <a:off x="815942" y="2416175"/>
            <a:ext cx="10560033" cy="669660"/>
          </a:xfrm>
          <a:prstGeom prst="roundRect">
            <a:avLst>
              <a:gd name="adj" fmla="val 12801"/>
            </a:avLst>
          </a:prstGeom>
          <a:solidFill>
            <a:srgbClr val="FFFFFF"/>
          </a:solidFill>
          <a:ln w="6350">
            <a:solidFill>
              <a:srgbClr val="E0D7C9"/>
            </a:solidFill>
            <a:prstDash val="solid"/>
          </a:ln>
        </p:spPr>
      </p:sp>
      <p:sp>
        <p:nvSpPr>
          <p:cNvPr id="9" name="Text 7"/>
          <p:cNvSpPr/>
          <p:nvPr/>
        </p:nvSpPr>
        <p:spPr>
          <a:xfrm>
            <a:off x="983134" y="262210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2</a:t>
            </a:r>
            <a:endParaRPr lang="en-US" sz="1450" dirty="0"/>
          </a:p>
        </p:txBody>
      </p:sp>
      <p:sp>
        <p:nvSpPr>
          <p:cNvPr id="10" name="Text 8"/>
          <p:cNvSpPr/>
          <p:nvPr/>
        </p:nvSpPr>
        <p:spPr>
          <a:xfrm>
            <a:off x="1846709" y="2519859"/>
            <a:ext cx="2092960"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Pick argument and source</a:t>
            </a:r>
            <a:endParaRPr lang="en-US" sz="1300" dirty="0"/>
          </a:p>
        </p:txBody>
      </p:sp>
      <p:sp>
        <p:nvSpPr>
          <p:cNvPr id="11" name="Text 9"/>
          <p:cNvSpPr/>
          <p:nvPr/>
        </p:nvSpPr>
        <p:spPr>
          <a:xfrm>
            <a:off x="4043784" y="2643832"/>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One of the three options, and the secondary source you will annotate. Download it now.</a:t>
            </a:r>
            <a:endParaRPr lang="en-US" sz="1250" dirty="0"/>
          </a:p>
        </p:txBody>
      </p:sp>
      <p:sp>
        <p:nvSpPr>
          <p:cNvPr id="12" name="Shape 10"/>
          <p:cNvSpPr/>
          <p:nvPr/>
        </p:nvSpPr>
        <p:spPr>
          <a:xfrm>
            <a:off x="815942" y="2924175"/>
            <a:ext cx="10560033" cy="669660"/>
          </a:xfrm>
          <a:prstGeom prst="roundRect">
            <a:avLst>
              <a:gd name="adj" fmla="val 12801"/>
            </a:avLst>
          </a:prstGeom>
          <a:solidFill>
            <a:srgbClr val="FFFFFF"/>
          </a:solidFill>
          <a:ln w="6350">
            <a:solidFill>
              <a:srgbClr val="E0D7C9"/>
            </a:solidFill>
            <a:prstDash val="solid"/>
          </a:ln>
        </p:spPr>
      </p:sp>
      <p:sp>
        <p:nvSpPr>
          <p:cNvPr id="13" name="Text 11"/>
          <p:cNvSpPr/>
          <p:nvPr/>
        </p:nvSpPr>
        <p:spPr>
          <a:xfrm>
            <a:off x="983134" y="3130104"/>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3</a:t>
            </a:r>
            <a:endParaRPr lang="en-US" sz="1450" dirty="0"/>
          </a:p>
        </p:txBody>
      </p:sp>
      <p:sp>
        <p:nvSpPr>
          <p:cNvPr id="14" name="Text 12"/>
          <p:cNvSpPr/>
          <p:nvPr/>
        </p:nvSpPr>
        <p:spPr>
          <a:xfrm>
            <a:off x="1846709" y="3027859"/>
            <a:ext cx="2092960" cy="487677"/>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Read that source properly</a:t>
            </a:r>
            <a:endParaRPr lang="en-US" sz="1300" dirty="0"/>
          </a:p>
        </p:txBody>
      </p:sp>
      <p:sp>
        <p:nvSpPr>
          <p:cNvPr id="15" name="Text 13"/>
          <p:cNvSpPr/>
          <p:nvPr/>
        </p:nvSpPr>
        <p:spPr>
          <a:xfrm>
            <a:off x="4043784" y="3151832"/>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Mark three passages as you go, tagging each BUILD or RESPOND. Task 3, done in advance.</a:t>
            </a:r>
            <a:endParaRPr lang="en-US" sz="1250" dirty="0"/>
          </a:p>
        </p:txBody>
      </p:sp>
      <p:sp>
        <p:nvSpPr>
          <p:cNvPr id="16" name="Shape 14"/>
          <p:cNvSpPr/>
          <p:nvPr/>
        </p:nvSpPr>
        <p:spPr>
          <a:xfrm>
            <a:off x="815942" y="3432175"/>
            <a:ext cx="10560033" cy="465146"/>
          </a:xfrm>
          <a:prstGeom prst="roundRect">
            <a:avLst>
              <a:gd name="adj" fmla="val 18430"/>
            </a:avLst>
          </a:prstGeom>
          <a:solidFill>
            <a:srgbClr val="FFFFFF"/>
          </a:solidFill>
          <a:ln w="6350">
            <a:solidFill>
              <a:srgbClr val="E0D7C9"/>
            </a:solidFill>
            <a:prstDash val="solid"/>
          </a:ln>
        </p:spPr>
      </p:sp>
      <p:sp>
        <p:nvSpPr>
          <p:cNvPr id="17" name="Text 15"/>
          <p:cNvSpPr/>
          <p:nvPr/>
        </p:nvSpPr>
        <p:spPr>
          <a:xfrm>
            <a:off x="983134" y="3535859"/>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4</a:t>
            </a:r>
            <a:endParaRPr lang="en-US" sz="1450" dirty="0"/>
          </a:p>
        </p:txBody>
      </p:sp>
      <p:sp>
        <p:nvSpPr>
          <p:cNvPr id="18" name="Text 16"/>
          <p:cNvSpPr/>
          <p:nvPr/>
        </p:nvSpPr>
        <p:spPr>
          <a:xfrm>
            <a:off x="1846709" y="3549179"/>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Write the skeleton</a:t>
            </a:r>
            <a:endParaRPr lang="en-US" sz="1300" dirty="0"/>
          </a:p>
        </p:txBody>
      </p:sp>
      <p:sp>
        <p:nvSpPr>
          <p:cNvPr id="19" name="Text 17"/>
          <p:cNvSpPr/>
          <p:nvPr/>
        </p:nvSpPr>
        <p:spPr>
          <a:xfrm>
            <a:off x="4043784" y="3557563"/>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Six headings, one sentence under each. If it fails here it fails at 1,500 words.</a:t>
            </a:r>
            <a:endParaRPr lang="en-US" sz="1250" dirty="0"/>
          </a:p>
        </p:txBody>
      </p:sp>
      <p:sp>
        <p:nvSpPr>
          <p:cNvPr id="20" name="Shape 18"/>
          <p:cNvSpPr/>
          <p:nvPr/>
        </p:nvSpPr>
        <p:spPr>
          <a:xfrm>
            <a:off x="815942" y="3940175"/>
            <a:ext cx="10560033" cy="465146"/>
          </a:xfrm>
          <a:prstGeom prst="roundRect">
            <a:avLst>
              <a:gd name="adj" fmla="val 18430"/>
            </a:avLst>
          </a:prstGeom>
          <a:solidFill>
            <a:srgbClr val="FFFFFF"/>
          </a:solidFill>
          <a:ln w="6350">
            <a:solidFill>
              <a:srgbClr val="E0D7C9"/>
            </a:solidFill>
            <a:prstDash val="solid"/>
          </a:ln>
        </p:spPr>
      </p:sp>
      <p:sp>
        <p:nvSpPr>
          <p:cNvPr id="21" name="Text 19"/>
          <p:cNvSpPr/>
          <p:nvPr/>
        </p:nvSpPr>
        <p:spPr>
          <a:xfrm>
            <a:off x="983134" y="4043859"/>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B0451D"/>
                </a:solidFill>
                <a:latin typeface="Fraunces" pitchFamily="34" charset="0"/>
                <a:ea typeface="Fraunces" pitchFamily="34" charset="-122"/>
                <a:cs typeface="Fraunces" pitchFamily="34" charset="-120"/>
              </a:rPr>
              <a:t>5</a:t>
            </a:r>
            <a:endParaRPr lang="en-US" sz="1450" dirty="0"/>
          </a:p>
        </p:txBody>
      </p:sp>
      <p:sp>
        <p:nvSpPr>
          <p:cNvPr id="22" name="Text 20"/>
          <p:cNvSpPr/>
          <p:nvPr/>
        </p:nvSpPr>
        <p:spPr>
          <a:xfrm>
            <a:off x="1846709" y="4057179"/>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Draft, then cut</a:t>
            </a:r>
            <a:endParaRPr lang="en-US" sz="1300" dirty="0"/>
          </a:p>
        </p:txBody>
      </p:sp>
      <p:sp>
        <p:nvSpPr>
          <p:cNvPr id="23" name="Text 21"/>
          <p:cNvSpPr/>
          <p:nvPr/>
        </p:nvSpPr>
        <p:spPr>
          <a:xfrm>
            <a:off x="4043784" y="4065563"/>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Overwrite by 300 words and cut back. Cut description first, never the objection.</a:t>
            </a:r>
            <a:endParaRPr lang="en-US" sz="1250" dirty="0"/>
          </a:p>
        </p:txBody>
      </p:sp>
      <p:sp>
        <p:nvSpPr>
          <p:cNvPr id="24" name="Shape 22"/>
          <p:cNvSpPr/>
          <p:nvPr/>
        </p:nvSpPr>
        <p:spPr>
          <a:xfrm>
            <a:off x="815942" y="4448175"/>
            <a:ext cx="10560033" cy="465146"/>
          </a:xfrm>
          <a:prstGeom prst="roundRect">
            <a:avLst>
              <a:gd name="adj" fmla="val 18430"/>
            </a:avLst>
          </a:prstGeom>
          <a:solidFill>
            <a:srgbClr val="FFFFFF"/>
          </a:solidFill>
          <a:ln w="6350">
            <a:solidFill>
              <a:srgbClr val="E0D7C9"/>
            </a:solidFill>
            <a:prstDash val="solid"/>
          </a:ln>
        </p:spPr>
      </p:sp>
      <p:sp>
        <p:nvSpPr>
          <p:cNvPr id="25" name="Text 23"/>
          <p:cNvSpPr/>
          <p:nvPr/>
        </p:nvSpPr>
        <p:spPr>
          <a:xfrm>
            <a:off x="983134" y="4551859"/>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6</a:t>
            </a:r>
            <a:endParaRPr lang="en-US" sz="1450" dirty="0"/>
          </a:p>
        </p:txBody>
      </p:sp>
      <p:sp>
        <p:nvSpPr>
          <p:cNvPr id="26" name="Text 24"/>
          <p:cNvSpPr/>
          <p:nvPr/>
        </p:nvSpPr>
        <p:spPr>
          <a:xfrm>
            <a:off x="1846709" y="4565179"/>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Verify every citation</a:t>
            </a:r>
            <a:endParaRPr lang="en-US" sz="1300" dirty="0"/>
          </a:p>
        </p:txBody>
      </p:sp>
      <p:sp>
        <p:nvSpPr>
          <p:cNvPr id="27" name="Text 25"/>
          <p:cNvSpPr/>
          <p:nvPr/>
        </p:nvSpPr>
        <p:spPr>
          <a:xfrm>
            <a:off x="4043784" y="4573563"/>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Open the publisher record. Volume, year, start page, pinpoint, and every quoted word.</a:t>
            </a:r>
            <a:endParaRPr lang="en-US" sz="1250" dirty="0"/>
          </a:p>
        </p:txBody>
      </p:sp>
      <p:sp>
        <p:nvSpPr>
          <p:cNvPr id="28" name="Shape 26"/>
          <p:cNvSpPr/>
          <p:nvPr/>
        </p:nvSpPr>
        <p:spPr>
          <a:xfrm>
            <a:off x="815942" y="4956175"/>
            <a:ext cx="10560033" cy="465146"/>
          </a:xfrm>
          <a:prstGeom prst="roundRect">
            <a:avLst>
              <a:gd name="adj" fmla="val 18430"/>
            </a:avLst>
          </a:prstGeom>
          <a:solidFill>
            <a:srgbClr val="FFFFFF"/>
          </a:solidFill>
          <a:ln w="6350">
            <a:solidFill>
              <a:srgbClr val="E0D7C9"/>
            </a:solidFill>
            <a:prstDash val="solid"/>
          </a:ln>
        </p:spPr>
      </p:sp>
      <p:sp>
        <p:nvSpPr>
          <p:cNvPr id="29" name="Text 27"/>
          <p:cNvSpPr/>
          <p:nvPr/>
        </p:nvSpPr>
        <p:spPr>
          <a:xfrm>
            <a:off x="983134" y="5059859"/>
            <a:ext cx="749300" cy="283162"/>
          </a:xfrm>
          <a:prstGeom prst="rect">
            <a:avLst/>
          </a:prstGeom>
          <a:noFill/>
          <a:ln/>
        </p:spPr>
        <p:txBody>
          <a:bodyPr wrap="square" lIns="0" tIns="0" rIns="0" bIns="0" rtlCol="0" anchor="t">
            <a:normAutofit/>
          </a:bodyPr>
          <a:lstStyle/>
          <a:p>
            <a:pPr algn="l" indent="0" marL="0">
              <a:lnSpc>
                <a:spcPts val="2030"/>
              </a:lnSpc>
              <a:buNone/>
            </a:pPr>
            <a:r>
              <a:rPr lang="en-US" sz="1450" b="1" dirty="0">
                <a:solidFill>
                  <a:srgbClr val="1C595D"/>
                </a:solidFill>
                <a:latin typeface="Fraunces" pitchFamily="34" charset="0"/>
                <a:ea typeface="Fraunces" pitchFamily="34" charset="-122"/>
                <a:cs typeface="Fraunces" pitchFamily="34" charset="-120"/>
              </a:rPr>
              <a:t>7</a:t>
            </a:r>
            <a:endParaRPr lang="en-US" sz="1450" dirty="0"/>
          </a:p>
        </p:txBody>
      </p:sp>
      <p:sp>
        <p:nvSpPr>
          <p:cNvPr id="30" name="Text 28"/>
          <p:cNvSpPr/>
          <p:nvPr/>
        </p:nvSpPr>
        <p:spPr>
          <a:xfrm>
            <a:off x="1846709" y="5073179"/>
            <a:ext cx="2092960" cy="256538"/>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91814"/>
                </a:solidFill>
                <a:latin typeface="Inter" pitchFamily="34" charset="0"/>
                <a:ea typeface="Inter" pitchFamily="34" charset="-122"/>
                <a:cs typeface="Inter" pitchFamily="34" charset="-120"/>
              </a:rPr>
              <a:t>Format and assemble</a:t>
            </a:r>
            <a:endParaRPr lang="en-US" sz="1300" dirty="0"/>
          </a:p>
        </p:txBody>
      </p:sp>
      <p:sp>
        <p:nvSpPr>
          <p:cNvPr id="31" name="Text 29"/>
          <p:cNvSpPr/>
          <p:nvPr/>
        </p:nvSpPr>
        <p:spPr>
          <a:xfrm>
            <a:off x="4043784" y="5081563"/>
            <a:ext cx="7379949" cy="239713"/>
          </a:xfrm>
          <a:prstGeom prst="rect">
            <a:avLst/>
          </a:prstGeom>
          <a:noFill/>
          <a:ln/>
        </p:spPr>
        <p:txBody>
          <a:bodyPr wrap="square" lIns="0" tIns="0" rIns="0" bIns="0" rtlCol="0" anchor="t">
            <a:normAutofit/>
          </a:bodyPr>
          <a:lstStyle/>
          <a:p>
            <a:pPr algn="l" indent="0" marL="0">
              <a:lnSpc>
                <a:spcPts val="1688"/>
              </a:lnSpc>
              <a:buNone/>
            </a:pPr>
            <a:r>
              <a:rPr lang="en-US" sz="1250" dirty="0">
                <a:solidFill>
                  <a:srgbClr val="5E5850"/>
                </a:solidFill>
                <a:latin typeface="Inter" pitchFamily="34" charset="0"/>
                <a:ea typeface="Inter" pitchFamily="34" charset="-122"/>
                <a:cs typeface="Inter" pitchFamily="34" charset="-120"/>
              </a:rPr>
              <a:t>AGLC4 pass, annotate the PDF, merge into one file, name it correctly.</a:t>
            </a:r>
            <a:endParaRPr lang="en-US" sz="1250" dirty="0"/>
          </a:p>
        </p:txBody>
      </p:sp>
      <p:sp>
        <p:nvSpPr>
          <p:cNvPr id="32" name="Text 30"/>
          <p:cNvSpPr/>
          <p:nvPr/>
        </p:nvSpPr>
        <p:spPr>
          <a:xfrm>
            <a:off x="812767" y="5537175"/>
            <a:ext cx="10883374" cy="485775"/>
          </a:xfrm>
          <a:prstGeom prst="rect">
            <a:avLst/>
          </a:prstGeom>
          <a:noFill/>
          <a:ln/>
        </p:spPr>
        <p:txBody>
          <a:bodyPr wrap="square" lIns="0" tIns="0" rIns="0" bIns="0" rtlCol="0" anchor="t">
            <a:normAutofit/>
          </a:bodyPr>
          <a:lstStyle/>
          <a:p>
            <a:pPr algn="l" indent="0" marL="0">
              <a:lnSpc>
                <a:spcPts val="1813"/>
              </a:lnSpc>
              <a:buNone/>
            </a:pPr>
            <a:r>
              <a:rPr lang="en-US" sz="1250" b="1" dirty="0">
                <a:solidFill>
                  <a:srgbClr val="B0451D"/>
                </a:solidFill>
                <a:latin typeface="Inter" pitchFamily="34" charset="0"/>
                <a:ea typeface="Inter" pitchFamily="34" charset="-122"/>
                <a:cs typeface="Inter" pitchFamily="34" charset="-120"/>
              </a:rPr>
              <a:t>Confirm your deadline from the approval notice itself.</a:t>
            </a:r>
            <a:r>
              <a:rPr lang="en-US" sz="1250" dirty="0">
                <a:solidFill>
                  <a:srgbClr val="B0451D"/>
                </a:solidFill>
                <a:latin typeface="Inter" pitchFamily="34" charset="0"/>
                <a:ea typeface="Inter" pitchFamily="34" charset="-122"/>
                <a:cs typeface="Inter" pitchFamily="34" charset="-120"/>
              </a:rPr>
              <a:t> A three-day extension on Sunday 20 September gives Wednesday 23 September 11:55pm — but the notice states the operative date and time, and late penalties run from it.</a:t>
            </a:r>
            <a:endParaRPr lang="en-US" sz="1250" dirty="0"/>
          </a:p>
        </p:txBody>
      </p:sp>
      <p:sp>
        <p:nvSpPr>
          <p:cNvPr id="33" name="Text 31"/>
          <p:cNvSpPr/>
          <p:nvPr/>
        </p:nvSpPr>
        <p:spPr>
          <a:xfrm>
            <a:off x="812767" y="6238280"/>
            <a:ext cx="88950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857A"/>
                </a:solidFill>
                <a:latin typeface="Inter" pitchFamily="34" charset="0"/>
                <a:ea typeface="Inter" pitchFamily="34" charset="-122"/>
                <a:cs typeface="Inter" pitchFamily="34" charset="-120"/>
              </a:rPr>
              <a:t>Part 06 · Building it</a:t>
            </a:r>
            <a:endParaRPr lang="en-US" sz="1200" dirty="0"/>
          </a:p>
        </p:txBody>
      </p:sp>
      <p:sp>
        <p:nvSpPr>
          <p:cNvPr id="34" name="Text 32"/>
          <p:cNvSpPr/>
          <p:nvPr/>
        </p:nvSpPr>
        <p:spPr>
          <a:xfrm>
            <a:off x="9855200" y="6238280"/>
            <a:ext cx="1523992"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857A"/>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2B2C"/>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74000" y="1143000"/>
            <a:ext cx="3048000" cy="3048000"/>
          </a:xfrm>
          <a:prstGeom prst="rect">
            <a:avLst/>
          </a:prstGeom>
        </p:spPr>
      </p:pic>
      <p:sp>
        <p:nvSpPr>
          <p:cNvPr id="3" name="Text 0"/>
          <p:cNvSpPr/>
          <p:nvPr/>
        </p:nvSpPr>
        <p:spPr>
          <a:xfrm>
            <a:off x="812767" y="1498575"/>
            <a:ext cx="6540500" cy="256538"/>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8A87C"/>
                </a:solidFill>
                <a:latin typeface="Inter" pitchFamily="34" charset="0"/>
                <a:ea typeface="Inter" pitchFamily="34" charset="-122"/>
                <a:cs typeface="Inter" pitchFamily="34" charset="-120"/>
              </a:rPr>
              <a:t>ONE THING TO CARRY AWAY</a:t>
            </a:r>
            <a:endParaRPr lang="en-US" sz="1300" dirty="0"/>
          </a:p>
        </p:txBody>
      </p:sp>
      <p:sp>
        <p:nvSpPr>
          <p:cNvPr id="4" name="Text 1"/>
          <p:cNvSpPr/>
          <p:nvPr/>
        </p:nvSpPr>
        <p:spPr>
          <a:xfrm>
            <a:off x="812767" y="1905000"/>
            <a:ext cx="7586980" cy="1177495"/>
          </a:xfrm>
          <a:prstGeom prst="rect">
            <a:avLst/>
          </a:prstGeom>
          <a:noFill/>
          <a:ln/>
        </p:spPr>
        <p:txBody>
          <a:bodyPr wrap="square" lIns="0" tIns="0" rIns="0" bIns="0" rtlCol="0" anchor="t">
            <a:normAutofit/>
          </a:bodyPr>
          <a:lstStyle/>
          <a:p>
            <a:pPr algn="l" indent="0" marL="0">
              <a:lnSpc>
                <a:spcPts val="4536"/>
              </a:lnSpc>
              <a:buNone/>
            </a:pPr>
            <a:r>
              <a:rPr lang="en-US" sz="4200" b="1" dirty="0">
                <a:solidFill>
                  <a:srgbClr val="FBF6ED"/>
                </a:solidFill>
                <a:latin typeface="Fraunces" pitchFamily="34" charset="0"/>
                <a:ea typeface="Fraunces" pitchFamily="34" charset="-122"/>
                <a:cs typeface="Fraunces" pitchFamily="34" charset="-120"/>
              </a:rPr>
              <a:t>Pick one opponent. Make them strong. Then beat them.</a:t>
            </a:r>
            <a:endParaRPr lang="en-US" sz="4200" dirty="0"/>
          </a:p>
        </p:txBody>
      </p:sp>
      <p:sp>
        <p:nvSpPr>
          <p:cNvPr id="5" name="Text 2"/>
          <p:cNvSpPr/>
          <p:nvPr/>
        </p:nvSpPr>
        <p:spPr>
          <a:xfrm>
            <a:off x="812767" y="3810000"/>
            <a:ext cx="7586980" cy="939701"/>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BFC9C6"/>
                </a:solidFill>
                <a:latin typeface="Inter" pitchFamily="34" charset="0"/>
                <a:ea typeface="Inter" pitchFamily="34" charset="-122"/>
                <a:cs typeface="Inter" pitchFamily="34" charset="-120"/>
              </a:rPr>
              <a:t>Both questions reward the same thing: a single argument, carried through, that has survived the best objection you could find to it. Everything else on these slides exists to help you find that objection and answer it.</a:t>
            </a:r>
            <a:endParaRPr lang="en-US" sz="1600" dirty="0"/>
          </a:p>
        </p:txBody>
      </p:sp>
      <p:pic>
        <p:nvPicPr>
          <p:cNvPr id="6" name="Image 1" descr="line">    </p:cNvPr>
          <p:cNvPicPr>
            <a:picLocks noChangeAspect="1"/>
          </p:cNvPicPr>
          <p:nvPr/>
        </p:nvPicPr>
        <p:blipFill>
          <a:blip r:embed="rId2"/>
          <a:srcRect l="-3333" r="-3333" t="0" b="0"/>
          <a:stretch/>
        </p:blipFill>
        <p:spPr>
          <a:xfrm>
            <a:off x="812767" y="5003750"/>
            <a:ext cx="1905000" cy="47625"/>
          </a:xfrm>
          <a:prstGeom prst="rect">
            <a:avLst/>
          </a:prstGeom>
        </p:spPr>
      </p:pic>
      <p:sp>
        <p:nvSpPr>
          <p:cNvPr id="7" name="Text 3"/>
          <p:cNvSpPr/>
          <p:nvPr/>
        </p:nvSpPr>
        <p:spPr>
          <a:xfrm>
            <a:off x="812767" y="5232375"/>
            <a:ext cx="9156700" cy="796826"/>
          </a:xfrm>
          <a:prstGeom prst="rect">
            <a:avLst/>
          </a:prstGeom>
          <a:noFill/>
          <a:ln/>
        </p:spPr>
        <p:txBody>
          <a:bodyPr wrap="square" lIns="0" tIns="0" rIns="0" bIns="0" rtlCol="0" anchor="t">
            <a:normAutofit/>
          </a:bodyPr>
          <a:lstStyle/>
          <a:p>
            <a:pPr algn="l" indent="0" marL="0">
              <a:lnSpc>
                <a:spcPts val="2025"/>
              </a:lnSpc>
              <a:buNone/>
            </a:pPr>
            <a:r>
              <a:rPr lang="en-US" sz="1350" dirty="0">
                <a:solidFill>
                  <a:srgbClr val="8D9895"/>
                </a:solidFill>
                <a:latin typeface="Inter" pitchFamily="34" charset="0"/>
                <a:ea typeface="Inter" pitchFamily="34" charset="-122"/>
                <a:cs typeface="Inter" pitchFamily="34" charset="-120"/>
              </a:rPr>
              <a:t>Compiled from the Instructions and Rubric, the Week 1–7 lecture slides, the convenor’s Q&amp;A session, and the verified source dossier in this project. Every pinpoint is worth re-checking in the source before it reaches a footnote.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Jurisprudence, Compressed</dc:title>
  <dc:subject>PptxGenJS Presentation</dc:subject>
  <dc:creator>PptxGenJS</dc:creator>
  <cp:lastModifiedBy>PptxGenJS</cp:lastModifiedBy>
  <cp:revision>1</cp:revision>
  <dcterms:created xsi:type="dcterms:W3CDTF">2026-09-22T09:26:43Z</dcterms:created>
  <dcterms:modified xsi:type="dcterms:W3CDTF">2026-09-22T09:26:43Z</dcterms:modified>
</cp:coreProperties>
</file>