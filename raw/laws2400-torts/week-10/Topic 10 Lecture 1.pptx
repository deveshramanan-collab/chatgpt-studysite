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28"/>
  </p:notesMasterIdLst>
  <p:handoutMasterIdLst>
    <p:handoutMasterId r:id="rId29"/>
  </p:handoutMasterIdLst>
  <p:sldIdLst>
    <p:sldId id="303" r:id="rId2"/>
    <p:sldId id="258" r:id="rId3"/>
    <p:sldId id="333" r:id="rId4"/>
    <p:sldId id="336" r:id="rId5"/>
    <p:sldId id="335" r:id="rId6"/>
    <p:sldId id="337" r:id="rId7"/>
    <p:sldId id="537" r:id="rId8"/>
    <p:sldId id="481" r:id="rId9"/>
    <p:sldId id="538" r:id="rId10"/>
    <p:sldId id="525" r:id="rId11"/>
    <p:sldId id="526" r:id="rId12"/>
    <p:sldId id="521" r:id="rId13"/>
    <p:sldId id="547" r:id="rId14"/>
    <p:sldId id="546" r:id="rId15"/>
    <p:sldId id="522" r:id="rId16"/>
    <p:sldId id="527" r:id="rId17"/>
    <p:sldId id="528" r:id="rId18"/>
    <p:sldId id="529" r:id="rId19"/>
    <p:sldId id="530" r:id="rId20"/>
    <p:sldId id="531" r:id="rId21"/>
    <p:sldId id="532" r:id="rId22"/>
    <p:sldId id="542" r:id="rId23"/>
    <p:sldId id="549" r:id="rId24"/>
    <p:sldId id="551" r:id="rId25"/>
    <p:sldId id="553" r:id="rId26"/>
    <p:sldId id="55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E23E55"/>
    <a:srgbClr val="EF99A5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130" autoAdjust="0"/>
    <p:restoredTop sz="93447" autoAdjust="0"/>
  </p:normalViewPr>
  <p:slideViewPr>
    <p:cSldViewPr snapToGrid="0" snapToObjects="1">
      <p:cViewPr varScale="1">
        <p:scale>
          <a:sx n="109" d="100"/>
          <a:sy n="109" d="100"/>
        </p:scale>
        <p:origin x="216" y="552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Head" userId="3622ac83-72fb-4480-aaff-0580f4ad655a" providerId="ADAL" clId="{6BBF4A71-3A44-5905-A51C-0BDCE69EAF34}"/>
    <pc:docChg chg="undo redo custSel addSld modSld sldOrd">
      <pc:chgData name="Amanda Head" userId="3622ac83-72fb-4480-aaff-0580f4ad655a" providerId="ADAL" clId="{6BBF4A71-3A44-5905-A51C-0BDCE69EAF34}" dt="2026-10-15T03:39:10.693" v="312" actId="20577"/>
      <pc:docMkLst>
        <pc:docMk/>
      </pc:docMkLst>
      <pc:sldChg chg="modSp mod">
        <pc:chgData name="Amanda Head" userId="3622ac83-72fb-4480-aaff-0580f4ad655a" providerId="ADAL" clId="{6BBF4A71-3A44-5905-A51C-0BDCE69EAF34}" dt="2026-10-15T03:38:37.241" v="308" actId="404"/>
        <pc:sldMkLst>
          <pc:docMk/>
          <pc:sldMk cId="1149056587" sldId="530"/>
        </pc:sldMkLst>
        <pc:spChg chg="mod">
          <ac:chgData name="Amanda Head" userId="3622ac83-72fb-4480-aaff-0580f4ad655a" providerId="ADAL" clId="{6BBF4A71-3A44-5905-A51C-0BDCE69EAF34}" dt="2026-10-15T03:38:37.241" v="308" actId="404"/>
          <ac:spMkLst>
            <pc:docMk/>
            <pc:sldMk cId="1149056587" sldId="530"/>
            <ac:spMk id="3" creationId="{EEA464B0-4368-47D8-802B-4FB5B5FAD6E7}"/>
          </ac:spMkLst>
        </pc:spChg>
      </pc:sldChg>
      <pc:sldChg chg="modSp mod ord">
        <pc:chgData name="Amanda Head" userId="3622ac83-72fb-4480-aaff-0580f4ad655a" providerId="ADAL" clId="{6BBF4A71-3A44-5905-A51C-0BDCE69EAF34}" dt="2026-10-15T03:28:05.250" v="184" actId="20578"/>
        <pc:sldMkLst>
          <pc:docMk/>
          <pc:sldMk cId="3983762959" sldId="542"/>
        </pc:sldMkLst>
        <pc:spChg chg="mod">
          <ac:chgData name="Amanda Head" userId="3622ac83-72fb-4480-aaff-0580f4ad655a" providerId="ADAL" clId="{6BBF4A71-3A44-5905-A51C-0BDCE69EAF34}" dt="2026-10-15T03:27:57.507" v="181" actId="20577"/>
          <ac:spMkLst>
            <pc:docMk/>
            <pc:sldMk cId="3983762959" sldId="542"/>
            <ac:spMk id="3" creationId="{EEA464B0-4368-47D8-802B-4FB5B5FAD6E7}"/>
          </ac:spMkLst>
        </pc:spChg>
      </pc:sldChg>
      <pc:sldChg chg="modSp mod">
        <pc:chgData name="Amanda Head" userId="3622ac83-72fb-4480-aaff-0580f4ad655a" providerId="ADAL" clId="{6BBF4A71-3A44-5905-A51C-0BDCE69EAF34}" dt="2026-10-15T03:17:06.263" v="46" actId="20577"/>
        <pc:sldMkLst>
          <pc:docMk/>
          <pc:sldMk cId="2564076157" sldId="549"/>
        </pc:sldMkLst>
        <pc:spChg chg="mod">
          <ac:chgData name="Amanda Head" userId="3622ac83-72fb-4480-aaff-0580f4ad655a" providerId="ADAL" clId="{6BBF4A71-3A44-5905-A51C-0BDCE69EAF34}" dt="2026-10-15T03:17:06.263" v="46" actId="20577"/>
          <ac:spMkLst>
            <pc:docMk/>
            <pc:sldMk cId="2564076157" sldId="549"/>
            <ac:spMk id="3" creationId="{434FCA96-7866-3C6A-90A1-4B0FEEEDD696}"/>
          </ac:spMkLst>
        </pc:spChg>
      </pc:sldChg>
      <pc:sldChg chg="modSp mod">
        <pc:chgData name="Amanda Head" userId="3622ac83-72fb-4480-aaff-0580f4ad655a" providerId="ADAL" clId="{6BBF4A71-3A44-5905-A51C-0BDCE69EAF34}" dt="2026-10-15T03:17:55.211" v="114" actId="20577"/>
        <pc:sldMkLst>
          <pc:docMk/>
          <pc:sldMk cId="3263280504" sldId="551"/>
        </pc:sldMkLst>
        <pc:spChg chg="mod">
          <ac:chgData name="Amanda Head" userId="3622ac83-72fb-4480-aaff-0580f4ad655a" providerId="ADAL" clId="{6BBF4A71-3A44-5905-A51C-0BDCE69EAF34}" dt="2026-10-15T03:17:55.211" v="114" actId="20577"/>
          <ac:spMkLst>
            <pc:docMk/>
            <pc:sldMk cId="3263280504" sldId="551"/>
            <ac:spMk id="3" creationId="{8EA9A798-3ECF-100D-27B7-3F1D78CCD6A4}"/>
          </ac:spMkLst>
        </pc:spChg>
      </pc:sldChg>
      <pc:sldChg chg="modSp mod">
        <pc:chgData name="Amanda Head" userId="3622ac83-72fb-4480-aaff-0580f4ad655a" providerId="ADAL" clId="{6BBF4A71-3A44-5905-A51C-0BDCE69EAF34}" dt="2026-10-15T03:28:27.394" v="187" actId="114"/>
        <pc:sldMkLst>
          <pc:docMk/>
          <pc:sldMk cId="809881872" sldId="553"/>
        </pc:sldMkLst>
        <pc:spChg chg="mod">
          <ac:chgData name="Amanda Head" userId="3622ac83-72fb-4480-aaff-0580f4ad655a" providerId="ADAL" clId="{6BBF4A71-3A44-5905-A51C-0BDCE69EAF34}" dt="2026-10-15T03:28:27.394" v="187" actId="114"/>
          <ac:spMkLst>
            <pc:docMk/>
            <pc:sldMk cId="809881872" sldId="553"/>
            <ac:spMk id="3" creationId="{136D4504-8966-69F0-C453-3BB221DEBB3F}"/>
          </ac:spMkLst>
        </pc:spChg>
      </pc:sldChg>
      <pc:sldChg chg="modSp add mod">
        <pc:chgData name="Amanda Head" userId="3622ac83-72fb-4480-aaff-0580f4ad655a" providerId="ADAL" clId="{6BBF4A71-3A44-5905-A51C-0BDCE69EAF34}" dt="2026-10-15T03:39:10.693" v="312" actId="20577"/>
        <pc:sldMkLst>
          <pc:docMk/>
          <pc:sldMk cId="1248435149" sldId="554"/>
        </pc:sldMkLst>
        <pc:spChg chg="mod">
          <ac:chgData name="Amanda Head" userId="3622ac83-72fb-4480-aaff-0580f4ad655a" providerId="ADAL" clId="{6BBF4A71-3A44-5905-A51C-0BDCE69EAF34}" dt="2026-10-15T03:39:10.693" v="312" actId="20577"/>
          <ac:spMkLst>
            <pc:docMk/>
            <pc:sldMk cId="1248435149" sldId="554"/>
            <ac:spMk id="3" creationId="{DFC38EFB-AB75-C932-CF70-4CEDFDEF23E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294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279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4084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171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7568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784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5722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3247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4479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41907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6CA24-44EE-D96B-EC05-B4B02110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A87FE-EC99-30C8-145D-A44B10E0D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1B827-E829-EEE5-E878-73B8461B7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28904-BDF0-9F9F-A99F-8F67D70F2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72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878B-6EB6-044D-D205-3C51F30B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0010C-300D-9739-6596-DF10DAA76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D68F7-9AFC-7D90-56B7-DB7DF12DF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9F98C-70B6-9C49-4F70-3409ABCD9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1153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3324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0104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014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5699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5436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2934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2430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026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A3F9-ED84-ABFB-BEF4-785CA389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F5452-AE71-139A-50B5-C00E4D1AB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B8DB5-46E0-847F-2C0B-C0E9B947F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6A2AB-1D05-FD85-7423-3790CBCA2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56373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2BAC-EF0B-C51E-1CE5-B347502E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EF114-EEF7-E2A8-1BEC-C77873E31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715D7-E3DF-2A77-934F-064BC2F3D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09F38-CFAF-E581-94F3-8A7395203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21636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75AE8-3AB8-6650-CB6D-3495DB57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53B82-26F9-A7FC-6922-CF086E88F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80AFF-45A3-62F1-2C50-F00716719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A6414-7FED-8E92-74DF-FF2273446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1974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BC533-9214-E1F8-CE6E-EF2172F8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46794-087A-45DE-94DB-45AD6A8F5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CDE28-FF32-32BA-A8EE-7C7451A77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BC28A-145A-C93B-1C64-703C81405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2137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</a:t>
            </a:r>
            <a:r>
              <a:rPr lang="en-A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– Lecture 1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HK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Causation 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9823"/>
            <a:ext cx="11116400" cy="4982417"/>
          </a:xfrm>
        </p:spPr>
        <p:txBody>
          <a:bodyPr>
            <a:no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(L1)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Damage, causation and remoteness  (L1)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(L1)</a:t>
            </a: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the ‘but for’ test is inconclusive? (L2)</a:t>
            </a:r>
            <a:endParaRPr lang="en-HK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n-H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5D(2) Exceptional cases (L2)</a:t>
            </a: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Overview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1" y="1508426"/>
            <a:ext cx="11155680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week, we will discuss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causation link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damage 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also look at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distinction between causation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remoteness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we will consider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applied by courts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causation in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situations </a:t>
            </a:r>
          </a:p>
        </p:txBody>
      </p:sp>
    </p:spTree>
    <p:extLst>
      <p:ext uri="{BB962C8B-B14F-4D97-AF65-F5344CB8AC3E}">
        <p14:creationId xmlns:p14="http://schemas.microsoft.com/office/powerpoint/2010/main" val="255168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Damage, causation and remoteness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of Care (Topics 5-8)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 of Duty (Topic 9)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third element of negligence is damage –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damages – suffered by the plaintiff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damage should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causally connected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breach of duty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the damage should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too remote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burden is on the plaintiff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prove both conditions on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of probabilities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see Section 5E of the CLA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 is the gist of the action: no damage, no action</a:t>
            </a:r>
          </a:p>
        </p:txBody>
      </p:sp>
    </p:spTree>
    <p:extLst>
      <p:ext uri="{BB962C8B-B14F-4D97-AF65-F5344CB8AC3E}">
        <p14:creationId xmlns:p14="http://schemas.microsoft.com/office/powerpoint/2010/main" val="86528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Damage, causation and remoteness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99" y="139666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Causation is a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question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the defendant’s act or omission ‘in fact’ cause the harm?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remoteness is a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question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involves policy considerations: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breach caused (or contributed to) the injury, should the defendant be held legally responsible for it?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will see, although the terminology has changed, the legal principles under the common law still apply under the CLA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be focusing on factual causation this week and remoteness/scope of liability next week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85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Factual causation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Law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“but for” 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test for factual causation at common law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asks: would the plaintiff have suffered damage ‘but for’ the negligence of the defendant?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any negligence case already discussed and apply the test!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C62ECFA-7720-DE3B-3403-F6E420DA2618}"/>
              </a:ext>
            </a:extLst>
          </p:cNvPr>
          <p:cNvSpPr/>
          <p:nvPr/>
        </p:nvSpPr>
        <p:spPr>
          <a:xfrm>
            <a:off x="10776847" y="4148642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4772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Barnett v Chelsea &amp; Kensington Hospital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[1969] 1 QB 428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deceased drunk tea at work which was poisoned with arsenic; the duty doctor refused to see the deceased because he was also feeling unwell; later, another doctor attended but it was too late to save the deceased)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the “but for” test works in practice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held that although there was negligence on the part of the duty doctor,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a timely treatment would not have saved the deceased’s life  </a:t>
            </a:r>
          </a:p>
        </p:txBody>
      </p:sp>
    </p:spTree>
    <p:extLst>
      <p:ext uri="{BB962C8B-B14F-4D97-AF65-F5344CB8AC3E}">
        <p14:creationId xmlns:p14="http://schemas.microsoft.com/office/powerpoint/2010/main" val="552964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as you will see later,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“but for” test poses challenges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following two situations: 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intervening event breaks the chain of causation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sufficient causes are involved 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DA623C59-4201-BDAB-BEF4-EE8CBE9D9510}"/>
              </a:ext>
            </a:extLst>
          </p:cNvPr>
          <p:cNvSpPr/>
          <p:nvPr/>
        </p:nvSpPr>
        <p:spPr>
          <a:xfrm>
            <a:off x="9494873" y="3221665"/>
            <a:ext cx="2211573" cy="1158949"/>
          </a:xfrm>
          <a:prstGeom prst="wedgeRoundRectCallout">
            <a:avLst>
              <a:gd name="adj1" fmla="val -105717"/>
              <a:gd name="adj2" fmla="val 235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you think of examples?</a:t>
            </a:r>
          </a:p>
        </p:txBody>
      </p:sp>
    </p:spTree>
    <p:extLst>
      <p:ext uri="{BB962C8B-B14F-4D97-AF65-F5344CB8AC3E}">
        <p14:creationId xmlns:p14="http://schemas.microsoft.com/office/powerpoint/2010/main" val="102961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decision in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v </a:t>
            </a:r>
            <a:r>
              <a:rPr lang="en-US" sz="24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Stramare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(1991) 171 CLR 506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 casebook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defendant parked a truck in the middle of a 6-lane road in the early morning hours to unload fruits and vegetables; this practice was used for a long time; the plaintiff, who was drunk and speeding, injured when his car collided with this truck)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trial, the defendant was held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negligence but there was a finding of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contributory negligence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the plaintiff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Full Court of South Australia attributed the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responsibility to the plaintiff’s own negligence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1979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appeal, the High Court held that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defendant’s negligence was the cause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plaintiff's injury – but judges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disagreed about the reasoning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causation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Mason CJ noted that the “but for” test was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the exclusive 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causation in negligence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test does not work where two or more acts or events are involved OR the chain of causation is broken by an intervening event     </a:t>
            </a:r>
          </a:p>
        </p:txBody>
      </p:sp>
    </p:spTree>
    <p:extLst>
      <p:ext uri="{BB962C8B-B14F-4D97-AF65-F5344CB8AC3E}">
        <p14:creationId xmlns:p14="http://schemas.microsoft.com/office/powerpoint/2010/main" val="989677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Mason CJ observed that causation is a question of fact which ‘must be determined by applying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sense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facts of each particular case’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McHugh J said the ‘but for’ test should be seen as the exclusive test for causation with a ‘scope of the risk’ test which allows various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factors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employed as part of remoteness of damage.</a:t>
            </a:r>
          </a:p>
        </p:txBody>
      </p:sp>
    </p:spTree>
    <p:extLst>
      <p:ext uri="{BB962C8B-B14F-4D97-AF65-F5344CB8AC3E}">
        <p14:creationId xmlns:p14="http://schemas.microsoft.com/office/powerpoint/2010/main" val="2418969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 identified issues with the application of the common law approach to causation, in particular, references to causation being a ‘common sense’ test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In applying 'common sense' to determine causation, you are hiding important policy choices. Under the surface of what looks like a simple factual question, there are really value judgments being made about who should be responsible, how far liability should extend, and what's fair in the circumstances.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'common sense' approach allowed these policy considerations to be mixed in with factual causation, and that made the law less transparent and less predictable.</a:t>
            </a:r>
          </a:p>
        </p:txBody>
      </p:sp>
    </p:spTree>
    <p:extLst>
      <p:ext uri="{BB962C8B-B14F-4D97-AF65-F5344CB8AC3E}">
        <p14:creationId xmlns:p14="http://schemas.microsoft.com/office/powerpoint/2010/main" val="4110644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4AA0C-0F29-9BED-C22D-82971F22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79BD-EBCE-13B8-B483-B084EFE4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C153A-23FA-5D64-EEF7-F8A123A7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 has restructured and codified the common law (the cases are still important!)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5D(1) CLA provides: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400" b="0" i="0" u="none" strike="noStrike" baseline="0" dirty="0">
                <a:latin typeface="TimesNewRomanPSMT"/>
              </a:rPr>
              <a:t>A determination that negligence caused particular harm comprises the following elements—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400" dirty="0">
                <a:latin typeface="TimesNewRomanPSMT"/>
              </a:rPr>
              <a:t>	</a:t>
            </a:r>
            <a:r>
              <a:rPr lang="en-US" sz="2400" b="0" i="0" u="none" strike="noStrike" baseline="0" dirty="0">
                <a:latin typeface="TimesNewRomanPSMT"/>
              </a:rPr>
              <a:t>(a) that the negligence was a </a:t>
            </a:r>
            <a:r>
              <a:rPr lang="en-US" sz="2400" b="1" i="0" u="none" strike="noStrike" baseline="0" dirty="0">
                <a:latin typeface="TimesNewRomanPSMT"/>
              </a:rPr>
              <a:t>necessary condition of the occurrence </a:t>
            </a:r>
            <a:r>
              <a:rPr lang="en-US" sz="2400" b="0" i="0" u="none" strike="noStrike" baseline="0" dirty="0">
                <a:latin typeface="TimesNewRomanPSMT"/>
              </a:rPr>
              <a:t>of the harm (</a:t>
            </a:r>
            <a:r>
              <a:rPr lang="en-US" sz="2400" i="1" u="none" strike="noStrike" baseline="0" dirty="0">
                <a:latin typeface="TimesNewRomanPS-BoldItalicMT"/>
              </a:rPr>
              <a:t>factual </a:t>
            </a:r>
            <a:r>
              <a:rPr lang="en-GB" sz="2400" i="1" u="none" strike="noStrike" baseline="0" dirty="0">
                <a:latin typeface="TimesNewRomanPS-BoldItalicMT"/>
              </a:rPr>
              <a:t>causation</a:t>
            </a:r>
            <a:r>
              <a:rPr lang="en-GB" sz="2400" b="0" i="0" u="none" strike="noStrike" baseline="0" dirty="0">
                <a:latin typeface="TimesNewRomanPSMT"/>
              </a:rPr>
              <a:t>), and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400" b="0" i="0" u="none" strike="noStrike" baseline="0" dirty="0">
                <a:latin typeface="TimesNewRomanPSMT"/>
              </a:rPr>
              <a:t>	(b) that it is </a:t>
            </a:r>
            <a:r>
              <a:rPr lang="en-US" sz="2400" b="1" i="0" u="none" strike="noStrike" baseline="0" dirty="0">
                <a:latin typeface="TimesNewRomanPSMT"/>
              </a:rPr>
              <a:t>appropriate</a:t>
            </a:r>
            <a:r>
              <a:rPr lang="en-US" sz="2400" b="0" i="0" u="none" strike="noStrike" baseline="0" dirty="0">
                <a:latin typeface="TimesNewRomanPSMT"/>
              </a:rPr>
              <a:t> </a:t>
            </a:r>
            <a:r>
              <a:rPr lang="en-US" sz="2400" b="1" i="0" u="none" strike="noStrike" baseline="0" dirty="0">
                <a:latin typeface="TimesNewRomanPSMT"/>
              </a:rPr>
              <a:t>for the scope </a:t>
            </a:r>
            <a:r>
              <a:rPr lang="en-US" sz="2400" b="0" i="0" u="none" strike="noStrike" baseline="0" dirty="0">
                <a:latin typeface="TimesNewRomanPSMT"/>
              </a:rPr>
              <a:t>of the negligent person’s liability to extend to the harm so </a:t>
            </a:r>
            <a:r>
              <a:rPr lang="en-GB" sz="2400" b="0" i="0" u="none" strike="noStrike" baseline="0" dirty="0">
                <a:latin typeface="TimesNewRomanPSMT"/>
              </a:rPr>
              <a:t>caused (</a:t>
            </a:r>
            <a:r>
              <a:rPr lang="en-GB" sz="2400" i="1" u="none" strike="noStrike" baseline="0" dirty="0">
                <a:latin typeface="TimesNewRomanPS-BoldItalicMT"/>
              </a:rPr>
              <a:t>scope of liability</a:t>
            </a:r>
            <a:r>
              <a:rPr lang="en-GB" sz="2400" b="0" i="0" u="none" strike="noStrike" baseline="0" dirty="0">
                <a:latin typeface="TimesNewRomanPSMT"/>
              </a:rPr>
              <a:t>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429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CCBF-EFB7-24CF-64CA-C25C2337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FA37-C616-197B-7D0E-1F262CFD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FFD53-AE7F-950E-2C9D-31BB56219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For = Necessary Condition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5D(1)(a) of the CLA expresses this same concept as whether the negligence was a 'necessary condition' of the occurrence of the harm. These are essentially two ways of saying the same thing: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'But for' test: But for X, would Y have happened? (common law language)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'Necessary condition': Was X necessary for Y to occur? (statutory language)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Importantly, courts often still use 'but for' language when applying section 5D(1)(a). </a:t>
            </a:r>
          </a:p>
        </p:txBody>
      </p:sp>
    </p:spTree>
    <p:extLst>
      <p:ext uri="{BB962C8B-B14F-4D97-AF65-F5344CB8AC3E}">
        <p14:creationId xmlns:p14="http://schemas.microsoft.com/office/powerpoint/2010/main" val="1744995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5D(2) further provides:  </a:t>
            </a:r>
            <a:endParaRPr lang="en-US" sz="2400" b="0" i="0" u="none" strike="noStrike" baseline="0" dirty="0">
              <a:latin typeface="TimesNewRomanPSM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400" b="0" i="0" u="none" strike="noStrike" baseline="0" dirty="0">
                <a:latin typeface="TimesNewRomanPSMT"/>
              </a:rPr>
              <a:t>In determining in an </a:t>
            </a:r>
            <a:r>
              <a:rPr lang="en-US" sz="2400" b="1" i="0" strike="noStrike" baseline="0" dirty="0">
                <a:latin typeface="TimesNewRomanPSMT"/>
              </a:rPr>
              <a:t>exceptional case</a:t>
            </a:r>
            <a:r>
              <a:rPr lang="en-US" sz="2400" b="0" i="0" u="none" strike="noStrike" baseline="0" dirty="0">
                <a:latin typeface="TimesNewRomanPSMT"/>
              </a:rPr>
              <a:t>, in accordance with established principles, </a:t>
            </a:r>
            <a:r>
              <a:rPr lang="en-US" sz="2400" b="0" i="0" u="sng" strike="noStrike" baseline="0" dirty="0">
                <a:latin typeface="TimesNewRomanPSMT"/>
              </a:rPr>
              <a:t>whether negligence that cannot be established as a necessary condition of the occurrence of harm</a:t>
            </a:r>
            <a:r>
              <a:rPr lang="en-US" sz="2400" b="0" i="0" u="none" strike="noStrike" baseline="0" dirty="0">
                <a:latin typeface="TimesNewRomanPSMT"/>
              </a:rPr>
              <a:t> should be accepted as establishing factual causation, </a:t>
            </a:r>
            <a:r>
              <a:rPr lang="en-US" sz="2400" b="0" i="1" u="none" strike="noStrike" baseline="0" dirty="0">
                <a:latin typeface="TimesNewRomanPSMT"/>
              </a:rPr>
              <a:t>the court is to consider (amongst other relevant things) whether or not and why responsibility for the harm should be imposed on the negligent </a:t>
            </a:r>
            <a:r>
              <a:rPr lang="en-GB" sz="2400" b="0" i="1" u="none" strike="noStrike" baseline="0" dirty="0">
                <a:latin typeface="TimesNewRomanPSMT"/>
              </a:rPr>
              <a:t>party</a:t>
            </a:r>
            <a:r>
              <a:rPr lang="en-GB" sz="2400" b="0" i="0" u="none" strike="noStrike" baseline="0" dirty="0">
                <a:latin typeface="TimesNewRomanPSMT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975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Adeels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Palace v Moubarak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(2009) 239 CLR 420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(subsequent to a fight in a night club on the New Year’s Eve, Moubarak was shot by another patron; Moubarak argued that club was negligent in not providing any security, resulting in his injury)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Court noted that in contrast to what Mason CJ observed in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Section 5D(1) ‘treats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and scope of liability as separate and distinct issues’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75820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reasoned that the factual causation under Section 5D(1) is to be determined by the ‘but for’ test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this test, the Court noted that the evidence at trial did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show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presence of security personnel would have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deterred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re-entry of the gunman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‘any of the circumstances in which the shootings occurred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made a difference does not prove factual causation’ </a:t>
            </a:r>
          </a:p>
        </p:txBody>
      </p:sp>
    </p:spTree>
    <p:extLst>
      <p:ext uri="{BB962C8B-B14F-4D97-AF65-F5344CB8AC3E}">
        <p14:creationId xmlns:p14="http://schemas.microsoft.com/office/powerpoint/2010/main" val="2072981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High Court held that the ‘but for’ test was not satisfied in this case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there was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reason to treat this case as an exceptional case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Section 5D(2)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‘it would be contrary to established principles’ to hold the defendant responsible when negligence was not a necessary condition but ‘might have’ prevented harm [57]</a:t>
            </a:r>
          </a:p>
        </p:txBody>
      </p:sp>
    </p:spTree>
    <p:extLst>
      <p:ext uri="{BB962C8B-B14F-4D97-AF65-F5344CB8AC3E}">
        <p14:creationId xmlns:p14="http://schemas.microsoft.com/office/powerpoint/2010/main" val="3782862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Court further clarified section 5D(1) and (2) and Section 5E in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v Woolworths Ltd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(2012) 246 CLR 182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 casebook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Strong slipped outside the entrance to the Big W store and suffered spinal injury; she walks with the aid of crutches due to disability;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Strong fell because her crutch slid on a greasy potato chip; Woolworths, trading as Big W, did not have any system to inspect and clean the area where Strong fell)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District Court found negligence on the part of Woolworths, but the Court of Appeal reversed this finding </a:t>
            </a:r>
          </a:p>
        </p:txBody>
      </p:sp>
    </p:spTree>
    <p:extLst>
      <p:ext uri="{BB962C8B-B14F-4D97-AF65-F5344CB8AC3E}">
        <p14:creationId xmlns:p14="http://schemas.microsoft.com/office/powerpoint/2010/main" val="1149056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appeal, the High Court held that Woolworths’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negligence lay in its failure to employ a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inspection and cleaning of the area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 of care  (occupier/ entrant)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Breach: Woolworths did not have a system in place for the periodic inspection and cleaning of the sidewalk area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appropriate system = inspection and removal of slipping hazards at intervals of not greater than 20 minutes </a:t>
            </a:r>
          </a:p>
        </p:txBody>
      </p:sp>
    </p:spTree>
    <p:extLst>
      <p:ext uri="{BB962C8B-B14F-4D97-AF65-F5344CB8AC3E}">
        <p14:creationId xmlns:p14="http://schemas.microsoft.com/office/powerpoint/2010/main" val="222900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Regarding Section 5D(1)(a), the High Court observed that it ‘is a statutory statement of the “but for” test of causation’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the defendant’s negligence should be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condition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occurrence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harm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of Probabilities s 5E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‘The probabilities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favoured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conclusion that the chip was deposited in the longer period between 8.00am and 12.10pm and not the shorter period between 12.10pm and the time of the fall.’ [38]</a:t>
            </a:r>
          </a:p>
        </p:txBody>
      </p:sp>
    </p:spTree>
    <p:extLst>
      <p:ext uri="{BB962C8B-B14F-4D97-AF65-F5344CB8AC3E}">
        <p14:creationId xmlns:p14="http://schemas.microsoft.com/office/powerpoint/2010/main" val="2899769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read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Amaca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Booth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week, notice the CLA is never mentioned. Why?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Hint: 3B(1) CLA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Diseases Tribunal Act 1989 (NSW) </a:t>
            </a:r>
          </a:p>
        </p:txBody>
      </p:sp>
    </p:spTree>
    <p:extLst>
      <p:ext uri="{BB962C8B-B14F-4D97-AF65-F5344CB8AC3E}">
        <p14:creationId xmlns:p14="http://schemas.microsoft.com/office/powerpoint/2010/main" val="3983762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3125-6F94-373F-8F36-2502767C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C1B6-D667-4C15-D388-40A55766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FCA96-7866-3C6A-90A1-4B0FEEEDD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Liability (Intro – fully discussed next Topic)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5D(1)(b) CLA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factual causation is established: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appropriate for liability to extend to this harm?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normative question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5D(4): the court must consider whether and why responsibility should be imposed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076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37F6D-48CD-9E79-58C4-4744A549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4495-133C-C053-485A-CC07BCE9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9A798-3ECF-100D-27B7-3F1D78CCD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Intervening acts (intro – fully discussed next Topic)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Novus actus interveniens: a later event that exacerbates the original harm or causes new harm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could be: the plaintiff's own act; a third party; a natural event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chain is broken, the original wrongdoer is not liable for harm after the break</a:t>
            </a:r>
          </a:p>
        </p:txBody>
      </p:sp>
    </p:spTree>
    <p:extLst>
      <p:ext uri="{BB962C8B-B14F-4D97-AF65-F5344CB8AC3E}">
        <p14:creationId xmlns:p14="http://schemas.microsoft.com/office/powerpoint/2010/main" val="3263280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C5472-B53F-A3EA-7643-9B50EF22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59D6-08F0-55CC-5F0D-2946FAACC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4504-8966-69F0-C453-3BB221DEB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is the chain not broken?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every later careless act severs the chain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v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Stramare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truck created the very risk that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materialised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 driver's own negligence did not break 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“... the defendant's wrongful conduct has generated the very risk of injury resulting from the negligence of the plaintiff or a third party ...” (Mason CJ)</a:t>
            </a:r>
          </a:p>
        </p:txBody>
      </p:sp>
    </p:spTree>
    <p:extLst>
      <p:ext uri="{BB962C8B-B14F-4D97-AF65-F5344CB8AC3E}">
        <p14:creationId xmlns:p14="http://schemas.microsoft.com/office/powerpoint/2010/main" val="809881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3ECE-797E-DE1B-567A-D457668A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ABCE-BDF0-2214-014C-670D95C6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causation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38EFB-AB75-C932-CF70-4CEDFDEF2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McKew v Holland Hannen &amp; </a:t>
            </a:r>
            <a:r>
              <a:rPr lang="en-US" sz="24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Cubitts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Ltd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[1969] 3 All ER 1621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plaintiff's leg, injured by the defendant's negligence, was prone to give way. He descended a steep staircase without a handrail, unaided; the leg gave way; severe </a:t>
            </a:r>
            <a:r>
              <a:rPr lang="en-US" sz="24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 fracture)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Held: his unreasonable conduct was a novus actus; the chain was broken and the defendant was not liable for the second injury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text at [12.35]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v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Stramare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casebook extract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435149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c514c1-a717-4087-be06-d40d2070ad52}" enabled="0" method="" siteId="{82c514c1-a717-4087-be06-d40d2070ad5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22077</TotalTime>
  <Words>2022</Words>
  <Application>Microsoft Macintosh PowerPoint</Application>
  <PresentationFormat>Widescreen</PresentationFormat>
  <Paragraphs>219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Georgia</vt:lpstr>
      <vt:lpstr>Times New Roman</vt:lpstr>
      <vt:lpstr>TimesNewRomanPS-BoldItalicMT</vt:lpstr>
      <vt:lpstr>TimesNewRomanPSMT</vt:lpstr>
      <vt:lpstr>Wingdings</vt:lpstr>
      <vt:lpstr>MAC UNI BASIC_Round 1 Draft for feedback</vt:lpstr>
      <vt:lpstr>LAWS2400 / LAWS8040 – Torts  Topic 10 – Lecture 1 Causation   </vt:lpstr>
      <vt:lpstr>Outline</vt:lpstr>
      <vt:lpstr>1. Overview </vt:lpstr>
      <vt:lpstr>2. Damage, causation and remoteness </vt:lpstr>
      <vt:lpstr>Damage, causation and remoteness Contd.</vt:lpstr>
      <vt:lpstr>3. Factual causation 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  <vt:lpstr>Factual causation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Amanda Head</cp:lastModifiedBy>
  <cp:revision>2641</cp:revision>
  <dcterms:created xsi:type="dcterms:W3CDTF">2019-01-24T02:12:19Z</dcterms:created>
  <dcterms:modified xsi:type="dcterms:W3CDTF">2026-10-15T03:39:17Z</dcterms:modified>
</cp:coreProperties>
</file>