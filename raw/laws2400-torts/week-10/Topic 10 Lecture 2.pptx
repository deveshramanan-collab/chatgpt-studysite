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638" r:id="rId1"/>
  </p:sldMasterIdLst>
  <p:notesMasterIdLst>
    <p:notesMasterId r:id="rId17"/>
  </p:notesMasterIdLst>
  <p:handoutMasterIdLst>
    <p:handoutMasterId r:id="rId18"/>
  </p:handoutMasterIdLst>
  <p:sldIdLst>
    <p:sldId id="303" r:id="rId2"/>
    <p:sldId id="258" r:id="rId3"/>
    <p:sldId id="340" r:id="rId4"/>
    <p:sldId id="533" r:id="rId5"/>
    <p:sldId id="552" r:id="rId6"/>
    <p:sldId id="562" r:id="rId7"/>
    <p:sldId id="561" r:id="rId8"/>
    <p:sldId id="563" r:id="rId9"/>
    <p:sldId id="564" r:id="rId10"/>
    <p:sldId id="565" r:id="rId11"/>
    <p:sldId id="566" r:id="rId12"/>
    <p:sldId id="567" r:id="rId13"/>
    <p:sldId id="568" r:id="rId14"/>
    <p:sldId id="341" r:id="rId15"/>
    <p:sldId id="54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nah Harris" initials="HH" lastIdx="8" clrIdx="0">
    <p:extLst>
      <p:ext uri="{19B8F6BF-5375-455C-9EA6-DF929625EA0E}">
        <p15:presenceInfo xmlns:p15="http://schemas.microsoft.com/office/powerpoint/2012/main" userId="S::hannah.harris@mq.edu.au::6810d1df-3b5d-4428-9867-3b286e5d46c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E23E55"/>
    <a:srgbClr val="EF99A5"/>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298" autoAdjust="0"/>
    <p:restoredTop sz="93447" autoAdjust="0"/>
  </p:normalViewPr>
  <p:slideViewPr>
    <p:cSldViewPr snapToGrid="0" snapToObjects="1">
      <p:cViewPr varScale="1">
        <p:scale>
          <a:sx n="79" d="100"/>
          <a:sy n="79" d="100"/>
        </p:scale>
        <p:origin x="240" y="1240"/>
      </p:cViewPr>
      <p:guideLst/>
    </p:cSldViewPr>
  </p:slideViewPr>
  <p:outlineViewPr>
    <p:cViewPr>
      <p:scale>
        <a:sx n="33" d="100"/>
        <a:sy n="33" d="100"/>
      </p:scale>
      <p:origin x="0" y="-52332"/>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p:scale>
          <a:sx n="120" d="100"/>
          <a:sy n="120" d="100"/>
        </p:scale>
        <p:origin x="2544" y="-19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 Deva" userId="7fc89188-b279-4464-aad4-6bcc30702912" providerId="ADAL" clId="{1C3F8B0B-AADB-4491-AF17-FBB1AA85C56F}"/>
    <pc:docChg chg="modSld">
      <pc:chgData name="Surya Deva" userId="7fc89188-b279-4464-aad4-6bcc30702912" providerId="ADAL" clId="{1C3F8B0B-AADB-4491-AF17-FBB1AA85C56F}" dt="2024-09-08T04:15:47.789" v="3" actId="20577"/>
      <pc:docMkLst>
        <pc:docMk/>
      </pc:docMkLst>
      <pc:sldChg chg="modSp mod">
        <pc:chgData name="Surya Deva" userId="7fc89188-b279-4464-aad4-6bcc30702912" providerId="ADAL" clId="{1C3F8B0B-AADB-4491-AF17-FBB1AA85C56F}" dt="2024-09-08T04:15:47.789" v="3" actId="20577"/>
        <pc:sldMkLst>
          <pc:docMk/>
          <pc:sldMk cId="2551680515" sldId="333"/>
        </pc:sldMkLst>
        <pc:spChg chg="mod">
          <ac:chgData name="Surya Deva" userId="7fc89188-b279-4464-aad4-6bcc30702912" providerId="ADAL" clId="{1C3F8B0B-AADB-4491-AF17-FBB1AA85C56F}" dt="2024-09-08T04:15:47.789" v="3" actId="20577"/>
          <ac:spMkLst>
            <pc:docMk/>
            <pc:sldMk cId="2551680515" sldId="333"/>
            <ac:spMk id="3" creationId="{EEA464B0-4368-47D8-802B-4FB5B5FAD6E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761F64-24A3-47F5-8A3C-C1A55F2765F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8CCF9FD7-5F19-4302-897E-687657C26A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3EFBBB-0FE0-4C79-99F2-94106FE31639}" type="datetimeFigureOut">
              <a:rPr lang="en-AU" smtClean="0"/>
              <a:t>12/10/2026</a:t>
            </a:fld>
            <a:endParaRPr lang="en-AU"/>
          </a:p>
        </p:txBody>
      </p:sp>
      <p:sp>
        <p:nvSpPr>
          <p:cNvPr id="4" name="Footer Placeholder 3">
            <a:extLst>
              <a:ext uri="{FF2B5EF4-FFF2-40B4-BE49-F238E27FC236}">
                <a16:creationId xmlns:a16="http://schemas.microsoft.com/office/drawing/2014/main" id="{96209924-3CCC-4429-B913-306C3F0A09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81EEA83F-F2DC-46D7-B696-662122F59A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8C4DC0-EA1F-4BE8-BE5B-D0247039CF28}" type="slidenum">
              <a:rPr lang="en-AU" smtClean="0"/>
              <a:t>‹#›</a:t>
            </a:fld>
            <a:endParaRPr lang="en-AU"/>
          </a:p>
        </p:txBody>
      </p:sp>
    </p:spTree>
    <p:extLst>
      <p:ext uri="{BB962C8B-B14F-4D97-AF65-F5344CB8AC3E}">
        <p14:creationId xmlns:p14="http://schemas.microsoft.com/office/powerpoint/2010/main" val="2698410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BC296-011A-4286-8D88-FBCD11477F2B}" type="datetimeFigureOut">
              <a:rPr lang="en-AU" smtClean="0"/>
              <a:t>12/10/2026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142E5-A706-4C60-B43E-D82CA518B040}" type="slidenum">
              <a:rPr lang="en-AU" smtClean="0"/>
              <a:t>‹#›</a:t>
            </a:fld>
            <a:endParaRPr lang="en-AU"/>
          </a:p>
        </p:txBody>
      </p:sp>
    </p:spTree>
    <p:extLst>
      <p:ext uri="{BB962C8B-B14F-4D97-AF65-F5344CB8AC3E}">
        <p14:creationId xmlns:p14="http://schemas.microsoft.com/office/powerpoint/2010/main" val="508740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780AC98-8E30-490D-A639-38DF0F70C274}" type="slidenum">
              <a:rPr lang="en-AU" smtClean="0"/>
              <a:t>1</a:t>
            </a:fld>
            <a:endParaRPr lang="en-AU" dirty="0"/>
          </a:p>
        </p:txBody>
      </p:sp>
    </p:spTree>
    <p:extLst>
      <p:ext uri="{BB962C8B-B14F-4D97-AF65-F5344CB8AC3E}">
        <p14:creationId xmlns:p14="http://schemas.microsoft.com/office/powerpoint/2010/main" val="273890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a:t>
            </a:fld>
            <a:endParaRPr lang="en-AU" dirty="0"/>
          </a:p>
        </p:txBody>
      </p:sp>
    </p:spTree>
    <p:extLst>
      <p:ext uri="{BB962C8B-B14F-4D97-AF65-F5344CB8AC3E}">
        <p14:creationId xmlns:p14="http://schemas.microsoft.com/office/powerpoint/2010/main" val="3575394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a:t>
            </a:fld>
            <a:endParaRPr lang="en-AU"/>
          </a:p>
        </p:txBody>
      </p:sp>
    </p:spTree>
    <p:extLst>
      <p:ext uri="{BB962C8B-B14F-4D97-AF65-F5344CB8AC3E}">
        <p14:creationId xmlns:p14="http://schemas.microsoft.com/office/powerpoint/2010/main" val="2732789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4</a:t>
            </a:fld>
            <a:endParaRPr lang="en-AU"/>
          </a:p>
        </p:txBody>
      </p:sp>
    </p:spTree>
    <p:extLst>
      <p:ext uri="{BB962C8B-B14F-4D97-AF65-F5344CB8AC3E}">
        <p14:creationId xmlns:p14="http://schemas.microsoft.com/office/powerpoint/2010/main" val="4200771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5</a:t>
            </a:fld>
            <a:endParaRPr lang="en-AU"/>
          </a:p>
        </p:txBody>
      </p:sp>
    </p:spTree>
    <p:extLst>
      <p:ext uri="{BB962C8B-B14F-4D97-AF65-F5344CB8AC3E}">
        <p14:creationId xmlns:p14="http://schemas.microsoft.com/office/powerpoint/2010/main" val="4028303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53659-8D69-C109-08BA-2D2DCCA9B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23CA1-BF62-41DE-763A-8B7D547194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D8CFE3-E86A-7586-094C-36A22251172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7B0FEFE0-1A77-F3F6-CB9B-A3E1C9C62980}"/>
              </a:ext>
            </a:extLst>
          </p:cNvPr>
          <p:cNvSpPr>
            <a:spLocks noGrp="1"/>
          </p:cNvSpPr>
          <p:nvPr>
            <p:ph type="sldNum" sz="quarter" idx="5"/>
          </p:nvPr>
        </p:nvSpPr>
        <p:spPr/>
        <p:txBody>
          <a:bodyPr/>
          <a:lstStyle/>
          <a:p>
            <a:fld id="{639142E5-A706-4C60-B43E-D82CA518B040}" type="slidenum">
              <a:rPr lang="en-AU" smtClean="0"/>
              <a:t>6</a:t>
            </a:fld>
            <a:endParaRPr lang="en-AU"/>
          </a:p>
        </p:txBody>
      </p:sp>
    </p:spTree>
    <p:extLst>
      <p:ext uri="{BB962C8B-B14F-4D97-AF65-F5344CB8AC3E}">
        <p14:creationId xmlns:p14="http://schemas.microsoft.com/office/powerpoint/2010/main" val="592566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8C752-7F7B-FE29-8355-D5CE8112D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814B6F-25D3-29E7-973C-E048D4D4C9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FED217-8786-CCB9-371E-4E8D02A649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C281DB66-0DE2-D479-1C09-82501E142D3F}"/>
              </a:ext>
            </a:extLst>
          </p:cNvPr>
          <p:cNvSpPr>
            <a:spLocks noGrp="1"/>
          </p:cNvSpPr>
          <p:nvPr>
            <p:ph type="sldNum" sz="quarter" idx="5"/>
          </p:nvPr>
        </p:nvSpPr>
        <p:spPr/>
        <p:txBody>
          <a:bodyPr/>
          <a:lstStyle/>
          <a:p>
            <a:fld id="{639142E5-A706-4C60-B43E-D82CA518B040}" type="slidenum">
              <a:rPr lang="en-AU" smtClean="0"/>
              <a:t>7</a:t>
            </a:fld>
            <a:endParaRPr lang="en-AU"/>
          </a:p>
        </p:txBody>
      </p:sp>
    </p:spTree>
    <p:extLst>
      <p:ext uri="{BB962C8B-B14F-4D97-AF65-F5344CB8AC3E}">
        <p14:creationId xmlns:p14="http://schemas.microsoft.com/office/powerpoint/2010/main" val="965300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8076C-9769-CC89-A375-1D4CDFC86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E0C61-809C-F775-C15C-9C4193009F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81ACA1-C03D-8D86-DC61-CD8547F5C88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9EDA92E2-D32F-BF41-AB52-5AED02A9A746}"/>
              </a:ext>
            </a:extLst>
          </p:cNvPr>
          <p:cNvSpPr>
            <a:spLocks noGrp="1"/>
          </p:cNvSpPr>
          <p:nvPr>
            <p:ph type="sldNum" sz="quarter" idx="5"/>
          </p:nvPr>
        </p:nvSpPr>
        <p:spPr/>
        <p:txBody>
          <a:bodyPr/>
          <a:lstStyle/>
          <a:p>
            <a:fld id="{639142E5-A706-4C60-B43E-D82CA518B040}" type="slidenum">
              <a:rPr lang="en-AU" smtClean="0"/>
              <a:t>8</a:t>
            </a:fld>
            <a:endParaRPr lang="en-AU"/>
          </a:p>
        </p:txBody>
      </p:sp>
    </p:spTree>
    <p:extLst>
      <p:ext uri="{BB962C8B-B14F-4D97-AF65-F5344CB8AC3E}">
        <p14:creationId xmlns:p14="http://schemas.microsoft.com/office/powerpoint/2010/main" val="16911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16A7A-91CE-4C72-59C1-B79007ABE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81F1F-3207-89A3-8E64-D3A24966D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672071-A921-5F36-75F8-0E9C39F295A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BAB26788-C538-7404-909F-6F8DE2805D99}"/>
              </a:ext>
            </a:extLst>
          </p:cNvPr>
          <p:cNvSpPr>
            <a:spLocks noGrp="1"/>
          </p:cNvSpPr>
          <p:nvPr>
            <p:ph type="sldNum" sz="quarter" idx="5"/>
          </p:nvPr>
        </p:nvSpPr>
        <p:spPr/>
        <p:txBody>
          <a:bodyPr/>
          <a:lstStyle/>
          <a:p>
            <a:fld id="{639142E5-A706-4C60-B43E-D82CA518B040}" type="slidenum">
              <a:rPr lang="en-AU" smtClean="0"/>
              <a:t>9</a:t>
            </a:fld>
            <a:endParaRPr lang="en-AU"/>
          </a:p>
        </p:txBody>
      </p:sp>
    </p:spTree>
    <p:extLst>
      <p:ext uri="{BB962C8B-B14F-4D97-AF65-F5344CB8AC3E}">
        <p14:creationId xmlns:p14="http://schemas.microsoft.com/office/powerpoint/2010/main" val="3617324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4798-049A-65AE-2A0A-3FBFE9F35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169400-1197-F25A-DBDD-23E3F5E84D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A94FBD-CF6F-FE75-1823-5F383C58B7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E69CE445-0947-3EE0-FD04-A53A82A08205}"/>
              </a:ext>
            </a:extLst>
          </p:cNvPr>
          <p:cNvSpPr>
            <a:spLocks noGrp="1"/>
          </p:cNvSpPr>
          <p:nvPr>
            <p:ph type="sldNum" sz="quarter" idx="5"/>
          </p:nvPr>
        </p:nvSpPr>
        <p:spPr/>
        <p:txBody>
          <a:bodyPr/>
          <a:lstStyle/>
          <a:p>
            <a:fld id="{639142E5-A706-4C60-B43E-D82CA518B040}" type="slidenum">
              <a:rPr lang="en-AU" smtClean="0"/>
              <a:t>10</a:t>
            </a:fld>
            <a:endParaRPr lang="en-AU"/>
          </a:p>
        </p:txBody>
      </p:sp>
    </p:spTree>
    <p:extLst>
      <p:ext uri="{BB962C8B-B14F-4D97-AF65-F5344CB8AC3E}">
        <p14:creationId xmlns:p14="http://schemas.microsoft.com/office/powerpoint/2010/main" val="5612043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6ED18-3247-0917-C6C8-D58175C66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1D2CF-9DDE-7E5B-C57B-3C3FE25485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C317D-0747-1A6F-107D-C0F49AC55D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6A5E5A2C-1A38-A638-FEDD-35F4584FF69C}"/>
              </a:ext>
            </a:extLst>
          </p:cNvPr>
          <p:cNvSpPr>
            <a:spLocks noGrp="1"/>
          </p:cNvSpPr>
          <p:nvPr>
            <p:ph type="sldNum" sz="quarter" idx="5"/>
          </p:nvPr>
        </p:nvSpPr>
        <p:spPr/>
        <p:txBody>
          <a:bodyPr/>
          <a:lstStyle/>
          <a:p>
            <a:fld id="{639142E5-A706-4C60-B43E-D82CA518B040}" type="slidenum">
              <a:rPr lang="en-AU" smtClean="0"/>
              <a:t>11</a:t>
            </a:fld>
            <a:endParaRPr lang="en-AU"/>
          </a:p>
        </p:txBody>
      </p:sp>
    </p:spTree>
    <p:extLst>
      <p:ext uri="{BB962C8B-B14F-4D97-AF65-F5344CB8AC3E}">
        <p14:creationId xmlns:p14="http://schemas.microsoft.com/office/powerpoint/2010/main" val="433485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69916-AEF1-06D2-92AF-6AEA02606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EBC3B-EB71-D8E5-36CC-AE6681A45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759D2A-ECFD-9CBA-304C-72AD3C68CF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DC42D6E8-97A3-E1BF-955B-5CACC9724536}"/>
              </a:ext>
            </a:extLst>
          </p:cNvPr>
          <p:cNvSpPr>
            <a:spLocks noGrp="1"/>
          </p:cNvSpPr>
          <p:nvPr>
            <p:ph type="sldNum" sz="quarter" idx="5"/>
          </p:nvPr>
        </p:nvSpPr>
        <p:spPr/>
        <p:txBody>
          <a:bodyPr/>
          <a:lstStyle/>
          <a:p>
            <a:fld id="{639142E5-A706-4C60-B43E-D82CA518B040}" type="slidenum">
              <a:rPr lang="en-AU" smtClean="0"/>
              <a:t>12</a:t>
            </a:fld>
            <a:endParaRPr lang="en-AU"/>
          </a:p>
        </p:txBody>
      </p:sp>
    </p:spTree>
    <p:extLst>
      <p:ext uri="{BB962C8B-B14F-4D97-AF65-F5344CB8AC3E}">
        <p14:creationId xmlns:p14="http://schemas.microsoft.com/office/powerpoint/2010/main" val="3734602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4FB34-E5EA-4118-9DA1-2DFBC749C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CA80C-88FF-FCBF-6B21-81636FD866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DE9A4-E8E5-8F30-F089-7A7DE0201C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DE10C3BE-8FEE-C867-BD43-3E66ADDC145A}"/>
              </a:ext>
            </a:extLst>
          </p:cNvPr>
          <p:cNvSpPr>
            <a:spLocks noGrp="1"/>
          </p:cNvSpPr>
          <p:nvPr>
            <p:ph type="sldNum" sz="quarter" idx="5"/>
          </p:nvPr>
        </p:nvSpPr>
        <p:spPr/>
        <p:txBody>
          <a:bodyPr/>
          <a:lstStyle/>
          <a:p>
            <a:fld id="{639142E5-A706-4C60-B43E-D82CA518B040}" type="slidenum">
              <a:rPr lang="en-AU" smtClean="0"/>
              <a:t>13</a:t>
            </a:fld>
            <a:endParaRPr lang="en-AU"/>
          </a:p>
        </p:txBody>
      </p:sp>
    </p:spTree>
    <p:extLst>
      <p:ext uri="{BB962C8B-B14F-4D97-AF65-F5344CB8AC3E}">
        <p14:creationId xmlns:p14="http://schemas.microsoft.com/office/powerpoint/2010/main" val="2436263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14</a:t>
            </a:fld>
            <a:endParaRPr lang="en-AU"/>
          </a:p>
        </p:txBody>
      </p:sp>
    </p:spTree>
    <p:extLst>
      <p:ext uri="{BB962C8B-B14F-4D97-AF65-F5344CB8AC3E}">
        <p14:creationId xmlns:p14="http://schemas.microsoft.com/office/powerpoint/2010/main" val="3892902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15</a:t>
            </a:fld>
            <a:endParaRPr lang="en-AU" dirty="0"/>
          </a:p>
        </p:txBody>
      </p:sp>
    </p:spTree>
    <p:extLst>
      <p:ext uri="{BB962C8B-B14F-4D97-AF65-F5344CB8AC3E}">
        <p14:creationId xmlns:p14="http://schemas.microsoft.com/office/powerpoint/2010/main" val="31058213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b="35463"/>
          <a:stretch/>
        </p:blipFill>
        <p:spPr>
          <a:xfrm>
            <a:off x="241904" y="3067670"/>
            <a:ext cx="11710747" cy="3611293"/>
          </a:xfrm>
          <a:prstGeom prst="rect">
            <a:avLst/>
          </a:prstGeom>
        </p:spPr>
      </p:pic>
      <p:pic>
        <p:nvPicPr>
          <p:cNvPr id="8" name="Picture 7">
            <a:extLst>
              <a:ext uri="{FF2B5EF4-FFF2-40B4-BE49-F238E27FC236}">
                <a16:creationId xmlns:a16="http://schemas.microsoft.com/office/drawing/2014/main" id="{2EF52CFF-C49E-FB47-9FC2-54AD48C78F05}"/>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61889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2" name="Rectangle 1"/>
          <p:cNvSpPr/>
          <p:nvPr/>
        </p:nvSpPr>
        <p:spPr>
          <a:xfrm>
            <a:off x="241904" y="3062172"/>
            <a:ext cx="4722971"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p:nvPicPr>
        <p:blipFill rotWithShape="1">
          <a:blip r:embed="rId2">
            <a:extLst>
              <a:ext uri="{28A0092B-C50C-407E-A947-70E740481C1C}">
                <a14:useLocalDpi xmlns:a14="http://schemas.microsoft.com/office/drawing/2010/main" val="0"/>
              </a:ext>
            </a:extLst>
          </a:blip>
          <a:srcRect l="11403" t="15468" r="100" b="1049"/>
          <a:stretch/>
        </p:blipFill>
        <p:spPr>
          <a:xfrm>
            <a:off x="4964875" y="3062172"/>
            <a:ext cx="6987287" cy="36324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6959" y="3448840"/>
            <a:ext cx="1943987" cy="3239978"/>
          </a:xfrm>
          <a:prstGeom prst="rect">
            <a:avLst/>
          </a:prstGeom>
        </p:spPr>
      </p:pic>
      <p:sp>
        <p:nvSpPr>
          <p:cNvPr id="11" name="TextBox 10"/>
          <p:cNvSpPr txBox="1"/>
          <p:nvPr/>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3" name="Picture 12">
            <a:extLst>
              <a:ext uri="{FF2B5EF4-FFF2-40B4-BE49-F238E27FC236}">
                <a16:creationId xmlns:a16="http://schemas.microsoft.com/office/drawing/2014/main" id="{B0A9269F-011F-4649-845C-08AE05BE96C7}"/>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90063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p:cNvSpPr/>
          <p:nvPr/>
        </p:nvSpPr>
        <p:spPr>
          <a:xfrm>
            <a:off x="251428" y="181429"/>
            <a:ext cx="1170333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9" name="Picture Placeholder 9" descr="Section_Image.jpg"/>
          <p:cNvPicPr>
            <a:picLocks noChangeAspect="1"/>
          </p:cNvPicPr>
          <p:nvPr/>
        </p:nvPicPr>
        <p:blipFill rotWithShape="1">
          <a:blip r:embed="rId2">
            <a:extLst>
              <a:ext uri="{28A0092B-C50C-407E-A947-70E740481C1C}">
                <a14:useLocalDpi xmlns:a14="http://schemas.microsoft.com/office/drawing/2010/main" val="0"/>
              </a:ext>
            </a:extLst>
          </a:blip>
          <a:srcRect l="561" t="15597" r="462" b="1605"/>
          <a:stretch/>
        </p:blipFill>
        <p:spPr>
          <a:xfrm>
            <a:off x="251429" y="1257301"/>
            <a:ext cx="11706850" cy="5419724"/>
          </a:xfrm>
          <a:prstGeom prst="rect">
            <a:avLst/>
          </a:prstGeom>
          <a:ln>
            <a:noFill/>
          </a:ln>
        </p:spPr>
      </p:pic>
      <p:sp>
        <p:nvSpPr>
          <p:cNvPr id="11" name="Title 1"/>
          <p:cNvSpPr>
            <a:spLocks noGrp="1"/>
          </p:cNvSpPr>
          <p:nvPr>
            <p:ph type="title"/>
          </p:nvPr>
        </p:nvSpPr>
        <p:spPr>
          <a:xfrm>
            <a:off x="720000" y="2863019"/>
            <a:ext cx="8045752" cy="608315"/>
          </a:xfrm>
        </p:spPr>
        <p:txBody>
          <a:bodyPr/>
          <a:lstStyle>
            <a:lvl1pPr>
              <a:defRPr>
                <a:solidFill>
                  <a:schemeClr val="tx1"/>
                </a:solidFill>
              </a:defRPr>
            </a:lvl1pPr>
          </a:lstStyle>
          <a:p>
            <a:r>
              <a:rPr lang="en-US"/>
              <a:t>Click to edit Master title style</a:t>
            </a:r>
            <a:endParaRPr lang="en-AU" dirty="0"/>
          </a:p>
        </p:txBody>
      </p:sp>
      <p:sp>
        <p:nvSpPr>
          <p:cNvPr id="13" name="Text Placeholder 16"/>
          <p:cNvSpPr>
            <a:spLocks noGrp="1"/>
          </p:cNvSpPr>
          <p:nvPr>
            <p:ph type="body" sz="quarter" idx="15" hasCustomPrompt="1"/>
          </p:nvPr>
        </p:nvSpPr>
        <p:spPr>
          <a:xfrm>
            <a:off x="720000" y="3485114"/>
            <a:ext cx="6407150" cy="503238"/>
          </a:xfrm>
        </p:spPr>
        <p:txBody>
          <a:bodyPr/>
          <a:lstStyle>
            <a:lvl1pPr marL="0" indent="0">
              <a:buNone/>
              <a:defRPr cap="all" baseline="0">
                <a:solidFill>
                  <a:schemeClr val="tx1"/>
                </a:solidFill>
                <a:latin typeface="+mj-lt"/>
              </a:defRPr>
            </a:lvl1pPr>
          </a:lstStyle>
          <a:p>
            <a:pPr lvl="0"/>
            <a:r>
              <a:rPr lang="en-AU" dirty="0"/>
              <a:t>Click to ADD SUBTITLE</a:t>
            </a:r>
          </a:p>
        </p:txBody>
      </p:sp>
      <p:sp>
        <p:nvSpPr>
          <p:cNvPr id="14" name="TextBox 13"/>
          <p:cNvSpPr txBox="1"/>
          <p:nvPr/>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83457" y="3502203"/>
            <a:ext cx="3174822" cy="3174822"/>
          </a:xfrm>
          <a:prstGeom prst="rect">
            <a:avLst/>
          </a:prstGeom>
        </p:spPr>
      </p:pic>
      <p:pic>
        <p:nvPicPr>
          <p:cNvPr id="16" name="Picture 15">
            <a:extLst>
              <a:ext uri="{FF2B5EF4-FFF2-40B4-BE49-F238E27FC236}">
                <a16:creationId xmlns:a16="http://schemas.microsoft.com/office/drawing/2014/main" id="{8C9B8C79-07FC-2444-B397-BBCDB3F9F22B}"/>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228020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4" name="Rectangle 13"/>
          <p:cNvSpPr/>
          <p:nvPr/>
        </p:nvSpPr>
        <p:spPr>
          <a:xfrm>
            <a:off x="241904" y="181429"/>
            <a:ext cx="1171080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9" name="Text Placeholder 2"/>
          <p:cNvSpPr>
            <a:spLocks noGrp="1"/>
          </p:cNvSpPr>
          <p:nvPr>
            <p:ph type="body" idx="14" hasCustomPrompt="1"/>
          </p:nvPr>
        </p:nvSpPr>
        <p:spPr>
          <a:xfrm>
            <a:off x="5608410"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21" name="Title 20"/>
          <p:cNvSpPr>
            <a:spLocks noGrp="1"/>
          </p:cNvSpPr>
          <p:nvPr>
            <p:ph type="title" hasCustomPrompt="1"/>
          </p:nvPr>
        </p:nvSpPr>
        <p:spPr>
          <a:xfrm>
            <a:off x="5639120" y="2708920"/>
            <a:ext cx="5665556" cy="648000"/>
          </a:xfrm>
        </p:spPr>
        <p:txBody>
          <a:bodyPr/>
          <a:lstStyle>
            <a:lvl1pPr>
              <a:defRPr/>
            </a:lvl1pPr>
          </a:lstStyle>
          <a:p>
            <a:r>
              <a:rPr lang="en-US" dirty="0"/>
              <a:t>Click to add title</a:t>
            </a:r>
            <a:endParaRPr lang="en-AU" dirty="0"/>
          </a:p>
        </p:txBody>
      </p:sp>
      <p:sp>
        <p:nvSpPr>
          <p:cNvPr id="23" name="Text Placeholder 22"/>
          <p:cNvSpPr>
            <a:spLocks noGrp="1"/>
          </p:cNvSpPr>
          <p:nvPr>
            <p:ph type="body" sz="quarter" idx="15" hasCustomPrompt="1"/>
          </p:nvPr>
        </p:nvSpPr>
        <p:spPr>
          <a:xfrm>
            <a:off x="5638360" y="3357564"/>
            <a:ext cx="5666316" cy="503237"/>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9" name="Picture 8" descr="MAC21_190.5x254_PowerPoint_Images_Cov v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5" y="0"/>
            <a:ext cx="4383024" cy="6858000"/>
          </a:xfrm>
          <a:prstGeom prst="rect">
            <a:avLst/>
          </a:prstGeom>
        </p:spPr>
      </p:pic>
      <p:pic>
        <p:nvPicPr>
          <p:cNvPr id="10" name="Picture 9">
            <a:extLst>
              <a:ext uri="{FF2B5EF4-FFF2-40B4-BE49-F238E27FC236}">
                <a16:creationId xmlns:a16="http://schemas.microsoft.com/office/drawing/2014/main" id="{4CF0B494-A7A4-6F4C-8E15-141F578E022F}"/>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505427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10800001" cy="4525963"/>
          </a:xfrm>
        </p:spPr>
        <p:txBody>
          <a:bodyPr/>
          <a:lstStyle>
            <a:lvl1pPr marL="0" indent="0">
              <a:buNone/>
              <a:defRPr baseline="0"/>
            </a:lvl1pPr>
          </a:lstStyle>
          <a:p>
            <a:pPr lvl="0"/>
            <a:r>
              <a:rPr lang="en-AU" dirty="0"/>
              <a:t>Content no bullets</a:t>
            </a:r>
          </a:p>
        </p:txBody>
      </p:sp>
      <p:sp>
        <p:nvSpPr>
          <p:cNvPr id="5" name="Footer Placeholder 4"/>
          <p:cNvSpPr>
            <a:spLocks noGrp="1"/>
          </p:cNvSpPr>
          <p:nvPr>
            <p:ph type="ftr" sz="quarter" idx="11"/>
          </p:nvPr>
        </p:nvSpPr>
        <p:spPr>
          <a:xfrm>
            <a:off x="720000" y="6381329"/>
            <a:ext cx="5304664"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914"/>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316253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720000" y="1620000"/>
            <a:ext cx="10776675" cy="45243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759075"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38668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28980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lIns="0" tIns="0" rIns="0" bIns="0"/>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25430"/>
          </a:xfrm>
        </p:spPr>
        <p:txBody>
          <a:bodyPr lIns="0" tIns="0" rIns="0" bIns="0"/>
          <a:lstStyle>
            <a:lvl1pPr marL="0" indent="0">
              <a:buNone/>
              <a:defRPr cap="all" baseline="0">
                <a:solidFill>
                  <a:schemeClr val="accent1"/>
                </a:solidFill>
                <a:latin typeface="+mj-lt"/>
              </a:defRPr>
            </a:lvl1pPr>
          </a:lstStyle>
          <a:p>
            <a:pPr lvl="0"/>
            <a:r>
              <a:rPr lang="en-AU" dirty="0"/>
              <a:t>Click to ADD SUBTITLE</a:t>
            </a:r>
          </a:p>
        </p:txBody>
      </p:sp>
      <p:sp>
        <p:nvSpPr>
          <p:cNvPr id="8" name="Content Placeholder 2"/>
          <p:cNvSpPr>
            <a:spLocks noGrp="1"/>
          </p:cNvSpPr>
          <p:nvPr>
            <p:ph idx="16" hasCustomPrompt="1"/>
          </p:nvPr>
        </p:nvSpPr>
        <p:spPr>
          <a:xfrm>
            <a:off x="62484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Tree>
    <p:extLst>
      <p:ext uri="{BB962C8B-B14F-4D97-AF65-F5344CB8AC3E}">
        <p14:creationId xmlns:p14="http://schemas.microsoft.com/office/powerpoint/2010/main" val="264008"/>
      </p:ext>
    </p:extLst>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 </a:t>
            </a:r>
          </a:p>
        </p:txBody>
      </p:sp>
      <p:sp>
        <p:nvSpPr>
          <p:cNvPr id="9" name="Text Placeholder 8"/>
          <p:cNvSpPr>
            <a:spLocks noGrp="1"/>
          </p:cNvSpPr>
          <p:nvPr>
            <p:ph type="body" sz="quarter" idx="17"/>
          </p:nvPr>
        </p:nvSpPr>
        <p:spPr>
          <a:xfrm>
            <a:off x="7200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8"/>
          <p:cNvSpPr>
            <a:spLocks noGrp="1"/>
          </p:cNvSpPr>
          <p:nvPr>
            <p:ph type="body" sz="quarter" idx="18"/>
          </p:nvPr>
        </p:nvSpPr>
        <p:spPr>
          <a:xfrm>
            <a:off x="63624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629029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60120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151"/>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4" name="Picture Placeholder 3"/>
          <p:cNvSpPr>
            <a:spLocks noGrp="1"/>
          </p:cNvSpPr>
          <p:nvPr>
            <p:ph type="pic" sz="quarter" idx="16"/>
          </p:nvPr>
        </p:nvSpPr>
        <p:spPr>
          <a:xfrm>
            <a:off x="720000" y="1620000"/>
            <a:ext cx="10752000" cy="4525200"/>
          </a:xfrm>
        </p:spPr>
        <p:txBody>
          <a:bodyPr/>
          <a:lstStyle/>
          <a:p>
            <a:r>
              <a:rPr lang="en-US"/>
              <a:t>Click icon to add picture</a:t>
            </a:r>
            <a:endParaRPr lang="en-AU" dirty="0"/>
          </a:p>
        </p:txBody>
      </p:sp>
    </p:spTree>
    <p:extLst>
      <p:ext uri="{BB962C8B-B14F-4D97-AF65-F5344CB8AC3E}">
        <p14:creationId xmlns:p14="http://schemas.microsoft.com/office/powerpoint/2010/main" val="1859987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endParaRPr lang="en-US"/>
          </a:p>
        </p:txBody>
      </p:sp>
      <p:sp>
        <p:nvSpPr>
          <p:cNvPr id="4" name="Slide Number Placeholder 3"/>
          <p:cNvSpPr>
            <a:spLocks noGrp="1"/>
          </p:cNvSpPr>
          <p:nvPr>
            <p:ph type="sldNum" sz="quarter" idx="12"/>
          </p:nvPr>
        </p:nvSpPr>
        <p:spPr>
          <a:xfrm>
            <a:off x="8737600" y="6309321"/>
            <a:ext cx="2844800" cy="365125"/>
          </a:xfrm>
        </p:spPr>
        <p:txBody>
          <a:bodyPr/>
          <a:lstStyle/>
          <a:p>
            <a:fld id="{A7E59BBE-8B91-6A4A-80E8-2EE021604ECB}" type="slidenum">
              <a:rPr lang="en-US" smtClean="0"/>
              <a:t>‹#›</a:t>
            </a:fld>
            <a:endParaRPr lang="en-US"/>
          </a:p>
        </p:txBody>
      </p:sp>
    </p:spTree>
    <p:extLst>
      <p:ext uri="{BB962C8B-B14F-4D97-AF65-F5344CB8AC3E}">
        <p14:creationId xmlns:p14="http://schemas.microsoft.com/office/powerpoint/2010/main" val="2091377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p:nvSpPr>
        <p:spPr>
          <a:xfrm>
            <a:off x="10001277" y="5715016"/>
            <a:ext cx="571504" cy="369332"/>
          </a:xfrm>
          <a:prstGeom prst="rect">
            <a:avLst/>
          </a:prstGeom>
          <a:noFill/>
        </p:spPr>
        <p:txBody>
          <a:bodyPr wrap="square" rtlCol="0">
            <a:spAutoFit/>
          </a:bodyPr>
          <a:lstStyle/>
          <a:p>
            <a:endParaRPr lang="en-AU" sz="1800" dirty="0"/>
          </a:p>
        </p:txBody>
      </p:sp>
    </p:spTree>
    <p:extLst>
      <p:ext uri="{BB962C8B-B14F-4D97-AF65-F5344CB8AC3E}">
        <p14:creationId xmlns:p14="http://schemas.microsoft.com/office/powerpoint/2010/main" val="2186930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000" y="274638"/>
            <a:ext cx="8458276" cy="64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A7E59BBE-8B91-6A4A-80E8-2EE021604ECB}" type="slidenum">
              <a:rPr lang="en-US" smtClean="0"/>
              <a:t>‹#›</a:t>
            </a:fld>
            <a:endParaRPr lang="en-US"/>
          </a:p>
        </p:txBody>
      </p:sp>
      <p:sp>
        <p:nvSpPr>
          <p:cNvPr id="4" name="Date Placeholder 3"/>
          <p:cNvSpPr>
            <a:spLocks noGrp="1"/>
          </p:cNvSpPr>
          <p:nvPr>
            <p:ph type="dt" sz="half" idx="11"/>
          </p:nvPr>
        </p:nvSpPr>
        <p:spPr/>
        <p:txBody>
          <a:bodyPr/>
          <a:lstStyle>
            <a:lvl1pPr>
              <a:defRPr/>
            </a:lvl1pPr>
          </a:lstStyle>
          <a:p>
            <a:endParaRPr lang="en-US"/>
          </a:p>
        </p:txBody>
      </p:sp>
      <p:sp>
        <p:nvSpPr>
          <p:cNvPr id="5" name="Content Placeholder 4"/>
          <p:cNvSpPr>
            <a:spLocks noGrp="1"/>
          </p:cNvSpPr>
          <p:nvPr>
            <p:ph sz="quarter" idx="13" hasCustomPrompt="1"/>
          </p:nvPr>
        </p:nvSpPr>
        <p:spPr>
          <a:xfrm>
            <a:off x="720000" y="1620000"/>
            <a:ext cx="8507963" cy="4490720"/>
          </a:xfrm>
        </p:spPr>
        <p:txBody>
          <a:bodyPr>
            <a:noAutofit/>
          </a:bodyPr>
          <a:lstStyle>
            <a:lvl7pPr>
              <a:buNone/>
              <a:defRPr/>
            </a:lvl7pPr>
            <a:lvl8pPr>
              <a:buNone/>
              <a:defRPr/>
            </a:lvl8pPr>
          </a:lstStyle>
          <a:p>
            <a:r>
              <a:rPr lang="en-US" b="1" dirty="0">
                <a:solidFill>
                  <a:srgbClr val="6D0020"/>
                </a:solidFill>
              </a:rPr>
              <a:t>HEADER INFO</a:t>
            </a:r>
          </a:p>
          <a:p>
            <a:r>
              <a:rPr lang="en-US" dirty="0" err="1">
                <a:latin typeface="Georgia"/>
                <a:cs typeface="Georgia"/>
              </a:rPr>
              <a:t>Consectetur</a:t>
            </a:r>
            <a:r>
              <a:rPr lang="en-US" dirty="0">
                <a:latin typeface="Georgia"/>
                <a:cs typeface="Georgia"/>
              </a:rPr>
              <a:t>  met </a:t>
            </a:r>
            <a:r>
              <a:rPr lang="en-US" dirty="0" err="1">
                <a:latin typeface="Georgia"/>
                <a:cs typeface="Georgia"/>
              </a:rPr>
              <a:t>adipiscing</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Aenean</a:t>
            </a:r>
            <a:r>
              <a:rPr lang="en-US" dirty="0">
                <a:latin typeface="Georgia"/>
                <a:cs typeface="Georgia"/>
              </a:rPr>
              <a:t> ac </a:t>
            </a:r>
            <a:r>
              <a:rPr lang="en-US" dirty="0" err="1">
                <a:latin typeface="Georgia"/>
                <a:cs typeface="Georgia"/>
              </a:rPr>
              <a:t>elit</a:t>
            </a:r>
            <a:r>
              <a:rPr lang="en-US" dirty="0">
                <a:latin typeface="Georgia"/>
                <a:cs typeface="Georgia"/>
              </a:rPr>
              <a:t> a </a:t>
            </a:r>
            <a:r>
              <a:rPr lang="en-US" dirty="0" err="1">
                <a:latin typeface="Georgia"/>
                <a:cs typeface="Georgia"/>
              </a:rPr>
              <a:t>felis</a:t>
            </a:r>
            <a:r>
              <a:rPr lang="en-US" dirty="0">
                <a:latin typeface="Georgia"/>
                <a:cs typeface="Georgia"/>
              </a:rPr>
              <a:t> </a:t>
            </a:r>
            <a:r>
              <a:rPr lang="en-US" dirty="0" err="1">
                <a:latin typeface="Georgia"/>
                <a:cs typeface="Georgia"/>
              </a:rPr>
              <a:t>pharetra</a:t>
            </a:r>
            <a:r>
              <a:rPr lang="en-US" dirty="0">
                <a:latin typeface="Georgia"/>
                <a:cs typeface="Georgia"/>
              </a:rPr>
              <a:t> </a:t>
            </a:r>
            <a:br>
              <a:rPr lang="en-US" dirty="0">
                <a:latin typeface="Georgia"/>
                <a:cs typeface="Georgia"/>
              </a:rPr>
            </a:br>
            <a:r>
              <a:rPr lang="en-US" dirty="0" err="1">
                <a:latin typeface="Georgia"/>
                <a:cs typeface="Georgia"/>
              </a:rPr>
              <a:t>vel</a:t>
            </a:r>
            <a:r>
              <a:rPr lang="en-US" dirty="0">
                <a:latin typeface="Georgia"/>
                <a:cs typeface="Georgia"/>
              </a:rPr>
              <a:t> </a:t>
            </a:r>
            <a:r>
              <a:rPr lang="en-US" dirty="0" err="1">
                <a:latin typeface="Georgia"/>
                <a:cs typeface="Georgia"/>
              </a:rPr>
              <a:t>Fringilla</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Duis</a:t>
            </a:r>
            <a:r>
              <a:rPr lang="en-US" dirty="0">
                <a:latin typeface="Georgia"/>
                <a:cs typeface="Georgia"/>
              </a:rPr>
              <a:t> dui </a:t>
            </a:r>
            <a:r>
              <a:rPr lang="en-US" dirty="0" err="1">
                <a:latin typeface="Georgia"/>
                <a:cs typeface="Georgia"/>
              </a:rPr>
              <a:t>arcu</a:t>
            </a:r>
            <a:r>
              <a:rPr lang="en-US" dirty="0">
                <a:latin typeface="Georgia"/>
                <a:cs typeface="Georgia"/>
              </a:rPr>
              <a:t>, </a:t>
            </a:r>
            <a:r>
              <a:rPr lang="en-US" dirty="0" err="1">
                <a:latin typeface="Georgia"/>
                <a:cs typeface="Georgia"/>
              </a:rPr>
              <a:t>amet</a:t>
            </a:r>
            <a:r>
              <a:rPr lang="en-US" dirty="0">
                <a:latin typeface="Georgia"/>
                <a:cs typeface="Georgia"/>
              </a:rPr>
              <a:t> </a:t>
            </a:r>
            <a:r>
              <a:rPr lang="en-US" dirty="0" err="1">
                <a:latin typeface="Georgia"/>
                <a:cs typeface="Georgia"/>
              </a:rPr>
              <a:t>scelerisque</a:t>
            </a:r>
            <a:r>
              <a:rPr lang="en-US" dirty="0">
                <a:latin typeface="Georgia"/>
                <a:cs typeface="Georgia"/>
              </a:rPr>
              <a:t> </a:t>
            </a:r>
            <a:r>
              <a:rPr lang="en-US" dirty="0" err="1">
                <a:latin typeface="Georgia"/>
                <a:cs typeface="Georgia"/>
              </a:rPr>
              <a:t>nec</a:t>
            </a:r>
            <a:r>
              <a:rPr lang="en-US" dirty="0">
                <a:latin typeface="Georgia"/>
                <a:cs typeface="Georgia"/>
              </a:rPr>
              <a:t> dictum </a:t>
            </a:r>
            <a:br>
              <a:rPr lang="en-US" dirty="0">
                <a:latin typeface="Georgia"/>
                <a:cs typeface="Georgia"/>
              </a:rPr>
            </a:br>
            <a:r>
              <a:rPr lang="en-US" dirty="0">
                <a:latin typeface="Georgia"/>
                <a:cs typeface="Georgia"/>
              </a:rPr>
              <a:t>ac </a:t>
            </a:r>
            <a:r>
              <a:rPr lang="en-US" dirty="0" err="1">
                <a:latin typeface="Georgia"/>
                <a:cs typeface="Georgia"/>
              </a:rPr>
              <a:t>conse</a:t>
            </a:r>
            <a:r>
              <a:rPr lang="en-US" dirty="0">
                <a:latin typeface="Georgia"/>
                <a:cs typeface="Georgia"/>
              </a:rPr>
              <a:t> </a:t>
            </a:r>
            <a:r>
              <a:rPr lang="en-US" dirty="0" err="1">
                <a:latin typeface="Georgia"/>
                <a:cs typeface="Georgia"/>
              </a:rPr>
              <a:t>eu</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Donec</a:t>
            </a:r>
            <a:r>
              <a:rPr lang="en-US" dirty="0">
                <a:latin typeface="Georgia"/>
                <a:cs typeface="Georgia"/>
              </a:rPr>
              <a:t> </a:t>
            </a:r>
            <a:r>
              <a:rPr lang="en-US" dirty="0" err="1">
                <a:latin typeface="Georgia"/>
                <a:cs typeface="Georgia"/>
              </a:rPr>
              <a:t>tincid</a:t>
            </a:r>
            <a:r>
              <a:rPr lang="en-US" dirty="0">
                <a:latin typeface="Georgia"/>
                <a:cs typeface="Georgia"/>
              </a:rPr>
              <a:t> </a:t>
            </a:r>
            <a:r>
              <a:rPr lang="en-US" dirty="0" err="1">
                <a:latin typeface="Georgia"/>
                <a:cs typeface="Georgia"/>
              </a:rPr>
              <a:t>unt</a:t>
            </a:r>
            <a:r>
              <a:rPr lang="en-US" dirty="0">
                <a:latin typeface="Georgia"/>
                <a:cs typeface="Georgia"/>
              </a:rPr>
              <a:t> </a:t>
            </a:r>
            <a:r>
              <a:rPr lang="en-US" dirty="0" err="1">
                <a:latin typeface="Georgia"/>
                <a:cs typeface="Georgia"/>
              </a:rPr>
              <a:t>enim</a:t>
            </a:r>
            <a:r>
              <a:rPr lang="en-US" dirty="0">
                <a:latin typeface="Georgia"/>
                <a:cs typeface="Georgia"/>
              </a:rPr>
              <a:t> sit </a:t>
            </a:r>
            <a:r>
              <a:rPr lang="en-US" dirty="0" err="1">
                <a:latin typeface="Georgia"/>
                <a:cs typeface="Georgia"/>
              </a:rPr>
              <a:t>amet</a:t>
            </a:r>
            <a:r>
              <a:rPr lang="en-US" dirty="0">
                <a:latin typeface="Georgia"/>
                <a:cs typeface="Georgia"/>
              </a:rPr>
              <a:t> </a:t>
            </a:r>
            <a:r>
              <a:rPr lang="en-US" dirty="0" err="1">
                <a:latin typeface="Georgia"/>
                <a:cs typeface="Georgia"/>
              </a:rPr>
              <a:t>consequat</a:t>
            </a:r>
            <a:r>
              <a:rPr lang="en-US" dirty="0">
                <a:latin typeface="Georgia"/>
                <a:cs typeface="Georgia"/>
              </a:rPr>
              <a:t>.</a:t>
            </a:r>
          </a:p>
          <a:p>
            <a:pPr>
              <a:buFont typeface="Arial"/>
              <a:buChar char="•"/>
            </a:pPr>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7"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pPr marL="342900" lvl="7" indent="0"/>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6"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endParaRPr lang="en-US" dirty="0">
              <a:latin typeface="Georgia"/>
              <a:cs typeface="Georgia"/>
            </a:endParaRPr>
          </a:p>
          <a:p>
            <a:endParaRPr lang="en-US" dirty="0"/>
          </a:p>
        </p:txBody>
      </p:sp>
      <p:sp>
        <p:nvSpPr>
          <p:cNvPr id="7" name="Text Placeholder 16"/>
          <p:cNvSpPr>
            <a:spLocks noGrp="1"/>
          </p:cNvSpPr>
          <p:nvPr>
            <p:ph type="body" sz="quarter" idx="15" hasCustomPrompt="1"/>
          </p:nvPr>
        </p:nvSpPr>
        <p:spPr>
          <a:xfrm>
            <a:off x="720000" y="908720"/>
            <a:ext cx="8458276" cy="434305"/>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905079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29F5C7-1EDD-4D4F-B3EB-31F227D9F428}"/>
              </a:ext>
            </a:extLst>
          </p:cNvPr>
          <p:cNvPicPr>
            <a:picLocks noChangeAspect="1"/>
          </p:cNvPicPr>
          <p:nvPr/>
        </p:nvPicPr>
        <p:blipFill>
          <a:blip r:embed="rId15"/>
          <a:stretch>
            <a:fillRect/>
          </a:stretch>
        </p:blipFill>
        <p:spPr>
          <a:xfrm>
            <a:off x="9673174" y="217272"/>
            <a:ext cx="2037600" cy="804766"/>
          </a:xfrm>
          <a:prstGeom prst="rect">
            <a:avLst/>
          </a:prstGeom>
        </p:spPr>
      </p:pic>
      <p:sp>
        <p:nvSpPr>
          <p:cNvPr id="2" name="Title Placeholder 1"/>
          <p:cNvSpPr>
            <a:spLocks noGrp="1"/>
          </p:cNvSpPr>
          <p:nvPr>
            <p:ph type="title"/>
          </p:nvPr>
        </p:nvSpPr>
        <p:spPr>
          <a:xfrm>
            <a:off x="720000" y="274638"/>
            <a:ext cx="8458276" cy="648000"/>
          </a:xfrm>
          <a:prstGeom prst="rect">
            <a:avLst/>
          </a:prstGeom>
        </p:spPr>
        <p:txBody>
          <a:bodyPr vert="horz" lIns="0" tIns="0" rIns="0" bIns="0" rtlCol="0" anchor="t" anchorCtr="0">
            <a:normAutofit/>
          </a:bodyPr>
          <a:lstStyle/>
          <a:p>
            <a:r>
              <a:rPr lang="en-US"/>
              <a:t>Click to edit Master title style</a:t>
            </a:r>
            <a:endParaRPr lang="en-AU" dirty="0"/>
          </a:p>
        </p:txBody>
      </p:sp>
      <p:sp>
        <p:nvSpPr>
          <p:cNvPr id="3" name="Text Placeholder 2"/>
          <p:cNvSpPr>
            <a:spLocks noGrp="1"/>
          </p:cNvSpPr>
          <p:nvPr>
            <p:ph type="body" idx="1"/>
          </p:nvPr>
        </p:nvSpPr>
        <p:spPr>
          <a:xfrm>
            <a:off x="720000" y="1620000"/>
            <a:ext cx="10800001" cy="45259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Footer Placeholder 4"/>
          <p:cNvSpPr>
            <a:spLocks noGrp="1"/>
          </p:cNvSpPr>
          <p:nvPr>
            <p:ph type="ftr" sz="quarter" idx="3"/>
          </p:nvPr>
        </p:nvSpPr>
        <p:spPr>
          <a:xfrm>
            <a:off x="720000" y="6309321"/>
            <a:ext cx="5400675" cy="365125"/>
          </a:xfrm>
          <a:prstGeom prst="rect">
            <a:avLst/>
          </a:prstGeom>
        </p:spPr>
        <p:txBody>
          <a:bodyPr vert="horz" lIns="0" tIns="0" rIns="0" bIns="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51875" y="6309321"/>
            <a:ext cx="2844800" cy="365125"/>
          </a:xfrm>
          <a:prstGeom prst="rect">
            <a:avLst/>
          </a:prstGeom>
        </p:spPr>
        <p:txBody>
          <a:bodyPr vert="horz" lIns="0" tIns="0" rIns="0" bIns="0" rtlCol="0" anchor="ctr"/>
          <a:lstStyle>
            <a:lvl1pPr algn="r">
              <a:defRPr sz="1050">
                <a:solidFill>
                  <a:schemeClr val="tx1">
                    <a:tint val="75000"/>
                  </a:schemeClr>
                </a:solidFill>
              </a:defRPr>
            </a:lvl1pPr>
          </a:lstStyle>
          <a:p>
            <a:fld id="{A7E59BBE-8B91-6A4A-80E8-2EE021604ECB}" type="slidenum">
              <a:rPr lang="en-US" smtClean="0"/>
              <a:t>‹#›</a:t>
            </a:fld>
            <a:endParaRPr lang="en-US"/>
          </a:p>
        </p:txBody>
      </p:sp>
      <p:pic>
        <p:nvPicPr>
          <p:cNvPr id="1026" name="Picture 2"/>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0000" y="1368000"/>
            <a:ext cx="10800000" cy="12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000947"/>
      </p:ext>
    </p:extLst>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 id="2147484650" r:id="rId12"/>
    <p:sldLayoutId id="2147484651" r:id="rId13"/>
  </p:sldLayoutIdLst>
  <p:hf hdr="0" ft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43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s://www.austlii.edu.au/cgi-bin/viewdoc/au/legis/nsw/consol_act/cla2002161/s5.html#negligence" TargetMode="External"/><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hyperlink" Target="https://www.austlii.edu.au/cgi-bin/viewdoc/au/legis/nsw/consol_act/cla2002161/s3.html#court" TargetMode="External"/><Relationship Id="rId4" Type="http://schemas.openxmlformats.org/officeDocument/2006/relationships/hyperlink" Target="https://www.austlii.edu.au/cgi-bin/viewdoc/au/legis/nsw/consol_act/cla2002161/s5.html#harm"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20000" y="836784"/>
            <a:ext cx="8544000" cy="648000"/>
          </a:xfrm>
        </p:spPr>
        <p:txBody>
          <a:bodyPr>
            <a:normAutofit fontScale="90000"/>
          </a:bodyPr>
          <a:lstStyle/>
          <a:p>
            <a:pPr algn="ctr"/>
            <a:r>
              <a:rPr lang="en-AU" sz="4000" b="1" dirty="0">
                <a:latin typeface="Times New Roman" panose="02020603050405020304" pitchFamily="18" charset="0"/>
                <a:cs typeface="Times New Roman" panose="02020603050405020304" pitchFamily="18" charset="0"/>
              </a:rPr>
              <a:t>LAWS2400 / LAWS8040 – Torts</a:t>
            </a:r>
            <a:br>
              <a:rPr lang="en-AU" sz="3600" b="1" dirty="0">
                <a:latin typeface="Times New Roman" panose="02020603050405020304" pitchFamily="18" charset="0"/>
                <a:cs typeface="Times New Roman" panose="02020603050405020304" pitchFamily="18" charset="0"/>
              </a:rPr>
            </a:br>
            <a:br>
              <a:rPr lang="en-AU" sz="3600" b="1" dirty="0">
                <a:latin typeface="Times New Roman" panose="02020603050405020304" pitchFamily="18" charset="0"/>
                <a:cs typeface="Times New Roman" panose="02020603050405020304" pitchFamily="18" charset="0"/>
              </a:rPr>
            </a:br>
            <a:r>
              <a:rPr lang="en-AU" sz="3100" b="1" dirty="0">
                <a:latin typeface="Times New Roman" panose="02020603050405020304" pitchFamily="18" charset="0"/>
                <a:cs typeface="Times New Roman" panose="02020603050405020304" pitchFamily="18" charset="0"/>
              </a:rPr>
              <a:t>Week </a:t>
            </a:r>
            <a:r>
              <a:rPr lang="en-AU" sz="3100" dirty="0">
                <a:latin typeface="Times New Roman" panose="02020603050405020304" pitchFamily="18" charset="0"/>
                <a:cs typeface="Times New Roman" panose="02020603050405020304" pitchFamily="18" charset="0"/>
              </a:rPr>
              <a:t>10 – Lecture 2 </a:t>
            </a:r>
            <a:br>
              <a:rPr lang="en-AU" sz="3100" b="1" dirty="0">
                <a:latin typeface="Times New Roman" panose="02020603050405020304" pitchFamily="18" charset="0"/>
                <a:cs typeface="Times New Roman" panose="02020603050405020304" pitchFamily="18" charset="0"/>
              </a:rPr>
            </a:br>
            <a:r>
              <a:rPr lang="en-HK" sz="3100" b="1" i="1" dirty="0">
                <a:latin typeface="Times New Roman" panose="02020603050405020304" pitchFamily="18" charset="0"/>
                <a:cs typeface="Times New Roman" panose="02020603050405020304" pitchFamily="18" charset="0"/>
              </a:rPr>
              <a:t>Causation </a:t>
            </a:r>
            <a:br>
              <a:rPr lang="en-AU" sz="2900" b="1" dirty="0">
                <a:latin typeface="Times New Roman" panose="02020603050405020304" pitchFamily="18" charset="0"/>
                <a:cs typeface="Times New Roman" panose="02020603050405020304" pitchFamily="18" charset="0"/>
              </a:rPr>
            </a:br>
            <a:br>
              <a:rPr lang="en-AU" b="1" dirty="0">
                <a:latin typeface="Times New Roman" panose="02020603050405020304" pitchFamily="18" charset="0"/>
                <a:cs typeface="Times New Roman" panose="02020603050405020304" pitchFamily="18" charset="0"/>
              </a:rPr>
            </a:b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47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E700-BEAF-3248-A54C-F5BEBA340D8C}"/>
              </a:ext>
            </a:extLst>
          </p:cNvPr>
          <p:cNvSpPr>
            <a:spLocks noGrp="1"/>
          </p:cNvSpPr>
          <p:nvPr>
            <p:ph type="title"/>
          </p:nvPr>
        </p:nvSpPr>
        <p:spPr>
          <a:xfrm>
            <a:off x="720000" y="274637"/>
            <a:ext cx="8458276" cy="894943"/>
          </a:xfrm>
        </p:spPr>
        <p:txBody>
          <a:bodyPr>
            <a:normAutofit/>
          </a:bodyPr>
          <a:lstStyle/>
          <a:p>
            <a:r>
              <a:rPr lang="en-US" sz="2800" dirty="0">
                <a:solidFill>
                  <a:schemeClr val="accent3"/>
                </a:solidFill>
                <a:latin typeface="Times New Roman" panose="02020603050405020304" pitchFamily="18" charset="0"/>
                <a:cs typeface="Times New Roman" panose="02020603050405020304" pitchFamily="18" charset="0"/>
              </a:rPr>
              <a:t>Outline</a:t>
            </a:r>
            <a:endParaRPr lang="en-US" sz="28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0C9E6F-2A4A-EC4A-903A-6B54DA7E05C6}"/>
              </a:ext>
            </a:extLst>
          </p:cNvPr>
          <p:cNvSpPr>
            <a:spLocks noGrp="1"/>
          </p:cNvSpPr>
          <p:nvPr>
            <p:ph idx="1"/>
          </p:nvPr>
        </p:nvSpPr>
        <p:spPr>
          <a:xfrm>
            <a:off x="720000" y="1509823"/>
            <a:ext cx="11116400" cy="4982417"/>
          </a:xfrm>
        </p:spPr>
        <p:txBody>
          <a:bodyPr>
            <a:noAutofit/>
          </a:bodyPr>
          <a:lstStyle/>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Overview </a:t>
            </a:r>
            <a:r>
              <a:rPr lang="en-HK" sz="2800" b="1" i="1" dirty="0">
                <a:latin typeface="Times New Roman" panose="02020603050405020304" pitchFamily="18" charset="0"/>
                <a:cs typeface="Times New Roman" panose="02020603050405020304" pitchFamily="18" charset="0"/>
              </a:rPr>
              <a:t>– first lecture</a:t>
            </a:r>
          </a:p>
          <a:p>
            <a:pPr marL="971550" lvl="1" indent="-514350">
              <a:buFont typeface="+mj-lt"/>
              <a:buAutoNum type="arabicPeriod"/>
            </a:pPr>
            <a:endParaRPr lang="en-HK" sz="24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Damage, causation and remoteness   </a:t>
            </a:r>
            <a:r>
              <a:rPr lang="en-HK" sz="2800" b="1" i="1" dirty="0">
                <a:latin typeface="Times New Roman" panose="02020603050405020304" pitchFamily="18" charset="0"/>
                <a:cs typeface="Times New Roman" panose="02020603050405020304" pitchFamily="18" charset="0"/>
              </a:rPr>
              <a:t>– first lecture</a:t>
            </a:r>
            <a:endParaRPr lang="en-HK" sz="2800" b="1" dirty="0">
              <a:latin typeface="Times New Roman" panose="02020603050405020304" pitchFamily="18" charset="0"/>
              <a:cs typeface="Times New Roman" panose="02020603050405020304" pitchFamily="18" charset="0"/>
            </a:endParaRPr>
          </a:p>
          <a:p>
            <a:pPr marL="971550" lvl="1" indent="-514350">
              <a:buFont typeface="+mj-lt"/>
              <a:buAutoNum type="arabicPeriod"/>
            </a:pPr>
            <a:endParaRPr lang="en-HK" sz="24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Factual causation   </a:t>
            </a:r>
            <a:r>
              <a:rPr lang="en-HK" sz="2800" b="1" i="1" dirty="0">
                <a:latin typeface="Times New Roman" panose="02020603050405020304" pitchFamily="18" charset="0"/>
                <a:cs typeface="Times New Roman" panose="02020603050405020304" pitchFamily="18" charset="0"/>
              </a:rPr>
              <a:t>– first lecture</a:t>
            </a:r>
            <a:endParaRPr lang="en-HK" sz="2800" b="1" dirty="0">
              <a:latin typeface="Times New Roman" panose="02020603050405020304" pitchFamily="18" charset="0"/>
              <a:cs typeface="Times New Roman" panose="02020603050405020304" pitchFamily="18" charset="0"/>
            </a:endParaRPr>
          </a:p>
          <a:p>
            <a:pPr marL="971550" lvl="1" indent="-514350">
              <a:buFont typeface="+mj-lt"/>
              <a:buAutoNum type="arabicPeriod"/>
            </a:pPr>
            <a:endParaRPr lang="en-HK" sz="24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solidFill>
                  <a:schemeClr val="accent1"/>
                </a:solidFill>
                <a:latin typeface="Times New Roman" panose="02020603050405020304" pitchFamily="18" charset="0"/>
                <a:cs typeface="Times New Roman" panose="02020603050405020304" pitchFamily="18" charset="0"/>
              </a:rPr>
              <a:t>What happens when the ‘but for’ test is inconclusive?</a:t>
            </a:r>
            <a:endParaRPr lang="en-HK" sz="2600" b="1" dirty="0">
              <a:solidFill>
                <a:schemeClr val="accent1"/>
              </a:solidFill>
              <a:latin typeface="Times New Roman" panose="02020603050405020304" pitchFamily="18" charset="0"/>
              <a:cs typeface="Times New Roman" panose="02020603050405020304" pitchFamily="18" charset="0"/>
            </a:endParaRPr>
          </a:p>
          <a:p>
            <a:pPr marL="971550" lvl="1" indent="-514350">
              <a:buFont typeface="+mj-lt"/>
              <a:buAutoNum type="arabicPeriod"/>
            </a:pPr>
            <a:endParaRPr lang="en-HK" sz="2400" b="1" dirty="0">
              <a:solidFill>
                <a:schemeClr val="accent1"/>
              </a:solidFill>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solidFill>
                  <a:schemeClr val="accent1"/>
                </a:solidFill>
                <a:latin typeface="Times New Roman" panose="02020603050405020304" pitchFamily="18" charset="0"/>
                <a:cs typeface="Times New Roman" panose="02020603050405020304" pitchFamily="18" charset="0"/>
              </a:rPr>
              <a:t>Section 5D(2) Exceptional cases  </a:t>
            </a:r>
          </a:p>
        </p:txBody>
      </p:sp>
    </p:spTree>
    <p:extLst>
      <p:ext uri="{BB962C8B-B14F-4D97-AF65-F5344CB8AC3E}">
        <p14:creationId xmlns:p14="http://schemas.microsoft.com/office/powerpoint/2010/main" val="1081458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0" y="274638"/>
            <a:ext cx="8803758" cy="648000"/>
          </a:xfrm>
        </p:spPr>
        <p:txBody>
          <a:bodyPr>
            <a:normAutofit/>
          </a:bodyPr>
          <a:lstStyle/>
          <a:p>
            <a:pPr marL="457200" lvl="1"/>
            <a:r>
              <a:rPr lang="en-HK" sz="2800" b="1" dirty="0">
                <a:solidFill>
                  <a:schemeClr val="accent1"/>
                </a:solidFill>
                <a:latin typeface="Times New Roman" panose="02020603050405020304" pitchFamily="18" charset="0"/>
                <a:cs typeface="Times New Roman" panose="02020603050405020304" pitchFamily="18" charset="0"/>
              </a:rPr>
              <a:t>What happens when the ‘but for’ test is inconclusive?</a:t>
            </a:r>
            <a:endParaRPr lang="en-HK" sz="2600" b="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In some cases, there will be evidential gaps that make causation impossible </a:t>
            </a:r>
            <a:r>
              <a:rPr lang="en-US" sz="2800" dirty="0" err="1">
                <a:latin typeface="Times New Roman" panose="02020603050405020304" pitchFamily="18" charset="0"/>
                <a:cs typeface="Times New Roman" panose="02020603050405020304" pitchFamily="18" charset="0"/>
              </a:rPr>
              <a:t>eg</a:t>
            </a:r>
            <a:r>
              <a:rPr lang="en-US" sz="2800" dirty="0">
                <a:latin typeface="Times New Roman" panose="02020603050405020304" pitchFamily="18" charset="0"/>
                <a:cs typeface="Times New Roman" panose="02020603050405020304" pitchFamily="18" charset="0"/>
              </a:rPr>
              <a:t> cases where scientific evidence cannot identify the cause</a:t>
            </a:r>
          </a:p>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Moreover, it has been recognized that the ‘but for’ test has limitations and may not help to resolve complex causation cases </a:t>
            </a:r>
          </a:p>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For example, Mason CJ in </a:t>
            </a:r>
            <a:r>
              <a:rPr lang="en-US" sz="2800" i="1" dirty="0">
                <a:solidFill>
                  <a:srgbClr val="0070C0"/>
                </a:solidFill>
                <a:latin typeface="Times New Roman" panose="02020603050405020304" pitchFamily="18" charset="0"/>
                <a:cs typeface="Times New Roman" panose="02020603050405020304" pitchFamily="18" charset="0"/>
              </a:rPr>
              <a:t>March v </a:t>
            </a:r>
            <a:r>
              <a:rPr lang="en-US" sz="2800" i="1" dirty="0" err="1">
                <a:solidFill>
                  <a:srgbClr val="0070C0"/>
                </a:solidFill>
                <a:latin typeface="Times New Roman" panose="02020603050405020304" pitchFamily="18" charset="0"/>
                <a:cs typeface="Times New Roman" panose="02020603050405020304" pitchFamily="18" charset="0"/>
              </a:rPr>
              <a:t>Stramare</a:t>
            </a:r>
            <a:r>
              <a:rPr lang="en-US" sz="2800" i="1" dirty="0">
                <a:solidFill>
                  <a:srgbClr val="0070C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noted three </a:t>
            </a:r>
            <a:r>
              <a:rPr lang="en-US" sz="2800" b="1" dirty="0">
                <a:latin typeface="Times New Roman" panose="02020603050405020304" pitchFamily="18" charset="0"/>
                <a:cs typeface="Times New Roman" panose="02020603050405020304" pitchFamily="18" charset="0"/>
              </a:rPr>
              <a:t>limitations</a:t>
            </a:r>
            <a:r>
              <a:rPr lang="en-US" sz="2800" dirty="0">
                <a:latin typeface="Times New Roman" panose="02020603050405020304" pitchFamily="18" charset="0"/>
                <a:cs typeface="Times New Roman" panose="02020603050405020304" pitchFamily="18" charset="0"/>
              </a:rPr>
              <a:t> of the “but for” test: </a:t>
            </a:r>
          </a:p>
          <a:p>
            <a:pPr marL="1885950" lvl="3" indent="-514350">
              <a:buFont typeface="+mj-lt"/>
              <a:buAutoNum type="arabicPeriod"/>
            </a:pPr>
            <a:r>
              <a:rPr lang="en-US" sz="2800" dirty="0">
                <a:latin typeface="Times New Roman" panose="02020603050405020304" pitchFamily="18" charset="0"/>
                <a:cs typeface="Times New Roman" panose="02020603050405020304" pitchFamily="18" charset="0"/>
              </a:rPr>
              <a:t>inability to distinguish between </a:t>
            </a:r>
            <a:r>
              <a:rPr lang="en-US" sz="2800" u="sng" dirty="0">
                <a:latin typeface="Times New Roman" panose="02020603050405020304" pitchFamily="18" charset="0"/>
                <a:cs typeface="Times New Roman" panose="02020603050405020304" pitchFamily="18" charset="0"/>
              </a:rPr>
              <a:t>causes</a:t>
            </a:r>
            <a:r>
              <a:rPr lang="en-US" sz="2800" dirty="0">
                <a:latin typeface="Times New Roman" panose="02020603050405020304" pitchFamily="18" charset="0"/>
                <a:cs typeface="Times New Roman" panose="02020603050405020304" pitchFamily="18" charset="0"/>
              </a:rPr>
              <a:t> and </a:t>
            </a:r>
            <a:r>
              <a:rPr lang="en-US" sz="2800" u="sng" dirty="0">
                <a:latin typeface="Times New Roman" panose="02020603050405020304" pitchFamily="18" charset="0"/>
                <a:cs typeface="Times New Roman" panose="02020603050405020304" pitchFamily="18" charset="0"/>
              </a:rPr>
              <a:t>necessary preconditions</a:t>
            </a:r>
            <a:r>
              <a:rPr lang="en-US" sz="2800" dirty="0">
                <a:latin typeface="Times New Roman" panose="02020603050405020304" pitchFamily="18" charset="0"/>
                <a:cs typeface="Times New Roman" panose="02020603050405020304" pitchFamily="18" charset="0"/>
              </a:rPr>
              <a:t> </a:t>
            </a:r>
          </a:p>
          <a:p>
            <a:pPr marL="1885950" lvl="3" indent="-514350">
              <a:buFont typeface="+mj-lt"/>
              <a:buAutoNum type="arabicPeriod"/>
            </a:pPr>
            <a:r>
              <a:rPr lang="en-US" sz="2800" dirty="0">
                <a:latin typeface="Times New Roman" panose="02020603050405020304" pitchFamily="18" charset="0"/>
                <a:cs typeface="Times New Roman" panose="02020603050405020304" pitchFamily="18" charset="0"/>
              </a:rPr>
              <a:t>situations involving an </a:t>
            </a:r>
            <a:r>
              <a:rPr lang="en-US" sz="2800" u="sng" dirty="0">
                <a:latin typeface="Times New Roman" panose="02020603050405020304" pitchFamily="18" charset="0"/>
                <a:cs typeface="Times New Roman" panose="02020603050405020304" pitchFamily="18" charset="0"/>
              </a:rPr>
              <a:t>intervening even</a:t>
            </a:r>
            <a:r>
              <a:rPr lang="en-US" sz="2800" dirty="0">
                <a:latin typeface="Times New Roman" panose="02020603050405020304" pitchFamily="18" charset="0"/>
                <a:cs typeface="Times New Roman" panose="02020603050405020304" pitchFamily="18" charset="0"/>
              </a:rPr>
              <a:t>t </a:t>
            </a:r>
            <a:r>
              <a:rPr lang="en-US" sz="2800" dirty="0">
                <a:solidFill>
                  <a:schemeClr val="accent1"/>
                </a:solidFill>
                <a:latin typeface="Times New Roman" panose="02020603050405020304" pitchFamily="18" charset="0"/>
                <a:cs typeface="Times New Roman" panose="02020603050405020304" pitchFamily="18" charset="0"/>
              </a:rPr>
              <a:t>(more on this next week….) </a:t>
            </a:r>
          </a:p>
          <a:p>
            <a:pPr marL="1885950" lvl="3" indent="-514350">
              <a:buFont typeface="+mj-lt"/>
              <a:buAutoNum type="arabicPeriod"/>
            </a:pPr>
            <a:r>
              <a:rPr lang="en-US" sz="2800" dirty="0">
                <a:latin typeface="Times New Roman" panose="02020603050405020304" pitchFamily="18" charset="0"/>
                <a:cs typeface="Times New Roman" panose="02020603050405020304" pitchFamily="18" charset="0"/>
              </a:rPr>
              <a:t>situations involving </a:t>
            </a:r>
            <a:r>
              <a:rPr lang="en-US" sz="2800" u="sng" dirty="0">
                <a:latin typeface="Times New Roman" panose="02020603050405020304" pitchFamily="18" charset="0"/>
                <a:cs typeface="Times New Roman" panose="02020603050405020304" pitchFamily="18" charset="0"/>
              </a:rPr>
              <a:t>multiple sufficient causes </a:t>
            </a:r>
          </a:p>
          <a:p>
            <a:pPr marL="1371600" lvl="3" indent="0">
              <a:buNone/>
            </a:pPr>
            <a:endParaRPr lang="en-US" sz="3000" u="sng"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290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US" sz="2800" u="sng" dirty="0">
                <a:solidFill>
                  <a:srgbClr val="008000"/>
                </a:solidFill>
                <a:latin typeface="Times New Roman" panose="02020603050405020304" pitchFamily="18" charset="0"/>
                <a:cs typeface="Times New Roman" panose="02020603050405020304" pitchFamily="18" charset="0"/>
              </a:rPr>
              <a:t>Multiple sufficient causes </a:t>
            </a:r>
          </a:p>
          <a:p>
            <a:pPr marL="0" indent="0">
              <a:buNone/>
            </a:pPr>
            <a:endParaRPr lang="en-US" sz="10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The “but for” test does not work where two or more events, each of which is sufficient to cause the harm, exist </a:t>
            </a: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As the Negligence Review Panel made no recommendations on how to deal with such a situation, common law principles continue to apply </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9216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Courts have adopted different approaches: </a:t>
            </a:r>
          </a:p>
          <a:p>
            <a:pPr>
              <a:buFont typeface="Courier New" panose="02070309020205020404" pitchFamily="49" charset="0"/>
              <a:buChar char="o"/>
            </a:pPr>
            <a:endParaRPr lang="en-US" sz="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 </a:t>
            </a:r>
            <a:r>
              <a:rPr lang="en-US" sz="2800" i="1" dirty="0">
                <a:solidFill>
                  <a:srgbClr val="0070C0"/>
                </a:solidFill>
                <a:latin typeface="Times New Roman" panose="02020603050405020304" pitchFamily="18" charset="0"/>
                <a:cs typeface="Times New Roman" panose="02020603050405020304" pitchFamily="18" charset="0"/>
              </a:rPr>
              <a:t>Cook v Lewis </a:t>
            </a:r>
            <a:r>
              <a:rPr lang="en-US" sz="2800" dirty="0">
                <a:solidFill>
                  <a:srgbClr val="0070C0"/>
                </a:solidFill>
                <a:latin typeface="Times New Roman" panose="02020603050405020304" pitchFamily="18" charset="0"/>
                <a:cs typeface="Times New Roman" panose="02020603050405020304" pitchFamily="18" charset="0"/>
              </a:rPr>
              <a:t>(1961) </a:t>
            </a:r>
            <a:r>
              <a:rPr lang="en-US" sz="2800" dirty="0">
                <a:solidFill>
                  <a:srgbClr val="7030A0"/>
                </a:solidFill>
                <a:latin typeface="Times New Roman" panose="02020603050405020304" pitchFamily="18" charset="0"/>
                <a:cs typeface="Times New Roman" panose="02020603050405020304" pitchFamily="18" charset="0"/>
              </a:rPr>
              <a:t>(accidental shooting while hunting) </a:t>
            </a:r>
            <a:r>
              <a:rPr lang="en-US" sz="2800" dirty="0">
                <a:latin typeface="Times New Roman" panose="02020603050405020304" pitchFamily="18" charset="0"/>
                <a:cs typeface="Times New Roman" panose="02020603050405020304" pitchFamily="18" charset="0"/>
              </a:rPr>
              <a:t>– the Canadian Supreme Court held </a:t>
            </a:r>
            <a:r>
              <a:rPr lang="en-US" sz="2800" b="1" dirty="0">
                <a:latin typeface="Times New Roman" panose="02020603050405020304" pitchFamily="18" charset="0"/>
                <a:cs typeface="Times New Roman" panose="02020603050405020304" pitchFamily="18" charset="0"/>
              </a:rPr>
              <a:t>both negligent defendants liable</a:t>
            </a:r>
            <a:r>
              <a:rPr lang="en-US" sz="2800" dirty="0">
                <a:latin typeface="Times New Roman" panose="02020603050405020304" pitchFamily="18" charset="0"/>
                <a:cs typeface="Times New Roman" panose="02020603050405020304" pitchFamily="18" charset="0"/>
              </a:rPr>
              <a:t> as the jury had been unable to decide which gun had fired the single bullet that struck the plaintiff   </a:t>
            </a:r>
          </a:p>
          <a:p>
            <a:pPr lvl="2">
              <a:buFont typeface="Wingdings" panose="05000000000000000000" pitchFamily="2" charset="2"/>
              <a:buChar char="q"/>
            </a:pPr>
            <a:endParaRPr lang="en-US" sz="280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market share liability </a:t>
            </a:r>
            <a:r>
              <a:rPr lang="en-US" sz="2800" dirty="0">
                <a:latin typeface="Times New Roman" panose="02020603050405020304" pitchFamily="18" charset="0"/>
                <a:cs typeface="Times New Roman" panose="02020603050405020304" pitchFamily="18" charset="0"/>
              </a:rPr>
              <a:t>is another solution in cases with multiple defendants being potentially negligent – defendants pay a portion of compensation in alignment with their market share </a:t>
            </a:r>
          </a:p>
        </p:txBody>
      </p:sp>
    </p:spTree>
    <p:extLst>
      <p:ext uri="{BB962C8B-B14F-4D97-AF65-F5344CB8AC3E}">
        <p14:creationId xmlns:p14="http://schemas.microsoft.com/office/powerpoint/2010/main" val="2900401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779C9-9067-C0E7-6CE0-21589B7C1A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AC4FA1-B03F-74B5-C2A3-56C8C0A9792F}"/>
              </a:ext>
            </a:extLst>
          </p:cNvPr>
          <p:cNvSpPr>
            <a:spLocks noGrp="1"/>
          </p:cNvSpPr>
          <p:nvPr>
            <p:ph idx="1"/>
          </p:nvPr>
        </p:nvSpPr>
        <p:spPr>
          <a:xfrm>
            <a:off x="720000" y="1508426"/>
            <a:ext cx="10800001" cy="5074936"/>
          </a:xfrm>
        </p:spPr>
        <p:txBody>
          <a:bodyPr>
            <a:noAutofit/>
          </a:bodyPr>
          <a:lstStyle/>
          <a:p>
            <a:pPr marL="0" indent="0">
              <a:buNone/>
            </a:pPr>
            <a:r>
              <a:rPr lang="en-US" sz="2800" i="1" u="sng" dirty="0">
                <a:solidFill>
                  <a:srgbClr val="008000"/>
                </a:solidFill>
                <a:latin typeface="Times New Roman" panose="02020603050405020304" pitchFamily="18" charset="0"/>
                <a:cs typeface="Times New Roman" panose="02020603050405020304" pitchFamily="18" charset="0"/>
              </a:rPr>
              <a:t>Loss of a chance of a better medical outcome </a:t>
            </a:r>
          </a:p>
          <a:p>
            <a:r>
              <a:rPr lang="en-US" sz="2800" i="1" dirty="0">
                <a:latin typeface="Times New Roman" panose="02020603050405020304" pitchFamily="18" charset="0"/>
                <a:cs typeface="Times New Roman" panose="02020603050405020304" pitchFamily="18" charset="0"/>
              </a:rPr>
              <a:t>Tabet v </a:t>
            </a:r>
            <a:r>
              <a:rPr lang="en-US" sz="2800" i="1" dirty="0" err="1">
                <a:latin typeface="Times New Roman" panose="02020603050405020304" pitchFamily="18" charset="0"/>
                <a:cs typeface="Times New Roman" panose="02020603050405020304" pitchFamily="18" charset="0"/>
              </a:rPr>
              <a:t>Gett</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(2010) 240 CLR 537 (A six-year-old child, Tabet, suffered permanent brain damage after a delay in performing a CT scan during hospital treatment. The plaintiff alleged that the defendant doctor’s negligence deprived her of a chance of a better medical outcome)</a:t>
            </a:r>
          </a:p>
          <a:p>
            <a:pPr marL="0" indent="0">
              <a:buNone/>
            </a:pP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Key issue: should the Court [25].. ‘permit recovery for physical injury not shown to be caused or contributed to by a negligent party, but which negligence has deprived the victim of the </a:t>
            </a:r>
            <a:r>
              <a:rPr lang="en-US" sz="2800" dirty="0">
                <a:solidFill>
                  <a:schemeClr val="accent1"/>
                </a:solidFill>
                <a:latin typeface="Times New Roman" panose="02020603050405020304" pitchFamily="18" charset="0"/>
                <a:cs typeface="Times New Roman" panose="02020603050405020304" pitchFamily="18" charset="0"/>
              </a:rPr>
              <a:t>possibility</a:t>
            </a:r>
            <a:r>
              <a:rPr lang="en-US" sz="2800" dirty="0">
                <a:latin typeface="Times New Roman" panose="02020603050405020304" pitchFamily="18" charset="0"/>
                <a:cs typeface="Times New Roman" panose="02020603050405020304" pitchFamily="18" charset="0"/>
              </a:rPr>
              <a:t> (but not the </a:t>
            </a:r>
            <a:r>
              <a:rPr lang="en-US" sz="2800" dirty="0">
                <a:solidFill>
                  <a:schemeClr val="accent1"/>
                </a:solidFill>
                <a:latin typeface="Times New Roman" panose="02020603050405020304" pitchFamily="18" charset="0"/>
                <a:cs typeface="Times New Roman" panose="02020603050405020304" pitchFamily="18" charset="0"/>
              </a:rPr>
              <a:t>probability</a:t>
            </a:r>
            <a:r>
              <a:rPr lang="en-US" sz="2800" dirty="0">
                <a:latin typeface="Times New Roman" panose="02020603050405020304" pitchFamily="18" charset="0"/>
                <a:cs typeface="Times New Roman" panose="02020603050405020304" pitchFamily="18" charset="0"/>
              </a:rPr>
              <a:t>) of a better outcome’? </a:t>
            </a:r>
            <a:r>
              <a:rPr lang="en-US" sz="2800" dirty="0">
                <a:solidFill>
                  <a:schemeClr val="accent1"/>
                </a:solidFill>
                <a:latin typeface="Times New Roman" panose="02020603050405020304" pitchFamily="18" charset="0"/>
                <a:cs typeface="Times New Roman" panose="02020603050405020304" pitchFamily="18" charset="0"/>
              </a:rPr>
              <a:t>The chance of a better outcome was less than 50%. </a:t>
            </a:r>
            <a:r>
              <a:rPr lang="en-US" sz="2800" dirty="0">
                <a:latin typeface="Times New Roman" panose="02020603050405020304" pitchFamily="18" charset="0"/>
                <a:cs typeface="Times New Roman" panose="02020603050405020304" pitchFamily="18" charset="0"/>
              </a:rPr>
              <a:t>The better outcome was only possible not probable</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8590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1B4B7-8B23-C566-8E3A-4D87061BD2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2068EC-5FA5-73C4-5990-92E28806F3C9}"/>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Gummow ACJ: </a:t>
            </a:r>
          </a:p>
          <a:p>
            <a:r>
              <a:rPr lang="en-US" sz="2800" dirty="0">
                <a:latin typeface="Times New Roman" panose="02020603050405020304" pitchFamily="18" charset="0"/>
                <a:cs typeface="Times New Roman" panose="02020603050405020304" pitchFamily="18" charset="0"/>
              </a:rPr>
              <a:t>[46]…in personal injury cases the law of negligence as understood in the common law of Australia does not entertain an action for recovery when the damage, for which compensation is awarded consequent upon breach of duty, is </a:t>
            </a:r>
            <a:r>
              <a:rPr lang="en-US" sz="2800" dirty="0" err="1">
                <a:latin typeface="Times New Roman" panose="02020603050405020304" pitchFamily="18" charset="0"/>
                <a:cs typeface="Times New Roman" panose="02020603050405020304" pitchFamily="18" charset="0"/>
              </a:rPr>
              <a:t>characterised</a:t>
            </a:r>
            <a:r>
              <a:rPr lang="en-US" sz="2800" dirty="0">
                <a:latin typeface="Times New Roman" panose="02020603050405020304" pitchFamily="18" charset="0"/>
                <a:cs typeface="Times New Roman" panose="02020603050405020304" pitchFamily="18" charset="0"/>
              </a:rPr>
              <a:t> as the loss of a chance of a better outcome…</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[27] …This outcome will not require acceptance in absolute terms of a general proposition that destruction of the chance of obtaining a benefit or avoiding a harm can never be regarded as supplying that damage which is the gist of an action in negligence.</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7821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BE68F-0EB6-EA05-A171-9D1C6D9A31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D3BF21-2195-A55F-184B-8219E5D72AD6}"/>
              </a:ext>
            </a:extLst>
          </p:cNvPr>
          <p:cNvSpPr>
            <a:spLocks noGrp="1"/>
          </p:cNvSpPr>
          <p:nvPr>
            <p:ph idx="1"/>
          </p:nvPr>
        </p:nvSpPr>
        <p:spPr>
          <a:xfrm>
            <a:off x="720000" y="1508426"/>
            <a:ext cx="10800001" cy="5074936"/>
          </a:xfrm>
        </p:spPr>
        <p:txBody>
          <a:bodyPr>
            <a:noAutofit/>
          </a:bodyPr>
          <a:lstStyle/>
          <a:p>
            <a:pPr lvl="0"/>
            <a:r>
              <a:rPr lang="en-AU" sz="2400" dirty="0">
                <a:latin typeface="Times New Roman" panose="02020603050405020304" pitchFamily="18" charset="0"/>
                <a:cs typeface="Times New Roman" panose="02020603050405020304" pitchFamily="18" charset="0"/>
              </a:rPr>
              <a:t>Proving causation is difficult in dust disease cases, where the science can’t say which exposure caused the disease</a:t>
            </a:r>
          </a:p>
          <a:p>
            <a:pPr lvl="0"/>
            <a:r>
              <a:rPr lang="en-AU" sz="2400" dirty="0">
                <a:latin typeface="Times New Roman" panose="02020603050405020304" pitchFamily="18" charset="0"/>
                <a:cs typeface="Times New Roman" panose="02020603050405020304" pitchFamily="18" charset="0"/>
              </a:rPr>
              <a:t>Key question: is increasing the risk of harm enough, or must the defendant’s conduct have contributed to the harm?</a:t>
            </a:r>
          </a:p>
          <a:p>
            <a:pPr lvl="0"/>
            <a:r>
              <a:rPr lang="en-AU" sz="2400" b="1" dirty="0">
                <a:latin typeface="Times New Roman" panose="02020603050405020304" pitchFamily="18" charset="0"/>
                <a:cs typeface="Times New Roman" panose="02020603050405020304" pitchFamily="18" charset="0"/>
              </a:rPr>
              <a:t>Increased risk of harm</a:t>
            </a:r>
            <a:endParaRPr lang="en-AU" sz="2400" dirty="0">
              <a:latin typeface="Times New Roman" panose="02020603050405020304" pitchFamily="18" charset="0"/>
              <a:cs typeface="Times New Roman" panose="02020603050405020304" pitchFamily="18" charset="0"/>
            </a:endParaRPr>
          </a:p>
          <a:p>
            <a:pPr lvl="1"/>
            <a:r>
              <a:rPr lang="en-AU" sz="2400" dirty="0">
                <a:latin typeface="Times New Roman" panose="02020603050405020304" pitchFamily="18" charset="0"/>
                <a:cs typeface="Times New Roman" panose="02020603050405020304" pitchFamily="18" charset="0"/>
              </a:rPr>
              <a:t>Probabilistic: the conduct made harm </a:t>
            </a:r>
            <a:r>
              <a:rPr lang="en-AU" sz="2400" i="1" dirty="0">
                <a:latin typeface="Times New Roman" panose="02020603050405020304" pitchFamily="18" charset="0"/>
                <a:cs typeface="Times New Roman" panose="02020603050405020304" pitchFamily="18" charset="0"/>
              </a:rPr>
              <a:t>more likely</a:t>
            </a:r>
            <a:endParaRPr lang="en-AU" sz="2400" dirty="0">
              <a:latin typeface="Times New Roman" panose="02020603050405020304" pitchFamily="18" charset="0"/>
              <a:cs typeface="Times New Roman" panose="02020603050405020304" pitchFamily="18" charset="0"/>
            </a:endParaRPr>
          </a:p>
          <a:p>
            <a:pPr lvl="1"/>
            <a:r>
              <a:rPr lang="en-AU" sz="2400" dirty="0">
                <a:latin typeface="Times New Roman" panose="02020603050405020304" pitchFamily="18" charset="0"/>
                <a:cs typeface="Times New Roman" panose="02020603050405020304" pitchFamily="18" charset="0"/>
              </a:rPr>
              <a:t>Looks forward, before the harm occurs</a:t>
            </a:r>
          </a:p>
          <a:p>
            <a:pPr lvl="1"/>
            <a:r>
              <a:rPr lang="en-AU" sz="2400" dirty="0">
                <a:latin typeface="Times New Roman" panose="02020603050405020304" pitchFamily="18" charset="0"/>
                <a:cs typeface="Times New Roman" panose="02020603050405020304" pitchFamily="18" charset="0"/>
              </a:rPr>
              <a:t>Says nothing about what actually happened to </a:t>
            </a:r>
            <a:r>
              <a:rPr lang="en-AU" sz="2400" i="1" dirty="0">
                <a:latin typeface="Times New Roman" panose="02020603050405020304" pitchFamily="18" charset="0"/>
                <a:cs typeface="Times New Roman" panose="02020603050405020304" pitchFamily="18" charset="0"/>
              </a:rPr>
              <a:t>this</a:t>
            </a:r>
            <a:r>
              <a:rPr lang="en-AU" sz="2400" dirty="0">
                <a:latin typeface="Times New Roman" panose="02020603050405020304" pitchFamily="18" charset="0"/>
                <a:cs typeface="Times New Roman" panose="02020603050405020304" pitchFamily="18" charset="0"/>
              </a:rPr>
              <a:t> claimant</a:t>
            </a:r>
          </a:p>
          <a:p>
            <a:pPr lvl="0"/>
            <a:r>
              <a:rPr lang="en-AU" sz="2400" b="1" dirty="0">
                <a:latin typeface="Times New Roman" panose="02020603050405020304" pitchFamily="18" charset="0"/>
                <a:cs typeface="Times New Roman" panose="02020603050405020304" pitchFamily="18" charset="0"/>
              </a:rPr>
              <a:t>Material contribution to harm</a:t>
            </a:r>
            <a:endParaRPr lang="en-AU" sz="2400" dirty="0">
              <a:latin typeface="Times New Roman" panose="02020603050405020304" pitchFamily="18" charset="0"/>
              <a:cs typeface="Times New Roman" panose="02020603050405020304" pitchFamily="18" charset="0"/>
            </a:endParaRPr>
          </a:p>
          <a:p>
            <a:pPr lvl="1"/>
            <a:r>
              <a:rPr lang="en-AU" sz="2400" dirty="0">
                <a:latin typeface="Times New Roman" panose="02020603050405020304" pitchFamily="18" charset="0"/>
                <a:cs typeface="Times New Roman" panose="02020603050405020304" pitchFamily="18" charset="0"/>
              </a:rPr>
              <a:t>Causal: the conduct was </a:t>
            </a:r>
            <a:r>
              <a:rPr lang="en-AU" sz="2400" i="1" dirty="0">
                <a:latin typeface="Times New Roman" panose="02020603050405020304" pitchFamily="18" charset="0"/>
                <a:cs typeface="Times New Roman" panose="02020603050405020304" pitchFamily="18" charset="0"/>
              </a:rPr>
              <a:t>part of how the harm came about</a:t>
            </a:r>
            <a:endParaRPr lang="en-AU" sz="2400" dirty="0">
              <a:latin typeface="Times New Roman" panose="02020603050405020304" pitchFamily="18" charset="0"/>
              <a:cs typeface="Times New Roman" panose="02020603050405020304" pitchFamily="18" charset="0"/>
            </a:endParaRPr>
          </a:p>
          <a:p>
            <a:pPr lvl="1"/>
            <a:r>
              <a:rPr lang="en-AU" sz="2400" dirty="0">
                <a:latin typeface="Times New Roman" panose="02020603050405020304" pitchFamily="18" charset="0"/>
                <a:cs typeface="Times New Roman" panose="02020603050405020304" pitchFamily="18" charset="0"/>
              </a:rPr>
              <a:t>Looks back, after the harm has occurred</a:t>
            </a:r>
          </a:p>
          <a:p>
            <a:pPr lvl="1"/>
            <a:r>
              <a:rPr lang="en-AU" sz="2400" dirty="0">
                <a:latin typeface="Times New Roman" panose="02020603050405020304" pitchFamily="18" charset="0"/>
                <a:cs typeface="Times New Roman" panose="02020603050405020304" pitchFamily="18" charset="0"/>
              </a:rPr>
              <a:t>Must be more than negligible</a:t>
            </a:r>
          </a:p>
          <a:p>
            <a:endParaRPr lang="en-US" sz="2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D51B6EF-5AC7-08EB-9B72-8C8B964C11DF}"/>
              </a:ext>
            </a:extLst>
          </p:cNvPr>
          <p:cNvSpPr txBox="1"/>
          <p:nvPr/>
        </p:nvSpPr>
        <p:spPr>
          <a:xfrm>
            <a:off x="489857" y="391885"/>
            <a:ext cx="6727371" cy="584775"/>
          </a:xfrm>
          <a:prstGeom prst="rect">
            <a:avLst/>
          </a:prstGeom>
          <a:noFill/>
        </p:spPr>
        <p:txBody>
          <a:bodyPr wrap="square" rtlCol="0">
            <a:spAutoFit/>
          </a:bodyPr>
          <a:lstStyle/>
          <a:p>
            <a:r>
              <a:rPr lang="en-US" sz="3200" i="1" dirty="0">
                <a:solidFill>
                  <a:schemeClr val="accent1"/>
                </a:solidFill>
              </a:rPr>
              <a:t>Dust disease cases </a:t>
            </a:r>
          </a:p>
        </p:txBody>
      </p:sp>
    </p:spTree>
    <p:extLst>
      <p:ext uri="{BB962C8B-B14F-4D97-AF65-F5344CB8AC3E}">
        <p14:creationId xmlns:p14="http://schemas.microsoft.com/office/powerpoint/2010/main" val="4183750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036F9-3988-2B41-BC9C-E59B6C998C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7164C9-773B-E02C-12DE-7088F0470961}"/>
              </a:ext>
            </a:extLst>
          </p:cNvPr>
          <p:cNvSpPr>
            <a:spLocks noGrp="1"/>
          </p:cNvSpPr>
          <p:nvPr>
            <p:ph idx="1"/>
          </p:nvPr>
        </p:nvSpPr>
        <p:spPr>
          <a:xfrm>
            <a:off x="720000" y="1508426"/>
            <a:ext cx="10800001" cy="5074936"/>
          </a:xfrm>
        </p:spPr>
        <p:txBody>
          <a:bodyPr>
            <a:noAutofit/>
          </a:bodyPr>
          <a:lstStyle/>
          <a:p>
            <a:pPr marL="0" indent="0">
              <a:buNone/>
            </a:pPr>
            <a:r>
              <a:rPr lang="en-AU" sz="3200" b="1" dirty="0">
                <a:latin typeface="Times New Roman" panose="02020603050405020304" pitchFamily="18" charset="0"/>
                <a:cs typeface="Times New Roman" panose="02020603050405020304" pitchFamily="18" charset="0"/>
              </a:rPr>
              <a:t>Material contribution (</a:t>
            </a:r>
            <a:r>
              <a:rPr lang="en-AU" sz="3200" b="1" i="1" dirty="0">
                <a:latin typeface="Times New Roman" panose="02020603050405020304" pitchFamily="18" charset="0"/>
                <a:cs typeface="Times New Roman" panose="02020603050405020304" pitchFamily="18" charset="0"/>
              </a:rPr>
              <a:t>Bonnington Castings v Wardlaw</a:t>
            </a:r>
            <a:r>
              <a:rPr lang="en-AU" sz="3200" b="1" dirty="0">
                <a:latin typeface="Times New Roman" panose="02020603050405020304" pitchFamily="18" charset="0"/>
                <a:cs typeface="Times New Roman" panose="02020603050405020304" pitchFamily="18" charset="0"/>
              </a:rPr>
              <a:t> [1956] AC 613)</a:t>
            </a:r>
            <a:endParaRPr lang="en-AU" sz="3200" dirty="0">
              <a:latin typeface="Times New Roman" panose="02020603050405020304" pitchFamily="18" charset="0"/>
              <a:cs typeface="Times New Roman" panose="02020603050405020304" pitchFamily="18" charset="0"/>
            </a:endParaRPr>
          </a:p>
          <a:p>
            <a:pPr lvl="0"/>
            <a:r>
              <a:rPr lang="en-AU" sz="3200" dirty="0">
                <a:latin typeface="Times New Roman" panose="02020603050405020304" pitchFamily="18" charset="0"/>
                <a:cs typeface="Times New Roman" panose="02020603050405020304" pitchFamily="18" charset="0"/>
              </a:rPr>
              <a:t>Claimant contracted pneumoconiosis from cumulative inhalation of silica dust</a:t>
            </a:r>
          </a:p>
          <a:p>
            <a:pPr lvl="0"/>
            <a:r>
              <a:rPr lang="en-AU" sz="3200" dirty="0">
                <a:latin typeface="Times New Roman" panose="02020603050405020304" pitchFamily="18" charset="0"/>
                <a:cs typeface="Times New Roman" panose="02020603050405020304" pitchFamily="18" charset="0"/>
              </a:rPr>
              <a:t>Only part of the dust came from the employer’s negligence</a:t>
            </a:r>
          </a:p>
          <a:p>
            <a:pPr lvl="0"/>
            <a:r>
              <a:rPr lang="en-AU" sz="3200" dirty="0">
                <a:latin typeface="Times New Roman" panose="02020603050405020304" pitchFamily="18" charset="0"/>
                <a:cs typeface="Times New Roman" panose="02020603050405020304" pitchFamily="18" charset="0"/>
              </a:rPr>
              <a:t>Held: it was enough that the negligent exposure made a contribution that was more than </a:t>
            </a:r>
            <a:r>
              <a:rPr lang="en-AU" sz="3200" i="1" dirty="0">
                <a:latin typeface="Times New Roman" panose="02020603050405020304" pitchFamily="18" charset="0"/>
                <a:cs typeface="Times New Roman" panose="02020603050405020304" pitchFamily="18" charset="0"/>
              </a:rPr>
              <a:t>de minimis </a:t>
            </a:r>
            <a:r>
              <a:rPr lang="en-AU" sz="3200" dirty="0">
                <a:latin typeface="Times New Roman" panose="02020603050405020304" pitchFamily="18" charset="0"/>
                <a:cs typeface="Times New Roman" panose="02020603050405020304" pitchFamily="18" charset="0"/>
              </a:rPr>
              <a:t>(or negligible)</a:t>
            </a:r>
          </a:p>
          <a:p>
            <a:pPr lvl="0"/>
            <a:r>
              <a:rPr lang="en-AU" sz="3200" dirty="0">
                <a:latin typeface="Times New Roman" panose="02020603050405020304" pitchFamily="18" charset="0"/>
                <a:cs typeface="Times New Roman" panose="02020603050405020304" pitchFamily="18" charset="0"/>
              </a:rPr>
              <a:t>The claimant need not show it was the sole or main cause</a:t>
            </a:r>
          </a:p>
          <a:p>
            <a:endParaRPr lang="en-US" sz="2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C66663C-3CA9-6B21-A482-41528F90D6BD}"/>
              </a:ext>
            </a:extLst>
          </p:cNvPr>
          <p:cNvSpPr txBox="1"/>
          <p:nvPr/>
        </p:nvSpPr>
        <p:spPr>
          <a:xfrm>
            <a:off x="489857" y="391885"/>
            <a:ext cx="6727371" cy="584775"/>
          </a:xfrm>
          <a:prstGeom prst="rect">
            <a:avLst/>
          </a:prstGeom>
          <a:noFill/>
        </p:spPr>
        <p:txBody>
          <a:bodyPr wrap="square" rtlCol="0">
            <a:spAutoFit/>
          </a:bodyPr>
          <a:lstStyle/>
          <a:p>
            <a:r>
              <a:rPr lang="en-US" sz="3200" i="1" dirty="0">
                <a:solidFill>
                  <a:schemeClr val="accent1"/>
                </a:solidFill>
              </a:rPr>
              <a:t>Dust disease cases </a:t>
            </a:r>
          </a:p>
        </p:txBody>
      </p:sp>
    </p:spTree>
    <p:extLst>
      <p:ext uri="{BB962C8B-B14F-4D97-AF65-F5344CB8AC3E}">
        <p14:creationId xmlns:p14="http://schemas.microsoft.com/office/powerpoint/2010/main" val="2241943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56EC6-63A7-CAB2-DF40-CA9F21FF23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96E0D4-7869-15A9-0F78-FEE040F0DEED}"/>
              </a:ext>
            </a:extLst>
          </p:cNvPr>
          <p:cNvSpPr>
            <a:spLocks noGrp="1"/>
          </p:cNvSpPr>
          <p:nvPr>
            <p:ph idx="1"/>
          </p:nvPr>
        </p:nvSpPr>
        <p:spPr>
          <a:xfrm>
            <a:off x="720000" y="1508426"/>
            <a:ext cx="10800001" cy="5074936"/>
          </a:xfrm>
        </p:spPr>
        <p:txBody>
          <a:bodyPr>
            <a:noAutofit/>
          </a:bodyPr>
          <a:lstStyle/>
          <a:p>
            <a:pPr marL="0" indent="0">
              <a:buNone/>
            </a:pPr>
            <a:r>
              <a:rPr lang="en-AU" sz="3200" b="1" dirty="0">
                <a:latin typeface="Times New Roman" panose="02020603050405020304" pitchFamily="18" charset="0"/>
                <a:cs typeface="Times New Roman" panose="02020603050405020304" pitchFamily="18" charset="0"/>
              </a:rPr>
              <a:t>Risk alone is not enough (</a:t>
            </a:r>
            <a:r>
              <a:rPr lang="en-AU" sz="3200" b="1" i="1" dirty="0" err="1">
                <a:latin typeface="Times New Roman" panose="02020603050405020304" pitchFamily="18" charset="0"/>
                <a:cs typeface="Times New Roman" panose="02020603050405020304" pitchFamily="18" charset="0"/>
              </a:rPr>
              <a:t>Amaca</a:t>
            </a:r>
            <a:r>
              <a:rPr lang="en-AU" sz="3200" b="1" i="1" dirty="0">
                <a:latin typeface="Times New Roman" panose="02020603050405020304" pitchFamily="18" charset="0"/>
                <a:cs typeface="Times New Roman" panose="02020603050405020304" pitchFamily="18" charset="0"/>
              </a:rPr>
              <a:t> v Ellis</a:t>
            </a:r>
            <a:r>
              <a:rPr lang="en-AU" sz="3200" b="1" dirty="0">
                <a:latin typeface="Times New Roman" panose="02020603050405020304" pitchFamily="18" charset="0"/>
                <a:cs typeface="Times New Roman" panose="02020603050405020304" pitchFamily="18" charset="0"/>
              </a:rPr>
              <a:t> (2010) 240 CLR 111)</a:t>
            </a:r>
            <a:endParaRPr lang="en-AU" sz="3200" dirty="0">
              <a:latin typeface="Times New Roman" panose="02020603050405020304" pitchFamily="18" charset="0"/>
              <a:cs typeface="Times New Roman" panose="02020603050405020304" pitchFamily="18" charset="0"/>
            </a:endParaRPr>
          </a:p>
          <a:p>
            <a:pPr lvl="0"/>
            <a:r>
              <a:rPr lang="en-AU" sz="3200" dirty="0">
                <a:latin typeface="Times New Roman" panose="02020603050405020304" pitchFamily="18" charset="0"/>
                <a:cs typeface="Times New Roman" panose="02020603050405020304" pitchFamily="18" charset="0"/>
              </a:rPr>
              <a:t>Claimant developed lung cancer; he had been exposed to asbestos and had also smoked</a:t>
            </a:r>
          </a:p>
          <a:p>
            <a:pPr lvl="0"/>
            <a:r>
              <a:rPr lang="en-AU" sz="3200" dirty="0">
                <a:latin typeface="Times New Roman" panose="02020603050405020304" pitchFamily="18" charset="0"/>
                <a:cs typeface="Times New Roman" panose="02020603050405020304" pitchFamily="18" charset="0"/>
              </a:rPr>
              <a:t>High Court: showing that exposure </a:t>
            </a:r>
            <a:r>
              <a:rPr lang="en-AU" sz="3200" i="1" dirty="0">
                <a:latin typeface="Times New Roman" panose="02020603050405020304" pitchFamily="18" charset="0"/>
                <a:cs typeface="Times New Roman" panose="02020603050405020304" pitchFamily="18" charset="0"/>
              </a:rPr>
              <a:t>increased the risk</a:t>
            </a:r>
            <a:r>
              <a:rPr lang="en-AU" sz="3200" dirty="0">
                <a:latin typeface="Times New Roman" panose="02020603050405020304" pitchFamily="18" charset="0"/>
                <a:cs typeface="Times New Roman" panose="02020603050405020304" pitchFamily="18" charset="0"/>
              </a:rPr>
              <a:t> is not sufficient</a:t>
            </a:r>
          </a:p>
          <a:p>
            <a:pPr lvl="0"/>
            <a:r>
              <a:rPr lang="en-AU" sz="3200" dirty="0">
                <a:latin typeface="Times New Roman" panose="02020603050405020304" pitchFamily="18" charset="0"/>
                <a:cs typeface="Times New Roman" panose="02020603050405020304" pitchFamily="18" charset="0"/>
              </a:rPr>
              <a:t>The claimant must prove, on the balance of probabilities, that the exposure actually contributed to the cancer</a:t>
            </a:r>
          </a:p>
          <a:p>
            <a:pPr lvl="0"/>
            <a:r>
              <a:rPr lang="en-AU" sz="3200" dirty="0">
                <a:latin typeface="Times New Roman" panose="02020603050405020304" pitchFamily="18" charset="0"/>
                <a:cs typeface="Times New Roman" panose="02020603050405020304" pitchFamily="18" charset="0"/>
              </a:rPr>
              <a:t>Evidence in the case could not establish this</a:t>
            </a:r>
          </a:p>
          <a:p>
            <a:endParaRPr lang="en-US" sz="2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1EBC3BA-916A-C0C0-B183-14D5ABDD9712}"/>
              </a:ext>
            </a:extLst>
          </p:cNvPr>
          <p:cNvSpPr txBox="1"/>
          <p:nvPr/>
        </p:nvSpPr>
        <p:spPr>
          <a:xfrm>
            <a:off x="489857" y="391885"/>
            <a:ext cx="6727371" cy="584775"/>
          </a:xfrm>
          <a:prstGeom prst="rect">
            <a:avLst/>
          </a:prstGeom>
          <a:noFill/>
        </p:spPr>
        <p:txBody>
          <a:bodyPr wrap="square" rtlCol="0">
            <a:spAutoFit/>
          </a:bodyPr>
          <a:lstStyle/>
          <a:p>
            <a:r>
              <a:rPr lang="en-US" sz="3200" i="1" dirty="0">
                <a:solidFill>
                  <a:schemeClr val="accent1"/>
                </a:solidFill>
              </a:rPr>
              <a:t>Dust disease cases </a:t>
            </a:r>
          </a:p>
        </p:txBody>
      </p:sp>
    </p:spTree>
    <p:extLst>
      <p:ext uri="{BB962C8B-B14F-4D97-AF65-F5344CB8AC3E}">
        <p14:creationId xmlns:p14="http://schemas.microsoft.com/office/powerpoint/2010/main" val="3093669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64E27-B599-C685-F005-03C604977E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EEDBEB-8E3C-CB71-50F8-347D8CF07302}"/>
              </a:ext>
            </a:extLst>
          </p:cNvPr>
          <p:cNvSpPr>
            <a:spLocks noGrp="1"/>
          </p:cNvSpPr>
          <p:nvPr>
            <p:ph idx="1"/>
          </p:nvPr>
        </p:nvSpPr>
        <p:spPr>
          <a:xfrm>
            <a:off x="720000" y="1508426"/>
            <a:ext cx="10800001" cy="5074936"/>
          </a:xfrm>
        </p:spPr>
        <p:txBody>
          <a:bodyPr>
            <a:noAutofit/>
          </a:bodyPr>
          <a:lstStyle/>
          <a:p>
            <a:pPr marL="0" indent="0">
              <a:buNone/>
            </a:pPr>
            <a:r>
              <a:rPr lang="en-AU" sz="2800" b="1" dirty="0">
                <a:latin typeface="Times New Roman" panose="02020603050405020304" pitchFamily="18" charset="0"/>
                <a:cs typeface="Times New Roman" panose="02020603050405020304" pitchFamily="18" charset="0"/>
              </a:rPr>
              <a:t>Contribution established (</a:t>
            </a:r>
            <a:r>
              <a:rPr lang="en-AU" sz="2800" b="1" i="1" dirty="0" err="1">
                <a:latin typeface="Times New Roman" panose="02020603050405020304" pitchFamily="18" charset="0"/>
                <a:cs typeface="Times New Roman" panose="02020603050405020304" pitchFamily="18" charset="0"/>
              </a:rPr>
              <a:t>Amaca</a:t>
            </a:r>
            <a:r>
              <a:rPr lang="en-AU" sz="2800" b="1" i="1" dirty="0">
                <a:latin typeface="Times New Roman" panose="02020603050405020304" pitchFamily="18" charset="0"/>
                <a:cs typeface="Times New Roman" panose="02020603050405020304" pitchFamily="18" charset="0"/>
              </a:rPr>
              <a:t> v Booth</a:t>
            </a:r>
            <a:r>
              <a:rPr lang="en-AU" sz="2800" b="1" dirty="0">
                <a:latin typeface="Times New Roman" panose="02020603050405020304" pitchFamily="18" charset="0"/>
                <a:cs typeface="Times New Roman" panose="02020603050405020304" pitchFamily="18" charset="0"/>
              </a:rPr>
              <a:t> (2011) 246 CLR 36)</a:t>
            </a:r>
            <a:endParaRPr lang="en-AU" sz="2800" dirty="0">
              <a:latin typeface="Times New Roman" panose="02020603050405020304" pitchFamily="18" charset="0"/>
              <a:cs typeface="Times New Roman" panose="02020603050405020304" pitchFamily="18" charset="0"/>
            </a:endParaRPr>
          </a:p>
          <a:p>
            <a:pPr lvl="0"/>
            <a:r>
              <a:rPr lang="en-AU" sz="2800" dirty="0">
                <a:latin typeface="Times New Roman" panose="02020603050405020304" pitchFamily="18" charset="0"/>
                <a:cs typeface="Times New Roman" panose="02020603050405020304" pitchFamily="18" charset="0"/>
              </a:rPr>
              <a:t>Booth had mesothelioma and 30 years of exposure to asbestos in brake linings. Tribunal drew an “overwhelming inference” of causation, and the Court of Appeal and High Court upheld it</a:t>
            </a:r>
          </a:p>
          <a:p>
            <a:pPr lvl="0"/>
            <a:r>
              <a:rPr lang="en-US" sz="2800" dirty="0">
                <a:latin typeface="Times New Roman" panose="02020603050405020304" pitchFamily="18" charset="0"/>
                <a:cs typeface="Times New Roman" panose="02020603050405020304" pitchFamily="18" charset="0"/>
              </a:rPr>
              <a:t>French CJ held that Booth’s exposure to asbestos ‘in brake linings manufactured by </a:t>
            </a:r>
            <a:r>
              <a:rPr lang="en-US" sz="2800" dirty="0" err="1">
                <a:latin typeface="Times New Roman" panose="02020603050405020304" pitchFamily="18" charset="0"/>
                <a:cs typeface="Times New Roman" panose="02020603050405020304" pitchFamily="18" charset="0"/>
              </a:rPr>
              <a:t>Amaca</a:t>
            </a:r>
            <a:r>
              <a:rPr lang="en-US" sz="2800" dirty="0">
                <a:latin typeface="Times New Roman" panose="02020603050405020304" pitchFamily="18" charset="0"/>
                <a:cs typeface="Times New Roman" panose="02020603050405020304" pitchFamily="18" charset="0"/>
              </a:rPr>
              <a:t> not only prospectively increased the risk of his contracting the disease but, in the event, casually contributed to its development and continuation’ </a:t>
            </a:r>
          </a:p>
          <a:p>
            <a:pPr lvl="0"/>
            <a:r>
              <a:rPr lang="en-US" sz="2800" dirty="0">
                <a:latin typeface="Times New Roman" panose="02020603050405020304" pitchFamily="18" charset="0"/>
                <a:cs typeface="Times New Roman" panose="02020603050405020304" pitchFamily="18" charset="0"/>
              </a:rPr>
              <a:t>A causal connection may be inferred by medical evidence and expert evidence – French CJ also referred to the ‘Bradford Hill criteria’ as circumstantial evidence of such a causal relationship between asbestos and malignant mesothelioma </a:t>
            </a:r>
          </a:p>
          <a:p>
            <a:pPr lvl="0"/>
            <a:endParaRPr lang="en-US" sz="2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1060098-04C2-1588-A03D-4E1C7CBFEDE5}"/>
              </a:ext>
            </a:extLst>
          </p:cNvPr>
          <p:cNvSpPr txBox="1"/>
          <p:nvPr/>
        </p:nvSpPr>
        <p:spPr>
          <a:xfrm>
            <a:off x="489857" y="391885"/>
            <a:ext cx="6727371" cy="584775"/>
          </a:xfrm>
          <a:prstGeom prst="rect">
            <a:avLst/>
          </a:prstGeom>
          <a:noFill/>
        </p:spPr>
        <p:txBody>
          <a:bodyPr wrap="square" rtlCol="0">
            <a:spAutoFit/>
          </a:bodyPr>
          <a:lstStyle/>
          <a:p>
            <a:r>
              <a:rPr lang="en-US" sz="3200" i="1" dirty="0">
                <a:solidFill>
                  <a:schemeClr val="accent1"/>
                </a:solidFill>
              </a:rPr>
              <a:t>Dust disease cases </a:t>
            </a:r>
          </a:p>
        </p:txBody>
      </p:sp>
    </p:spTree>
    <p:extLst>
      <p:ext uri="{BB962C8B-B14F-4D97-AF65-F5344CB8AC3E}">
        <p14:creationId xmlns:p14="http://schemas.microsoft.com/office/powerpoint/2010/main" val="3120505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A0E66-37A0-FC31-B92E-28856BC3C93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AE34BF-1B56-BCAF-FCEC-52203AD01E35}"/>
              </a:ext>
            </a:extLst>
          </p:cNvPr>
          <p:cNvSpPr>
            <a:spLocks noGrp="1"/>
          </p:cNvSpPr>
          <p:nvPr>
            <p:ph idx="1"/>
          </p:nvPr>
        </p:nvSpPr>
        <p:spPr>
          <a:xfrm>
            <a:off x="720000" y="1508426"/>
            <a:ext cx="10800001" cy="3912660"/>
          </a:xfrm>
        </p:spPr>
        <p:txBody>
          <a:bodyPr>
            <a:noAutofit/>
          </a:bodyPr>
          <a:lstStyle/>
          <a:p>
            <a:pPr marL="0" indent="0">
              <a:buNone/>
            </a:pPr>
            <a:r>
              <a:rPr lang="en-AU" sz="2800" b="1" dirty="0">
                <a:latin typeface="Times New Roman" panose="02020603050405020304" pitchFamily="18" charset="0"/>
                <a:cs typeface="Times New Roman" panose="02020603050405020304" pitchFamily="18" charset="0"/>
              </a:rPr>
              <a:t>Why the inference was available in </a:t>
            </a:r>
            <a:r>
              <a:rPr lang="en-AU" sz="2800" b="1" i="1" dirty="0">
                <a:latin typeface="Times New Roman" panose="02020603050405020304" pitchFamily="18" charset="0"/>
                <a:cs typeface="Times New Roman" panose="02020603050405020304" pitchFamily="18" charset="0"/>
              </a:rPr>
              <a:t>Booth</a:t>
            </a:r>
            <a:endParaRPr lang="en-AU" sz="2800" dirty="0">
              <a:latin typeface="Times New Roman" panose="02020603050405020304" pitchFamily="18" charset="0"/>
              <a:cs typeface="Times New Roman" panose="02020603050405020304" pitchFamily="18" charset="0"/>
            </a:endParaRPr>
          </a:p>
          <a:p>
            <a:pPr lvl="0"/>
            <a:r>
              <a:rPr lang="en-AU" sz="2800" dirty="0">
                <a:latin typeface="Times New Roman" panose="02020603050405020304" pitchFamily="18" charset="0"/>
                <a:cs typeface="Times New Roman" panose="02020603050405020304" pitchFamily="18" charset="0"/>
              </a:rPr>
              <a:t>Asbestos is effectively the only known cause of mesothelioma</a:t>
            </a:r>
          </a:p>
          <a:p>
            <a:pPr lvl="0"/>
            <a:r>
              <a:rPr lang="en-AU" sz="2800" dirty="0">
                <a:latin typeface="Times New Roman" panose="02020603050405020304" pitchFamily="18" charset="0"/>
                <a:cs typeface="Times New Roman" panose="02020603050405020304" pitchFamily="18" charset="0"/>
              </a:rPr>
              <a:t>Booth had about 27 years of heavy brake-lining exposure; his other exposures were trivial by comparison</a:t>
            </a:r>
          </a:p>
          <a:p>
            <a:pPr lvl="0"/>
            <a:r>
              <a:rPr lang="en-AU" sz="2800" dirty="0">
                <a:latin typeface="Times New Roman" panose="02020603050405020304" pitchFamily="18" charset="0"/>
                <a:cs typeface="Times New Roman" panose="02020603050405020304" pitchFamily="18" charset="0"/>
              </a:rPr>
              <a:t>Expert evidence accepted at trial: cumulative exposure contributes to the disease (the “cumulative effect” mechanism)</a:t>
            </a:r>
          </a:p>
          <a:p>
            <a:pPr lvl="0"/>
            <a:r>
              <a:rPr lang="en-AU" sz="2800" dirty="0">
                <a:latin typeface="Times New Roman" panose="02020603050405020304" pitchFamily="18" charset="0"/>
                <a:cs typeface="Times New Roman" panose="02020603050405020304" pitchFamily="18" charset="0"/>
              </a:rPr>
              <a:t>Science could not say </a:t>
            </a:r>
            <a:r>
              <a:rPr lang="en-AU" sz="2800" i="1" dirty="0">
                <a:latin typeface="Times New Roman" panose="02020603050405020304" pitchFamily="18" charset="0"/>
                <a:cs typeface="Times New Roman" panose="02020603050405020304" pitchFamily="18" charset="0"/>
              </a:rPr>
              <a:t>which</a:t>
            </a:r>
            <a:r>
              <a:rPr lang="en-AU" sz="2800" dirty="0">
                <a:latin typeface="Times New Roman" panose="02020603050405020304" pitchFamily="18" charset="0"/>
                <a:cs typeface="Times New Roman" panose="02020603050405020304" pitchFamily="18" charset="0"/>
              </a:rPr>
              <a:t> exposure triggered it, but the Court held the inference of causation was reasonably open</a:t>
            </a:r>
          </a:p>
          <a:p>
            <a:pPr lvl="0"/>
            <a:r>
              <a:rPr lang="en-AU" sz="2800" dirty="0">
                <a:latin typeface="Times New Roman" panose="02020603050405020304" pitchFamily="18" charset="0"/>
                <a:cs typeface="Times New Roman" panose="02020603050405020304" pitchFamily="18" charset="0"/>
              </a:rPr>
              <a:t>Contrast </a:t>
            </a:r>
            <a:r>
              <a:rPr lang="en-AU" sz="2800" i="1" dirty="0">
                <a:latin typeface="Times New Roman" panose="02020603050405020304" pitchFamily="18" charset="0"/>
                <a:cs typeface="Times New Roman" panose="02020603050405020304" pitchFamily="18" charset="0"/>
              </a:rPr>
              <a:t>Ellis</a:t>
            </a:r>
            <a:r>
              <a:rPr lang="en-AU" sz="2800" dirty="0">
                <a:latin typeface="Times New Roman" panose="02020603050405020304" pitchFamily="18" charset="0"/>
                <a:cs typeface="Times New Roman" panose="02020603050405020304" pitchFamily="18" charset="0"/>
              </a:rPr>
              <a:t>: limited exposure, mainly epidemiological (risk) evidence, and a competing cause (smoking), so causation was not shown on the balance of probabilities</a:t>
            </a:r>
          </a:p>
        </p:txBody>
      </p:sp>
      <p:sp>
        <p:nvSpPr>
          <p:cNvPr id="2" name="TextBox 1">
            <a:extLst>
              <a:ext uri="{FF2B5EF4-FFF2-40B4-BE49-F238E27FC236}">
                <a16:creationId xmlns:a16="http://schemas.microsoft.com/office/drawing/2014/main" id="{60FBB60C-37CD-CDC7-A925-793D844A8703}"/>
              </a:ext>
            </a:extLst>
          </p:cNvPr>
          <p:cNvSpPr txBox="1"/>
          <p:nvPr/>
        </p:nvSpPr>
        <p:spPr>
          <a:xfrm>
            <a:off x="489857" y="391885"/>
            <a:ext cx="6727371" cy="584775"/>
          </a:xfrm>
          <a:prstGeom prst="rect">
            <a:avLst/>
          </a:prstGeom>
          <a:noFill/>
        </p:spPr>
        <p:txBody>
          <a:bodyPr wrap="square" rtlCol="0">
            <a:spAutoFit/>
          </a:bodyPr>
          <a:lstStyle/>
          <a:p>
            <a:r>
              <a:rPr lang="en-US" sz="3200" i="1" dirty="0">
                <a:solidFill>
                  <a:schemeClr val="accent1"/>
                </a:solidFill>
              </a:rPr>
              <a:t>Dust disease cases </a:t>
            </a:r>
          </a:p>
        </p:txBody>
      </p:sp>
    </p:spTree>
    <p:extLst>
      <p:ext uri="{BB962C8B-B14F-4D97-AF65-F5344CB8AC3E}">
        <p14:creationId xmlns:p14="http://schemas.microsoft.com/office/powerpoint/2010/main" val="682495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29765-7E6D-675F-4EE5-C9E0CDCD8E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F6C230-510F-84A1-EFB0-84661D9B1551}"/>
              </a:ext>
            </a:extLst>
          </p:cNvPr>
          <p:cNvSpPr>
            <a:spLocks noGrp="1"/>
          </p:cNvSpPr>
          <p:nvPr>
            <p:ph idx="1"/>
          </p:nvPr>
        </p:nvSpPr>
        <p:spPr>
          <a:xfrm>
            <a:off x="720000" y="1508426"/>
            <a:ext cx="10800001" cy="3912660"/>
          </a:xfrm>
        </p:spPr>
        <p:txBody>
          <a:bodyPr>
            <a:noAutofit/>
          </a:bodyPr>
          <a:lstStyle/>
          <a:p>
            <a:pPr marL="0" indent="0">
              <a:buNone/>
            </a:pPr>
            <a:r>
              <a:rPr lang="en-AU" sz="2800" b="1" dirty="0">
                <a:latin typeface="Times New Roman" panose="02020603050405020304" pitchFamily="18" charset="0"/>
                <a:cs typeface="Times New Roman" panose="02020603050405020304" pitchFamily="18" charset="0"/>
              </a:rPr>
              <a:t>The comparison with </a:t>
            </a:r>
            <a:r>
              <a:rPr lang="en-AU" sz="2800" b="1" i="1" dirty="0">
                <a:latin typeface="Times New Roman" panose="02020603050405020304" pitchFamily="18" charset="0"/>
                <a:cs typeface="Times New Roman" panose="02020603050405020304" pitchFamily="18" charset="0"/>
              </a:rPr>
              <a:t>Fairchild</a:t>
            </a:r>
            <a:endParaRPr lang="en-AU" sz="2800" dirty="0">
              <a:latin typeface="Times New Roman" panose="02020603050405020304" pitchFamily="18" charset="0"/>
              <a:cs typeface="Times New Roman" panose="02020603050405020304" pitchFamily="18" charset="0"/>
            </a:endParaRPr>
          </a:p>
          <a:p>
            <a:pPr lvl="0"/>
            <a:r>
              <a:rPr lang="en-AU" sz="2800" i="1" dirty="0">
                <a:latin typeface="Times New Roman" panose="02020603050405020304" pitchFamily="18" charset="0"/>
                <a:cs typeface="Times New Roman" panose="02020603050405020304" pitchFamily="18" charset="0"/>
              </a:rPr>
              <a:t>Fairchild v Glenhaven</a:t>
            </a:r>
            <a:r>
              <a:rPr lang="en-AU" sz="2800" dirty="0">
                <a:latin typeface="Times New Roman" panose="02020603050405020304" pitchFamily="18" charset="0"/>
                <a:cs typeface="Times New Roman" panose="02020603050405020304" pitchFamily="18" charset="0"/>
              </a:rPr>
              <a:t> [2003] 1 AC 32 (UK): materially increasing risk was treated as enough where the claimant couldn’t prove which employer’s exposure caused the disease</a:t>
            </a:r>
          </a:p>
          <a:p>
            <a:pPr lvl="0"/>
            <a:r>
              <a:rPr lang="en-AU" sz="2800" dirty="0">
                <a:latin typeface="Times New Roman" panose="02020603050405020304" pitchFamily="18" charset="0"/>
                <a:cs typeface="Times New Roman" panose="02020603050405020304" pitchFamily="18" charset="0"/>
              </a:rPr>
              <a:t>A </a:t>
            </a:r>
            <a:r>
              <a:rPr lang="en-AU" sz="2800" u="sng" dirty="0">
                <a:latin typeface="Times New Roman" panose="02020603050405020304" pitchFamily="18" charset="0"/>
                <a:cs typeface="Times New Roman" panose="02020603050405020304" pitchFamily="18" charset="0"/>
              </a:rPr>
              <a:t>policy-based exception </a:t>
            </a:r>
            <a:r>
              <a:rPr lang="en-AU" sz="2800" dirty="0">
                <a:latin typeface="Times New Roman" panose="02020603050405020304" pitchFamily="18" charset="0"/>
                <a:cs typeface="Times New Roman" panose="02020603050405020304" pitchFamily="18" charset="0"/>
              </a:rPr>
              <a:t>to the ordinary causation rules</a:t>
            </a:r>
          </a:p>
          <a:p>
            <a:pPr lvl="0"/>
            <a:r>
              <a:rPr lang="en-AU" sz="2800" dirty="0">
                <a:latin typeface="Times New Roman" panose="02020603050405020304" pitchFamily="18" charset="0"/>
                <a:cs typeface="Times New Roman" panose="02020603050405020304" pitchFamily="18" charset="0"/>
              </a:rPr>
              <a:t>Australian common law has not adopted a risk-based test in that form</a:t>
            </a:r>
          </a:p>
        </p:txBody>
      </p:sp>
      <p:sp>
        <p:nvSpPr>
          <p:cNvPr id="2" name="TextBox 1">
            <a:extLst>
              <a:ext uri="{FF2B5EF4-FFF2-40B4-BE49-F238E27FC236}">
                <a16:creationId xmlns:a16="http://schemas.microsoft.com/office/drawing/2014/main" id="{63A177AD-BDB0-7E86-6EEA-FA8FDA637129}"/>
              </a:ext>
            </a:extLst>
          </p:cNvPr>
          <p:cNvSpPr txBox="1"/>
          <p:nvPr/>
        </p:nvSpPr>
        <p:spPr>
          <a:xfrm>
            <a:off x="489857" y="391885"/>
            <a:ext cx="6727371" cy="584775"/>
          </a:xfrm>
          <a:prstGeom prst="rect">
            <a:avLst/>
          </a:prstGeom>
          <a:noFill/>
        </p:spPr>
        <p:txBody>
          <a:bodyPr wrap="square" rtlCol="0">
            <a:spAutoFit/>
          </a:bodyPr>
          <a:lstStyle/>
          <a:p>
            <a:r>
              <a:rPr lang="en-US" sz="3200" i="1" dirty="0">
                <a:solidFill>
                  <a:schemeClr val="accent1"/>
                </a:solidFill>
              </a:rPr>
              <a:t>Dust disease cases </a:t>
            </a:r>
          </a:p>
        </p:txBody>
      </p:sp>
    </p:spTree>
    <p:extLst>
      <p:ext uri="{BB962C8B-B14F-4D97-AF65-F5344CB8AC3E}">
        <p14:creationId xmlns:p14="http://schemas.microsoft.com/office/powerpoint/2010/main" val="1281893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1"/>
                </a:solidFill>
                <a:latin typeface="Times New Roman" panose="02020603050405020304" pitchFamily="18" charset="0"/>
                <a:cs typeface="Times New Roman" panose="02020603050405020304" pitchFamily="18" charset="0"/>
              </a:rPr>
              <a:t>Section 5D(2) Exceptional cases </a:t>
            </a:r>
            <a:endParaRPr lang="en-AU"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400" dirty="0">
                <a:latin typeface="Times New Roman" panose="02020603050405020304" pitchFamily="18" charset="0"/>
                <a:cs typeface="Times New Roman" panose="02020603050405020304" pitchFamily="18" charset="0"/>
              </a:rPr>
              <a:t>Based on these dust disease cases, the </a:t>
            </a:r>
            <a:r>
              <a:rPr lang="en-US" sz="2400" dirty="0" err="1">
                <a:latin typeface="Times New Roman" panose="02020603050405020304" pitchFamily="18" charset="0"/>
                <a:cs typeface="Times New Roman" panose="02020603050405020304" pitchFamily="18" charset="0"/>
              </a:rPr>
              <a:t>Ipp</a:t>
            </a:r>
            <a:r>
              <a:rPr lang="en-US" sz="2400" dirty="0">
                <a:latin typeface="Times New Roman" panose="02020603050405020304" pitchFamily="18" charset="0"/>
                <a:cs typeface="Times New Roman" panose="02020603050405020304" pitchFamily="18" charset="0"/>
              </a:rPr>
              <a:t> report recommended the CLA contain an exceptional case provision… this is now in s5D(2)</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Recall from lecture 1: s5D(2) provides an exception to s5D(1)(a) requirement:</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6" name="Rectangle 4">
            <a:extLst>
              <a:ext uri="{FF2B5EF4-FFF2-40B4-BE49-F238E27FC236}">
                <a16:creationId xmlns:a16="http://schemas.microsoft.com/office/drawing/2014/main" id="{C5FA7733-B9E1-C80D-45E5-3DF8C67313F7}"/>
              </a:ext>
            </a:extLst>
          </p:cNvPr>
          <p:cNvSpPr>
            <a:spLocks noChangeArrowheads="1"/>
          </p:cNvSpPr>
          <p:nvPr/>
        </p:nvSpPr>
        <p:spPr bwMode="auto">
          <a:xfrm rot="10800000" flipV="1">
            <a:off x="1204561" y="3444041"/>
            <a:ext cx="1062458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arenBoth"/>
              <a:tabLst/>
            </a:pPr>
            <a:r>
              <a:rPr kumimoji="0" lang="en-US" altLang="en-US" sz="1800" b="0" i="0" strike="noStrike" cap="none" normalizeH="0" baseline="0" dirty="0">
                <a:ln>
                  <a:noFill/>
                </a:ln>
                <a:effectLst/>
                <a:latin typeface="Arial" panose="020B0604020202020204" pitchFamily="34" charset="0"/>
              </a:rPr>
              <a:t>A determination that </a:t>
            </a:r>
            <a:r>
              <a:rPr kumimoji="0" lang="en-US" altLang="en-US" sz="1800" b="0" i="0" u="sng" strike="noStrike" cap="none" normalizeH="0" baseline="0" dirty="0">
                <a:ln>
                  <a:noFill/>
                </a:ln>
                <a:effectLst/>
                <a:latin typeface="Arial" panose="020B0604020202020204" pitchFamily="34" charset="0"/>
                <a:hlinkClick r:id="rId3">
                  <a:extLst>
                    <a:ext uri="{A12FA001-AC4F-418D-AE19-62706E023703}">
                      <ahyp:hlinkClr xmlns:ahyp="http://schemas.microsoft.com/office/drawing/2018/hyperlinkcolor" val="tx"/>
                    </a:ext>
                  </a:extLst>
                </a:hlinkClick>
              </a:rPr>
              <a:t>negligence</a:t>
            </a:r>
            <a:r>
              <a:rPr kumimoji="0" lang="en-US" altLang="en-US" sz="1800" b="0" i="0" strike="noStrike" cap="none" normalizeH="0" baseline="0" dirty="0">
                <a:ln>
                  <a:noFill/>
                </a:ln>
                <a:effectLst/>
                <a:latin typeface="Arial" panose="020B0604020202020204" pitchFamily="34" charset="0"/>
              </a:rPr>
              <a:t> caused particular </a:t>
            </a:r>
            <a:r>
              <a:rPr kumimoji="0" lang="en-US" altLang="en-US" sz="1800" b="0" i="0" strike="noStrike" cap="none" normalizeH="0" baseline="0" dirty="0">
                <a:ln>
                  <a:noFill/>
                </a:ln>
                <a:effectLst/>
                <a:latin typeface="Arial" panose="020B0604020202020204" pitchFamily="34" charset="0"/>
                <a:hlinkClick r:id="rId4">
                  <a:extLst>
                    <a:ext uri="{A12FA001-AC4F-418D-AE19-62706E023703}">
                      <ahyp:hlinkClr xmlns:ahyp="http://schemas.microsoft.com/office/drawing/2018/hyperlinkcolor" val="tx"/>
                    </a:ext>
                  </a:extLst>
                </a:hlinkClick>
              </a:rPr>
              <a:t>harm</a:t>
            </a:r>
            <a:r>
              <a:rPr kumimoji="0" lang="en-US" altLang="en-US" sz="1800" b="0" i="0" strike="noStrike" cap="none" normalizeH="0" baseline="0" dirty="0">
                <a:ln>
                  <a:noFill/>
                </a:ln>
                <a:effectLst/>
                <a:latin typeface="Arial" panose="020B0604020202020204" pitchFamily="34" charset="0"/>
              </a:rPr>
              <a:t> comprises the following elements-- </a:t>
            </a:r>
          </a:p>
          <a:p>
            <a:pPr marL="800100" lvl="1" indent="-342900" eaLnBrk="0" fontAlgn="base" hangingPunct="0">
              <a:spcBef>
                <a:spcPct val="0"/>
              </a:spcBef>
              <a:spcAft>
                <a:spcPct val="0"/>
              </a:spcAft>
              <a:buAutoNum type="alphaLcParenBoth"/>
            </a:pPr>
            <a:r>
              <a:rPr kumimoji="0" lang="en-US" altLang="en-US" b="0" i="0" strike="noStrike" cap="none" normalizeH="0" baseline="0" dirty="0">
                <a:ln>
                  <a:noFill/>
                </a:ln>
                <a:effectLst/>
                <a:latin typeface="Arial" panose="020B0604020202020204" pitchFamily="34" charset="0"/>
              </a:rPr>
              <a:t>that the </a:t>
            </a:r>
            <a:r>
              <a:rPr kumimoji="0" lang="en-US" altLang="en-US" b="0" i="0" strike="noStrike" cap="none" normalizeH="0" baseline="0" dirty="0">
                <a:ln>
                  <a:noFill/>
                </a:ln>
                <a:effectLst/>
                <a:latin typeface="Arial" panose="020B0604020202020204" pitchFamily="34" charset="0"/>
                <a:hlinkClick r:id="rId3">
                  <a:extLst>
                    <a:ext uri="{A12FA001-AC4F-418D-AE19-62706E023703}">
                      <ahyp:hlinkClr xmlns:ahyp="http://schemas.microsoft.com/office/drawing/2018/hyperlinkcolor" val="tx"/>
                    </a:ext>
                  </a:extLst>
                </a:hlinkClick>
              </a:rPr>
              <a:t>negligence</a:t>
            </a:r>
            <a:r>
              <a:rPr kumimoji="0" lang="en-US" altLang="en-US" b="0" i="0" strike="noStrike" cap="none" normalizeH="0" baseline="0" dirty="0">
                <a:ln>
                  <a:noFill/>
                </a:ln>
                <a:effectLst/>
                <a:latin typeface="Arial" panose="020B0604020202020204" pitchFamily="34" charset="0"/>
              </a:rPr>
              <a:t> was </a:t>
            </a:r>
            <a:r>
              <a:rPr kumimoji="0" lang="en-US" altLang="en-US" b="0" i="0" strike="noStrike" cap="none" normalizeH="0" baseline="0" dirty="0">
                <a:ln>
                  <a:noFill/>
                </a:ln>
                <a:effectLst/>
                <a:highlight>
                  <a:srgbClr val="FFFF00"/>
                </a:highlight>
                <a:latin typeface="Arial" panose="020B0604020202020204" pitchFamily="34" charset="0"/>
              </a:rPr>
              <a:t>a necessary condition of the occurrence of the </a:t>
            </a:r>
            <a:r>
              <a:rPr kumimoji="0" lang="en-US" altLang="en-US" b="0" i="0" strike="noStrike" cap="none" normalizeH="0" baseline="0" dirty="0">
                <a:ln>
                  <a:noFill/>
                </a:ln>
                <a:effectLst/>
                <a:highlight>
                  <a:srgbClr val="FFFF00"/>
                </a:highlight>
                <a:latin typeface="Arial" panose="020B0604020202020204" pitchFamily="34" charset="0"/>
                <a:hlinkClick r:id="rId4">
                  <a:extLst>
                    <a:ext uri="{A12FA001-AC4F-418D-AE19-62706E023703}">
                      <ahyp:hlinkClr xmlns:ahyp="http://schemas.microsoft.com/office/drawing/2018/hyperlinkcolor" val="tx"/>
                    </a:ext>
                  </a:extLst>
                </a:hlinkClick>
              </a:rPr>
              <a:t>harm</a:t>
            </a:r>
            <a:r>
              <a:rPr kumimoji="0" lang="en-US" altLang="en-US" b="0" i="0" strike="noStrike" cap="none" normalizeH="0" baseline="0" dirty="0">
                <a:ln>
                  <a:noFill/>
                </a:ln>
                <a:effectLst/>
                <a:highlight>
                  <a:srgbClr val="FFFF00"/>
                </a:highlight>
                <a:latin typeface="Arial" panose="020B0604020202020204" pitchFamily="34" charset="0"/>
              </a:rPr>
              <a:t> </a:t>
            </a:r>
            <a:r>
              <a:rPr kumimoji="0" lang="en-US" altLang="en-US" b="0" i="0" strike="noStrike" cap="none" normalizeH="0" baseline="0" dirty="0">
                <a:ln>
                  <a:noFill/>
                </a:ln>
                <a:effectLst/>
                <a:latin typeface="Arial" panose="020B0604020202020204" pitchFamily="34" charset="0"/>
              </a:rPr>
              <a:t>(</a:t>
            </a:r>
            <a:r>
              <a:rPr kumimoji="0" lang="en-US" altLang="en-US" b="1" i="0" strike="noStrike" cap="none" normalizeH="0" baseline="0" dirty="0">
                <a:ln>
                  <a:noFill/>
                </a:ln>
                <a:effectLst/>
                <a:latin typeface="Arial" panose="020B0604020202020204" pitchFamily="34" charset="0"/>
              </a:rPr>
              <a:t>"factual causation" </a:t>
            </a:r>
            <a:r>
              <a:rPr kumimoji="0" lang="en-US" altLang="en-US" b="0" i="0" strike="noStrike" cap="none" normalizeH="0" baseline="0" dirty="0">
                <a:ln>
                  <a:noFill/>
                </a:ln>
                <a:effectLst/>
                <a:latin typeface="Arial" panose="020B0604020202020204" pitchFamily="34" charset="0"/>
              </a:rPr>
              <a:t>), and </a:t>
            </a:r>
          </a:p>
          <a:p>
            <a:pPr marL="800100" lvl="1" indent="-342900" eaLnBrk="0" fontAlgn="base" hangingPunct="0">
              <a:spcBef>
                <a:spcPct val="0"/>
              </a:spcBef>
              <a:spcAft>
                <a:spcPct val="0"/>
              </a:spcAft>
              <a:buAutoNum type="alphaLcParenBoth"/>
            </a:pPr>
            <a:r>
              <a:rPr kumimoji="0" lang="en-US" altLang="en-US" b="0" i="0" strike="noStrike" cap="none" normalizeH="0" baseline="0" dirty="0">
                <a:ln>
                  <a:noFill/>
                </a:ln>
                <a:effectLst/>
                <a:latin typeface="Arial" panose="020B0604020202020204" pitchFamily="34" charset="0"/>
              </a:rPr>
              <a:t>that it is appropriate for the scope of the negligent person's liability to extend to the </a:t>
            </a:r>
            <a:r>
              <a:rPr kumimoji="0" lang="en-US" altLang="en-US" b="0" i="0" strike="noStrike" cap="none" normalizeH="0" baseline="0" dirty="0">
                <a:ln>
                  <a:noFill/>
                </a:ln>
                <a:effectLst/>
                <a:latin typeface="Arial" panose="020B0604020202020204" pitchFamily="34" charset="0"/>
                <a:hlinkClick r:id="rId4">
                  <a:extLst>
                    <a:ext uri="{A12FA001-AC4F-418D-AE19-62706E023703}">
                      <ahyp:hlinkClr xmlns:ahyp="http://schemas.microsoft.com/office/drawing/2018/hyperlinkcolor" val="tx"/>
                    </a:ext>
                  </a:extLst>
                </a:hlinkClick>
              </a:rPr>
              <a:t>harm</a:t>
            </a:r>
            <a:r>
              <a:rPr kumimoji="0" lang="en-US" altLang="en-US" b="0" i="0" strike="noStrike" cap="none" normalizeH="0" baseline="0" dirty="0">
                <a:ln>
                  <a:noFill/>
                </a:ln>
                <a:effectLst/>
                <a:latin typeface="Arial" panose="020B0604020202020204" pitchFamily="34" charset="0"/>
              </a:rPr>
              <a:t> so caused (</a:t>
            </a:r>
            <a:r>
              <a:rPr kumimoji="0" lang="en-US" altLang="en-US" b="1" i="0" strike="noStrike" cap="none" normalizeH="0" baseline="0" dirty="0">
                <a:ln>
                  <a:noFill/>
                </a:ln>
                <a:effectLst/>
                <a:latin typeface="Arial" panose="020B0604020202020204" pitchFamily="34" charset="0"/>
              </a:rPr>
              <a:t>"scope of liability" </a:t>
            </a:r>
            <a:r>
              <a:rPr kumimoji="0" lang="en-US" altLang="en-US" b="0" i="0" strike="noStrike" cap="none" normalizeH="0" baseline="0" dirty="0">
                <a:ln>
                  <a:noFill/>
                </a:ln>
                <a:effectLst/>
                <a:latin typeface="Arial" panose="020B0604020202020204" pitchFamily="34" charset="0"/>
              </a:rPr>
              <a:t>). </a:t>
            </a:r>
          </a:p>
          <a:p>
            <a:pPr marR="0" lvl="0" algn="l" defTabSz="914400" rtl="0" eaLnBrk="0" fontAlgn="base" latinLnBrk="0" hangingPunct="0">
              <a:lnSpc>
                <a:spcPct val="100000"/>
              </a:lnSpc>
              <a:spcBef>
                <a:spcPct val="0"/>
              </a:spcBef>
              <a:spcAft>
                <a:spcPct val="0"/>
              </a:spcAft>
              <a:buClrTx/>
              <a:buSzTx/>
              <a:tabLst/>
            </a:pPr>
            <a:endParaRPr kumimoji="0" lang="en-US" altLang="en-US" sz="1800" b="0" i="0" strike="noStrike" cap="none" normalizeH="0" baseline="0" dirty="0">
              <a:ln>
                <a:noFill/>
              </a:ln>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0" i="0" strike="noStrike" cap="none" normalizeH="0" baseline="0" dirty="0">
                <a:ln>
                  <a:noFill/>
                </a:ln>
                <a:effectLst/>
                <a:latin typeface="Arial" panose="020B0604020202020204" pitchFamily="34" charset="0"/>
              </a:rPr>
              <a:t>(2) In determining in an exceptional case, </a:t>
            </a:r>
            <a:r>
              <a:rPr kumimoji="0" lang="en-US" altLang="en-US" sz="1800" b="0" i="0" strike="noStrike" cap="none" normalizeH="0" baseline="0" dirty="0">
                <a:ln>
                  <a:noFill/>
                </a:ln>
                <a:effectLst/>
                <a:highlight>
                  <a:srgbClr val="00FF00"/>
                </a:highlight>
                <a:latin typeface="Arial" panose="020B0604020202020204" pitchFamily="34" charset="0"/>
              </a:rPr>
              <a:t>in accordance with established principles</a:t>
            </a:r>
            <a:r>
              <a:rPr kumimoji="0" lang="en-US" altLang="en-US" sz="1800" b="0" i="0" strike="noStrike" cap="none" normalizeH="0" baseline="0" dirty="0">
                <a:ln>
                  <a:noFill/>
                </a:ln>
                <a:effectLst/>
                <a:latin typeface="Arial" panose="020B0604020202020204" pitchFamily="34" charset="0"/>
              </a:rPr>
              <a:t>, whether </a:t>
            </a:r>
            <a:r>
              <a:rPr kumimoji="0" lang="en-US" altLang="en-US" sz="1800" b="0" i="0" strike="noStrike" cap="none" normalizeH="0" baseline="0" dirty="0">
                <a:ln>
                  <a:noFill/>
                </a:ln>
                <a:effectLst/>
                <a:latin typeface="Arial" panose="020B0604020202020204" pitchFamily="34" charset="0"/>
                <a:hlinkClick r:id="rId3">
                  <a:extLst>
                    <a:ext uri="{A12FA001-AC4F-418D-AE19-62706E023703}">
                      <ahyp:hlinkClr xmlns:ahyp="http://schemas.microsoft.com/office/drawing/2018/hyperlinkcolor" val="tx"/>
                    </a:ext>
                  </a:extLst>
                </a:hlinkClick>
              </a:rPr>
              <a:t>negligence</a:t>
            </a:r>
            <a:r>
              <a:rPr kumimoji="0" lang="en-US" altLang="en-US" sz="1800" b="0" i="0" strike="noStrike" cap="none" normalizeH="0" baseline="0" dirty="0">
                <a:ln>
                  <a:noFill/>
                </a:ln>
                <a:effectLst/>
                <a:latin typeface="Arial" panose="020B0604020202020204" pitchFamily="34" charset="0"/>
              </a:rPr>
              <a:t> that </a:t>
            </a:r>
            <a:r>
              <a:rPr kumimoji="0" lang="en-US" altLang="en-US" sz="1800" b="0" i="0" strike="noStrike" cap="none" normalizeH="0" baseline="0" dirty="0">
                <a:ln>
                  <a:noFill/>
                </a:ln>
                <a:effectLst/>
                <a:highlight>
                  <a:srgbClr val="FFFF00"/>
                </a:highlight>
                <a:latin typeface="Arial" panose="020B0604020202020204" pitchFamily="34" charset="0"/>
              </a:rPr>
              <a:t>cannot be established as a necessary condition of the occurrence of </a:t>
            </a:r>
            <a:r>
              <a:rPr kumimoji="0" lang="en-US" altLang="en-US" sz="1800" b="0" i="0" strike="noStrike" cap="none" normalizeH="0" baseline="0" dirty="0">
                <a:ln>
                  <a:noFill/>
                </a:ln>
                <a:effectLst/>
                <a:highlight>
                  <a:srgbClr val="FFFF00"/>
                </a:highlight>
                <a:latin typeface="Arial" panose="020B0604020202020204" pitchFamily="34" charset="0"/>
                <a:hlinkClick r:id="rId4">
                  <a:extLst>
                    <a:ext uri="{A12FA001-AC4F-418D-AE19-62706E023703}">
                      <ahyp:hlinkClr xmlns:ahyp="http://schemas.microsoft.com/office/drawing/2018/hyperlinkcolor" val="tx"/>
                    </a:ext>
                  </a:extLst>
                </a:hlinkClick>
              </a:rPr>
              <a:t>harm</a:t>
            </a:r>
            <a:r>
              <a:rPr kumimoji="0" lang="en-US" altLang="en-US" sz="1800" b="0" i="0" strike="noStrike" cap="none" normalizeH="0" baseline="0" dirty="0">
                <a:ln>
                  <a:noFill/>
                </a:ln>
                <a:effectLst/>
                <a:highlight>
                  <a:srgbClr val="FFFF00"/>
                </a:highlight>
                <a:latin typeface="Arial" panose="020B0604020202020204" pitchFamily="34" charset="0"/>
              </a:rPr>
              <a:t> </a:t>
            </a:r>
            <a:r>
              <a:rPr kumimoji="0" lang="en-US" altLang="en-US" sz="1800" b="0" i="0" strike="noStrike" cap="none" normalizeH="0" baseline="0" dirty="0">
                <a:ln>
                  <a:noFill/>
                </a:ln>
                <a:effectLst/>
                <a:latin typeface="Arial" panose="020B0604020202020204" pitchFamily="34" charset="0"/>
              </a:rPr>
              <a:t>should be accepted as establishing factual causation, the </a:t>
            </a:r>
            <a:r>
              <a:rPr kumimoji="0" lang="en-US" altLang="en-US" sz="1800" b="0" i="0" strike="noStrike" cap="none" normalizeH="0" baseline="0" dirty="0">
                <a:ln>
                  <a:noFill/>
                </a:ln>
                <a:effectLst/>
                <a:latin typeface="Arial" panose="020B0604020202020204" pitchFamily="34" charset="0"/>
                <a:hlinkClick r:id="rId5">
                  <a:extLst>
                    <a:ext uri="{A12FA001-AC4F-418D-AE19-62706E023703}">
                      <ahyp:hlinkClr xmlns:ahyp="http://schemas.microsoft.com/office/drawing/2018/hyperlinkcolor" val="tx"/>
                    </a:ext>
                  </a:extLst>
                </a:hlinkClick>
              </a:rPr>
              <a:t>court</a:t>
            </a:r>
            <a:r>
              <a:rPr kumimoji="0" lang="en-US" altLang="en-US" sz="1800" b="0" i="0" strike="noStrike" cap="none" normalizeH="0" baseline="0" dirty="0">
                <a:ln>
                  <a:noFill/>
                </a:ln>
                <a:effectLst/>
                <a:latin typeface="Arial" panose="020B0604020202020204" pitchFamily="34" charset="0"/>
              </a:rPr>
              <a:t> is to consider (amongst other relevant things) whether or not and why responsibility for the </a:t>
            </a:r>
            <a:r>
              <a:rPr kumimoji="0" lang="en-US" altLang="en-US" sz="1800" b="0" i="0" strike="noStrike" cap="none" normalizeH="0" baseline="0" dirty="0">
                <a:ln>
                  <a:noFill/>
                </a:ln>
                <a:effectLst/>
                <a:latin typeface="Arial" panose="020B0604020202020204" pitchFamily="34" charset="0"/>
                <a:hlinkClick r:id="rId4">
                  <a:extLst>
                    <a:ext uri="{A12FA001-AC4F-418D-AE19-62706E023703}">
                      <ahyp:hlinkClr xmlns:ahyp="http://schemas.microsoft.com/office/drawing/2018/hyperlinkcolor" val="tx"/>
                    </a:ext>
                  </a:extLst>
                </a:hlinkClick>
              </a:rPr>
              <a:t>harm</a:t>
            </a:r>
            <a:r>
              <a:rPr kumimoji="0" lang="en-US" altLang="en-US" sz="1800" b="0" i="0" strike="noStrike" cap="none" normalizeH="0" baseline="0" dirty="0">
                <a:ln>
                  <a:noFill/>
                </a:ln>
                <a:effectLst/>
                <a:latin typeface="Arial" panose="020B0604020202020204" pitchFamily="34" charset="0"/>
              </a:rPr>
              <a:t> should be imposed on the negligent party.</a:t>
            </a:r>
          </a:p>
        </p:txBody>
      </p:sp>
    </p:spTree>
    <p:extLst>
      <p:ext uri="{BB962C8B-B14F-4D97-AF65-F5344CB8AC3E}">
        <p14:creationId xmlns:p14="http://schemas.microsoft.com/office/powerpoint/2010/main" val="1083412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1"/>
                </a:solidFill>
                <a:latin typeface="Times New Roman" panose="02020603050405020304" pitchFamily="18" charset="0"/>
                <a:cs typeface="Times New Roman" panose="02020603050405020304" pitchFamily="18" charset="0"/>
              </a:rPr>
              <a:t>Section 5D(2) Exceptional cases </a:t>
            </a:r>
            <a:endParaRPr lang="en-AU" sz="2000" i="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However, in practice s5D(2) has rarely been considered by the court, so there is some uncertainty around how it operates. </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We do have </a:t>
            </a:r>
            <a:r>
              <a:rPr lang="en-US" sz="2800" i="1" dirty="0" err="1">
                <a:latin typeface="Times New Roman" panose="02020603050405020304" pitchFamily="18" charset="0"/>
                <a:cs typeface="Times New Roman" panose="02020603050405020304" pitchFamily="18" charset="0"/>
              </a:rPr>
              <a:t>Adeels</a:t>
            </a:r>
            <a:r>
              <a:rPr lang="en-US" sz="2800" i="1" dirty="0">
                <a:latin typeface="Times New Roman" panose="02020603050405020304" pitchFamily="18" charset="0"/>
                <a:cs typeface="Times New Roman" panose="02020603050405020304" pitchFamily="18" charset="0"/>
              </a:rPr>
              <a:t> Palace </a:t>
            </a:r>
            <a:r>
              <a:rPr lang="en-US" sz="2800" dirty="0">
                <a:latin typeface="Times New Roman" panose="02020603050405020304" pitchFamily="18" charset="0"/>
                <a:cs typeface="Times New Roman" panose="02020603050405020304" pitchFamily="18" charset="0"/>
              </a:rPr>
              <a:t>that found s5D(2) did not apply in that case (see lecture 1).</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It is worth noting that Section 3B(1) </a:t>
            </a:r>
            <a:r>
              <a:rPr lang="en-US" sz="2800" u="sng" dirty="0">
                <a:latin typeface="Times New Roman" panose="02020603050405020304" pitchFamily="18" charset="0"/>
                <a:cs typeface="Times New Roman" panose="02020603050405020304" pitchFamily="18" charset="0"/>
              </a:rPr>
              <a:t>excludes</a:t>
            </a:r>
            <a:r>
              <a:rPr lang="en-US" sz="2800" dirty="0">
                <a:latin typeface="Times New Roman" panose="02020603050405020304" pitchFamily="18" charset="0"/>
                <a:cs typeface="Times New Roman" panose="02020603050405020304" pitchFamily="18" charset="0"/>
              </a:rPr>
              <a:t> the CLA’s application to harm related to dust and tobacco products </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There are </a:t>
            </a:r>
            <a:r>
              <a:rPr lang="en-US" sz="2800" b="1" dirty="0">
                <a:latin typeface="Times New Roman" panose="02020603050405020304" pitchFamily="18" charset="0"/>
                <a:cs typeface="Times New Roman" panose="02020603050405020304" pitchFamily="18" charset="0"/>
              </a:rPr>
              <a:t>special statutes</a:t>
            </a:r>
            <a:r>
              <a:rPr lang="en-US" sz="2800" dirty="0">
                <a:latin typeface="Times New Roman" panose="02020603050405020304" pitchFamily="18" charset="0"/>
                <a:cs typeface="Times New Roman" panose="02020603050405020304" pitchFamily="18" charset="0"/>
              </a:rPr>
              <a:t> dealing with such cases – e.g., Dust Diseases Tribunal Act 1989 (NSW) </a:t>
            </a:r>
          </a:p>
        </p:txBody>
      </p:sp>
    </p:spTree>
    <p:extLst>
      <p:ext uri="{BB962C8B-B14F-4D97-AF65-F5344CB8AC3E}">
        <p14:creationId xmlns:p14="http://schemas.microsoft.com/office/powerpoint/2010/main" val="2890103127"/>
      </p:ext>
    </p:extLst>
  </p:cSld>
  <p:clrMapOvr>
    <a:masterClrMapping/>
  </p:clrMapOvr>
</p:sld>
</file>

<file path=ppt/theme/theme1.xml><?xml version="1.0" encoding="utf-8"?>
<a:theme xmlns:a="http://schemas.openxmlformats.org/drawingml/2006/main" name="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U-INT 16x9 Template _2016" id="{260B2EA1-E29E-8F43-8CD0-19C5943E9B3E}" vid="{17EFAF55-AA0F-074F-B88C-D92FD2EB11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23222</TotalTime>
  <Words>1341</Words>
  <Application>Microsoft Macintosh PowerPoint</Application>
  <PresentationFormat>Widescreen</PresentationFormat>
  <Paragraphs>149</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Courier New</vt:lpstr>
      <vt:lpstr>Georgia</vt:lpstr>
      <vt:lpstr>Times New Roman</vt:lpstr>
      <vt:lpstr>Wingdings</vt:lpstr>
      <vt:lpstr>MAC UNI BASIC_Round 1 Draft for feedback</vt:lpstr>
      <vt:lpstr>LAWS2400 / LAWS8040 – Torts  Week 10 – Lecture 2  Causation   </vt:lpstr>
      <vt:lpstr>Outline</vt:lpstr>
      <vt:lpstr>What happens when the ‘but for’ test is inconclusive?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Section 5D(2) Exceptional cases </vt:lpstr>
      <vt:lpstr>Section 5D(2) Exceptional cases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Ebony Birchall</cp:lastModifiedBy>
  <cp:revision>2643</cp:revision>
  <cp:lastPrinted>2025-10-13T04:04:54Z</cp:lastPrinted>
  <dcterms:created xsi:type="dcterms:W3CDTF">2019-01-24T02:12:19Z</dcterms:created>
  <dcterms:modified xsi:type="dcterms:W3CDTF">2026-10-13T09:00:25Z</dcterms:modified>
</cp:coreProperties>
</file>