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18"/>
  </p:notesMasterIdLst>
  <p:handoutMasterIdLst>
    <p:handoutMasterId r:id="rId19"/>
  </p:handoutMasterIdLst>
  <p:sldIdLst>
    <p:sldId id="303" r:id="rId2"/>
    <p:sldId id="379" r:id="rId3"/>
    <p:sldId id="386" r:id="rId4"/>
    <p:sldId id="387" r:id="rId5"/>
    <p:sldId id="393" r:id="rId6"/>
    <p:sldId id="389" r:id="rId7"/>
    <p:sldId id="390" r:id="rId8"/>
    <p:sldId id="402" r:id="rId9"/>
    <p:sldId id="392" r:id="rId10"/>
    <p:sldId id="391" r:id="rId11"/>
    <p:sldId id="395" r:id="rId12"/>
    <p:sldId id="396" r:id="rId13"/>
    <p:sldId id="341" r:id="rId14"/>
    <p:sldId id="369" r:id="rId15"/>
    <p:sldId id="400" r:id="rId16"/>
    <p:sldId id="40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52" autoAdjust="0"/>
    <p:restoredTop sz="93447" autoAdjust="0"/>
  </p:normalViewPr>
  <p:slideViewPr>
    <p:cSldViewPr snapToGrid="0" snapToObjects="1">
      <p:cViewPr varScale="1">
        <p:scale>
          <a:sx n="96" d="100"/>
          <a:sy n="96" d="100"/>
        </p:scale>
        <p:origin x="176" y="736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Deva" userId="7fc89188-b279-4464-aad4-6bcc30702912" providerId="ADAL" clId="{714C4160-E43D-4137-A5DD-9C7E33910182}"/>
    <pc:docChg chg="undo custSel modSld">
      <pc:chgData name="Surya Deva" userId="7fc89188-b279-4464-aad4-6bcc30702912" providerId="ADAL" clId="{714C4160-E43D-4137-A5DD-9C7E33910182}" dt="2024-07-27T02:17:21.805" v="39" actId="20577"/>
      <pc:docMkLst>
        <pc:docMk/>
      </pc:docMkLst>
      <pc:sldChg chg="modSp mod">
        <pc:chgData name="Surya Deva" userId="7fc89188-b279-4464-aad4-6bcc30702912" providerId="ADAL" clId="{714C4160-E43D-4137-A5DD-9C7E33910182}" dt="2024-07-27T02:08:19.913" v="24" actId="114"/>
        <pc:sldMkLst>
          <pc:docMk/>
          <pc:sldMk cId="865280206" sldId="336"/>
        </pc:sldMkLst>
        <pc:spChg chg="mod">
          <ac:chgData name="Surya Deva" userId="7fc89188-b279-4464-aad4-6bcc30702912" providerId="ADAL" clId="{714C4160-E43D-4137-A5DD-9C7E33910182}" dt="2024-07-27T02:08:19.913" v="24" actId="114"/>
          <ac:spMkLst>
            <pc:docMk/>
            <pc:sldMk cId="865280206" sldId="336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714C4160-E43D-4137-A5DD-9C7E33910182}" dt="2024-07-27T02:12:26.199" v="28" actId="20577"/>
        <pc:sldMkLst>
          <pc:docMk/>
          <pc:sldMk cId="751150494" sldId="339"/>
        </pc:sldMkLst>
        <pc:spChg chg="mod">
          <ac:chgData name="Surya Deva" userId="7fc89188-b279-4464-aad4-6bcc30702912" providerId="ADAL" clId="{714C4160-E43D-4137-A5DD-9C7E33910182}" dt="2024-07-27T02:12:26.199" v="28" actId="20577"/>
          <ac:spMkLst>
            <pc:docMk/>
            <pc:sldMk cId="751150494" sldId="339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714C4160-E43D-4137-A5DD-9C7E33910182}" dt="2024-07-27T02:09:39.218" v="25" actId="14100"/>
        <pc:sldMkLst>
          <pc:docMk/>
          <pc:sldMk cId="4007953150" sldId="375"/>
        </pc:sldMkLst>
        <pc:spChg chg="mod">
          <ac:chgData name="Surya Deva" userId="7fc89188-b279-4464-aad4-6bcc30702912" providerId="ADAL" clId="{714C4160-E43D-4137-A5DD-9C7E33910182}" dt="2024-07-27T02:09:39.218" v="25" actId="14100"/>
          <ac:spMkLst>
            <pc:docMk/>
            <pc:sldMk cId="4007953150" sldId="375"/>
            <ac:spMk id="4" creationId="{95174CDB-903F-B9CF-5976-B9F9C80CFCF0}"/>
          </ac:spMkLst>
        </pc:spChg>
      </pc:sldChg>
      <pc:sldChg chg="modSp mod">
        <pc:chgData name="Surya Deva" userId="7fc89188-b279-4464-aad4-6bcc30702912" providerId="ADAL" clId="{714C4160-E43D-4137-A5DD-9C7E33910182}" dt="2024-07-27T02:12:52.412" v="30" actId="6549"/>
        <pc:sldMkLst>
          <pc:docMk/>
          <pc:sldMk cId="3047360177" sldId="380"/>
        </pc:sldMkLst>
        <pc:spChg chg="mod">
          <ac:chgData name="Surya Deva" userId="7fc89188-b279-4464-aad4-6bcc30702912" providerId="ADAL" clId="{714C4160-E43D-4137-A5DD-9C7E33910182}" dt="2024-07-27T02:12:52.412" v="30" actId="6549"/>
          <ac:spMkLst>
            <pc:docMk/>
            <pc:sldMk cId="3047360177" sldId="380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714C4160-E43D-4137-A5DD-9C7E33910182}" dt="2024-07-27T02:14:05.700" v="34" actId="20577"/>
        <pc:sldMkLst>
          <pc:docMk/>
          <pc:sldMk cId="2041331174" sldId="384"/>
        </pc:sldMkLst>
        <pc:spChg chg="mod">
          <ac:chgData name="Surya Deva" userId="7fc89188-b279-4464-aad4-6bcc30702912" providerId="ADAL" clId="{714C4160-E43D-4137-A5DD-9C7E33910182}" dt="2024-07-27T02:14:05.700" v="34" actId="20577"/>
          <ac:spMkLst>
            <pc:docMk/>
            <pc:sldMk cId="2041331174" sldId="384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714C4160-E43D-4137-A5DD-9C7E33910182}" dt="2024-07-27T02:14:46.265" v="35" actId="114"/>
        <pc:sldMkLst>
          <pc:docMk/>
          <pc:sldMk cId="3762894417" sldId="387"/>
        </pc:sldMkLst>
        <pc:spChg chg="mod">
          <ac:chgData name="Surya Deva" userId="7fc89188-b279-4464-aad4-6bcc30702912" providerId="ADAL" clId="{714C4160-E43D-4137-A5DD-9C7E33910182}" dt="2024-07-27T02:14:46.265" v="35" actId="114"/>
          <ac:spMkLst>
            <pc:docMk/>
            <pc:sldMk cId="3762894417" sldId="387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714C4160-E43D-4137-A5DD-9C7E33910182}" dt="2024-07-27T02:17:21.805" v="39" actId="20577"/>
        <pc:sldMkLst>
          <pc:docMk/>
          <pc:sldMk cId="2672119684" sldId="395"/>
        </pc:sldMkLst>
        <pc:spChg chg="mod">
          <ac:chgData name="Surya Deva" userId="7fc89188-b279-4464-aad4-6bcc30702912" providerId="ADAL" clId="{714C4160-E43D-4137-A5DD-9C7E33910182}" dt="2024-07-27T02:17:21.805" v="39" actId="20577"/>
          <ac:spMkLst>
            <pc:docMk/>
            <pc:sldMk cId="2672119684" sldId="395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714C4160-E43D-4137-A5DD-9C7E33910182}" dt="2024-07-27T02:06:12.417" v="21" actId="20577"/>
        <pc:sldMkLst>
          <pc:docMk/>
          <pc:sldMk cId="2404110784" sldId="402"/>
        </pc:sldMkLst>
        <pc:spChg chg="mod">
          <ac:chgData name="Surya Deva" userId="7fc89188-b279-4464-aad4-6bcc30702912" providerId="ADAL" clId="{714C4160-E43D-4137-A5DD-9C7E33910182}" dt="2024-07-27T02:06:12.417" v="21" actId="20577"/>
          <ac:spMkLst>
            <pc:docMk/>
            <pc:sldMk cId="2404110784" sldId="402"/>
            <ac:spMk id="8" creationId="{C1E40335-534D-4893-A5FE-EA15C52D877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12/8/2026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12/8/2026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2172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721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277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554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861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0683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76C7-EF18-5F9D-9868-B1E04FAA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375F3-D688-86BE-73B5-4DC7A28E0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5354D-7A3E-829E-F511-9B1A089BB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2647C-70AC-3A82-3A1B-67F54D413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57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23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5204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710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107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858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510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664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05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– Lecture 2 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Trespass to Land and Nuisance 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Private nuisance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nuisance is an action on the case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trespass to land, it protects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tangible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fire, water, dust) and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intangible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noise, smell) interferences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person’s right to use and enjoy her land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that doesn’t mean that every interference will be actionable… as with all torts we need to understand what are the elements…</a:t>
            </a: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7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initiate an action for private nuisance, one should establish: 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1650" lvl="3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plaintiff must have title to sue </a:t>
            </a:r>
          </a:p>
          <a:p>
            <a:pPr marL="1771650" lvl="3" indent="-514350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1650" lvl="3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nuisance caused a substantial and unreasonable interference  </a:t>
            </a: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1650" lvl="3" indent="-514350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1650" lvl="3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defendant created,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continued a state of affairs giving rise to the harm </a:t>
            </a:r>
          </a:p>
          <a:p>
            <a:pPr marL="1771650" lvl="3" indent="-514350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33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to Sue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position: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person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rights in the land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standing to sue for private nuisance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plaintiff should be the owner or tenant with actual possession of the property. A licensee is someone allowed onto land by permission only—like a daughter of the tenant, or a guest to a house, or short‑term Airbnb occupant—they don’t have legal rights to possession </a:t>
            </a:r>
            <a:endParaRPr lang="en-H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Oldham v Lawson (No 1)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[1976] VR 654 – wife and husband sued their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nuisance of persistent noise. Wife had legal rights to land and could sue; husband was licensee only so no title to sue.</a:t>
            </a:r>
          </a:p>
        </p:txBody>
      </p:sp>
    </p:spTree>
    <p:extLst>
      <p:ext uri="{BB962C8B-B14F-4D97-AF65-F5344CB8AC3E}">
        <p14:creationId xmlns:p14="http://schemas.microsoft.com/office/powerpoint/2010/main" val="376289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courts have not always been consistent on who can sue for private nuisance: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Khorasandjian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Bush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(1993) – UK decision- licensee daughter had title to sue for nuisance of prank calls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Deasy Investments Pty Ltd v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Monreast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(1996) – QLD decision followed 1993 Bush case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licensee had title to sue 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Hunter v Canary Wharf Ltd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(1997) – UK decision - overruled 1993 Bush decision – title to sue requires proprietary interest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99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interference must be substantial and unreasonable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substantial and unreasonable? Some allowance has to be made of reasonable action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Courts will try to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strike a balance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competing rights of two people using / enjoying their respective lands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Courts will consider factors such 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alleged nuisance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courts take this on a case by case basis … every fact scenario is unique </a:t>
            </a:r>
          </a:p>
        </p:txBody>
      </p:sp>
    </p:spTree>
    <p:extLst>
      <p:ext uri="{BB962C8B-B14F-4D97-AF65-F5344CB8AC3E}">
        <p14:creationId xmlns:p14="http://schemas.microsoft.com/office/powerpoint/2010/main" val="306345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Munro v Southern Dairies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[1955]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VLR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332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plaintiff alleged nuisance related to noise, smell and flies occasioned by the keeping of horses on the defendant’s premises to run milk distribution business)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observed that to assess the standard of comfort, the test is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“abnormal sensitiveness” – objective test – the standards of an ordinary person in the claimant’s position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all the factors, it found that keeping of horses caused nuisance to the plaintiff </a:t>
            </a:r>
          </a:p>
        </p:txBody>
      </p:sp>
    </p:spTree>
    <p:extLst>
      <p:ext uri="{BB962C8B-B14F-4D97-AF65-F5344CB8AC3E}">
        <p14:creationId xmlns:p14="http://schemas.microsoft.com/office/powerpoint/2010/main" val="241565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2F95-9839-7424-9775-3C055CDC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D528-F0B0-6E2E-55D2-75002930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9A6BB-D2ED-AE1E-A86E-5632E5028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Victoria Park Racing and Recreation Grounds Co Ltd v Taylor (1937) 58 CLR 479 (High Court of Australia)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racecourse operator sought to stop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broadcaster who, from a tall platform on adjoining land, gave live radio descriptions of the races — causing paying patrons to stay away and listen instead. The principal claim was private nuisance.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(majority – Latham CJ, Dixon and McTiernan JJ): No actionable nuisance. Private nuisance protects an occupier's use and enjoyment of land; here the broadcasting caused only lost profits by diverting custom through lawful competition, not interference with any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 incident to occupying the land. As Dixon J put it, diversion of custom "forms a legitimate head of damage recoverable for the wrong; but it is not the wrong itself."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”Overlooking" is not a nuisance: The natural rights of an occupier do not include freedom from being overlooked. It is no wrong to look over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neighbour's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fence and describe what is seen (Latham CJ); freedom from view is "not a legally protected interest" (Dixon J). 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Lets discuss: </a:t>
            </a:r>
            <a:r>
              <a:rPr lang="en-US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Overlooking was not a nuisance in this case…. But every factual scenario is unique! What if the overlooking is akin to harassment or is hostile? Or there is some other factor? </a:t>
            </a:r>
          </a:p>
          <a:p>
            <a:pPr marL="0" indent="0">
              <a:buNone/>
            </a:pPr>
            <a:endParaRPr lang="en-US" sz="2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67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motive or malice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defendant may also be relevant to assess whether the interference was substantial and unreasonable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Hollywood Silver Fox Farm v Emmett </a:t>
            </a:r>
            <a:r>
              <a:rPr lang="en-US" sz="2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[1936] 2 KB 468 </a:t>
            </a:r>
            <a:r>
              <a:rPr lang="en-US" sz="2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defendant deliberately shoot guns upon his land to disturb foxes during the breeding session)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03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defendant created,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authorised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continued a state of affairs giving rise to the harm 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 range of people may be sued for nuisance, not merely the creator of it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discuss the principles that apply...</a:t>
            </a: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nuisance may be liable even if they are not the occupier of the land at a given point of time e.g. the nuisance may be created by a trespasser on land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creator 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strictly liable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nuisance in the sense that even if they took reasonable steps to mitigate the interference, they may still be liable (see [16.95])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occupier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others to undertake activities constituting nuisance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they lease land knowing it would be used as a lime quarry knowing it would cause nuisance) they can be liable 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11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a person who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create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nuisance can also be held liable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‘continuing’ the nuisance? 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Wright: ‘if the defendant did not create the nuisance, he must, if he is to be held responsible, have continued it, which I think means simply neglected to remedy it when he became, or should have become, aware of it.’ [16.120]</a:t>
            </a:r>
          </a:p>
        </p:txBody>
      </p:sp>
    </p:spTree>
    <p:extLst>
      <p:ext uri="{BB962C8B-B14F-4D97-AF65-F5344CB8AC3E}">
        <p14:creationId xmlns:p14="http://schemas.microsoft.com/office/powerpoint/2010/main" val="21549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Defences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nuisance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pleaded in a claim for nuisance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right to continue the interference complained of (must be continued for more than 20 years)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Plaintiff’s conduct or consent is the most pleaded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however, it is no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say that the plaintiff “came to the nuisance”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Statutory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authorisation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if 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activity could not have been performed without the commission of nuisance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Contributory negligence is another possible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nuisance  </a:t>
            </a:r>
          </a:p>
        </p:txBody>
      </p:sp>
    </p:spTree>
    <p:extLst>
      <p:ext uri="{BB962C8B-B14F-4D97-AF65-F5344CB8AC3E}">
        <p14:creationId xmlns:p14="http://schemas.microsoft.com/office/powerpoint/2010/main" val="47322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remedies are available for nuisance: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Damages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Injunction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Abatement (self-help)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6288CD-350E-5913-D79B-D1967254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Remedies for nuisance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430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Remedies for nuisance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Damages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nuisance may be awarded for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to the land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</a:t>
            </a: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loss of trade; decline in the value of property) and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subjective experience</a:t>
            </a: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claim damages for a type of harm, it must be shown that the harm was reasonably foreseeable [see 16.95]</a:t>
            </a: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893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Injunction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normally granted where damages will not be an adequate remedy –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 of recurrence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another factor to consider </a:t>
            </a:r>
          </a:p>
          <a:p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Abatement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alternative to resorting to legal proceedings, but the plaintiff should:</a:t>
            </a:r>
          </a:p>
          <a:p>
            <a:endParaRPr lang="en-HK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cautious in using this remedy </a:t>
            </a:r>
          </a:p>
          <a:p>
            <a:pPr marL="914400" lvl="2" indent="0">
              <a:buNone/>
            </a:pPr>
            <a:endParaRPr lang="en-H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employ reasonable methods to abate nuisance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CEAD79-4712-6BCC-A052-5820A60D5590}"/>
              </a:ext>
            </a:extLst>
          </p:cNvPr>
          <p:cNvSpPr txBox="1">
            <a:spLocks/>
          </p:cNvSpPr>
          <p:nvPr/>
        </p:nvSpPr>
        <p:spPr>
          <a:xfrm>
            <a:off x="872400" y="53879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Remedies for nuisance </a:t>
            </a:r>
            <a:r>
              <a:rPr lang="en-US" sz="2000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884245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16501</TotalTime>
  <Words>1290</Words>
  <Application>Microsoft Macintosh PowerPoint</Application>
  <PresentationFormat>Widescreen</PresentationFormat>
  <Paragraphs>154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Week 3 – Lecture 2  Trespass to Land and Nuisance   </vt:lpstr>
      <vt:lpstr>Nuisance Contd.</vt:lpstr>
      <vt:lpstr>Nuisance Contd.</vt:lpstr>
      <vt:lpstr>Nuisance Contd.</vt:lpstr>
      <vt:lpstr>Nuisance Contd.</vt:lpstr>
      <vt:lpstr>Nuisance Contd.</vt:lpstr>
      <vt:lpstr>Nuisance Contd.</vt:lpstr>
      <vt:lpstr>Nuisance Contd.</vt:lpstr>
      <vt:lpstr>Nuisance Contd.</vt:lpstr>
      <vt:lpstr>Nuisance Contd.</vt:lpstr>
      <vt:lpstr>Nuisance Contd.</vt:lpstr>
      <vt:lpstr>Nuisance Contd.</vt:lpstr>
      <vt:lpstr>Defences for nuisance </vt:lpstr>
      <vt:lpstr>Remedies for nuisance </vt:lpstr>
      <vt:lpstr>Remedies for nuisance Contd.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Ebony Birchall</cp:lastModifiedBy>
  <cp:revision>1098</cp:revision>
  <cp:lastPrinted>2025-08-11T04:54:29Z</cp:lastPrinted>
  <dcterms:created xsi:type="dcterms:W3CDTF">2019-01-24T02:12:19Z</dcterms:created>
  <dcterms:modified xsi:type="dcterms:W3CDTF">2026-08-11T23:20:31Z</dcterms:modified>
</cp:coreProperties>
</file>