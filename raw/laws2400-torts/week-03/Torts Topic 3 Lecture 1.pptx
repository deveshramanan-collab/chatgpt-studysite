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28"/>
  </p:notesMasterIdLst>
  <p:handoutMasterIdLst>
    <p:handoutMasterId r:id="rId29"/>
  </p:handoutMasterIdLst>
  <p:sldIdLst>
    <p:sldId id="303" r:id="rId2"/>
    <p:sldId id="256" r:id="rId3"/>
    <p:sldId id="258" r:id="rId4"/>
    <p:sldId id="333" r:id="rId5"/>
    <p:sldId id="336" r:id="rId6"/>
    <p:sldId id="335" r:id="rId7"/>
    <p:sldId id="373" r:id="rId8"/>
    <p:sldId id="372" r:id="rId9"/>
    <p:sldId id="371" r:id="rId10"/>
    <p:sldId id="375" r:id="rId11"/>
    <p:sldId id="374" r:id="rId12"/>
    <p:sldId id="370" r:id="rId13"/>
    <p:sldId id="386" r:id="rId14"/>
    <p:sldId id="376" r:id="rId15"/>
    <p:sldId id="387" r:id="rId16"/>
    <p:sldId id="377" r:id="rId17"/>
    <p:sldId id="337" r:id="rId18"/>
    <p:sldId id="353" r:id="rId19"/>
    <p:sldId id="340" r:id="rId20"/>
    <p:sldId id="381" r:id="rId21"/>
    <p:sldId id="339" r:id="rId22"/>
    <p:sldId id="389" r:id="rId23"/>
    <p:sldId id="382" r:id="rId24"/>
    <p:sldId id="383" r:id="rId25"/>
    <p:sldId id="384" r:id="rId26"/>
    <p:sldId id="38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33312B-7CEC-4E4C-A001-9FA665A5D9C5}" v="17" dt="2026-08-13T02:47:42.7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130" autoAdjust="0"/>
    <p:restoredTop sz="93447" autoAdjust="0"/>
  </p:normalViewPr>
  <p:slideViewPr>
    <p:cSldViewPr snapToGrid="0" snapToObjects="1">
      <p:cViewPr varScale="1">
        <p:scale>
          <a:sx n="96" d="100"/>
          <a:sy n="96" d="100"/>
        </p:scale>
        <p:origin x="176" y="848"/>
      </p:cViewPr>
      <p:guideLst/>
    </p:cSldViewPr>
  </p:slideViewPr>
  <p:outlineViewPr>
    <p:cViewPr>
      <p:scale>
        <a:sx n="33" d="100"/>
        <a:sy n="33" d="100"/>
      </p:scale>
      <p:origin x="0" y="-5233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120" d="100"/>
          <a:sy n="120" d="100"/>
        </p:scale>
        <p:origin x="2544" y="-19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Head" userId="3622ac83-72fb-4480-aaff-0580f4ad655a" providerId="ADAL" clId="{6BBF4A71-3A44-5905-A51C-0BDCE69EAF34}"/>
    <pc:docChg chg="undo custSel addSld delSld modSld">
      <pc:chgData name="Amanda Head" userId="3622ac83-72fb-4480-aaff-0580f4ad655a" providerId="ADAL" clId="{6BBF4A71-3A44-5905-A51C-0BDCE69EAF34}" dt="2026-08-13T02:58:45.729" v="1272" actId="20577"/>
      <pc:docMkLst>
        <pc:docMk/>
      </pc:docMkLst>
      <pc:sldChg chg="addSp modSp add mod setBg">
        <pc:chgData name="Amanda Head" userId="3622ac83-72fb-4480-aaff-0580f4ad655a" providerId="ADAL" clId="{6BBF4A71-3A44-5905-A51C-0BDCE69EAF34}" dt="2026-08-12T23:04:04.595" v="4" actId="14100"/>
        <pc:sldMkLst>
          <pc:docMk/>
          <pc:sldMk cId="1929549234" sldId="256"/>
        </pc:sldMkLst>
        <pc:picChg chg="add mod">
          <ac:chgData name="Amanda Head" userId="3622ac83-72fb-4480-aaff-0580f4ad655a" providerId="ADAL" clId="{6BBF4A71-3A44-5905-A51C-0BDCE69EAF34}" dt="2026-08-12T23:04:04.595" v="4" actId="14100"/>
          <ac:picMkLst>
            <pc:docMk/>
            <pc:sldMk cId="1929549234" sldId="256"/>
            <ac:picMk id="3" creationId="{B9620C5B-02A3-9A5D-A20F-EA797090702F}"/>
          </ac:picMkLst>
        </pc:picChg>
      </pc:sldChg>
      <pc:sldChg chg="delSp del mod">
        <pc:chgData name="Amanda Head" userId="3622ac83-72fb-4480-aaff-0580f4ad655a" providerId="ADAL" clId="{6BBF4A71-3A44-5905-A51C-0BDCE69EAF34}" dt="2026-08-12T23:04:07.418" v="5" actId="2696"/>
        <pc:sldMkLst>
          <pc:docMk/>
          <pc:sldMk cId="2410549854" sldId="264"/>
        </pc:sldMkLst>
        <pc:picChg chg="del">
          <ac:chgData name="Amanda Head" userId="3622ac83-72fb-4480-aaff-0580f4ad655a" providerId="ADAL" clId="{6BBF4A71-3A44-5905-A51C-0BDCE69EAF34}" dt="2026-08-12T23:00:46.082" v="0" actId="478"/>
          <ac:picMkLst>
            <pc:docMk/>
            <pc:sldMk cId="2410549854" sldId="264"/>
            <ac:picMk id="3" creationId="{5ECBB633-83EE-28E3-9566-8ACD6DDA24BD}"/>
          </ac:picMkLst>
        </pc:picChg>
      </pc:sldChg>
      <pc:sldChg chg="modSp mod">
        <pc:chgData name="Amanda Head" userId="3622ac83-72fb-4480-aaff-0580f4ad655a" providerId="ADAL" clId="{6BBF4A71-3A44-5905-A51C-0BDCE69EAF34}" dt="2026-08-13T02:58:45.729" v="1272" actId="20577"/>
        <pc:sldMkLst>
          <pc:docMk/>
          <pc:sldMk cId="865280206" sldId="336"/>
        </pc:sldMkLst>
        <pc:spChg chg="mod">
          <ac:chgData name="Amanda Head" userId="3622ac83-72fb-4480-aaff-0580f4ad655a" providerId="ADAL" clId="{6BBF4A71-3A44-5905-A51C-0BDCE69EAF34}" dt="2026-08-13T02:58:45.729" v="1272" actId="20577"/>
          <ac:spMkLst>
            <pc:docMk/>
            <pc:sldMk cId="865280206" sldId="336"/>
            <ac:spMk id="3" creationId="{EEA464B0-4368-47D8-802B-4FB5B5FAD6E7}"/>
          </ac:spMkLst>
        </pc:spChg>
      </pc:sldChg>
      <pc:sldChg chg="modSp mod">
        <pc:chgData name="Amanda Head" userId="3622ac83-72fb-4480-aaff-0580f4ad655a" providerId="ADAL" clId="{6BBF4A71-3A44-5905-A51C-0BDCE69EAF34}" dt="2026-08-13T02:46:20.553" v="1154" actId="20577"/>
        <pc:sldMkLst>
          <pc:docMk/>
          <pc:sldMk cId="847723938" sldId="337"/>
        </pc:sldMkLst>
        <pc:spChg chg="mod">
          <ac:chgData name="Amanda Head" userId="3622ac83-72fb-4480-aaff-0580f4ad655a" providerId="ADAL" clId="{6BBF4A71-3A44-5905-A51C-0BDCE69EAF34}" dt="2026-08-13T02:46:20.553" v="1154" actId="20577"/>
          <ac:spMkLst>
            <pc:docMk/>
            <pc:sldMk cId="847723938" sldId="337"/>
            <ac:spMk id="3" creationId="{EEA464B0-4368-47D8-802B-4FB5B5FAD6E7}"/>
          </ac:spMkLst>
        </pc:spChg>
      </pc:sldChg>
      <pc:sldChg chg="modSp mod">
        <pc:chgData name="Amanda Head" userId="3622ac83-72fb-4480-aaff-0580f4ad655a" providerId="ADAL" clId="{6BBF4A71-3A44-5905-A51C-0BDCE69EAF34}" dt="2026-08-13T02:41:42.882" v="1114" actId="20577"/>
        <pc:sldMkLst>
          <pc:docMk/>
          <pc:sldMk cId="3529149828" sldId="372"/>
        </pc:sldMkLst>
        <pc:spChg chg="mod">
          <ac:chgData name="Amanda Head" userId="3622ac83-72fb-4480-aaff-0580f4ad655a" providerId="ADAL" clId="{6BBF4A71-3A44-5905-A51C-0BDCE69EAF34}" dt="2026-08-13T02:41:42.882" v="1114" actId="20577"/>
          <ac:spMkLst>
            <pc:docMk/>
            <pc:sldMk cId="3529149828" sldId="372"/>
            <ac:spMk id="3" creationId="{EEA464B0-4368-47D8-802B-4FB5B5FAD6E7}"/>
          </ac:spMkLst>
        </pc:spChg>
        <pc:spChg chg="mod">
          <ac:chgData name="Amanda Head" userId="3622ac83-72fb-4480-aaff-0580f4ad655a" providerId="ADAL" clId="{6BBF4A71-3A44-5905-A51C-0BDCE69EAF34}" dt="2026-08-12T23:12:57.386" v="203" actId="1076"/>
          <ac:spMkLst>
            <pc:docMk/>
            <pc:sldMk cId="3529149828" sldId="372"/>
            <ac:spMk id="4" creationId="{A81676A4-0CFC-A2E9-3411-D23046CE6D1D}"/>
          </ac:spMkLst>
        </pc:spChg>
      </pc:sldChg>
      <pc:sldChg chg="modSp mod">
        <pc:chgData name="Amanda Head" userId="3622ac83-72fb-4480-aaff-0580f4ad655a" providerId="ADAL" clId="{6BBF4A71-3A44-5905-A51C-0BDCE69EAF34}" dt="2026-08-13T02:45:14.688" v="1134" actId="20577"/>
        <pc:sldMkLst>
          <pc:docMk/>
          <pc:sldMk cId="2664670219" sldId="376"/>
        </pc:sldMkLst>
        <pc:spChg chg="mod">
          <ac:chgData name="Amanda Head" userId="3622ac83-72fb-4480-aaff-0580f4ad655a" providerId="ADAL" clId="{6BBF4A71-3A44-5905-A51C-0BDCE69EAF34}" dt="2026-08-13T02:45:14.688" v="1134" actId="20577"/>
          <ac:spMkLst>
            <pc:docMk/>
            <pc:sldMk cId="2664670219" sldId="376"/>
            <ac:spMk id="3" creationId="{EEA464B0-4368-47D8-802B-4FB5B5FAD6E7}"/>
          </ac:spMkLst>
        </pc:spChg>
      </pc:sldChg>
      <pc:sldChg chg="modSp del mod">
        <pc:chgData name="Amanda Head" userId="3622ac83-72fb-4480-aaff-0580f4ad655a" providerId="ADAL" clId="{6BBF4A71-3A44-5905-A51C-0BDCE69EAF34}" dt="2026-08-13T02:40:53.285" v="1087" actId="2696"/>
        <pc:sldMkLst>
          <pc:docMk/>
          <pc:sldMk cId="3047360177" sldId="380"/>
        </pc:sldMkLst>
        <pc:spChg chg="mod">
          <ac:chgData name="Amanda Head" userId="3622ac83-72fb-4480-aaff-0580f4ad655a" providerId="ADAL" clId="{6BBF4A71-3A44-5905-A51C-0BDCE69EAF34}" dt="2026-08-13T00:23:08.147" v="815" actId="15"/>
          <ac:spMkLst>
            <pc:docMk/>
            <pc:sldMk cId="3047360177" sldId="380"/>
            <ac:spMk id="3" creationId="{EEA464B0-4368-47D8-802B-4FB5B5FAD6E7}"/>
          </ac:spMkLst>
        </pc:spChg>
      </pc:sldChg>
      <pc:sldChg chg="modSp mod">
        <pc:chgData name="Amanda Head" userId="3622ac83-72fb-4480-aaff-0580f4ad655a" providerId="ADAL" clId="{6BBF4A71-3A44-5905-A51C-0BDCE69EAF34}" dt="2026-08-13T02:36:24.079" v="1082" actId="1076"/>
        <pc:sldMkLst>
          <pc:docMk/>
          <pc:sldMk cId="1233473911" sldId="382"/>
        </pc:sldMkLst>
        <pc:spChg chg="mod">
          <ac:chgData name="Amanda Head" userId="3622ac83-72fb-4480-aaff-0580f4ad655a" providerId="ADAL" clId="{6BBF4A71-3A44-5905-A51C-0BDCE69EAF34}" dt="2026-08-13T02:36:01.903" v="1079"/>
          <ac:spMkLst>
            <pc:docMk/>
            <pc:sldMk cId="1233473911" sldId="382"/>
            <ac:spMk id="3" creationId="{EEA464B0-4368-47D8-802B-4FB5B5FAD6E7}"/>
          </ac:spMkLst>
        </pc:spChg>
        <pc:spChg chg="mod">
          <ac:chgData name="Amanda Head" userId="3622ac83-72fb-4480-aaff-0580f4ad655a" providerId="ADAL" clId="{6BBF4A71-3A44-5905-A51C-0BDCE69EAF34}" dt="2026-08-13T02:36:24.079" v="1082" actId="1076"/>
          <ac:spMkLst>
            <pc:docMk/>
            <pc:sldMk cId="1233473911" sldId="382"/>
            <ac:spMk id="4" creationId="{1887277C-F608-63BC-F244-EAE1E235676A}"/>
          </ac:spMkLst>
        </pc:spChg>
      </pc:sldChg>
      <pc:sldChg chg="modSp add mod">
        <pc:chgData name="Amanda Head" userId="3622ac83-72fb-4480-aaff-0580f4ad655a" providerId="ADAL" clId="{6BBF4A71-3A44-5905-A51C-0BDCE69EAF34}" dt="2026-08-13T02:49:48.139" v="1213" actId="20577"/>
        <pc:sldMkLst>
          <pc:docMk/>
          <pc:sldMk cId="3944423269" sldId="386"/>
        </pc:sldMkLst>
        <pc:spChg chg="mod">
          <ac:chgData name="Amanda Head" userId="3622ac83-72fb-4480-aaff-0580f4ad655a" providerId="ADAL" clId="{6BBF4A71-3A44-5905-A51C-0BDCE69EAF34}" dt="2026-08-13T02:49:48.139" v="1213" actId="20577"/>
          <ac:spMkLst>
            <pc:docMk/>
            <pc:sldMk cId="3944423269" sldId="386"/>
            <ac:spMk id="3" creationId="{066A84F7-D57D-35C0-7C3B-D296CABB05B5}"/>
          </ac:spMkLst>
        </pc:spChg>
      </pc:sldChg>
      <pc:sldChg chg="modSp add mod">
        <pc:chgData name="Amanda Head" userId="3622ac83-72fb-4480-aaff-0580f4ad655a" providerId="ADAL" clId="{6BBF4A71-3A44-5905-A51C-0BDCE69EAF34}" dt="2026-08-13T00:16:05.812" v="809" actId="207"/>
        <pc:sldMkLst>
          <pc:docMk/>
          <pc:sldMk cId="3684286634" sldId="387"/>
        </pc:sldMkLst>
        <pc:spChg chg="mod">
          <ac:chgData name="Amanda Head" userId="3622ac83-72fb-4480-aaff-0580f4ad655a" providerId="ADAL" clId="{6BBF4A71-3A44-5905-A51C-0BDCE69EAF34}" dt="2026-08-13T00:16:05.812" v="809" actId="207"/>
          <ac:spMkLst>
            <pc:docMk/>
            <pc:sldMk cId="3684286634" sldId="387"/>
            <ac:spMk id="3" creationId="{3F3822DC-A768-0976-2CB7-18CEA9249DE3}"/>
          </ac:spMkLst>
        </pc:spChg>
      </pc:sldChg>
      <pc:sldChg chg="modSp add del mod">
        <pc:chgData name="Amanda Head" userId="3622ac83-72fb-4480-aaff-0580f4ad655a" providerId="ADAL" clId="{6BBF4A71-3A44-5905-A51C-0BDCE69EAF34}" dt="2026-08-13T02:37:16.951" v="1083" actId="2696"/>
        <pc:sldMkLst>
          <pc:docMk/>
          <pc:sldMk cId="2808949261" sldId="388"/>
        </pc:sldMkLst>
        <pc:spChg chg="mod">
          <ac:chgData name="Amanda Head" userId="3622ac83-72fb-4480-aaff-0580f4ad655a" providerId="ADAL" clId="{6BBF4A71-3A44-5905-A51C-0BDCE69EAF34}" dt="2026-08-13T02:18:31.168" v="1075" actId="255"/>
          <ac:spMkLst>
            <pc:docMk/>
            <pc:sldMk cId="2808949261" sldId="388"/>
            <ac:spMk id="3" creationId="{43E9F2C6-76E2-1972-F36F-4D15858B759C}"/>
          </ac:spMkLst>
        </pc:spChg>
      </pc:sldChg>
      <pc:sldChg chg="add">
        <pc:chgData name="Amanda Head" userId="3622ac83-72fb-4480-aaff-0580f4ad655a" providerId="ADAL" clId="{6BBF4A71-3A44-5905-A51C-0BDCE69EAF34}" dt="2026-08-13T02:34:46.221" v="1077"/>
        <pc:sldMkLst>
          <pc:docMk/>
          <pc:sldMk cId="2823397202" sldId="38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13/8/2026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13/8/2026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dirty="0"/>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dirty="0"/>
          </a:p>
        </p:txBody>
      </p:sp>
    </p:spTree>
    <p:extLst>
      <p:ext uri="{BB962C8B-B14F-4D97-AF65-F5344CB8AC3E}">
        <p14:creationId xmlns:p14="http://schemas.microsoft.com/office/powerpoint/2010/main" val="357539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dirty="0"/>
          </a:p>
        </p:txBody>
      </p:sp>
    </p:spTree>
    <p:extLst>
      <p:ext uri="{BB962C8B-B14F-4D97-AF65-F5344CB8AC3E}">
        <p14:creationId xmlns:p14="http://schemas.microsoft.com/office/powerpoint/2010/main" val="419729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dirty="0"/>
          </a:p>
        </p:txBody>
      </p:sp>
    </p:spTree>
    <p:extLst>
      <p:ext uri="{BB962C8B-B14F-4D97-AF65-F5344CB8AC3E}">
        <p14:creationId xmlns:p14="http://schemas.microsoft.com/office/powerpoint/2010/main" val="1662796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6</a:t>
            </a:fld>
            <a:endParaRPr lang="en-AU" dirty="0"/>
          </a:p>
        </p:txBody>
      </p:sp>
    </p:spTree>
    <p:extLst>
      <p:ext uri="{BB962C8B-B14F-4D97-AF65-F5344CB8AC3E}">
        <p14:creationId xmlns:p14="http://schemas.microsoft.com/office/powerpoint/2010/main" val="2924084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7</a:t>
            </a:fld>
            <a:endParaRPr lang="en-AU" dirty="0"/>
          </a:p>
        </p:txBody>
      </p:sp>
    </p:spTree>
    <p:extLst>
      <p:ext uri="{BB962C8B-B14F-4D97-AF65-F5344CB8AC3E}">
        <p14:creationId xmlns:p14="http://schemas.microsoft.com/office/powerpoint/2010/main" val="19837879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8</a:t>
            </a:fld>
            <a:endParaRPr lang="en-AU" dirty="0"/>
          </a:p>
        </p:txBody>
      </p:sp>
    </p:spTree>
    <p:extLst>
      <p:ext uri="{BB962C8B-B14F-4D97-AF65-F5344CB8AC3E}">
        <p14:creationId xmlns:p14="http://schemas.microsoft.com/office/powerpoint/2010/main" val="3921129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9</a:t>
            </a:fld>
            <a:endParaRPr lang="en-AU" dirty="0"/>
          </a:p>
        </p:txBody>
      </p:sp>
    </p:spTree>
    <p:extLst>
      <p:ext uri="{BB962C8B-B14F-4D97-AF65-F5344CB8AC3E}">
        <p14:creationId xmlns:p14="http://schemas.microsoft.com/office/powerpoint/2010/main" val="3280875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10</a:t>
            </a:fld>
            <a:endParaRPr lang="en-AU" dirty="0"/>
          </a:p>
        </p:txBody>
      </p:sp>
    </p:spTree>
    <p:extLst>
      <p:ext uri="{BB962C8B-B14F-4D97-AF65-F5344CB8AC3E}">
        <p14:creationId xmlns:p14="http://schemas.microsoft.com/office/powerpoint/2010/main" val="1840134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11</a:t>
            </a:fld>
            <a:endParaRPr lang="en-AU" dirty="0"/>
          </a:p>
        </p:txBody>
      </p:sp>
    </p:spTree>
    <p:extLst>
      <p:ext uri="{BB962C8B-B14F-4D97-AF65-F5344CB8AC3E}">
        <p14:creationId xmlns:p14="http://schemas.microsoft.com/office/powerpoint/2010/main" val="3192219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12</a:t>
            </a:fld>
            <a:endParaRPr lang="en-AU" dirty="0"/>
          </a:p>
        </p:txBody>
      </p:sp>
    </p:spTree>
    <p:extLst>
      <p:ext uri="{BB962C8B-B14F-4D97-AF65-F5344CB8AC3E}">
        <p14:creationId xmlns:p14="http://schemas.microsoft.com/office/powerpoint/2010/main" val="1627752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DDD01-A470-D92F-8317-3413D010F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D1E4D-2CFC-F07B-4B0D-237D2B1FF1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59448-9D80-CB4B-CA8E-887ED682AB3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9863691C-6AE2-11E0-4E86-E24EA1C49CA9}"/>
              </a:ext>
            </a:extLst>
          </p:cNvPr>
          <p:cNvSpPr>
            <a:spLocks noGrp="1"/>
          </p:cNvSpPr>
          <p:nvPr>
            <p:ph type="sldNum" sz="quarter" idx="5"/>
          </p:nvPr>
        </p:nvSpPr>
        <p:spPr/>
        <p:txBody>
          <a:bodyPr/>
          <a:lstStyle/>
          <a:p>
            <a:fld id="{639142E5-A706-4C60-B43E-D82CA518B040}" type="slidenum">
              <a:rPr lang="en-AU" smtClean="0"/>
              <a:t>13</a:t>
            </a:fld>
            <a:endParaRPr lang="en-AU" dirty="0"/>
          </a:p>
        </p:txBody>
      </p:sp>
    </p:spTree>
    <p:extLst>
      <p:ext uri="{BB962C8B-B14F-4D97-AF65-F5344CB8AC3E}">
        <p14:creationId xmlns:p14="http://schemas.microsoft.com/office/powerpoint/2010/main" val="2546380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14</a:t>
            </a:fld>
            <a:endParaRPr lang="en-AU" dirty="0"/>
          </a:p>
        </p:txBody>
      </p:sp>
    </p:spTree>
    <p:extLst>
      <p:ext uri="{BB962C8B-B14F-4D97-AF65-F5344CB8AC3E}">
        <p14:creationId xmlns:p14="http://schemas.microsoft.com/office/powerpoint/2010/main" val="3471518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307B4-A2A8-A04A-B295-B9E1F3ABB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30F07-C771-7D0D-B548-302F9942E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3CF4C-C288-1650-6701-EF32813E8E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025F9BC1-D23E-1B46-B9DD-266015A53B4A}"/>
              </a:ext>
            </a:extLst>
          </p:cNvPr>
          <p:cNvSpPr>
            <a:spLocks noGrp="1"/>
          </p:cNvSpPr>
          <p:nvPr>
            <p:ph type="sldNum" sz="quarter" idx="5"/>
          </p:nvPr>
        </p:nvSpPr>
        <p:spPr/>
        <p:txBody>
          <a:bodyPr/>
          <a:lstStyle/>
          <a:p>
            <a:fld id="{639142E5-A706-4C60-B43E-D82CA518B040}" type="slidenum">
              <a:rPr lang="en-AU" smtClean="0"/>
              <a:t>15</a:t>
            </a:fld>
            <a:endParaRPr lang="en-AU" dirty="0"/>
          </a:p>
        </p:txBody>
      </p:sp>
    </p:spTree>
    <p:extLst>
      <p:ext uri="{BB962C8B-B14F-4D97-AF65-F5344CB8AC3E}">
        <p14:creationId xmlns:p14="http://schemas.microsoft.com/office/powerpoint/2010/main" val="1082363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16</a:t>
            </a:fld>
            <a:endParaRPr lang="en-AU" dirty="0"/>
          </a:p>
        </p:txBody>
      </p:sp>
    </p:spTree>
    <p:extLst>
      <p:ext uri="{BB962C8B-B14F-4D97-AF65-F5344CB8AC3E}">
        <p14:creationId xmlns:p14="http://schemas.microsoft.com/office/powerpoint/2010/main" val="2599076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17</a:t>
            </a:fld>
            <a:endParaRPr lang="en-AU"/>
          </a:p>
        </p:txBody>
      </p:sp>
    </p:spTree>
    <p:extLst>
      <p:ext uri="{BB962C8B-B14F-4D97-AF65-F5344CB8AC3E}">
        <p14:creationId xmlns:p14="http://schemas.microsoft.com/office/powerpoint/2010/main" val="18131713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18</a:t>
            </a:fld>
            <a:endParaRPr lang="en-AU"/>
          </a:p>
        </p:txBody>
      </p:sp>
    </p:spTree>
    <p:extLst>
      <p:ext uri="{BB962C8B-B14F-4D97-AF65-F5344CB8AC3E}">
        <p14:creationId xmlns:p14="http://schemas.microsoft.com/office/powerpoint/2010/main" val="238552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19</a:t>
            </a:fld>
            <a:endParaRPr lang="en-AU"/>
          </a:p>
        </p:txBody>
      </p:sp>
    </p:spTree>
    <p:extLst>
      <p:ext uri="{BB962C8B-B14F-4D97-AF65-F5344CB8AC3E}">
        <p14:creationId xmlns:p14="http://schemas.microsoft.com/office/powerpoint/2010/main" val="27327893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20</a:t>
            </a:fld>
            <a:endParaRPr lang="en-AU"/>
          </a:p>
        </p:txBody>
      </p:sp>
    </p:spTree>
    <p:extLst>
      <p:ext uri="{BB962C8B-B14F-4D97-AF65-F5344CB8AC3E}">
        <p14:creationId xmlns:p14="http://schemas.microsoft.com/office/powerpoint/2010/main" val="2682903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21</a:t>
            </a:fld>
            <a:endParaRPr lang="en-AU"/>
          </a:p>
        </p:txBody>
      </p:sp>
    </p:spTree>
    <p:extLst>
      <p:ext uri="{BB962C8B-B14F-4D97-AF65-F5344CB8AC3E}">
        <p14:creationId xmlns:p14="http://schemas.microsoft.com/office/powerpoint/2010/main" val="2559494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22</a:t>
            </a:fld>
            <a:endParaRPr lang="en-AU"/>
          </a:p>
        </p:txBody>
      </p:sp>
    </p:spTree>
    <p:extLst>
      <p:ext uri="{BB962C8B-B14F-4D97-AF65-F5344CB8AC3E}">
        <p14:creationId xmlns:p14="http://schemas.microsoft.com/office/powerpoint/2010/main" val="1109515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23</a:t>
            </a:fld>
            <a:endParaRPr lang="en-AU"/>
          </a:p>
        </p:txBody>
      </p:sp>
    </p:spTree>
    <p:extLst>
      <p:ext uri="{BB962C8B-B14F-4D97-AF65-F5344CB8AC3E}">
        <p14:creationId xmlns:p14="http://schemas.microsoft.com/office/powerpoint/2010/main" val="42112390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24</a:t>
            </a:fld>
            <a:endParaRPr lang="en-AU"/>
          </a:p>
        </p:txBody>
      </p:sp>
    </p:spTree>
    <p:extLst>
      <p:ext uri="{BB962C8B-B14F-4D97-AF65-F5344CB8AC3E}">
        <p14:creationId xmlns:p14="http://schemas.microsoft.com/office/powerpoint/2010/main" val="32443120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25</a:t>
            </a:fld>
            <a:endParaRPr lang="en-AU"/>
          </a:p>
        </p:txBody>
      </p:sp>
    </p:spTree>
    <p:extLst>
      <p:ext uri="{BB962C8B-B14F-4D97-AF65-F5344CB8AC3E}">
        <p14:creationId xmlns:p14="http://schemas.microsoft.com/office/powerpoint/2010/main" val="12530169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26</a:t>
            </a:fld>
            <a:endParaRPr lang="en-AU"/>
          </a:p>
        </p:txBody>
      </p:sp>
    </p:spTree>
    <p:extLst>
      <p:ext uri="{BB962C8B-B14F-4D97-AF65-F5344CB8AC3E}">
        <p14:creationId xmlns:p14="http://schemas.microsoft.com/office/powerpoint/2010/main" val="20269406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dirty="0"/>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dirty="0">
                <a:solidFill>
                  <a:srgbClr val="6D0020"/>
                </a:solidFill>
              </a:rPr>
              <a:t>HEADER INFO</a:t>
            </a:r>
          </a:p>
          <a:p>
            <a:r>
              <a:rPr lang="en-US" dirty="0" err="1">
                <a:latin typeface="Georgia"/>
                <a:cs typeface="Georgia"/>
              </a:rPr>
              <a:t>Consectetur</a:t>
            </a:r>
            <a:r>
              <a:rPr lang="en-US" dirty="0">
                <a:latin typeface="Georgia"/>
                <a:cs typeface="Georgia"/>
              </a:rPr>
              <a:t>  met </a:t>
            </a:r>
            <a:r>
              <a:rPr lang="en-US" dirty="0" err="1">
                <a:latin typeface="Georgia"/>
                <a:cs typeface="Georgia"/>
              </a:rPr>
              <a:t>adipiscing</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Aenean</a:t>
            </a:r>
            <a:r>
              <a:rPr lang="en-US" dirty="0">
                <a:latin typeface="Georgia"/>
                <a:cs typeface="Georgia"/>
              </a:rPr>
              <a:t> ac </a:t>
            </a:r>
            <a:r>
              <a:rPr lang="en-US" dirty="0" err="1">
                <a:latin typeface="Georgia"/>
                <a:cs typeface="Georgia"/>
              </a:rPr>
              <a:t>elit</a:t>
            </a:r>
            <a:r>
              <a:rPr lang="en-US" dirty="0">
                <a:latin typeface="Georgia"/>
                <a:cs typeface="Georgia"/>
              </a:rPr>
              <a:t> a </a:t>
            </a:r>
            <a:r>
              <a:rPr lang="en-US" dirty="0" err="1">
                <a:latin typeface="Georgia"/>
                <a:cs typeface="Georgia"/>
              </a:rPr>
              <a:t>felis</a:t>
            </a:r>
            <a:r>
              <a:rPr lang="en-US" dirty="0">
                <a:latin typeface="Georgia"/>
                <a:cs typeface="Georgia"/>
              </a:rPr>
              <a:t> </a:t>
            </a:r>
            <a:r>
              <a:rPr lang="en-US" dirty="0" err="1">
                <a:latin typeface="Georgia"/>
                <a:cs typeface="Georgia"/>
              </a:rPr>
              <a:t>pharetra</a:t>
            </a:r>
            <a:r>
              <a:rPr lang="en-US" dirty="0">
                <a:latin typeface="Georgia"/>
                <a:cs typeface="Georgia"/>
              </a:rPr>
              <a:t> </a:t>
            </a:r>
            <a:br>
              <a:rPr lang="en-US" dirty="0">
                <a:latin typeface="Georgia"/>
                <a:cs typeface="Georgia"/>
              </a:rPr>
            </a:br>
            <a:r>
              <a:rPr lang="en-US" dirty="0" err="1">
                <a:latin typeface="Georgia"/>
                <a:cs typeface="Georgia"/>
              </a:rPr>
              <a:t>vel</a:t>
            </a:r>
            <a:r>
              <a:rPr lang="en-US" dirty="0">
                <a:latin typeface="Georgia"/>
                <a:cs typeface="Georgia"/>
              </a:rPr>
              <a:t> </a:t>
            </a:r>
            <a:r>
              <a:rPr lang="en-US" dirty="0" err="1">
                <a:latin typeface="Georgia"/>
                <a:cs typeface="Georgia"/>
              </a:rPr>
              <a:t>Fringilla</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Duis</a:t>
            </a:r>
            <a:r>
              <a:rPr lang="en-US" dirty="0">
                <a:latin typeface="Georgia"/>
                <a:cs typeface="Georgia"/>
              </a:rPr>
              <a:t> dui </a:t>
            </a:r>
            <a:r>
              <a:rPr lang="en-US" dirty="0" err="1">
                <a:latin typeface="Georgia"/>
                <a:cs typeface="Georgia"/>
              </a:rPr>
              <a:t>arcu</a:t>
            </a:r>
            <a:r>
              <a:rPr lang="en-US" dirty="0">
                <a:latin typeface="Georgia"/>
                <a:cs typeface="Georgia"/>
              </a:rPr>
              <a:t>, </a:t>
            </a:r>
            <a:r>
              <a:rPr lang="en-US" dirty="0" err="1">
                <a:latin typeface="Georgia"/>
                <a:cs typeface="Georgia"/>
              </a:rPr>
              <a:t>amet</a:t>
            </a:r>
            <a:r>
              <a:rPr lang="en-US" dirty="0">
                <a:latin typeface="Georgia"/>
                <a:cs typeface="Georgia"/>
              </a:rPr>
              <a:t> </a:t>
            </a:r>
            <a:r>
              <a:rPr lang="en-US" dirty="0" err="1">
                <a:latin typeface="Georgia"/>
                <a:cs typeface="Georgia"/>
              </a:rPr>
              <a:t>scelerisque</a:t>
            </a:r>
            <a:r>
              <a:rPr lang="en-US" dirty="0">
                <a:latin typeface="Georgia"/>
                <a:cs typeface="Georgia"/>
              </a:rPr>
              <a:t> </a:t>
            </a:r>
            <a:r>
              <a:rPr lang="en-US" dirty="0" err="1">
                <a:latin typeface="Georgia"/>
                <a:cs typeface="Georgia"/>
              </a:rPr>
              <a:t>nec</a:t>
            </a:r>
            <a:r>
              <a:rPr lang="en-US" dirty="0">
                <a:latin typeface="Georgia"/>
                <a:cs typeface="Georgia"/>
              </a:rPr>
              <a:t> dictum </a:t>
            </a:r>
            <a:br>
              <a:rPr lang="en-US" dirty="0">
                <a:latin typeface="Georgia"/>
                <a:cs typeface="Georgia"/>
              </a:rPr>
            </a:br>
            <a:r>
              <a:rPr lang="en-US" dirty="0">
                <a:latin typeface="Georgia"/>
                <a:cs typeface="Georgia"/>
              </a:rPr>
              <a:t>ac </a:t>
            </a:r>
            <a:r>
              <a:rPr lang="en-US" dirty="0" err="1">
                <a:latin typeface="Georgia"/>
                <a:cs typeface="Georgia"/>
              </a:rPr>
              <a:t>conse</a:t>
            </a:r>
            <a:r>
              <a:rPr lang="en-US" dirty="0">
                <a:latin typeface="Georgia"/>
                <a:cs typeface="Georgia"/>
              </a:rPr>
              <a:t> </a:t>
            </a:r>
            <a:r>
              <a:rPr lang="en-US" dirty="0" err="1">
                <a:latin typeface="Georgia"/>
                <a:cs typeface="Georgia"/>
              </a:rPr>
              <a:t>eu</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Donec</a:t>
            </a:r>
            <a:r>
              <a:rPr lang="en-US" dirty="0">
                <a:latin typeface="Georgia"/>
                <a:cs typeface="Georgia"/>
              </a:rPr>
              <a:t> </a:t>
            </a:r>
            <a:r>
              <a:rPr lang="en-US" dirty="0" err="1">
                <a:latin typeface="Georgia"/>
                <a:cs typeface="Georgia"/>
              </a:rPr>
              <a:t>tincid</a:t>
            </a:r>
            <a:r>
              <a:rPr lang="en-US" dirty="0">
                <a:latin typeface="Georgia"/>
                <a:cs typeface="Georgia"/>
              </a:rPr>
              <a:t> </a:t>
            </a:r>
            <a:r>
              <a:rPr lang="en-US" dirty="0" err="1">
                <a:latin typeface="Georgia"/>
                <a:cs typeface="Georgia"/>
              </a:rPr>
              <a:t>unt</a:t>
            </a:r>
            <a:r>
              <a:rPr lang="en-US" dirty="0">
                <a:latin typeface="Georgia"/>
                <a:cs typeface="Georgia"/>
              </a:rPr>
              <a:t> </a:t>
            </a:r>
            <a:r>
              <a:rPr lang="en-US" dirty="0" err="1">
                <a:latin typeface="Georgia"/>
                <a:cs typeface="Georgia"/>
              </a:rPr>
              <a:t>enim</a:t>
            </a:r>
            <a:r>
              <a:rPr lang="en-US" dirty="0">
                <a:latin typeface="Georgia"/>
                <a:cs typeface="Georgia"/>
              </a:rPr>
              <a:t> sit </a:t>
            </a:r>
            <a:r>
              <a:rPr lang="en-US" dirty="0" err="1">
                <a:latin typeface="Georgia"/>
                <a:cs typeface="Georgia"/>
              </a:rPr>
              <a:t>amet</a:t>
            </a:r>
            <a:r>
              <a:rPr lang="en-US" dirty="0">
                <a:latin typeface="Georgia"/>
                <a:cs typeface="Georgia"/>
              </a:rPr>
              <a:t> </a:t>
            </a:r>
            <a:r>
              <a:rPr lang="en-US" dirty="0" err="1">
                <a:latin typeface="Georgia"/>
                <a:cs typeface="Georgia"/>
              </a:rPr>
              <a:t>consequat</a:t>
            </a:r>
            <a:r>
              <a:rPr lang="en-US" dirty="0">
                <a:latin typeface="Georgia"/>
                <a:cs typeface="Georgia"/>
              </a:rPr>
              <a:t>.</a:t>
            </a:r>
          </a:p>
          <a:p>
            <a:pPr>
              <a:buFont typeface="Arial"/>
              <a:buChar char="•"/>
            </a:pPr>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7"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pPr marL="342900" lvl="7" indent="0"/>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6"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endParaRPr lang="en-US" dirty="0">
              <a:latin typeface="Georgia"/>
              <a:cs typeface="Georgia"/>
            </a:endParaRPr>
          </a:p>
          <a:p>
            <a:endParaRPr lang="en-US" dirty="0"/>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905079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Slide_1">
    <p:spTree>
      <p:nvGrpSpPr>
        <p:cNvPr id="1" name=""/>
        <p:cNvGrpSpPr/>
        <p:nvPr/>
      </p:nvGrpSpPr>
      <p:grpSpPr>
        <a:xfrm>
          <a:off x="0" y="0"/>
          <a:ext cx="0" cy="0"/>
          <a:chOff x="0" y="0"/>
          <a:chExt cx="0" cy="0"/>
        </a:xfrm>
      </p:grpSpPr>
      <p:sp>
        <p:nvSpPr>
          <p:cNvPr id="8" name="Picture Placeholder 7" descr="Cover image">
            <a:extLst>
              <a:ext uri="{FF2B5EF4-FFF2-40B4-BE49-F238E27FC236}">
                <a16:creationId xmlns:a16="http://schemas.microsoft.com/office/drawing/2014/main" id="{519698F5-5642-BF09-E3B8-49AAD8AC0274}"/>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a:t>Click icon to add picture, right-click on the picture, choose ‘Send to Back’.</a:t>
            </a:r>
          </a:p>
        </p:txBody>
      </p:sp>
      <p:sp>
        <p:nvSpPr>
          <p:cNvPr id="14" name="Picture Placeholder 13" descr="(YOU)us ">
            <a:extLst>
              <a:ext uri="{FF2B5EF4-FFF2-40B4-BE49-F238E27FC236}">
                <a16:creationId xmlns:a16="http://schemas.microsoft.com/office/drawing/2014/main" id="{25E8DD07-1A25-2646-0E95-C7BF4C3C7A97}"/>
              </a:ext>
            </a:extLst>
          </p:cNvPr>
          <p:cNvSpPr>
            <a:spLocks noGrp="1"/>
          </p:cNvSpPr>
          <p:nvPr>
            <p:ph type="pic" sz="quarter" idx="11" hasCustomPrompt="1"/>
          </p:nvPr>
        </p:nvSpPr>
        <p:spPr>
          <a:xfrm>
            <a:off x="3351270" y="1538893"/>
            <a:ext cx="5489459" cy="3801207"/>
          </a:xfrm>
        </p:spPr>
        <p:txBody>
          <a:bodyPr/>
          <a:lstStyle>
            <a:lvl1pPr marL="0" indent="0">
              <a:buNone/>
              <a:defRPr/>
            </a:lvl1pPr>
          </a:lstStyle>
          <a:p>
            <a:r>
              <a:rPr lang="en-AU"/>
              <a:t>Insert (YOU)us lockup</a:t>
            </a:r>
          </a:p>
        </p:txBody>
      </p:sp>
      <p:sp>
        <p:nvSpPr>
          <p:cNvPr id="16" name="Picture Placeholder 15" descr="Macquarie University logo">
            <a:extLst>
              <a:ext uri="{FF2B5EF4-FFF2-40B4-BE49-F238E27FC236}">
                <a16:creationId xmlns:a16="http://schemas.microsoft.com/office/drawing/2014/main" id="{C80078A0-B1C2-F2CD-34EE-1D4F4E5E115B}"/>
              </a:ext>
            </a:extLst>
          </p:cNvPr>
          <p:cNvSpPr>
            <a:spLocks noGrp="1"/>
          </p:cNvSpPr>
          <p:nvPr>
            <p:ph type="pic" sz="quarter" idx="12" hasCustomPrompt="1"/>
          </p:nvPr>
        </p:nvSpPr>
        <p:spPr>
          <a:xfrm>
            <a:off x="9568515" y="5756896"/>
            <a:ext cx="2268538" cy="899162"/>
          </a:xfrm>
        </p:spPr>
        <p:txBody>
          <a:bodyPr/>
          <a:lstStyle>
            <a:lvl1pPr marL="0" indent="0">
              <a:buNone/>
              <a:defRPr/>
            </a:lvl1pPr>
          </a:lstStyle>
          <a:p>
            <a:r>
              <a:rPr lang="en-US"/>
              <a:t>Click icon to add </a:t>
            </a:r>
            <a:br>
              <a:rPr lang="en-US"/>
            </a:br>
            <a:r>
              <a:rPr lang="en-US"/>
              <a:t>MU logo</a:t>
            </a:r>
          </a:p>
          <a:p>
            <a:endParaRPr lang="en-AU"/>
          </a:p>
        </p:txBody>
      </p:sp>
    </p:spTree>
    <p:extLst>
      <p:ext uri="{BB962C8B-B14F-4D97-AF65-F5344CB8AC3E}">
        <p14:creationId xmlns:p14="http://schemas.microsoft.com/office/powerpoint/2010/main" val="1285576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6"/>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 id="2147484652" r:id="rId14"/>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0000" y="836784"/>
            <a:ext cx="8544000" cy="648000"/>
          </a:xfrm>
        </p:spPr>
        <p:txBody>
          <a:bodyPr>
            <a:normAutofit fontScale="90000"/>
          </a:bodyPr>
          <a:lstStyle/>
          <a:p>
            <a:pPr algn="ctr"/>
            <a:r>
              <a:rPr lang="en-AU" sz="4000" b="1" dirty="0">
                <a:latin typeface="Times New Roman" panose="02020603050405020304" pitchFamily="18" charset="0"/>
                <a:cs typeface="Times New Roman" panose="02020603050405020304" pitchFamily="18" charset="0"/>
              </a:rPr>
              <a:t>LAWS2400 / LAWS8040 – Torts</a:t>
            </a:r>
            <a:br>
              <a:rPr lang="en-AU" sz="3600" b="1" dirty="0">
                <a:latin typeface="Times New Roman" panose="02020603050405020304" pitchFamily="18" charset="0"/>
                <a:cs typeface="Times New Roman" panose="02020603050405020304" pitchFamily="18" charset="0"/>
              </a:rPr>
            </a:br>
            <a:br>
              <a:rPr lang="en-AU" sz="3600" b="1" dirty="0">
                <a:latin typeface="Times New Roman" panose="02020603050405020304" pitchFamily="18" charset="0"/>
                <a:cs typeface="Times New Roman" panose="02020603050405020304" pitchFamily="18" charset="0"/>
              </a:rPr>
            </a:br>
            <a:r>
              <a:rPr lang="en-AU" sz="3100" dirty="0">
                <a:latin typeface="Times New Roman" panose="02020603050405020304" pitchFamily="18" charset="0"/>
                <a:cs typeface="Times New Roman" panose="02020603050405020304" pitchFamily="18" charset="0"/>
              </a:rPr>
              <a:t>Topic</a:t>
            </a:r>
            <a:r>
              <a:rPr lang="en-AU" sz="3100" b="1" dirty="0">
                <a:latin typeface="Times New Roman" panose="02020603050405020304" pitchFamily="18" charset="0"/>
                <a:cs typeface="Times New Roman" panose="02020603050405020304" pitchFamily="18" charset="0"/>
              </a:rPr>
              <a:t> 3 Lecture 1</a:t>
            </a:r>
            <a:br>
              <a:rPr lang="en-AU" sz="3100" b="1" dirty="0">
                <a:latin typeface="Times New Roman" panose="02020603050405020304" pitchFamily="18" charset="0"/>
                <a:cs typeface="Times New Roman" panose="02020603050405020304" pitchFamily="18" charset="0"/>
              </a:rPr>
            </a:br>
            <a:r>
              <a:rPr lang="en-AU" sz="3100" b="1" i="1" dirty="0">
                <a:latin typeface="Times New Roman" panose="02020603050405020304" pitchFamily="18" charset="0"/>
                <a:cs typeface="Times New Roman" panose="02020603050405020304" pitchFamily="18" charset="0"/>
              </a:rPr>
              <a:t>Trespass to Land and Public Nuisance </a:t>
            </a:r>
            <a:br>
              <a:rPr lang="en-AU" sz="2900"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620C5B-02A3-9A5D-A20F-EA797090702F}"/>
              </a:ext>
            </a:extLst>
          </p:cNvPr>
          <p:cNvPicPr>
            <a:picLocks noChangeAspect="1"/>
          </p:cNvPicPr>
          <p:nvPr/>
        </p:nvPicPr>
        <p:blipFill>
          <a:blip r:embed="rId2"/>
          <a:stretch>
            <a:fillRect/>
          </a:stretch>
        </p:blipFill>
        <p:spPr>
          <a:xfrm>
            <a:off x="-1" y="9782"/>
            <a:ext cx="12209443" cy="6848218"/>
          </a:xfrm>
          <a:prstGeom prst="rect">
            <a:avLst/>
          </a:prstGeom>
        </p:spPr>
      </p:pic>
    </p:spTree>
    <p:extLst>
      <p:ext uri="{BB962C8B-B14F-4D97-AF65-F5344CB8AC3E}">
        <p14:creationId xmlns:p14="http://schemas.microsoft.com/office/powerpoint/2010/main" val="192954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E700-BEAF-3248-A54C-F5BEBA340D8C}"/>
              </a:ext>
            </a:extLst>
          </p:cNvPr>
          <p:cNvSpPr>
            <a:spLocks noGrp="1"/>
          </p:cNvSpPr>
          <p:nvPr>
            <p:ph type="title"/>
          </p:nvPr>
        </p:nvSpPr>
        <p:spPr>
          <a:xfrm>
            <a:off x="720000" y="274637"/>
            <a:ext cx="8458276" cy="894943"/>
          </a:xfrm>
        </p:spPr>
        <p:txBody>
          <a:bodyPr>
            <a:normAutofit/>
          </a:bodyPr>
          <a:lstStyle/>
          <a:p>
            <a:r>
              <a:rPr lang="en-US" sz="2800" dirty="0">
                <a:solidFill>
                  <a:schemeClr val="accent3"/>
                </a:solidFill>
                <a:latin typeface="Times New Roman" panose="02020603050405020304" pitchFamily="18" charset="0"/>
                <a:cs typeface="Times New Roman" panose="02020603050405020304" pitchFamily="18" charset="0"/>
              </a:rPr>
              <a:t>Outline</a:t>
            </a:r>
            <a:endParaRPr lang="en-US" sz="28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C9E6F-2A4A-EC4A-903A-6B54DA7E05C6}"/>
              </a:ext>
            </a:extLst>
          </p:cNvPr>
          <p:cNvSpPr>
            <a:spLocks noGrp="1"/>
          </p:cNvSpPr>
          <p:nvPr>
            <p:ph idx="1"/>
          </p:nvPr>
        </p:nvSpPr>
        <p:spPr>
          <a:xfrm>
            <a:off x="720000" y="1669311"/>
            <a:ext cx="11116400" cy="4822929"/>
          </a:xfrm>
        </p:spPr>
        <p:txBody>
          <a:bodyPr>
            <a:noAutofit/>
          </a:bodyPr>
          <a:lstStyle/>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Overview </a:t>
            </a: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Trespass to land </a:t>
            </a: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Remedies for trespass to land </a:t>
            </a: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Nuisance (public</a:t>
            </a:r>
            <a:r>
              <a:rPr lang="en-HK" sz="2800" b="1">
                <a:latin typeface="Times New Roman" panose="02020603050405020304" pitchFamily="18" charset="0"/>
                <a:cs typeface="Times New Roman" panose="02020603050405020304" pitchFamily="18" charset="0"/>
              </a:rPr>
              <a:t>: lecture 1, </a:t>
            </a:r>
            <a:r>
              <a:rPr lang="en-HK" sz="2800" b="1" dirty="0">
                <a:latin typeface="Times New Roman" panose="02020603050405020304" pitchFamily="18" charset="0"/>
                <a:cs typeface="Times New Roman" panose="02020603050405020304" pitchFamily="18" charset="0"/>
              </a:rPr>
              <a:t>private: lecture 2)</a:t>
            </a:r>
          </a:p>
          <a:p>
            <a:pPr marL="971550" lvl="1" indent="-514350">
              <a:buFont typeface="+mj-lt"/>
              <a:buAutoNum type="arabicPeriod"/>
            </a:pPr>
            <a:endParaRPr lang="en-HK" sz="24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Defences to, and remedies for, nuisance (lecture 2)</a:t>
            </a:r>
          </a:p>
        </p:txBody>
      </p:sp>
    </p:spTree>
    <p:extLst>
      <p:ext uri="{BB962C8B-B14F-4D97-AF65-F5344CB8AC3E}">
        <p14:creationId xmlns:p14="http://schemas.microsoft.com/office/powerpoint/2010/main" val="1081458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1. Overview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538481" y="1508426"/>
            <a:ext cx="11155680" cy="5074936"/>
          </a:xfrm>
        </p:spPr>
        <p:txBody>
          <a:bodyPr>
            <a:noAutofit/>
          </a:bodyPr>
          <a:lstStyle/>
          <a:p>
            <a:pPr>
              <a:lnSpc>
                <a:spcPct val="150000"/>
              </a:lnSpc>
            </a:pPr>
            <a:r>
              <a:rPr lang="en-US" sz="2800" dirty="0">
                <a:latin typeface="Times New Roman" panose="02020603050405020304" pitchFamily="18" charset="0"/>
                <a:cs typeface="Times New Roman" panose="02020603050405020304" pitchFamily="18" charset="0"/>
              </a:rPr>
              <a:t>In this week, we will focus on torts that aim to protect various </a:t>
            </a:r>
            <a:r>
              <a:rPr lang="en-US" sz="2800" u="sng" dirty="0">
                <a:latin typeface="Times New Roman" panose="02020603050405020304" pitchFamily="18" charset="0"/>
                <a:cs typeface="Times New Roman" panose="02020603050405020304" pitchFamily="18" charset="0"/>
              </a:rPr>
              <a:t>interests in land</a:t>
            </a:r>
            <a:r>
              <a:rPr lang="en-US" sz="2800" dirty="0">
                <a:latin typeface="Times New Roman" panose="02020603050405020304" pitchFamily="18" charset="0"/>
                <a:cs typeface="Times New Roman" panose="02020603050405020304" pitchFamily="18" charset="0"/>
              </a:rPr>
              <a:t>:</a:t>
            </a:r>
            <a:r>
              <a:rPr lang="en-US" sz="2800" i="1" dirty="0">
                <a:latin typeface="Times New Roman" panose="02020603050405020304" pitchFamily="18" charset="0"/>
                <a:cs typeface="Times New Roman" panose="02020603050405020304" pitchFamily="18" charset="0"/>
              </a:rPr>
              <a:t> </a:t>
            </a:r>
          </a:p>
          <a:p>
            <a:pPr marL="0" indent="0">
              <a:lnSpc>
                <a:spcPct val="150000"/>
              </a:lnSpc>
              <a:buNone/>
            </a:pPr>
            <a:endParaRPr lang="en-US" sz="1000" i="1" dirty="0">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Trespass to land (this lecture)</a:t>
            </a:r>
          </a:p>
          <a:p>
            <a:pPr lvl="1">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Nuisance – public (this lecture) and private</a:t>
            </a:r>
          </a:p>
          <a:p>
            <a:pPr lvl="1">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Remedies and </a:t>
            </a:r>
            <a:r>
              <a:rPr lang="en-US" sz="2800" dirty="0" err="1">
                <a:latin typeface="Times New Roman" panose="02020603050405020304" pitchFamily="18" charset="0"/>
                <a:cs typeface="Times New Roman" panose="02020603050405020304" pitchFamily="18" charset="0"/>
              </a:rPr>
              <a:t>defences</a:t>
            </a:r>
            <a:r>
              <a:rPr lang="en-US" sz="2800" dirty="0">
                <a:latin typeface="Times New Roman" panose="02020603050405020304" pitchFamily="18" charset="0"/>
                <a:cs typeface="Times New Roman" panose="02020603050405020304" pitchFamily="18" charset="0"/>
              </a:rPr>
              <a:t> available for trespass to land and nuisance </a:t>
            </a:r>
          </a:p>
        </p:txBody>
      </p:sp>
    </p:spTree>
    <p:extLst>
      <p:ext uri="{BB962C8B-B14F-4D97-AF65-F5344CB8AC3E}">
        <p14:creationId xmlns:p14="http://schemas.microsoft.com/office/powerpoint/2010/main" val="2551680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2. Trespass to land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Trespass entails </a:t>
            </a:r>
            <a:r>
              <a:rPr lang="en-US" sz="2800" i="1" dirty="0">
                <a:latin typeface="Times New Roman" panose="02020603050405020304" pitchFamily="18" charset="0"/>
                <a:cs typeface="Times New Roman" panose="02020603050405020304" pitchFamily="18" charset="0"/>
              </a:rPr>
              <a:t>direct</a:t>
            </a:r>
            <a:r>
              <a:rPr lang="en-US" sz="2800" dirty="0">
                <a:latin typeface="Times New Roman" panose="02020603050405020304" pitchFamily="18" charset="0"/>
                <a:cs typeface="Times New Roman" panose="02020603050405020304" pitchFamily="18" charset="0"/>
              </a:rPr>
              <a:t> interference with land in the possession of the plaintiff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Key elements: </a:t>
            </a:r>
            <a:endParaRPr lang="en-US" sz="1000" dirty="0">
              <a:latin typeface="Times New Roman" panose="02020603050405020304" pitchFamily="18" charset="0"/>
              <a:cs typeface="Times New Roman" panose="02020603050405020304" pitchFamily="18" charset="0"/>
            </a:endParaRPr>
          </a:p>
          <a:p>
            <a:pPr marL="1371600" lvl="2" indent="-514350">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Direct and positive act (interference with land)</a:t>
            </a:r>
            <a:endParaRPr lang="en-US" dirty="0">
              <a:latin typeface="Times New Roman" panose="02020603050405020304" pitchFamily="18" charset="0"/>
              <a:cs typeface="Times New Roman" panose="02020603050405020304" pitchFamily="18" charset="0"/>
            </a:endParaRPr>
          </a:p>
          <a:p>
            <a:pPr marL="1371600" lvl="2" indent="-514350">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Intentional or negligent</a:t>
            </a:r>
            <a:endParaRPr lang="en-US" dirty="0">
              <a:latin typeface="Times New Roman" panose="02020603050405020304" pitchFamily="18" charset="0"/>
              <a:cs typeface="Times New Roman" panose="02020603050405020304" pitchFamily="18" charset="0"/>
            </a:endParaRPr>
          </a:p>
          <a:p>
            <a:pPr marL="1371600" lvl="2" indent="-514350">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In the possession of the plaintiff </a:t>
            </a:r>
          </a:p>
          <a:p>
            <a:pPr marL="1371600" lvl="2" indent="-514350">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Without consent or other </a:t>
            </a:r>
            <a:r>
              <a:rPr lang="en-US" sz="2800">
                <a:latin typeface="Times New Roman" panose="02020603050405020304" pitchFamily="18" charset="0"/>
                <a:cs typeface="Times New Roman" panose="02020603050405020304" pitchFamily="18" charset="0"/>
              </a:rPr>
              <a:t>lawful justification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5280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Trespass to land is actionable </a:t>
            </a:r>
            <a:r>
              <a:rPr lang="en-US" sz="2800" i="1" dirty="0">
                <a:latin typeface="Times New Roman" panose="02020603050405020304" pitchFamily="18" charset="0"/>
                <a:cs typeface="Times New Roman" panose="02020603050405020304" pitchFamily="18" charset="0"/>
              </a:rPr>
              <a:t>per se </a:t>
            </a:r>
            <a:r>
              <a:rPr lang="en-US" sz="2800" dirty="0">
                <a:latin typeface="Times New Roman" panose="02020603050405020304" pitchFamily="18" charset="0"/>
                <a:cs typeface="Times New Roman" panose="02020603050405020304" pitchFamily="18" charset="0"/>
              </a:rPr>
              <a:t>– without proof of damage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Except in highway cases, the plaintiff is </a:t>
            </a:r>
            <a:r>
              <a:rPr lang="en-US" sz="2800" u="sng" dirty="0">
                <a:latin typeface="Times New Roman" panose="02020603050405020304" pitchFamily="18" charset="0"/>
                <a:cs typeface="Times New Roman" panose="02020603050405020304" pitchFamily="18" charset="0"/>
              </a:rPr>
              <a:t>not</a:t>
            </a:r>
            <a:r>
              <a:rPr lang="en-US" sz="2800" dirty="0">
                <a:latin typeface="Times New Roman" panose="02020603050405020304" pitchFamily="18" charset="0"/>
                <a:cs typeface="Times New Roman" panose="02020603050405020304" pitchFamily="18" charset="0"/>
              </a:rPr>
              <a:t> required to prove fault. The onus is on the defendant to disprove fault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Mistake is no </a:t>
            </a:r>
            <a:r>
              <a:rPr lang="en-US" sz="2800" dirty="0" err="1">
                <a:latin typeface="Times New Roman" panose="02020603050405020304" pitchFamily="18" charset="0"/>
                <a:cs typeface="Times New Roman" panose="02020603050405020304" pitchFamily="18" charset="0"/>
              </a:rPr>
              <a:t>defence</a:t>
            </a:r>
            <a:r>
              <a:rPr lang="en-US" sz="2800" dirty="0">
                <a:latin typeface="Times New Roman" panose="02020603050405020304" pitchFamily="18" charset="0"/>
                <a:cs typeface="Times New Roman" panose="02020603050405020304" pitchFamily="18" charset="0"/>
              </a:rPr>
              <a:t> as long as there was an intentional/negligent trespassory act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There should be no express or implied consent to trespass</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There should be no other lawful excuse (</a:t>
            </a:r>
            <a:r>
              <a:rPr lang="en-US" sz="2800" dirty="0" err="1">
                <a:latin typeface="Times New Roman" panose="02020603050405020304" pitchFamily="18" charset="0"/>
                <a:cs typeface="Times New Roman" panose="02020603050405020304" pitchFamily="18" charset="0"/>
              </a:rPr>
              <a:t>eg</a:t>
            </a:r>
            <a:r>
              <a:rPr lang="en-US" sz="2800" dirty="0">
                <a:latin typeface="Times New Roman" panose="02020603050405020304" pitchFamily="18" charset="0"/>
                <a:cs typeface="Times New Roman" panose="02020603050405020304" pitchFamily="18" charset="0"/>
              </a:rPr>
              <a:t> exercise of lawful duty) </a:t>
            </a:r>
          </a:p>
          <a:p>
            <a:pPr>
              <a:lnSpc>
                <a:spcPct val="150000"/>
              </a:lnSpc>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857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Some real-life examples of trespass to land: </a:t>
            </a:r>
          </a:p>
          <a:p>
            <a:pPr marL="0" indent="0">
              <a:buNone/>
            </a:pPr>
            <a:endParaRPr lang="en-US" sz="1000" dirty="0">
              <a:latin typeface="Times New Roman" panose="02020603050405020304" pitchFamily="18" charset="0"/>
              <a:cs typeface="Times New Roman" panose="02020603050405020304" pitchFamily="18" charset="0"/>
            </a:endParaRPr>
          </a:p>
          <a:p>
            <a:pPr lvl="2">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Parking a car on another person’s land </a:t>
            </a:r>
          </a:p>
          <a:p>
            <a:pPr lvl="2">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Spraying graffiti on a building </a:t>
            </a:r>
          </a:p>
          <a:p>
            <a:pPr lvl="2">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Gatecrashing a private party </a:t>
            </a:r>
          </a:p>
          <a:p>
            <a:pPr lvl="2">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Dumping old furniture on someone else property </a:t>
            </a:r>
          </a:p>
        </p:txBody>
      </p:sp>
      <p:sp>
        <p:nvSpPr>
          <p:cNvPr id="5" name="Thought Bubble: Cloud 4">
            <a:extLst>
              <a:ext uri="{FF2B5EF4-FFF2-40B4-BE49-F238E27FC236}">
                <a16:creationId xmlns:a16="http://schemas.microsoft.com/office/drawing/2014/main" id="{2D097DDF-5D3D-D287-B7A2-EFDA023236BA}"/>
              </a:ext>
            </a:extLst>
          </p:cNvPr>
          <p:cNvSpPr/>
          <p:nvPr/>
        </p:nvSpPr>
        <p:spPr>
          <a:xfrm>
            <a:off x="9271591" y="2264736"/>
            <a:ext cx="2445488" cy="2738088"/>
          </a:xfrm>
          <a:prstGeom prst="cloudCallout">
            <a:avLst>
              <a:gd name="adj1" fmla="val -33624"/>
              <a:gd name="adj2" fmla="val 9721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HK" sz="2600" dirty="0">
                <a:solidFill>
                  <a:srgbClr val="3333FF"/>
                </a:solidFill>
                <a:latin typeface="Times New Roman" panose="02020603050405020304" pitchFamily="18" charset="0"/>
                <a:cs typeface="Times New Roman" panose="02020603050405020304" pitchFamily="18" charset="0"/>
              </a:rPr>
              <a:t>Can you think of other examples? </a:t>
            </a:r>
          </a:p>
        </p:txBody>
      </p:sp>
    </p:spTree>
    <p:extLst>
      <p:ext uri="{BB962C8B-B14F-4D97-AF65-F5344CB8AC3E}">
        <p14:creationId xmlns:p14="http://schemas.microsoft.com/office/powerpoint/2010/main" val="22450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kumimoji="0" lang="en-US" sz="22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What is land?    </a:t>
            </a:r>
            <a:r>
              <a:rPr kumimoji="0" lang="en-US" sz="22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Land includes the soil and fixtures such as house, factory, crops (prior to harvesting) and airspace above the land </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 </a:t>
            </a:r>
            <a:r>
              <a:rPr lang="en-US" sz="2200" i="1" dirty="0">
                <a:solidFill>
                  <a:srgbClr val="0070C0"/>
                </a:solidFill>
                <a:latin typeface="Times New Roman" panose="02020603050405020304" pitchFamily="18" charset="0"/>
                <a:cs typeface="Times New Roman" panose="02020603050405020304" pitchFamily="18" charset="0"/>
              </a:rPr>
              <a:t>Bernstein v </a:t>
            </a:r>
            <a:r>
              <a:rPr lang="en-US" sz="2200" i="1" dirty="0" err="1">
                <a:solidFill>
                  <a:srgbClr val="0070C0"/>
                </a:solidFill>
                <a:latin typeface="Times New Roman" panose="02020603050405020304" pitchFamily="18" charset="0"/>
                <a:cs typeface="Times New Roman" panose="02020603050405020304" pitchFamily="18" charset="0"/>
              </a:rPr>
              <a:t>Skyviews</a:t>
            </a:r>
            <a:r>
              <a:rPr lang="en-US" sz="2200" i="1" dirty="0">
                <a:solidFill>
                  <a:srgbClr val="0070C0"/>
                </a:solidFill>
                <a:latin typeface="Times New Roman" panose="02020603050405020304" pitchFamily="18" charset="0"/>
                <a:cs typeface="Times New Roman" panose="02020603050405020304" pitchFamily="18" charset="0"/>
              </a:rPr>
              <a:t> </a:t>
            </a:r>
            <a:r>
              <a:rPr lang="en-US" sz="2200" dirty="0">
                <a:solidFill>
                  <a:srgbClr val="0070C0"/>
                </a:solidFill>
                <a:latin typeface="Times New Roman" panose="02020603050405020304" pitchFamily="18" charset="0"/>
                <a:cs typeface="Times New Roman" panose="02020603050405020304" pitchFamily="18" charset="0"/>
              </a:rPr>
              <a:t>[1977] 2 All ER 902</a:t>
            </a:r>
            <a:r>
              <a:rPr lang="en-US" sz="2200" dirty="0">
                <a:latin typeface="Times New Roman" panose="02020603050405020304" pitchFamily="18" charset="0"/>
                <a:cs typeface="Times New Roman" panose="02020603050405020304" pitchFamily="18" charset="0"/>
              </a:rPr>
              <a:t>, it was held that taking photographs from an aircraft several hundred feet above the ground was not trespass.</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In </a:t>
            </a:r>
            <a:r>
              <a:rPr lang="en-US" sz="2200" i="1" dirty="0">
                <a:solidFill>
                  <a:srgbClr val="0070C0"/>
                </a:solidFill>
                <a:latin typeface="Times New Roman" panose="02020603050405020304" pitchFamily="18" charset="0"/>
                <a:cs typeface="Times New Roman" panose="02020603050405020304" pitchFamily="18" charset="0"/>
              </a:rPr>
              <a:t>Kelsen v Imperial Tobacco Co </a:t>
            </a:r>
            <a:r>
              <a:rPr lang="en-US" sz="2200" dirty="0">
                <a:solidFill>
                  <a:srgbClr val="0070C0"/>
                </a:solidFill>
                <a:latin typeface="Times New Roman" panose="02020603050405020304" pitchFamily="18" charset="0"/>
                <a:cs typeface="Times New Roman" panose="02020603050405020304" pitchFamily="18" charset="0"/>
              </a:rPr>
              <a:t>[1957] 2 All ER 343</a:t>
            </a:r>
            <a:r>
              <a:rPr lang="en-US" sz="2200" dirty="0">
                <a:latin typeface="Times New Roman" panose="02020603050405020304" pitchFamily="18" charset="0"/>
                <a:cs typeface="Times New Roman" panose="02020603050405020304" pitchFamily="18" charset="0"/>
              </a:rPr>
              <a:t>, an</a:t>
            </a:r>
            <a:r>
              <a:rPr lang="en-US" sz="2200" dirty="0">
                <a:solidFill>
                  <a:srgbClr val="0070C0"/>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advertising sign placed 24 cm into the airspace above the plaintiff’s property constituted trespass, and in </a:t>
            </a:r>
            <a:r>
              <a:rPr lang="en-US" sz="2200" i="1" dirty="0">
                <a:solidFill>
                  <a:srgbClr val="0070C0"/>
                </a:solidFill>
                <a:latin typeface="Times New Roman" panose="02020603050405020304" pitchFamily="18" charset="0"/>
                <a:cs typeface="Times New Roman" panose="02020603050405020304" pitchFamily="18" charset="0"/>
              </a:rPr>
              <a:t>LJP Investments v Howard Chia Investments </a:t>
            </a:r>
            <a:r>
              <a:rPr lang="en-US" sz="2200" dirty="0">
                <a:solidFill>
                  <a:srgbClr val="0070C0"/>
                </a:solidFill>
                <a:latin typeface="Times New Roman" panose="02020603050405020304" pitchFamily="18" charset="0"/>
                <a:cs typeface="Times New Roman" panose="02020603050405020304" pitchFamily="18" charset="0"/>
              </a:rPr>
              <a:t>(1989) 24 NSWLR 490</a:t>
            </a:r>
            <a:r>
              <a:rPr lang="en-US" sz="2200" dirty="0">
                <a:latin typeface="Times New Roman" panose="02020603050405020304" pitchFamily="18" charset="0"/>
                <a:cs typeface="Times New Roman" panose="02020603050405020304" pitchFamily="18" charset="0"/>
              </a:rPr>
              <a:t>, encroaching scaffolding constituted a trespass.</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What about </a:t>
            </a:r>
            <a:r>
              <a:rPr lang="en-US" sz="2200" u="sng" dirty="0">
                <a:latin typeface="Times New Roman" panose="02020603050405020304" pitchFamily="18" charset="0"/>
                <a:cs typeface="Times New Roman" panose="02020603050405020304" pitchFamily="18" charset="0"/>
              </a:rPr>
              <a:t>drones</a:t>
            </a:r>
            <a:r>
              <a:rPr lang="en-US" sz="2200" dirty="0">
                <a:latin typeface="Times New Roman" panose="02020603050405020304" pitchFamily="18" charset="0"/>
                <a:cs typeface="Times New Roman" panose="02020603050405020304" pitchFamily="18" charset="0"/>
              </a:rPr>
              <a:t> OR </a:t>
            </a:r>
            <a:r>
              <a:rPr lang="en-US" sz="2200" u="sng" dirty="0">
                <a:latin typeface="Times New Roman" panose="02020603050405020304" pitchFamily="18" charset="0"/>
                <a:cs typeface="Times New Roman" panose="02020603050405020304" pitchFamily="18" charset="0"/>
              </a:rPr>
              <a:t>minerals</a:t>
            </a:r>
            <a:r>
              <a:rPr lang="en-US" sz="2200" dirty="0">
                <a:latin typeface="Times New Roman" panose="02020603050405020304" pitchFamily="18" charset="0"/>
                <a:cs typeface="Times New Roman" panose="02020603050405020304" pitchFamily="18" charset="0"/>
              </a:rPr>
              <a:t>?  </a:t>
            </a:r>
          </a:p>
        </p:txBody>
      </p:sp>
      <p:sp>
        <p:nvSpPr>
          <p:cNvPr id="4" name="Action Button: Help 3">
            <a:hlinkClick r:id="" action="ppaction://noaction" highlightClick="1"/>
            <a:extLst>
              <a:ext uri="{FF2B5EF4-FFF2-40B4-BE49-F238E27FC236}">
                <a16:creationId xmlns:a16="http://schemas.microsoft.com/office/drawing/2014/main" id="{A81676A4-0CFC-A2E9-3411-D23046CE6D1D}"/>
              </a:ext>
            </a:extLst>
          </p:cNvPr>
          <p:cNvSpPr/>
          <p:nvPr/>
        </p:nvSpPr>
        <p:spPr>
          <a:xfrm>
            <a:off x="10477585" y="5510436"/>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3529149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Exclusive possession</a:t>
            </a:r>
            <a:endParaRPr lang="en-US" sz="1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Exclusive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possession</a:t>
            </a:r>
            <a:r>
              <a:rPr lang="en-US" sz="2800" dirty="0">
                <a:latin typeface="Times New Roman" panose="02020603050405020304" pitchFamily="18" charset="0"/>
                <a:cs typeface="Times New Roman" panose="02020603050405020304" pitchFamily="18" charset="0"/>
              </a:rPr>
              <a:t> of the land at the time of trespass is required to bring an action for trespass to land – </a:t>
            </a:r>
            <a:r>
              <a:rPr lang="en-US" sz="2800" i="1" dirty="0">
                <a:latin typeface="Times New Roman" panose="02020603050405020304" pitchFamily="18" charset="0"/>
                <a:cs typeface="Times New Roman" panose="02020603050405020304" pitchFamily="18" charset="0"/>
              </a:rPr>
              <a:t>not ownership</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Therefore, a </a:t>
            </a:r>
            <a:r>
              <a:rPr lang="en-US" sz="2800" u="sng" dirty="0">
                <a:latin typeface="Times New Roman" panose="02020603050405020304" pitchFamily="18" charset="0"/>
                <a:cs typeface="Times New Roman" panose="02020603050405020304" pitchFamily="18" charset="0"/>
              </a:rPr>
              <a:t>tenant</a:t>
            </a:r>
            <a:r>
              <a:rPr lang="en-US" sz="2800" dirty="0">
                <a:latin typeface="Times New Roman" panose="02020603050405020304" pitchFamily="18" charset="0"/>
                <a:cs typeface="Times New Roman" panose="02020603050405020304" pitchFamily="18" charset="0"/>
              </a:rPr>
              <a:t> will be able to sue for trespass to land </a:t>
            </a: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1000" dirty="0">
              <a:latin typeface="Times New Roman" panose="02020603050405020304" pitchFamily="18" charset="0"/>
              <a:cs typeface="Times New Roman" panose="02020603050405020304" pitchFamily="18" charset="0"/>
            </a:endParaRPr>
          </a:p>
        </p:txBody>
      </p:sp>
      <p:sp>
        <p:nvSpPr>
          <p:cNvPr id="5" name="Callout: Up Arrow 4">
            <a:extLst>
              <a:ext uri="{FF2B5EF4-FFF2-40B4-BE49-F238E27FC236}">
                <a16:creationId xmlns:a16="http://schemas.microsoft.com/office/drawing/2014/main" id="{5E7C29A3-0022-1F68-9574-7509760117B9}"/>
              </a:ext>
            </a:extLst>
          </p:cNvPr>
          <p:cNvSpPr/>
          <p:nvPr/>
        </p:nvSpPr>
        <p:spPr>
          <a:xfrm>
            <a:off x="4284921" y="4530867"/>
            <a:ext cx="4497572" cy="1637414"/>
          </a:xfrm>
          <a:prstGeom prst="upArrow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HK" sz="2800" dirty="0">
                <a:solidFill>
                  <a:srgbClr val="3333FF"/>
                </a:solidFill>
                <a:latin typeface="Times New Roman" panose="02020603050405020304" pitchFamily="18" charset="0"/>
                <a:cs typeface="Times New Roman" panose="02020603050405020304" pitchFamily="18" charset="0"/>
              </a:rPr>
              <a:t>But what about a licensee? </a:t>
            </a:r>
          </a:p>
        </p:txBody>
      </p:sp>
    </p:spTree>
    <p:extLst>
      <p:ext uri="{BB962C8B-B14F-4D97-AF65-F5344CB8AC3E}">
        <p14:creationId xmlns:p14="http://schemas.microsoft.com/office/powerpoint/2010/main" val="2581356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Possession has two elements: </a:t>
            </a:r>
            <a:endParaRPr lang="en-US" sz="10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Factual control </a:t>
            </a:r>
            <a:endParaRPr lang="en-US" sz="18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Intention to exclude all others </a:t>
            </a:r>
          </a:p>
          <a:p>
            <a:pPr>
              <a:lnSpc>
                <a:spcPct val="150000"/>
              </a:lnSpc>
              <a:buFont typeface="Wingdings" panose="05000000000000000000" pitchFamily="2" charset="2"/>
              <a:buChar char="Ø"/>
            </a:pPr>
            <a:r>
              <a:rPr lang="en-US" sz="2800" u="sng" dirty="0">
                <a:latin typeface="Times New Roman" panose="02020603050405020304" pitchFamily="18" charset="0"/>
                <a:cs typeface="Times New Roman" panose="02020603050405020304" pitchFamily="18" charset="0"/>
              </a:rPr>
              <a:t>Ownership</a:t>
            </a:r>
            <a:r>
              <a:rPr lang="en-US" sz="2800" dirty="0">
                <a:latin typeface="Times New Roman" panose="02020603050405020304" pitchFamily="18" charset="0"/>
                <a:cs typeface="Times New Roman" panose="02020603050405020304" pitchFamily="18" charset="0"/>
              </a:rPr>
              <a:t> can assist in proving possession, provided conduct indicates control amounting to factual possession</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If the plaintiff is </a:t>
            </a:r>
            <a:r>
              <a:rPr lang="en-US" sz="2800" u="sng" dirty="0">
                <a:latin typeface="Times New Roman" panose="02020603050405020304" pitchFamily="18" charset="0"/>
                <a:cs typeface="Times New Roman" panose="02020603050405020304" pitchFamily="18" charset="0"/>
              </a:rPr>
              <a:t>not the owner</a:t>
            </a:r>
            <a:r>
              <a:rPr lang="en-US" sz="2800" dirty="0">
                <a:latin typeface="Times New Roman" panose="02020603050405020304" pitchFamily="18" charset="0"/>
                <a:cs typeface="Times New Roman" panose="02020603050405020304" pitchFamily="18" charset="0"/>
              </a:rPr>
              <a:t>, they should have a sufficient degree of physical control over the land and intention to exclude others     </a:t>
            </a:r>
          </a:p>
        </p:txBody>
      </p:sp>
      <p:sp>
        <p:nvSpPr>
          <p:cNvPr id="4" name="Double Brace 3">
            <a:extLst>
              <a:ext uri="{FF2B5EF4-FFF2-40B4-BE49-F238E27FC236}">
                <a16:creationId xmlns:a16="http://schemas.microsoft.com/office/drawing/2014/main" id="{95174CDB-903F-B9CF-5976-B9F9C80CFCF0}"/>
              </a:ext>
            </a:extLst>
          </p:cNvPr>
          <p:cNvSpPr/>
          <p:nvPr/>
        </p:nvSpPr>
        <p:spPr>
          <a:xfrm>
            <a:off x="7368363" y="1807739"/>
            <a:ext cx="2073349" cy="1839433"/>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r>
              <a:rPr lang="en-HK" sz="2600" dirty="0">
                <a:solidFill>
                  <a:srgbClr val="3333FF"/>
                </a:solidFill>
                <a:latin typeface="Times New Roman" panose="02020603050405020304" pitchFamily="18" charset="0"/>
                <a:cs typeface="Times New Roman" panose="02020603050405020304" pitchFamily="18" charset="0"/>
              </a:rPr>
              <a:t>How to prove these elements? </a:t>
            </a:r>
          </a:p>
        </p:txBody>
      </p:sp>
    </p:spTree>
    <p:extLst>
      <p:ext uri="{BB962C8B-B14F-4D97-AF65-F5344CB8AC3E}">
        <p14:creationId xmlns:p14="http://schemas.microsoft.com/office/powerpoint/2010/main" val="4007953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Consider </a:t>
            </a:r>
            <a:r>
              <a:rPr lang="en-US" sz="2600" i="1" dirty="0">
                <a:solidFill>
                  <a:srgbClr val="0070C0"/>
                </a:solidFill>
                <a:latin typeface="Times New Roman" panose="02020603050405020304" pitchFamily="18" charset="0"/>
                <a:cs typeface="Times New Roman" panose="02020603050405020304" pitchFamily="18" charset="0"/>
              </a:rPr>
              <a:t>Newington v </a:t>
            </a:r>
            <a:r>
              <a:rPr lang="en-US" sz="2600" i="1" dirty="0" err="1">
                <a:solidFill>
                  <a:srgbClr val="0070C0"/>
                </a:solidFill>
                <a:latin typeface="Times New Roman" panose="02020603050405020304" pitchFamily="18" charset="0"/>
                <a:cs typeface="Times New Roman" panose="02020603050405020304" pitchFamily="18" charset="0"/>
              </a:rPr>
              <a:t>Windeyer</a:t>
            </a:r>
            <a:r>
              <a:rPr lang="en-US" sz="2600" i="1" dirty="0">
                <a:solidFill>
                  <a:srgbClr val="0070C0"/>
                </a:solidFill>
                <a:latin typeface="Times New Roman" panose="02020603050405020304" pitchFamily="18" charset="0"/>
                <a:cs typeface="Times New Roman" panose="02020603050405020304" pitchFamily="18" charset="0"/>
              </a:rPr>
              <a:t> </a:t>
            </a:r>
            <a:r>
              <a:rPr lang="en-US" sz="2600" dirty="0">
                <a:solidFill>
                  <a:srgbClr val="0070C0"/>
                </a:solidFill>
                <a:latin typeface="Times New Roman" panose="02020603050405020304" pitchFamily="18" charset="0"/>
                <a:cs typeface="Times New Roman" panose="02020603050405020304" pitchFamily="18" charset="0"/>
              </a:rPr>
              <a:t>(1985) 3 NSWLR 555 </a:t>
            </a:r>
            <a:r>
              <a:rPr lang="en-US" sz="2600" dirty="0">
                <a:solidFill>
                  <a:srgbClr val="7030A0"/>
                </a:solidFill>
                <a:latin typeface="Times New Roman" panose="02020603050405020304" pitchFamily="18" charset="0"/>
                <a:cs typeface="Times New Roman" panose="02020603050405020304" pitchFamily="18" charset="0"/>
              </a:rPr>
              <a:t>(the plaintiff occupied a vacant area of land (The Grove), adjoining their property, for 50 years) </a:t>
            </a:r>
            <a:endParaRPr lang="en-US" sz="2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question was whether the plaintiff can maintain an action for trespass against someone trying to use the said land? </a:t>
            </a:r>
          </a:p>
          <a:p>
            <a:pPr>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court held that the plaintiff could </a:t>
            </a:r>
            <a:r>
              <a:rPr lang="en-US" sz="2600" u="sng" dirty="0">
                <a:latin typeface="Times New Roman" panose="02020603050405020304" pitchFamily="18" charset="0"/>
                <a:cs typeface="Times New Roman" panose="02020603050405020304" pitchFamily="18" charset="0"/>
              </a:rPr>
              <a:t>maintain an action despite not being a registered owner</a:t>
            </a:r>
            <a:r>
              <a:rPr lang="en-US" sz="2600" dirty="0">
                <a:latin typeface="Times New Roman" panose="02020603050405020304" pitchFamily="18" charset="0"/>
                <a:cs typeface="Times New Roman" panose="02020603050405020304" pitchFamily="18" charset="0"/>
              </a:rPr>
              <a:t> – they had an exclusive possession over the land for many years and took several steps to show this (hosting parties; maintaining garden and trees; paying rates)</a:t>
            </a:r>
          </a:p>
        </p:txBody>
      </p:sp>
    </p:spTree>
    <p:extLst>
      <p:ext uri="{BB962C8B-B14F-4D97-AF65-F5344CB8AC3E}">
        <p14:creationId xmlns:p14="http://schemas.microsoft.com/office/powerpoint/2010/main" val="878081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1375018" cy="5074936"/>
          </a:xfrm>
        </p:spPr>
        <p:txBody>
          <a:bodyPr>
            <a:noAutofit/>
          </a:bodyPr>
          <a:lstStyle/>
          <a:p>
            <a:pPr marL="0" indent="0">
              <a:lnSpc>
                <a:spcPct val="150000"/>
              </a:lnSpc>
              <a:buNone/>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Trespassory conduct</a:t>
            </a:r>
            <a:endParaRPr lang="en-US" sz="1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Entry upon the land without consent will be a trespassory conduct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But there can be several other possibilities:</a:t>
            </a:r>
            <a:endParaRPr lang="en-US" sz="10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driving onto the land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remaining on the land after permission to remain has been withdrawn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throwing any object or animal upon the land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encroachment by scaffolding, cranes or structures  </a:t>
            </a:r>
          </a:p>
          <a:p>
            <a:pPr lvl="2">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838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73AE9-25E8-17D4-E5EC-7E2CF5365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6D27B-79D5-91A8-EE5F-22B85F953C2D}"/>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6A84F7-D57D-35C0-7C3B-D296CABB05B5}"/>
              </a:ext>
            </a:extLst>
          </p:cNvPr>
          <p:cNvSpPr>
            <a:spLocks noGrp="1"/>
          </p:cNvSpPr>
          <p:nvPr>
            <p:ph idx="1"/>
          </p:nvPr>
        </p:nvSpPr>
        <p:spPr>
          <a:xfrm>
            <a:off x="720000" y="1521678"/>
            <a:ext cx="11375018" cy="5074936"/>
          </a:xfrm>
        </p:spPr>
        <p:txBody>
          <a:bodyPr>
            <a:noAutofit/>
          </a:bodyPr>
          <a:lstStyle/>
          <a:p>
            <a:pPr marL="0" indent="0">
              <a:lnSpc>
                <a:spcPct val="150000"/>
              </a:lnSpc>
              <a:buNone/>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Implied </a:t>
            </a:r>
            <a:r>
              <a:rPr lang="en-US" sz="2800" u="sng" dirty="0">
                <a:solidFill>
                  <a:srgbClr val="008000"/>
                </a:solidFill>
                <a:latin typeface="Times New Roman" panose="02020603050405020304" pitchFamily="18" charset="0"/>
                <a:cs typeface="Times New Roman" panose="02020603050405020304" pitchFamily="18" charset="0"/>
              </a:rPr>
              <a:t>l</a:t>
            </a:r>
            <a:r>
              <a:rPr kumimoji="0" lang="en-US" sz="2800" b="0" i="0" u="sng" strike="noStrike" kern="1200" cap="none" spc="0" normalizeH="0" baseline="0" noProof="0" dirty="0" err="1">
                <a:ln>
                  <a:noFill/>
                </a:ln>
                <a:solidFill>
                  <a:srgbClr val="008000"/>
                </a:solidFill>
                <a:effectLst/>
                <a:uLnTx/>
                <a:uFillTx/>
                <a:latin typeface="Times New Roman" panose="02020603050405020304" pitchFamily="18" charset="0"/>
                <a:ea typeface="+mn-ea"/>
                <a:cs typeface="Times New Roman" panose="02020603050405020304" pitchFamily="18" charset="0"/>
              </a:rPr>
              <a:t>icence</a:t>
            </a:r>
            <a:endParaRPr lang="en-US" sz="1000" dirty="0">
              <a:latin typeface="Times New Roman" panose="02020603050405020304" pitchFamily="18" charset="0"/>
              <a:cs typeface="Times New Roman" panose="02020603050405020304" pitchFamily="18" charset="0"/>
            </a:endParaRPr>
          </a:p>
          <a:p>
            <a:pPr lvl="0">
              <a:lnSpc>
                <a:spcPct val="150000"/>
              </a:lnSpc>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A path or driveway to the front door carries an implied licence for any member of the public on lawful business to approach and knock, unless negated by locked gate or sign.</a:t>
            </a:r>
          </a:p>
          <a:p>
            <a:pPr lvl="0">
              <a:lnSpc>
                <a:spcPct val="150000"/>
              </a:lnSpc>
              <a:buFont typeface="Wingdings" panose="05000000000000000000" pitchFamily="2" charset="2"/>
              <a:buChar char="Ø"/>
            </a:pPr>
            <a:r>
              <a:rPr lang="en-AU" sz="2400" dirty="0">
                <a:latin typeface="Times New Roman" panose="02020603050405020304" pitchFamily="18" charset="0"/>
                <a:cs typeface="Times New Roman" panose="02020603050405020304" pitchFamily="18" charset="0"/>
              </a:rPr>
              <a:t>See </a:t>
            </a:r>
            <a:r>
              <a:rPr lang="en-US" sz="2400" i="1" dirty="0">
                <a:solidFill>
                  <a:srgbClr val="0070C0"/>
                </a:solidFill>
                <a:latin typeface="Times New Roman" panose="02020603050405020304" pitchFamily="18" charset="0"/>
                <a:cs typeface="Times New Roman" panose="02020603050405020304" pitchFamily="18" charset="0"/>
              </a:rPr>
              <a:t>Halliday v Nevill </a:t>
            </a:r>
            <a:r>
              <a:rPr lang="en-US" sz="2400" dirty="0">
                <a:solidFill>
                  <a:srgbClr val="0070C0"/>
                </a:solidFill>
                <a:latin typeface="Times New Roman" panose="02020603050405020304" pitchFamily="18" charset="0"/>
                <a:cs typeface="Times New Roman" panose="02020603050405020304" pitchFamily="18" charset="0"/>
              </a:rPr>
              <a:t>(1984) 155 CLR 1 </a:t>
            </a:r>
            <a:r>
              <a:rPr lang="en-US" sz="2400" dirty="0">
                <a:solidFill>
                  <a:srgbClr val="7030A0"/>
                </a:solidFill>
                <a:latin typeface="Times New Roman" panose="02020603050405020304" pitchFamily="18" charset="0"/>
                <a:cs typeface="Times New Roman" panose="02020603050405020304" pitchFamily="18" charset="0"/>
              </a:rPr>
              <a:t>(a police officer was held to have an implied </a:t>
            </a:r>
            <a:r>
              <a:rPr lang="en-US" sz="2400" dirty="0" err="1">
                <a:solidFill>
                  <a:srgbClr val="7030A0"/>
                </a:solidFill>
                <a:latin typeface="Times New Roman" panose="02020603050405020304" pitchFamily="18" charset="0"/>
                <a:cs typeface="Times New Roman" panose="02020603050405020304" pitchFamily="18" charset="0"/>
              </a:rPr>
              <a:t>licence</a:t>
            </a:r>
            <a:r>
              <a:rPr lang="en-US" sz="2400" dirty="0">
                <a:solidFill>
                  <a:srgbClr val="7030A0"/>
                </a:solidFill>
                <a:latin typeface="Times New Roman" panose="02020603050405020304" pitchFamily="18" charset="0"/>
                <a:cs typeface="Times New Roman" panose="02020603050405020304" pitchFamily="18" charset="0"/>
              </a:rPr>
              <a:t> to enter an open driveway when he arrested a disqualified driver).</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Note, the implied </a:t>
            </a:r>
            <a:r>
              <a:rPr lang="en-US" sz="2400" dirty="0" err="1">
                <a:latin typeface="Times New Roman" panose="02020603050405020304" pitchFamily="18" charset="0"/>
                <a:cs typeface="Times New Roman" panose="02020603050405020304" pitchFamily="18" charset="0"/>
              </a:rPr>
              <a:t>licence</a:t>
            </a:r>
            <a:r>
              <a:rPr lang="en-US" sz="2400" dirty="0">
                <a:latin typeface="Times New Roman" panose="02020603050405020304" pitchFamily="18" charset="0"/>
                <a:cs typeface="Times New Roman" panose="02020603050405020304" pitchFamily="18" charset="0"/>
              </a:rPr>
              <a:t> does not extend to entry for the purpose of administering a breath test to the occupier </a:t>
            </a:r>
            <a:r>
              <a:rPr lang="en-US" sz="2400" dirty="0">
                <a:solidFill>
                  <a:srgbClr val="7030A0"/>
                </a:solidFill>
                <a:latin typeface="Times New Roman" panose="02020603050405020304" pitchFamily="18" charset="0"/>
                <a:cs typeface="Times New Roman" panose="02020603050405020304" pitchFamily="18" charset="0"/>
              </a:rPr>
              <a:t>(</a:t>
            </a:r>
            <a:r>
              <a:rPr lang="en-US" sz="2400" i="1" dirty="0">
                <a:solidFill>
                  <a:srgbClr val="0070C0"/>
                </a:solidFill>
                <a:latin typeface="Times New Roman" panose="02020603050405020304" pitchFamily="18" charset="0"/>
                <a:cs typeface="Times New Roman" panose="02020603050405020304" pitchFamily="18" charset="0"/>
              </a:rPr>
              <a:t>Munnings v Barrett </a:t>
            </a:r>
            <a:r>
              <a:rPr lang="en-US" sz="2400" dirty="0">
                <a:solidFill>
                  <a:srgbClr val="0070C0"/>
                </a:solidFill>
                <a:latin typeface="Times New Roman" panose="02020603050405020304" pitchFamily="18" charset="0"/>
                <a:cs typeface="Times New Roman" panose="02020603050405020304" pitchFamily="18" charset="0"/>
              </a:rPr>
              <a:t>(1987) 5 MVR 403</a:t>
            </a:r>
            <a:r>
              <a:rPr lang="en-US" sz="2400" dirty="0">
                <a:solidFill>
                  <a:srgbClr val="7030A0"/>
                </a:solidFill>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nor for service of a summons</a:t>
            </a:r>
            <a:r>
              <a:rPr lang="en-US" sz="2400" dirty="0">
                <a:solidFill>
                  <a:srgbClr val="7030A0"/>
                </a:solidFill>
                <a:latin typeface="Times New Roman" panose="02020603050405020304" pitchFamily="18" charset="0"/>
                <a:cs typeface="Times New Roman" panose="02020603050405020304" pitchFamily="18" charset="0"/>
              </a:rPr>
              <a:t> (</a:t>
            </a:r>
            <a:r>
              <a:rPr lang="en-US" sz="2400" i="1" dirty="0">
                <a:solidFill>
                  <a:srgbClr val="0070C0"/>
                </a:solidFill>
                <a:latin typeface="Times New Roman" panose="02020603050405020304" pitchFamily="18" charset="0"/>
                <a:cs typeface="Times New Roman" panose="02020603050405020304" pitchFamily="18" charset="0"/>
              </a:rPr>
              <a:t>Plenty v Dillon </a:t>
            </a:r>
            <a:r>
              <a:rPr lang="en-US" sz="2400" dirty="0">
                <a:solidFill>
                  <a:srgbClr val="0070C0"/>
                </a:solidFill>
                <a:latin typeface="Times New Roman" panose="02020603050405020304" pitchFamily="18" charset="0"/>
                <a:cs typeface="Times New Roman" panose="02020603050405020304" pitchFamily="18" charset="0"/>
              </a:rPr>
              <a:t>(1991) 171 CLR 635</a:t>
            </a:r>
            <a:r>
              <a:rPr lang="en-US" sz="2400" dirty="0">
                <a:solidFill>
                  <a:srgbClr val="7030A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44423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Consider the issue of implied license in </a:t>
            </a:r>
            <a:r>
              <a:rPr lang="en-US" sz="2800" i="1" dirty="0">
                <a:solidFill>
                  <a:srgbClr val="0070C0"/>
                </a:solidFill>
                <a:latin typeface="Times New Roman" panose="02020603050405020304" pitchFamily="18" charset="0"/>
                <a:cs typeface="Times New Roman" panose="02020603050405020304" pitchFamily="18" charset="0"/>
              </a:rPr>
              <a:t>Roy v O’Neill </a:t>
            </a:r>
            <a:r>
              <a:rPr lang="en-US" sz="2800" dirty="0">
                <a:solidFill>
                  <a:srgbClr val="0070C0"/>
                </a:solidFill>
                <a:latin typeface="Times New Roman" panose="02020603050405020304" pitchFamily="18" charset="0"/>
                <a:cs typeface="Times New Roman" panose="02020603050405020304" pitchFamily="18" charset="0"/>
              </a:rPr>
              <a:t>(2020) 272 CLR 291;</a:t>
            </a:r>
            <a:r>
              <a:rPr lang="en-US" sz="2800" i="1" dirty="0">
                <a:solidFill>
                  <a:srgbClr val="0070C0"/>
                </a:solidFill>
                <a:latin typeface="Times New Roman" panose="02020603050405020304" pitchFamily="18" charset="0"/>
                <a:cs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[2020] HCA 45 </a:t>
            </a:r>
            <a:r>
              <a:rPr lang="en-US" sz="2800" dirty="0">
                <a:solidFill>
                  <a:srgbClr val="7030A0"/>
                </a:solidFill>
                <a:latin typeface="Times New Roman" panose="02020603050405020304" pitchFamily="18" charset="0"/>
                <a:cs typeface="Times New Roman" panose="02020603050405020304" pitchFamily="18" charset="0"/>
              </a:rPr>
              <a:t>(whether the police officers had an implied license to be at the front door of a home if the purpose was to investigate a crime/checking on welfare, e.g., domestic violence)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High Court held that there was </a:t>
            </a:r>
            <a:r>
              <a:rPr lang="en-US" sz="2800" u="sng" dirty="0">
                <a:latin typeface="Times New Roman" panose="02020603050405020304" pitchFamily="18" charset="0"/>
                <a:cs typeface="Times New Roman" panose="02020603050405020304" pitchFamily="18" charset="0"/>
              </a:rPr>
              <a:t>no trespass</a:t>
            </a:r>
            <a:r>
              <a:rPr lang="en-US" sz="2800" dirty="0">
                <a:latin typeface="Times New Roman" panose="02020603050405020304" pitchFamily="18" charset="0"/>
                <a:cs typeface="Times New Roman" panose="02020603050405020304" pitchFamily="18" charset="0"/>
              </a:rPr>
              <a:t> by the police officers – the implied license to enter as far as the front door included the purpose of checking on the welfare of an occupant </a:t>
            </a:r>
          </a:p>
        </p:txBody>
      </p:sp>
    </p:spTree>
    <p:extLst>
      <p:ext uri="{BB962C8B-B14F-4D97-AF65-F5344CB8AC3E}">
        <p14:creationId xmlns:p14="http://schemas.microsoft.com/office/powerpoint/2010/main" val="2664670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8A10E-3B40-D853-373F-992758413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42D24-25AC-8466-EEC3-2ADCE30D8E7D}"/>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3822DC-A768-0976-2CB7-18CEA9249DE3}"/>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See </a:t>
            </a:r>
            <a:r>
              <a:rPr lang="en-US" sz="2800" i="1" dirty="0">
                <a:solidFill>
                  <a:srgbClr val="0070C0"/>
                </a:solidFill>
                <a:latin typeface="Times New Roman" panose="02020603050405020304" pitchFamily="18" charset="0"/>
                <a:cs typeface="Times New Roman" panose="02020603050405020304" pitchFamily="18" charset="0"/>
              </a:rPr>
              <a:t>Lincoln Hunt Aust v Willesee </a:t>
            </a:r>
            <a:r>
              <a:rPr lang="en-US" sz="2800" dirty="0">
                <a:solidFill>
                  <a:srgbClr val="0070C0"/>
                </a:solidFill>
                <a:latin typeface="Times New Roman" panose="02020603050405020304" pitchFamily="18" charset="0"/>
                <a:cs typeface="Times New Roman" panose="02020603050405020304" pitchFamily="18" charset="0"/>
              </a:rPr>
              <a:t>(1986) 4 NSWLR 457</a:t>
            </a:r>
            <a:r>
              <a:rPr lang="en-US" sz="2800" dirty="0">
                <a:latin typeface="Times New Roman" panose="02020603050405020304" pitchFamily="18" charset="0"/>
                <a:cs typeface="Times New Roman" panose="02020603050405020304" pitchFamily="18" charset="0"/>
              </a:rPr>
              <a:t>  </a:t>
            </a:r>
            <a:r>
              <a:rPr lang="en-US" sz="2800" dirty="0">
                <a:solidFill>
                  <a:srgbClr val="7030A0"/>
                </a:solidFill>
                <a:latin typeface="Times New Roman" panose="02020603050405020304" pitchFamily="18" charset="0"/>
                <a:cs typeface="Times New Roman" panose="02020603050405020304" pitchFamily="18" charset="0"/>
              </a:rPr>
              <a:t>(entry on to commercial premises with television cameras, not being for the purpose of bona fide seeking information or business with the occupier of the premises or as a client of the business, constitutes trespass).</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And</a:t>
            </a:r>
            <a:r>
              <a:rPr lang="en-US" sz="2800" b="1" dirty="0">
                <a:solidFill>
                  <a:srgbClr val="7030A0"/>
                </a:solidFill>
                <a:latin typeface="Times New Roman" panose="02020603050405020304" pitchFamily="18" charset="0"/>
                <a:cs typeface="Times New Roman" panose="02020603050405020304" pitchFamily="18" charset="0"/>
              </a:rPr>
              <a:t> </a:t>
            </a:r>
            <a:r>
              <a:rPr lang="en-US" sz="2800" i="1" dirty="0">
                <a:solidFill>
                  <a:srgbClr val="0070C0"/>
                </a:solidFill>
                <a:latin typeface="Times New Roman" panose="02020603050405020304" pitchFamily="18" charset="0"/>
                <a:cs typeface="Times New Roman" panose="02020603050405020304" pitchFamily="18" charset="0"/>
              </a:rPr>
              <a:t>Barker v The Queen (1983) 153 CLR 338 </a:t>
            </a:r>
            <a:r>
              <a:rPr lang="en-US" sz="2800" dirty="0">
                <a:solidFill>
                  <a:srgbClr val="7030A0"/>
                </a:solidFill>
                <a:latin typeface="Times New Roman" panose="02020603050405020304" pitchFamily="18" charset="0"/>
                <a:cs typeface="Times New Roman" panose="02020603050405020304" pitchFamily="18" charset="0"/>
              </a:rPr>
              <a:t>(a person </a:t>
            </a:r>
            <a:r>
              <a:rPr lang="en-US" sz="2800" dirty="0" err="1">
                <a:solidFill>
                  <a:srgbClr val="7030A0"/>
                </a:solidFill>
                <a:latin typeface="Times New Roman" panose="02020603050405020304" pitchFamily="18" charset="0"/>
                <a:cs typeface="Times New Roman" panose="02020603050405020304" pitchFamily="18" charset="0"/>
              </a:rPr>
              <a:t>authorised</a:t>
            </a:r>
            <a:r>
              <a:rPr lang="en-US" sz="2800" dirty="0">
                <a:solidFill>
                  <a:srgbClr val="7030A0"/>
                </a:solidFill>
                <a:latin typeface="Times New Roman" panose="02020603050405020304" pitchFamily="18" charset="0"/>
                <a:cs typeface="Times New Roman" panose="02020603050405020304" pitchFamily="18" charset="0"/>
              </a:rPr>
              <a:t> by the occupier to keep an eye on the house while they were away, and told where the key was, was a trespasser when he entered to steal)</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286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You should have seen signs like these: </a:t>
            </a: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What is the implication of such notices?  </a:t>
            </a:r>
          </a:p>
        </p:txBody>
      </p:sp>
      <p:pic>
        <p:nvPicPr>
          <p:cNvPr id="5" name="Picture 4" descr="A sign on a fence&#10;&#10;Description automatically generated with medium confidence">
            <a:extLst>
              <a:ext uri="{FF2B5EF4-FFF2-40B4-BE49-F238E27FC236}">
                <a16:creationId xmlns:a16="http://schemas.microsoft.com/office/drawing/2014/main" id="{8FC6D9EC-2424-905F-38E8-F59BE16745D2}"/>
              </a:ext>
            </a:extLst>
          </p:cNvPr>
          <p:cNvPicPr>
            <a:picLocks noChangeAspect="1"/>
          </p:cNvPicPr>
          <p:nvPr/>
        </p:nvPicPr>
        <p:blipFill>
          <a:blip r:embed="rId3"/>
          <a:stretch>
            <a:fillRect/>
          </a:stretch>
        </p:blipFill>
        <p:spPr>
          <a:xfrm>
            <a:off x="3213108" y="2408274"/>
            <a:ext cx="3472059" cy="2041451"/>
          </a:xfrm>
          <a:prstGeom prst="rect">
            <a:avLst/>
          </a:prstGeom>
        </p:spPr>
      </p:pic>
      <p:pic>
        <p:nvPicPr>
          <p:cNvPr id="7" name="Picture 6" descr="Text&#10;&#10;Description automatically generated with low confidence">
            <a:extLst>
              <a:ext uri="{FF2B5EF4-FFF2-40B4-BE49-F238E27FC236}">
                <a16:creationId xmlns:a16="http://schemas.microsoft.com/office/drawing/2014/main" id="{88956CE3-78B8-1A1E-5897-361E179C0BAE}"/>
              </a:ext>
            </a:extLst>
          </p:cNvPr>
          <p:cNvPicPr>
            <a:picLocks noChangeAspect="1"/>
          </p:cNvPicPr>
          <p:nvPr/>
        </p:nvPicPr>
        <p:blipFill>
          <a:blip r:embed="rId4"/>
          <a:stretch>
            <a:fillRect/>
          </a:stretch>
        </p:blipFill>
        <p:spPr>
          <a:xfrm>
            <a:off x="8739963" y="1818167"/>
            <a:ext cx="2780038" cy="2766459"/>
          </a:xfrm>
          <a:prstGeom prst="rect">
            <a:avLst/>
          </a:prstGeom>
        </p:spPr>
      </p:pic>
      <p:sp>
        <p:nvSpPr>
          <p:cNvPr id="8" name="Action Button: Help 7">
            <a:hlinkClick r:id="" action="ppaction://noaction" highlightClick="1"/>
            <a:extLst>
              <a:ext uri="{FF2B5EF4-FFF2-40B4-BE49-F238E27FC236}">
                <a16:creationId xmlns:a16="http://schemas.microsoft.com/office/drawing/2014/main" id="{127C0757-FD2D-4269-5E0B-9ABB556D1C02}"/>
              </a:ext>
            </a:extLst>
          </p:cNvPr>
          <p:cNvSpPr/>
          <p:nvPr/>
        </p:nvSpPr>
        <p:spPr>
          <a:xfrm>
            <a:off x="7166557" y="4912243"/>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400658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3. Remedies for trespass to land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One may seek the following remedies: </a:t>
            </a:r>
            <a:endParaRPr lang="en-US" sz="10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Damages – which may be nominal, compensatory, aggravated and exemplary</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Injunctions – prohibitory or mandatory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Self-help (e.g., physical removal of a trespasser by using reasonable force) </a:t>
            </a:r>
          </a:p>
        </p:txBody>
      </p:sp>
    </p:spTree>
    <p:extLst>
      <p:ext uri="{BB962C8B-B14F-4D97-AF65-F5344CB8AC3E}">
        <p14:creationId xmlns:p14="http://schemas.microsoft.com/office/powerpoint/2010/main" val="847723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Remedies for trespass to land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kumimoji="0" lang="en-US" sz="28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Measure of damages   </a:t>
            </a:r>
            <a:r>
              <a:rPr kumimoji="0" lang="en-US" sz="2800" b="0" i="0" u="none"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 </a:t>
            </a:r>
            <a:endParaRPr lang="en-US" sz="1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The general rule is to put the injured party in the same position as she would have been if no wrong was committed </a:t>
            </a: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Damages are generally assessed as the </a:t>
            </a:r>
            <a:r>
              <a:rPr lang="en-US" sz="2600" b="1" dirty="0">
                <a:latin typeface="Times New Roman" panose="02020603050405020304" pitchFamily="18" charset="0"/>
                <a:cs typeface="Times New Roman" panose="02020603050405020304" pitchFamily="18" charset="0"/>
              </a:rPr>
              <a:t>diminution in the value </a:t>
            </a:r>
            <a:r>
              <a:rPr lang="en-US" sz="2600" dirty="0">
                <a:latin typeface="Times New Roman" panose="02020603050405020304" pitchFamily="18" charset="0"/>
                <a:cs typeface="Times New Roman" panose="02020603050405020304" pitchFamily="18" charset="0"/>
              </a:rPr>
              <a:t>of the property </a:t>
            </a: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In suitable cases, the higher cost of reinstatement may be ordered</a:t>
            </a: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It is also possible to recover for consequential injury or damage – e.g., if the trespass resulted in a psychiatric injury  </a:t>
            </a:r>
          </a:p>
          <a:p>
            <a:pPr>
              <a:lnSpc>
                <a:spcPct val="150000"/>
              </a:lnSpc>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5225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563526" y="386398"/>
            <a:ext cx="8803758"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4. Nuisance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Nuisance involves </a:t>
            </a:r>
            <a:r>
              <a:rPr lang="en-US" sz="2800" b="1" dirty="0">
                <a:latin typeface="Times New Roman" panose="02020603050405020304" pitchFamily="18" charset="0"/>
                <a:cs typeface="Times New Roman" panose="02020603050405020304" pitchFamily="18" charset="0"/>
              </a:rPr>
              <a:t>unreasonable interference</a:t>
            </a:r>
            <a:r>
              <a:rPr lang="en-US" sz="2800" dirty="0">
                <a:latin typeface="Times New Roman" panose="02020603050405020304" pitchFamily="18" charset="0"/>
                <a:cs typeface="Times New Roman" panose="02020603050405020304" pitchFamily="18" charset="0"/>
              </a:rPr>
              <a:t> with the plaintiff’s </a:t>
            </a:r>
            <a:r>
              <a:rPr lang="en-US" sz="2800" b="1" i="1" dirty="0">
                <a:latin typeface="Times New Roman" panose="02020603050405020304" pitchFamily="18" charset="0"/>
                <a:cs typeface="Times New Roman" panose="02020603050405020304" pitchFamily="18" charset="0"/>
              </a:rPr>
              <a:t>use or enjoyment</a:t>
            </a:r>
            <a:r>
              <a:rPr lang="en-US" sz="2800" dirty="0">
                <a:latin typeface="Times New Roman" panose="02020603050405020304" pitchFamily="18" charset="0"/>
                <a:cs typeface="Times New Roman" panose="02020603050405020304" pitchFamily="18" charset="0"/>
              </a:rPr>
              <a:t> of </a:t>
            </a:r>
            <a:r>
              <a:rPr lang="en-US" sz="2800" b="1" dirty="0">
                <a:latin typeface="Times New Roman" panose="02020603050405020304" pitchFamily="18" charset="0"/>
                <a:cs typeface="Times New Roman" panose="02020603050405020304" pitchFamily="18" charset="0"/>
              </a:rPr>
              <a:t>land</a:t>
            </a:r>
            <a:r>
              <a:rPr lang="en-US" sz="2800" dirty="0">
                <a:latin typeface="Times New Roman" panose="02020603050405020304" pitchFamily="18" charset="0"/>
                <a:cs typeface="Times New Roman" panose="02020603050405020304" pitchFamily="18" charset="0"/>
              </a:rPr>
              <a:t>  </a:t>
            </a: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It is different from trespass to land because in nuisance: </a:t>
            </a:r>
            <a:endParaRPr lang="en-US" sz="10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interference is with the land’s use or enjoyment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interference need not be direct or physical   </a:t>
            </a:r>
          </a:p>
        </p:txBody>
      </p:sp>
    </p:spTree>
    <p:extLst>
      <p:ext uri="{BB962C8B-B14F-4D97-AF65-F5344CB8AC3E}">
        <p14:creationId xmlns:p14="http://schemas.microsoft.com/office/powerpoint/2010/main" val="1643290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Nuisance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500" dirty="0">
                <a:latin typeface="Times New Roman" panose="02020603050405020304" pitchFamily="18" charset="0"/>
                <a:cs typeface="Times New Roman" panose="02020603050405020304" pitchFamily="18" charset="0"/>
              </a:rPr>
              <a:t>Due to its wide ambit, a variety of situations may amount to nuisance: </a:t>
            </a:r>
            <a:endParaRPr lang="en-US" sz="2500" dirty="0">
              <a:solidFill>
                <a:srgbClr val="7030A0"/>
              </a:solidFill>
              <a:latin typeface="Times New Roman" panose="02020603050405020304" pitchFamily="18" charset="0"/>
              <a:cs typeface="Times New Roman" panose="02020603050405020304" pitchFamily="18" charset="0"/>
            </a:endParaRPr>
          </a:p>
          <a:p>
            <a:pPr lvl="3">
              <a:lnSpc>
                <a:spcPct val="150000"/>
              </a:lnSpc>
              <a:buFont typeface="Wingdings" panose="05000000000000000000" pitchFamily="2" charset="2"/>
              <a:buChar char="v"/>
            </a:pPr>
            <a:r>
              <a:rPr lang="en-HK" sz="2500" dirty="0">
                <a:latin typeface="Times New Roman" panose="02020603050405020304" pitchFamily="18" charset="0"/>
                <a:cs typeface="Times New Roman" panose="02020603050405020304" pitchFamily="18" charset="0"/>
              </a:rPr>
              <a:t> smell </a:t>
            </a:r>
          </a:p>
          <a:p>
            <a:pPr lvl="3">
              <a:lnSpc>
                <a:spcPct val="150000"/>
              </a:lnSpc>
              <a:buFont typeface="Wingdings" panose="05000000000000000000" pitchFamily="2" charset="2"/>
              <a:buChar char="v"/>
            </a:pPr>
            <a:r>
              <a:rPr lang="en-HK" sz="2500" dirty="0">
                <a:latin typeface="Times New Roman" panose="02020603050405020304" pitchFamily="18" charset="0"/>
                <a:cs typeface="Times New Roman" panose="02020603050405020304" pitchFamily="18" charset="0"/>
              </a:rPr>
              <a:t> noise </a:t>
            </a:r>
          </a:p>
          <a:p>
            <a:pPr lvl="3">
              <a:lnSpc>
                <a:spcPct val="150000"/>
              </a:lnSpc>
              <a:buFont typeface="Wingdings" panose="05000000000000000000" pitchFamily="2" charset="2"/>
              <a:buChar char="v"/>
            </a:pPr>
            <a:r>
              <a:rPr lang="en-HK" sz="2500" dirty="0">
                <a:latin typeface="Times New Roman" panose="02020603050405020304" pitchFamily="18" charset="0"/>
                <a:cs typeface="Times New Roman" panose="02020603050405020304" pitchFamily="18" charset="0"/>
              </a:rPr>
              <a:t> pollution of water or air  </a:t>
            </a:r>
          </a:p>
          <a:p>
            <a:pPr lvl="3">
              <a:lnSpc>
                <a:spcPct val="150000"/>
              </a:lnSpc>
              <a:buFont typeface="Wingdings" panose="05000000000000000000" pitchFamily="2" charset="2"/>
              <a:buChar char="v"/>
            </a:pPr>
            <a:r>
              <a:rPr lang="en-HK" sz="2500" dirty="0">
                <a:latin typeface="Times New Roman" panose="02020603050405020304" pitchFamily="18" charset="0"/>
                <a:cs typeface="Times New Roman" panose="02020603050405020304" pitchFamily="18" charset="0"/>
              </a:rPr>
              <a:t> water overflow </a:t>
            </a:r>
          </a:p>
          <a:p>
            <a:pPr lvl="3">
              <a:lnSpc>
                <a:spcPct val="150000"/>
              </a:lnSpc>
              <a:buFont typeface="Wingdings" panose="05000000000000000000" pitchFamily="2" charset="2"/>
              <a:buChar char="v"/>
            </a:pPr>
            <a:r>
              <a:rPr lang="en-HK" sz="2500" dirty="0">
                <a:latin typeface="Times New Roman" panose="02020603050405020304" pitchFamily="18" charset="0"/>
                <a:cs typeface="Times New Roman" panose="02020603050405020304" pitchFamily="18" charset="0"/>
              </a:rPr>
              <a:t> loud music </a:t>
            </a:r>
          </a:p>
          <a:p>
            <a:pPr lvl="3">
              <a:lnSpc>
                <a:spcPct val="150000"/>
              </a:lnSpc>
              <a:buFont typeface="Wingdings" panose="05000000000000000000" pitchFamily="2" charset="2"/>
              <a:buChar char="v"/>
            </a:pPr>
            <a:r>
              <a:rPr lang="en-HK" sz="2500" dirty="0">
                <a:latin typeface="Times New Roman" panose="02020603050405020304" pitchFamily="18" charset="0"/>
                <a:cs typeface="Times New Roman" panose="02020603050405020304" pitchFamily="18" charset="0"/>
              </a:rPr>
              <a:t> presence of a brothel near residences </a:t>
            </a:r>
          </a:p>
          <a:p>
            <a:pPr lvl="3">
              <a:lnSpc>
                <a:spcPct val="150000"/>
              </a:lnSpc>
              <a:buFont typeface="Wingdings" panose="05000000000000000000" pitchFamily="2" charset="2"/>
              <a:buChar char="v"/>
            </a:pPr>
            <a:r>
              <a:rPr lang="en-HK" sz="2500" dirty="0">
                <a:latin typeface="Times New Roman" panose="02020603050405020304" pitchFamily="18" charset="0"/>
                <a:cs typeface="Times New Roman" panose="02020603050405020304" pitchFamily="18" charset="0"/>
              </a:rPr>
              <a:t> damage by tree roots  </a:t>
            </a:r>
          </a:p>
        </p:txBody>
      </p:sp>
    </p:spTree>
    <p:extLst>
      <p:ext uri="{BB962C8B-B14F-4D97-AF65-F5344CB8AC3E}">
        <p14:creationId xmlns:p14="http://schemas.microsoft.com/office/powerpoint/2010/main" val="3294179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Nuisance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Nuisance is of two types: </a:t>
            </a:r>
            <a:endParaRPr lang="en-US" sz="1000" dirty="0">
              <a:latin typeface="Times New Roman" panose="02020603050405020304" pitchFamily="18" charset="0"/>
              <a:cs typeface="Times New Roman" panose="02020603050405020304" pitchFamily="18" charset="0"/>
            </a:endParaRPr>
          </a:p>
          <a:p>
            <a:pPr marL="1371600" lvl="2" indent="-514350">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Private nuisance – a </a:t>
            </a:r>
            <a:r>
              <a:rPr lang="en-US" sz="2800" b="1" dirty="0">
                <a:latin typeface="Times New Roman" panose="02020603050405020304" pitchFamily="18" charset="0"/>
                <a:cs typeface="Times New Roman" panose="02020603050405020304" pitchFamily="18" charset="0"/>
              </a:rPr>
              <a:t>tort</a:t>
            </a:r>
            <a:r>
              <a:rPr lang="en-US" sz="2800" dirty="0">
                <a:latin typeface="Times New Roman" panose="02020603050405020304" pitchFamily="18" charset="0"/>
                <a:cs typeface="Times New Roman" panose="02020603050405020304" pitchFamily="18" charset="0"/>
              </a:rPr>
              <a:t> action </a:t>
            </a:r>
          </a:p>
          <a:p>
            <a:pPr marL="1371600" lvl="2" indent="-514350">
              <a:lnSpc>
                <a:spcPct val="150000"/>
              </a:lnSpc>
              <a:buFont typeface="+mj-lt"/>
              <a:buAutoNum type="arabicPeriod"/>
            </a:pPr>
            <a:r>
              <a:rPr lang="en-US" sz="2800" dirty="0">
                <a:latin typeface="Times New Roman" panose="02020603050405020304" pitchFamily="18" charset="0"/>
                <a:cs typeface="Times New Roman" panose="02020603050405020304" pitchFamily="18" charset="0"/>
              </a:rPr>
              <a:t>Public nuisance – a common law </a:t>
            </a:r>
            <a:r>
              <a:rPr lang="en-US" sz="2800" b="1" dirty="0">
                <a:latin typeface="Times New Roman" panose="02020603050405020304" pitchFamily="18" charset="0"/>
                <a:cs typeface="Times New Roman" panose="02020603050405020304" pitchFamily="18" charset="0"/>
              </a:rPr>
              <a:t>crime</a:t>
            </a:r>
            <a:r>
              <a:rPr lang="en-US" sz="2800" dirty="0">
                <a:latin typeface="Times New Roman" panose="02020603050405020304" pitchFamily="18" charset="0"/>
                <a:cs typeface="Times New Roman" panose="02020603050405020304" pitchFamily="18" charset="0"/>
              </a:rPr>
              <a:t>, </a:t>
            </a:r>
            <a:r>
              <a:rPr lang="en-US" sz="2800" u="sng" dirty="0">
                <a:latin typeface="Times New Roman" panose="02020603050405020304" pitchFamily="18" charset="0"/>
                <a:cs typeface="Times New Roman" panose="02020603050405020304" pitchFamily="18" charset="0"/>
              </a:rPr>
              <a:t>but</a:t>
            </a:r>
            <a:r>
              <a:rPr lang="en-US" sz="2800" dirty="0">
                <a:latin typeface="Times New Roman" panose="02020603050405020304" pitchFamily="18" charset="0"/>
                <a:cs typeface="Times New Roman" panose="02020603050405020304" pitchFamily="18" charset="0"/>
              </a:rPr>
              <a:t> a tort action is also possible if special / particular damage has been suffered </a:t>
            </a:r>
            <a:endParaRPr lang="en-HK" sz="2800"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150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Nuisance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kumimoji="0" lang="en-US" sz="2700" b="0" i="0" u="sng" strike="noStrike" kern="1200" cap="none" spc="0" normalizeH="0" baseline="0" noProof="0" dirty="0">
                <a:ln>
                  <a:noFill/>
                </a:ln>
                <a:solidFill>
                  <a:srgbClr val="008000"/>
                </a:solidFill>
                <a:effectLst/>
                <a:uLnTx/>
                <a:uFillTx/>
                <a:latin typeface="Times New Roman" panose="02020603050405020304" pitchFamily="18" charset="0"/>
                <a:ea typeface="+mn-ea"/>
                <a:cs typeface="Times New Roman" panose="02020603050405020304" pitchFamily="18" charset="0"/>
              </a:rPr>
              <a:t>Public nuisance</a:t>
            </a:r>
            <a:endParaRPr lang="en-US" sz="27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en-US" sz="2700" dirty="0">
                <a:latin typeface="Times New Roman" panose="02020603050405020304" pitchFamily="18" charset="0"/>
                <a:cs typeface="Times New Roman" panose="02020603050405020304" pitchFamily="18" charset="0"/>
              </a:rPr>
              <a:t>An unlawful act or omission which (i) endangers the lives, safety, property or comfort of the public or (ii) obstructs the enjoyment of any right common to all </a:t>
            </a:r>
          </a:p>
          <a:p>
            <a:pPr>
              <a:lnSpc>
                <a:spcPct val="150000"/>
              </a:lnSpc>
              <a:buFont typeface="Courier New" panose="02070309020205020404" pitchFamily="49" charset="0"/>
              <a:buChar char="o"/>
            </a:pPr>
            <a:r>
              <a:rPr lang="en-US" sz="2700" dirty="0">
                <a:latin typeface="Times New Roman" panose="02020603050405020304" pitchFamily="18" charset="0"/>
                <a:cs typeface="Times New Roman" panose="02020603050405020304" pitchFamily="18" charset="0"/>
              </a:rPr>
              <a:t>To initiate a case for public nuisance, there should be:</a:t>
            </a:r>
          </a:p>
          <a:p>
            <a:pPr marL="1371600" lvl="2" indent="-514350">
              <a:lnSpc>
                <a:spcPct val="150000"/>
              </a:lnSpc>
              <a:buFont typeface="+mj-lt"/>
              <a:buAutoNum type="arabicPeriod"/>
            </a:pPr>
            <a:r>
              <a:rPr lang="en-HK" sz="2700" dirty="0">
                <a:latin typeface="Times New Roman" panose="02020603050405020304" pitchFamily="18" charset="0"/>
                <a:cs typeface="Times New Roman" panose="02020603050405020304" pitchFamily="18" charset="0"/>
              </a:rPr>
              <a:t>Title to sue – </a:t>
            </a:r>
            <a:r>
              <a:rPr lang="en-HK" sz="2700" i="1" dirty="0">
                <a:latin typeface="Times New Roman" panose="02020603050405020304" pitchFamily="18" charset="0"/>
                <a:cs typeface="Times New Roman" panose="02020603050405020304" pitchFamily="18" charset="0"/>
              </a:rPr>
              <a:t>special / particular damage </a:t>
            </a:r>
          </a:p>
          <a:p>
            <a:pPr marL="1371600" lvl="2" indent="-514350">
              <a:lnSpc>
                <a:spcPct val="150000"/>
              </a:lnSpc>
              <a:buFont typeface="+mj-lt"/>
              <a:buAutoNum type="arabicPeriod"/>
            </a:pPr>
            <a:r>
              <a:rPr lang="en-HK" sz="2700" dirty="0">
                <a:latin typeface="Times New Roman" panose="02020603050405020304" pitchFamily="18" charset="0"/>
                <a:cs typeface="Times New Roman" panose="02020603050405020304" pitchFamily="18" charset="0"/>
              </a:rPr>
              <a:t>Interference with a </a:t>
            </a:r>
            <a:r>
              <a:rPr lang="en-HK" sz="2700" i="1" dirty="0">
                <a:latin typeface="Times New Roman" panose="02020603050405020304" pitchFamily="18" charset="0"/>
                <a:cs typeface="Times New Roman" panose="02020603050405020304" pitchFamily="18" charset="0"/>
              </a:rPr>
              <a:t>public right </a:t>
            </a:r>
          </a:p>
          <a:p>
            <a:pPr marL="1371600" lvl="2" indent="-514350">
              <a:lnSpc>
                <a:spcPct val="150000"/>
              </a:lnSpc>
              <a:buFont typeface="+mj-lt"/>
              <a:buAutoNum type="arabicPeriod"/>
            </a:pPr>
            <a:r>
              <a:rPr lang="en-HK" sz="2700" dirty="0">
                <a:latin typeface="Times New Roman" panose="02020603050405020304" pitchFamily="18" charset="0"/>
                <a:cs typeface="Times New Roman" panose="02020603050405020304" pitchFamily="18" charset="0"/>
              </a:rPr>
              <a:t>Interference is </a:t>
            </a:r>
            <a:r>
              <a:rPr lang="en-HK" sz="2700" i="1" dirty="0">
                <a:latin typeface="Times New Roman" panose="02020603050405020304" pitchFamily="18" charset="0"/>
                <a:cs typeface="Times New Roman" panose="02020603050405020304" pitchFamily="18" charset="0"/>
              </a:rPr>
              <a:t>substantial and unreasonable</a:t>
            </a:r>
            <a:r>
              <a:rPr lang="en-HK" sz="2800" i="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823397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Nuisance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How can a private individual prove </a:t>
            </a:r>
            <a:r>
              <a:rPr lang="en-US" sz="2800" b="1" dirty="0">
                <a:latin typeface="Times New Roman" panose="02020603050405020304" pitchFamily="18" charset="0"/>
                <a:cs typeface="Times New Roman" panose="02020603050405020304" pitchFamily="18" charset="0"/>
              </a:rPr>
              <a:t>special or particular damage</a:t>
            </a:r>
            <a:r>
              <a:rPr lang="en-US" sz="2800" dirty="0">
                <a:latin typeface="Times New Roman" panose="02020603050405020304" pitchFamily="18" charset="0"/>
                <a:cs typeface="Times New Roman" panose="02020603050405020304" pitchFamily="18" charset="0"/>
              </a:rPr>
              <a:t>? </a:t>
            </a: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Consider </a:t>
            </a:r>
            <a:r>
              <a:rPr lang="en-US" sz="2800" i="1" dirty="0">
                <a:solidFill>
                  <a:srgbClr val="0070C0"/>
                </a:solidFill>
                <a:latin typeface="Times New Roman" panose="02020603050405020304" pitchFamily="18" charset="0"/>
                <a:cs typeface="Times New Roman" panose="02020603050405020304" pitchFamily="18" charset="0"/>
              </a:rPr>
              <a:t>Walsh v Ervin </a:t>
            </a:r>
            <a:r>
              <a:rPr lang="en-US" sz="2800" dirty="0">
                <a:solidFill>
                  <a:srgbClr val="0070C0"/>
                </a:solidFill>
                <a:latin typeface="Times New Roman" panose="02020603050405020304" pitchFamily="18" charset="0"/>
                <a:cs typeface="Times New Roman" panose="02020603050405020304" pitchFamily="18" charset="0"/>
              </a:rPr>
              <a:t>[1952] </a:t>
            </a:r>
            <a:r>
              <a:rPr lang="en-US" sz="2800" dirty="0" err="1">
                <a:solidFill>
                  <a:srgbClr val="0070C0"/>
                </a:solidFill>
                <a:latin typeface="Times New Roman" panose="02020603050405020304" pitchFamily="18" charset="0"/>
                <a:cs typeface="Times New Roman" panose="02020603050405020304" pitchFamily="18" charset="0"/>
              </a:rPr>
              <a:t>VLR</a:t>
            </a:r>
            <a:r>
              <a:rPr lang="en-US" sz="2800" dirty="0">
                <a:solidFill>
                  <a:srgbClr val="0070C0"/>
                </a:solidFill>
                <a:latin typeface="Times New Roman" panose="02020603050405020304" pitchFamily="18" charset="0"/>
                <a:cs typeface="Times New Roman" panose="02020603050405020304" pitchFamily="18" charset="0"/>
              </a:rPr>
              <a:t> 361 </a:t>
            </a:r>
            <a:r>
              <a:rPr lang="en-US" sz="2800" dirty="0">
                <a:solidFill>
                  <a:srgbClr val="7030A0"/>
                </a:solidFill>
                <a:latin typeface="Times New Roman" panose="02020603050405020304" pitchFamily="18" charset="0"/>
                <a:cs typeface="Times New Roman" panose="02020603050405020304" pitchFamily="18" charset="0"/>
              </a:rPr>
              <a:t>(the defendant, a farmer, ploughed and planted crops on the highway and also erected gates which prevented the plaintiff from entering his land by a motor vehicle) </a:t>
            </a:r>
          </a:p>
          <a:p>
            <a:pPr>
              <a:lnSpc>
                <a:spcPct val="150000"/>
              </a:lnSpc>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Obstructing a public highway is a classic public nuisance. But what made this plaintiff's damage special or particular? </a:t>
            </a:r>
            <a:endParaRPr lang="en-HK" sz="2800" dirty="0">
              <a:latin typeface="Times New Roman" panose="02020603050405020304" pitchFamily="18" charset="0"/>
              <a:cs typeface="Times New Roman" panose="02020603050405020304" pitchFamily="18" charset="0"/>
            </a:endParaRPr>
          </a:p>
        </p:txBody>
      </p:sp>
      <p:sp>
        <p:nvSpPr>
          <p:cNvPr id="4" name="Action Button: Help 3">
            <a:hlinkClick r:id="" action="ppaction://noaction" highlightClick="1"/>
            <a:extLst>
              <a:ext uri="{FF2B5EF4-FFF2-40B4-BE49-F238E27FC236}">
                <a16:creationId xmlns:a16="http://schemas.microsoft.com/office/drawing/2014/main" id="{1887277C-F608-63BC-F244-EAE1E235676A}"/>
              </a:ext>
            </a:extLst>
          </p:cNvPr>
          <p:cNvSpPr/>
          <p:nvPr/>
        </p:nvSpPr>
        <p:spPr>
          <a:xfrm>
            <a:off x="10950792" y="4089631"/>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1233473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Nuisance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The court held that to maintain an action for public nuisance, special or particular damage is not limited to actual pecuniary loss</a:t>
            </a: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If the plaintiff suffered </a:t>
            </a:r>
            <a:r>
              <a:rPr lang="en-US" sz="2800" u="sng" dirty="0">
                <a:latin typeface="Times New Roman" panose="02020603050405020304" pitchFamily="18" charset="0"/>
                <a:cs typeface="Times New Roman" panose="02020603050405020304" pitchFamily="18" charset="0"/>
              </a:rPr>
              <a:t>delay</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a:t>
            </a:r>
            <a:r>
              <a:rPr lang="en-US" sz="2800" b="1" dirty="0">
                <a:latin typeface="Times New Roman" panose="02020603050405020304" pitchFamily="18" charset="0"/>
                <a:cs typeface="Times New Roman" panose="02020603050405020304" pitchFamily="18" charset="0"/>
              </a:rPr>
              <a:t> </a:t>
            </a:r>
            <a:r>
              <a:rPr lang="en-US" sz="2800" u="sng" dirty="0">
                <a:latin typeface="Times New Roman" panose="02020603050405020304" pitchFamily="18" charset="0"/>
                <a:cs typeface="Times New Roman" panose="02020603050405020304" pitchFamily="18" charset="0"/>
              </a:rPr>
              <a:t>inconvenience</a:t>
            </a:r>
            <a:r>
              <a:rPr lang="en-US" sz="2800" dirty="0">
                <a:latin typeface="Times New Roman" panose="02020603050405020304" pitchFamily="18" charset="0"/>
                <a:cs typeface="Times New Roman" panose="02020603050405020304" pitchFamily="18" charset="0"/>
              </a:rPr>
              <a:t> of a substantial character – </a:t>
            </a:r>
            <a:r>
              <a:rPr lang="en-US" sz="2800" i="1" dirty="0">
                <a:latin typeface="Times New Roman" panose="02020603050405020304" pitchFamily="18" charset="0"/>
                <a:cs typeface="Times New Roman" panose="02020603050405020304" pitchFamily="18" charset="0"/>
              </a:rPr>
              <a:t>dissimilar to the one experienced by the rest of public </a:t>
            </a:r>
            <a:r>
              <a:rPr lang="en-US" sz="2800" dirty="0">
                <a:latin typeface="Times New Roman" panose="02020603050405020304" pitchFamily="18" charset="0"/>
                <a:cs typeface="Times New Roman" panose="02020603050405020304" pitchFamily="18" charset="0"/>
              </a:rPr>
              <a:t>– this may amount to special or particular damage </a:t>
            </a:r>
            <a:endParaRPr lang="en-HK"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830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Nuisance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There should be </a:t>
            </a:r>
            <a:r>
              <a:rPr lang="en-US" sz="2800" b="1" dirty="0">
                <a:latin typeface="Times New Roman" panose="02020603050405020304" pitchFamily="18" charset="0"/>
                <a:cs typeface="Times New Roman" panose="02020603050405020304" pitchFamily="18" charset="0"/>
              </a:rPr>
              <a:t>interference with a public right  </a:t>
            </a:r>
            <a:endParaRPr lang="en-US" sz="28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The </a:t>
            </a:r>
            <a:r>
              <a:rPr lang="en-US" sz="2800" i="1" dirty="0">
                <a:latin typeface="Times New Roman" panose="02020603050405020304" pitchFamily="18" charset="0"/>
                <a:cs typeface="Times New Roman" panose="02020603050405020304" pitchFamily="18" charset="0"/>
              </a:rPr>
              <a:t>general public </a:t>
            </a:r>
            <a:r>
              <a:rPr lang="en-US" sz="2800" dirty="0">
                <a:latin typeface="Times New Roman" panose="02020603050405020304" pitchFamily="18" charset="0"/>
                <a:cs typeface="Times New Roman" panose="02020603050405020304" pitchFamily="18" charset="0"/>
              </a:rPr>
              <a:t>should be impacted by the alleged nuisance </a:t>
            </a:r>
          </a:p>
          <a:p>
            <a:pPr>
              <a:lnSpc>
                <a:spcPct val="150000"/>
              </a:lnSpc>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Because of this nature, addressing public nuisance becomes the responsibility of the community – </a:t>
            </a:r>
            <a:r>
              <a:rPr lang="en-US" sz="2800" i="1" dirty="0">
                <a:latin typeface="Times New Roman" panose="02020603050405020304" pitchFamily="18" charset="0"/>
                <a:cs typeface="Times New Roman" panose="02020603050405020304" pitchFamily="18" charset="0"/>
              </a:rPr>
              <a:t>the state should act generally </a:t>
            </a:r>
            <a:endParaRPr lang="en-HK" sz="2800" i="1" dirty="0">
              <a:latin typeface="Times New Roman" panose="02020603050405020304" pitchFamily="18" charset="0"/>
              <a:cs typeface="Times New Roman" panose="02020603050405020304" pitchFamily="18" charset="0"/>
            </a:endParaRPr>
          </a:p>
        </p:txBody>
      </p:sp>
      <p:sp>
        <p:nvSpPr>
          <p:cNvPr id="5" name="Arrow: Striped Right 4">
            <a:extLst>
              <a:ext uri="{FF2B5EF4-FFF2-40B4-BE49-F238E27FC236}">
                <a16:creationId xmlns:a16="http://schemas.microsoft.com/office/drawing/2014/main" id="{B680D29B-6080-5303-7DA4-A183C02C4294}"/>
              </a:ext>
            </a:extLst>
          </p:cNvPr>
          <p:cNvSpPr/>
          <p:nvPr/>
        </p:nvSpPr>
        <p:spPr>
          <a:xfrm>
            <a:off x="3258652" y="3035800"/>
            <a:ext cx="5722695" cy="2020187"/>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HK" sz="2600" dirty="0">
                <a:solidFill>
                  <a:srgbClr val="3333FF"/>
                </a:solidFill>
                <a:latin typeface="Times New Roman" panose="02020603050405020304" pitchFamily="18" charset="0"/>
                <a:cs typeface="Times New Roman" panose="02020603050405020304" pitchFamily="18" charset="0"/>
              </a:rPr>
              <a:t>Could public nuisance be caused inside a cricket stadium? </a:t>
            </a:r>
          </a:p>
        </p:txBody>
      </p:sp>
    </p:spTree>
    <p:extLst>
      <p:ext uri="{BB962C8B-B14F-4D97-AF65-F5344CB8AC3E}">
        <p14:creationId xmlns:p14="http://schemas.microsoft.com/office/powerpoint/2010/main" val="2041331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Nuisance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Moreover, the interference must be </a:t>
            </a:r>
            <a:r>
              <a:rPr lang="en-US" sz="2800" b="1" dirty="0">
                <a:latin typeface="Times New Roman" panose="02020603050405020304" pitchFamily="18" charset="0"/>
                <a:cs typeface="Times New Roman" panose="02020603050405020304" pitchFamily="18" charset="0"/>
              </a:rPr>
              <a:t>substantial and unreasonable </a:t>
            </a:r>
            <a:endParaRPr lang="en-US" sz="28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en-HK" sz="2800" dirty="0">
                <a:latin typeface="Times New Roman" panose="02020603050405020304" pitchFamily="18" charset="0"/>
                <a:cs typeface="Times New Roman" panose="02020603050405020304" pitchFamily="18" charset="0"/>
              </a:rPr>
              <a:t>Not every annoyance, discomfort or inconvenience will amount to public nuisance  </a:t>
            </a:r>
          </a:p>
        </p:txBody>
      </p:sp>
      <p:sp>
        <p:nvSpPr>
          <p:cNvPr id="4" name="Speech Bubble: Oval 3">
            <a:extLst>
              <a:ext uri="{FF2B5EF4-FFF2-40B4-BE49-F238E27FC236}">
                <a16:creationId xmlns:a16="http://schemas.microsoft.com/office/drawing/2014/main" id="{8CEEFB41-6A4E-E4AC-E84A-6670FFFA08B2}"/>
              </a:ext>
            </a:extLst>
          </p:cNvPr>
          <p:cNvSpPr/>
          <p:nvPr/>
        </p:nvSpPr>
        <p:spPr>
          <a:xfrm>
            <a:off x="5188688" y="3519378"/>
            <a:ext cx="4210493" cy="1998920"/>
          </a:xfrm>
          <a:prstGeom prst="wedgeEllipseCallout">
            <a:avLst>
              <a:gd name="adj1" fmla="val -43456"/>
              <a:gd name="adj2" fmla="val 71976"/>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HK" sz="2800" dirty="0">
                <a:solidFill>
                  <a:srgbClr val="3333FF"/>
                </a:solidFill>
                <a:latin typeface="Times New Roman" panose="02020603050405020304" pitchFamily="18" charset="0"/>
                <a:cs typeface="Times New Roman" panose="02020603050405020304" pitchFamily="18" charset="0"/>
              </a:rPr>
              <a:t>Temporary obstruction of a highway! </a:t>
            </a:r>
          </a:p>
        </p:txBody>
      </p:sp>
    </p:spTree>
    <p:extLst>
      <p:ext uri="{BB962C8B-B14F-4D97-AF65-F5344CB8AC3E}">
        <p14:creationId xmlns:p14="http://schemas.microsoft.com/office/powerpoint/2010/main" val="1636101315"/>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c514c1-a717-4087-be06-d40d2070ad52}" enabled="0" method="" siteId="{82c514c1-a717-4087-be06-d40d2070ad52}" removed="1"/>
</clbl:labelList>
</file>

<file path=docProps/app.xml><?xml version="1.0" encoding="utf-8"?>
<Properties xmlns="http://schemas.openxmlformats.org/officeDocument/2006/extended-properties" xmlns:vt="http://schemas.openxmlformats.org/officeDocument/2006/docPropsVTypes">
  <Template/>
  <TotalTime>15071</TotalTime>
  <Words>1573</Words>
  <Application>Microsoft Macintosh PowerPoint</Application>
  <PresentationFormat>Widescreen</PresentationFormat>
  <Paragraphs>239</Paragraphs>
  <Slides>26</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Courier New</vt:lpstr>
      <vt:lpstr>Georgia</vt:lpstr>
      <vt:lpstr>Times New Roman</vt:lpstr>
      <vt:lpstr>Wingdings</vt:lpstr>
      <vt:lpstr>MAC UNI BASIC_Round 1 Draft for feedback</vt:lpstr>
      <vt:lpstr>LAWS2400 / LAWS8040 – Torts  Topic 3 Lecture 1 Trespass to Land and Public Nuisance   </vt:lpstr>
      <vt:lpstr>PowerPoint Presentation</vt:lpstr>
      <vt:lpstr>Outline</vt:lpstr>
      <vt:lpstr>1. Overview </vt:lpstr>
      <vt:lpstr>2. Trespass to land </vt:lpstr>
      <vt:lpstr>Trespass to land Contd.</vt:lpstr>
      <vt:lpstr>Trespass to land Contd.</vt:lpstr>
      <vt:lpstr>Trespass to land Contd.</vt:lpstr>
      <vt:lpstr>Trespass to land Contd.</vt:lpstr>
      <vt:lpstr>Trespass to land Contd.</vt:lpstr>
      <vt:lpstr>Trespass to land Contd.</vt:lpstr>
      <vt:lpstr>Trespass to land Contd.</vt:lpstr>
      <vt:lpstr>Trespass to land Contd.</vt:lpstr>
      <vt:lpstr>Trespass to land Contd.</vt:lpstr>
      <vt:lpstr>Trespass to land Contd.</vt:lpstr>
      <vt:lpstr>Trespass to land Contd.</vt:lpstr>
      <vt:lpstr>3. Remedies for trespass to land </vt:lpstr>
      <vt:lpstr>Remedies for trespass to land Contd.</vt:lpstr>
      <vt:lpstr>4. Nuisance </vt:lpstr>
      <vt:lpstr>Nuisance Contd.</vt:lpstr>
      <vt:lpstr>Nuisance Contd.</vt:lpstr>
      <vt:lpstr>Nuisance Contd.</vt:lpstr>
      <vt:lpstr>Nuisance Contd.</vt:lpstr>
      <vt:lpstr>Nuisance Contd.</vt:lpstr>
      <vt:lpstr>Nuisance Contd.</vt:lpstr>
      <vt:lpstr>Nuisance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Amanda Head</cp:lastModifiedBy>
  <cp:revision>1097</cp:revision>
  <dcterms:created xsi:type="dcterms:W3CDTF">2019-01-24T02:12:19Z</dcterms:created>
  <dcterms:modified xsi:type="dcterms:W3CDTF">2026-08-13T02:58:53Z</dcterms:modified>
</cp:coreProperties>
</file>