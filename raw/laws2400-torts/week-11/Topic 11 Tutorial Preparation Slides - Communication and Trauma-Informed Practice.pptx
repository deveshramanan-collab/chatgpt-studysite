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87" r:id="rId3"/>
    <p:sldMasterId id="2147483701" r:id="rId4"/>
  </p:sldMasterIdLst>
  <p:notesMasterIdLst>
    <p:notesMasterId r:id="rId59"/>
  </p:notesMasterIdLst>
  <p:sldIdLst>
    <p:sldId id="257" r:id="rId5"/>
    <p:sldId id="317" r:id="rId6"/>
    <p:sldId id="404" r:id="rId7"/>
    <p:sldId id="407" r:id="rId8"/>
    <p:sldId id="315" r:id="rId9"/>
    <p:sldId id="408" r:id="rId10"/>
    <p:sldId id="348" r:id="rId11"/>
    <p:sldId id="333" r:id="rId12"/>
    <p:sldId id="449" r:id="rId13"/>
    <p:sldId id="409" r:id="rId14"/>
    <p:sldId id="265" r:id="rId15"/>
    <p:sldId id="410" r:id="rId16"/>
    <p:sldId id="406" r:id="rId17"/>
    <p:sldId id="412" r:id="rId18"/>
    <p:sldId id="415" r:id="rId19"/>
    <p:sldId id="416" r:id="rId20"/>
    <p:sldId id="417" r:id="rId21"/>
    <p:sldId id="411" r:id="rId22"/>
    <p:sldId id="414" r:id="rId23"/>
    <p:sldId id="418" r:id="rId24"/>
    <p:sldId id="419" r:id="rId25"/>
    <p:sldId id="430" r:id="rId26"/>
    <p:sldId id="420" r:id="rId27"/>
    <p:sldId id="413" r:id="rId28"/>
    <p:sldId id="422" r:id="rId29"/>
    <p:sldId id="424" r:id="rId30"/>
    <p:sldId id="426" r:id="rId31"/>
    <p:sldId id="425" r:id="rId32"/>
    <p:sldId id="421" r:id="rId33"/>
    <p:sldId id="431" r:id="rId34"/>
    <p:sldId id="432" r:id="rId35"/>
    <p:sldId id="433" r:id="rId36"/>
    <p:sldId id="434" r:id="rId37"/>
    <p:sldId id="435" r:id="rId38"/>
    <p:sldId id="436" r:id="rId39"/>
    <p:sldId id="437" r:id="rId40"/>
    <p:sldId id="405" r:id="rId41"/>
    <p:sldId id="438" r:id="rId42"/>
    <p:sldId id="439" r:id="rId43"/>
    <p:sldId id="443" r:id="rId44"/>
    <p:sldId id="331" r:id="rId45"/>
    <p:sldId id="441" r:id="rId46"/>
    <p:sldId id="440" r:id="rId47"/>
    <p:sldId id="444" r:id="rId48"/>
    <p:sldId id="442" r:id="rId49"/>
    <p:sldId id="427" r:id="rId50"/>
    <p:sldId id="445" r:id="rId51"/>
    <p:sldId id="447" r:id="rId52"/>
    <p:sldId id="336" r:id="rId53"/>
    <p:sldId id="446" r:id="rId54"/>
    <p:sldId id="332" r:id="rId55"/>
    <p:sldId id="335" r:id="rId56"/>
    <p:sldId id="337" r:id="rId57"/>
    <p:sldId id="44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14" autoAdjust="0"/>
    <p:restoredTop sz="94694"/>
  </p:normalViewPr>
  <p:slideViewPr>
    <p:cSldViewPr snapToGrid="0">
      <p:cViewPr varScale="1">
        <p:scale>
          <a:sx n="121" d="100"/>
          <a:sy n="121"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21ECEE-C612-4443-9C85-903552D23165}" type="doc">
      <dgm:prSet loTypeId="urn:microsoft.com/office/officeart/2005/8/layout/hProcess9" loCatId="process" qsTypeId="urn:microsoft.com/office/officeart/2005/8/quickstyle/simple4" qsCatId="simple" csTypeId="urn:microsoft.com/office/officeart/2005/8/colors/colorful4" csCatId="colorful" phldr="1"/>
      <dgm:spPr/>
    </dgm:pt>
    <dgm:pt modelId="{59BE3AC0-5F17-4F6A-A41C-D930DAB23D01}">
      <dgm:prSet phldrT="[Text]"/>
      <dgm:spPr/>
      <dgm:t>
        <a:bodyPr/>
        <a:lstStyle/>
        <a:p>
          <a:r>
            <a:rPr lang="en-AU" dirty="0"/>
            <a:t>1. </a:t>
          </a:r>
          <a:r>
            <a:rPr lang="en-AU" b="0" dirty="0"/>
            <a:t>Realise</a:t>
          </a:r>
          <a:r>
            <a:rPr lang="en-AU" dirty="0"/>
            <a:t> Presence</a:t>
          </a:r>
        </a:p>
      </dgm:t>
    </dgm:pt>
    <dgm:pt modelId="{9D12CA5A-1A0A-4A36-9220-DE70236788D3}" type="parTrans" cxnId="{55AB1CF8-A607-4BB1-9BBF-9E9E1CEB25CD}">
      <dgm:prSet/>
      <dgm:spPr/>
      <dgm:t>
        <a:bodyPr/>
        <a:lstStyle/>
        <a:p>
          <a:endParaRPr lang="en-AU"/>
        </a:p>
      </dgm:t>
    </dgm:pt>
    <dgm:pt modelId="{10751F99-2289-4FE2-9C22-902629C1008B}" type="sibTrans" cxnId="{55AB1CF8-A607-4BB1-9BBF-9E9E1CEB25CD}">
      <dgm:prSet/>
      <dgm:spPr/>
      <dgm:t>
        <a:bodyPr/>
        <a:lstStyle/>
        <a:p>
          <a:endParaRPr lang="en-AU"/>
        </a:p>
      </dgm:t>
    </dgm:pt>
    <dgm:pt modelId="{53C36291-6C4B-4729-9C31-29F7815FACA1}">
      <dgm:prSet phldrT="[Text]"/>
      <dgm:spPr/>
      <dgm:t>
        <a:bodyPr/>
        <a:lstStyle/>
        <a:p>
          <a:r>
            <a:rPr lang="en-AU" dirty="0"/>
            <a:t>2. </a:t>
          </a:r>
          <a:r>
            <a:rPr lang="en-AU" b="0" dirty="0"/>
            <a:t>Recognise</a:t>
          </a:r>
          <a:r>
            <a:rPr lang="en-AU" dirty="0"/>
            <a:t> Impact</a:t>
          </a:r>
        </a:p>
      </dgm:t>
    </dgm:pt>
    <dgm:pt modelId="{78480E07-A55B-4BD2-AD69-481DDF0443CB}" type="parTrans" cxnId="{D95EB19B-14EC-4078-A42F-C261A79B6911}">
      <dgm:prSet/>
      <dgm:spPr/>
      <dgm:t>
        <a:bodyPr/>
        <a:lstStyle/>
        <a:p>
          <a:endParaRPr lang="en-AU"/>
        </a:p>
      </dgm:t>
    </dgm:pt>
    <dgm:pt modelId="{0CF8BA24-D39F-4CB1-BA16-02E906BCA9CE}" type="sibTrans" cxnId="{D95EB19B-14EC-4078-A42F-C261A79B6911}">
      <dgm:prSet/>
      <dgm:spPr/>
      <dgm:t>
        <a:bodyPr/>
        <a:lstStyle/>
        <a:p>
          <a:endParaRPr lang="en-AU"/>
        </a:p>
      </dgm:t>
    </dgm:pt>
    <dgm:pt modelId="{452A906B-6876-4A2A-8688-35710D0AFE5C}">
      <dgm:prSet phldrT="[Text]"/>
      <dgm:spPr/>
      <dgm:t>
        <a:bodyPr/>
        <a:lstStyle/>
        <a:p>
          <a:r>
            <a:rPr lang="en-AU" dirty="0"/>
            <a:t>3. Respond Principles</a:t>
          </a:r>
        </a:p>
      </dgm:t>
    </dgm:pt>
    <dgm:pt modelId="{0A35CF75-606E-4352-84C0-FB26AB57A46E}" type="parTrans" cxnId="{82A77A38-16B2-4374-AE83-A2EBE4DCE6F7}">
      <dgm:prSet/>
      <dgm:spPr/>
      <dgm:t>
        <a:bodyPr/>
        <a:lstStyle/>
        <a:p>
          <a:endParaRPr lang="en-AU"/>
        </a:p>
      </dgm:t>
    </dgm:pt>
    <dgm:pt modelId="{6EC70866-E12D-4236-9790-4A5E54920458}" type="sibTrans" cxnId="{82A77A38-16B2-4374-AE83-A2EBE4DCE6F7}">
      <dgm:prSet/>
      <dgm:spPr/>
      <dgm:t>
        <a:bodyPr/>
        <a:lstStyle/>
        <a:p>
          <a:endParaRPr lang="en-AU"/>
        </a:p>
      </dgm:t>
    </dgm:pt>
    <dgm:pt modelId="{0BCE20BC-3920-490B-9567-6E3E7AE7E5ED}">
      <dgm:prSet phldrT="[Text]"/>
      <dgm:spPr/>
      <dgm:t>
        <a:bodyPr/>
        <a:lstStyle/>
        <a:p>
          <a:r>
            <a:rPr lang="en-AU" dirty="0"/>
            <a:t>4. Resist Traumatising</a:t>
          </a:r>
        </a:p>
      </dgm:t>
    </dgm:pt>
    <dgm:pt modelId="{15111116-93B5-4375-8B7E-F9413F4C7BA7}" type="parTrans" cxnId="{F782F05E-61F4-46BB-8275-8C885AC80365}">
      <dgm:prSet/>
      <dgm:spPr/>
      <dgm:t>
        <a:bodyPr/>
        <a:lstStyle/>
        <a:p>
          <a:endParaRPr lang="en-AU"/>
        </a:p>
      </dgm:t>
    </dgm:pt>
    <dgm:pt modelId="{A45421B2-E7A3-4CBC-BB59-CD87B2C4D62C}" type="sibTrans" cxnId="{F782F05E-61F4-46BB-8275-8C885AC80365}">
      <dgm:prSet/>
      <dgm:spPr/>
      <dgm:t>
        <a:bodyPr/>
        <a:lstStyle/>
        <a:p>
          <a:endParaRPr lang="en-AU"/>
        </a:p>
      </dgm:t>
    </dgm:pt>
    <dgm:pt modelId="{EB58E80F-1334-408B-805F-73D132F4E5CF}" type="pres">
      <dgm:prSet presAssocID="{2D21ECEE-C612-4443-9C85-903552D23165}" presName="CompostProcess" presStyleCnt="0">
        <dgm:presLayoutVars>
          <dgm:dir/>
          <dgm:resizeHandles val="exact"/>
        </dgm:presLayoutVars>
      </dgm:prSet>
      <dgm:spPr/>
    </dgm:pt>
    <dgm:pt modelId="{6DF7C4FD-B7E8-4768-B92C-0B4DB56500B2}" type="pres">
      <dgm:prSet presAssocID="{2D21ECEE-C612-4443-9C85-903552D23165}" presName="arrow" presStyleLbl="bgShp" presStyleIdx="0" presStyleCnt="1"/>
      <dgm:spPr/>
    </dgm:pt>
    <dgm:pt modelId="{E6DABB03-0227-4962-A34C-821ED188FAB4}" type="pres">
      <dgm:prSet presAssocID="{2D21ECEE-C612-4443-9C85-903552D23165}" presName="linearProcess" presStyleCnt="0"/>
      <dgm:spPr/>
    </dgm:pt>
    <dgm:pt modelId="{6C1A6CD5-D37E-4CD8-898B-1DE08C299CB5}" type="pres">
      <dgm:prSet presAssocID="{59BE3AC0-5F17-4F6A-A41C-D930DAB23D01}" presName="textNode" presStyleLbl="node1" presStyleIdx="0" presStyleCnt="4">
        <dgm:presLayoutVars>
          <dgm:bulletEnabled val="1"/>
        </dgm:presLayoutVars>
      </dgm:prSet>
      <dgm:spPr/>
    </dgm:pt>
    <dgm:pt modelId="{8CD8987C-6524-4142-8A2F-3EFDC19B46F6}" type="pres">
      <dgm:prSet presAssocID="{10751F99-2289-4FE2-9C22-902629C1008B}" presName="sibTrans" presStyleCnt="0"/>
      <dgm:spPr/>
    </dgm:pt>
    <dgm:pt modelId="{B7B5ED97-CC12-4469-9934-86F6D8AF930B}" type="pres">
      <dgm:prSet presAssocID="{53C36291-6C4B-4729-9C31-29F7815FACA1}" presName="textNode" presStyleLbl="node1" presStyleIdx="1" presStyleCnt="4">
        <dgm:presLayoutVars>
          <dgm:bulletEnabled val="1"/>
        </dgm:presLayoutVars>
      </dgm:prSet>
      <dgm:spPr/>
    </dgm:pt>
    <dgm:pt modelId="{8788DAAC-3E8A-455A-AE23-989A4797D2AE}" type="pres">
      <dgm:prSet presAssocID="{0CF8BA24-D39F-4CB1-BA16-02E906BCA9CE}" presName="sibTrans" presStyleCnt="0"/>
      <dgm:spPr/>
    </dgm:pt>
    <dgm:pt modelId="{93F1B360-3C14-4C7E-ABB6-8772D420F877}" type="pres">
      <dgm:prSet presAssocID="{452A906B-6876-4A2A-8688-35710D0AFE5C}" presName="textNode" presStyleLbl="node1" presStyleIdx="2" presStyleCnt="4">
        <dgm:presLayoutVars>
          <dgm:bulletEnabled val="1"/>
        </dgm:presLayoutVars>
      </dgm:prSet>
      <dgm:spPr/>
    </dgm:pt>
    <dgm:pt modelId="{3ECD1576-6B3B-41E1-BC75-482E8CC79B0C}" type="pres">
      <dgm:prSet presAssocID="{6EC70866-E12D-4236-9790-4A5E54920458}" presName="sibTrans" presStyleCnt="0"/>
      <dgm:spPr/>
    </dgm:pt>
    <dgm:pt modelId="{0F768DF9-F8A7-41A1-A31F-AB3422B439B5}" type="pres">
      <dgm:prSet presAssocID="{0BCE20BC-3920-490B-9567-6E3E7AE7E5ED}" presName="textNode" presStyleLbl="node1" presStyleIdx="3" presStyleCnt="4">
        <dgm:presLayoutVars>
          <dgm:bulletEnabled val="1"/>
        </dgm:presLayoutVars>
      </dgm:prSet>
      <dgm:spPr/>
    </dgm:pt>
  </dgm:ptLst>
  <dgm:cxnLst>
    <dgm:cxn modelId="{82A77A38-16B2-4374-AE83-A2EBE4DCE6F7}" srcId="{2D21ECEE-C612-4443-9C85-903552D23165}" destId="{452A906B-6876-4A2A-8688-35710D0AFE5C}" srcOrd="2" destOrd="0" parTransId="{0A35CF75-606E-4352-84C0-FB26AB57A46E}" sibTransId="{6EC70866-E12D-4236-9790-4A5E54920458}"/>
    <dgm:cxn modelId="{4E19E940-20C1-4876-B363-858C6AD0BC8C}" type="presOf" srcId="{452A906B-6876-4A2A-8688-35710D0AFE5C}" destId="{93F1B360-3C14-4C7E-ABB6-8772D420F877}" srcOrd="0" destOrd="0" presId="urn:microsoft.com/office/officeart/2005/8/layout/hProcess9"/>
    <dgm:cxn modelId="{F782F05E-61F4-46BB-8275-8C885AC80365}" srcId="{2D21ECEE-C612-4443-9C85-903552D23165}" destId="{0BCE20BC-3920-490B-9567-6E3E7AE7E5ED}" srcOrd="3" destOrd="0" parTransId="{15111116-93B5-4375-8B7E-F9413F4C7BA7}" sibTransId="{A45421B2-E7A3-4CBC-BB59-CD87B2C4D62C}"/>
    <dgm:cxn modelId="{1F249D73-F466-42B4-8A86-8452E16D3D5D}" type="presOf" srcId="{2D21ECEE-C612-4443-9C85-903552D23165}" destId="{EB58E80F-1334-408B-805F-73D132F4E5CF}" srcOrd="0" destOrd="0" presId="urn:microsoft.com/office/officeart/2005/8/layout/hProcess9"/>
    <dgm:cxn modelId="{F79E4874-86BD-4DA9-957A-C2A60C501C05}" type="presOf" srcId="{0BCE20BC-3920-490B-9567-6E3E7AE7E5ED}" destId="{0F768DF9-F8A7-41A1-A31F-AB3422B439B5}" srcOrd="0" destOrd="0" presId="urn:microsoft.com/office/officeart/2005/8/layout/hProcess9"/>
    <dgm:cxn modelId="{A2C0CA85-8778-466C-80DC-7843514FA1B7}" type="presOf" srcId="{59BE3AC0-5F17-4F6A-A41C-D930DAB23D01}" destId="{6C1A6CD5-D37E-4CD8-898B-1DE08C299CB5}" srcOrd="0" destOrd="0" presId="urn:microsoft.com/office/officeart/2005/8/layout/hProcess9"/>
    <dgm:cxn modelId="{D95EB19B-14EC-4078-A42F-C261A79B6911}" srcId="{2D21ECEE-C612-4443-9C85-903552D23165}" destId="{53C36291-6C4B-4729-9C31-29F7815FACA1}" srcOrd="1" destOrd="0" parTransId="{78480E07-A55B-4BD2-AD69-481DDF0443CB}" sibTransId="{0CF8BA24-D39F-4CB1-BA16-02E906BCA9CE}"/>
    <dgm:cxn modelId="{55AB1CF8-A607-4BB1-9BBF-9E9E1CEB25CD}" srcId="{2D21ECEE-C612-4443-9C85-903552D23165}" destId="{59BE3AC0-5F17-4F6A-A41C-D930DAB23D01}" srcOrd="0" destOrd="0" parTransId="{9D12CA5A-1A0A-4A36-9220-DE70236788D3}" sibTransId="{10751F99-2289-4FE2-9C22-902629C1008B}"/>
    <dgm:cxn modelId="{D4D8F1FE-076F-4F8F-865D-2C2AB3546015}" type="presOf" srcId="{53C36291-6C4B-4729-9C31-29F7815FACA1}" destId="{B7B5ED97-CC12-4469-9934-86F6D8AF930B}" srcOrd="0" destOrd="0" presId="urn:microsoft.com/office/officeart/2005/8/layout/hProcess9"/>
    <dgm:cxn modelId="{434B2A64-5794-4783-B393-869249A16EA9}" type="presParOf" srcId="{EB58E80F-1334-408B-805F-73D132F4E5CF}" destId="{6DF7C4FD-B7E8-4768-B92C-0B4DB56500B2}" srcOrd="0" destOrd="0" presId="urn:microsoft.com/office/officeart/2005/8/layout/hProcess9"/>
    <dgm:cxn modelId="{B5DC94CC-CEF8-4E1E-9369-43CE0B175073}" type="presParOf" srcId="{EB58E80F-1334-408B-805F-73D132F4E5CF}" destId="{E6DABB03-0227-4962-A34C-821ED188FAB4}" srcOrd="1" destOrd="0" presId="urn:microsoft.com/office/officeart/2005/8/layout/hProcess9"/>
    <dgm:cxn modelId="{903BA8D1-C249-4576-87BD-D0BF33592164}" type="presParOf" srcId="{E6DABB03-0227-4962-A34C-821ED188FAB4}" destId="{6C1A6CD5-D37E-4CD8-898B-1DE08C299CB5}" srcOrd="0" destOrd="0" presId="urn:microsoft.com/office/officeart/2005/8/layout/hProcess9"/>
    <dgm:cxn modelId="{2F0D9F00-116B-496B-9E43-36E9093AF3C5}" type="presParOf" srcId="{E6DABB03-0227-4962-A34C-821ED188FAB4}" destId="{8CD8987C-6524-4142-8A2F-3EFDC19B46F6}" srcOrd="1" destOrd="0" presId="urn:microsoft.com/office/officeart/2005/8/layout/hProcess9"/>
    <dgm:cxn modelId="{8D6E3D15-3E4E-4B93-B7C2-82EE8830E2DD}" type="presParOf" srcId="{E6DABB03-0227-4962-A34C-821ED188FAB4}" destId="{B7B5ED97-CC12-4469-9934-86F6D8AF930B}" srcOrd="2" destOrd="0" presId="urn:microsoft.com/office/officeart/2005/8/layout/hProcess9"/>
    <dgm:cxn modelId="{EF8D13BC-50E2-4D91-BC80-ED67A41C843F}" type="presParOf" srcId="{E6DABB03-0227-4962-A34C-821ED188FAB4}" destId="{8788DAAC-3E8A-455A-AE23-989A4797D2AE}" srcOrd="3" destOrd="0" presId="urn:microsoft.com/office/officeart/2005/8/layout/hProcess9"/>
    <dgm:cxn modelId="{F1A742BB-2696-4808-BBB0-299B5C019E5F}" type="presParOf" srcId="{E6DABB03-0227-4962-A34C-821ED188FAB4}" destId="{93F1B360-3C14-4C7E-ABB6-8772D420F877}" srcOrd="4" destOrd="0" presId="urn:microsoft.com/office/officeart/2005/8/layout/hProcess9"/>
    <dgm:cxn modelId="{CED3AD0F-664A-4B6F-857F-6C47714B0FE1}" type="presParOf" srcId="{E6DABB03-0227-4962-A34C-821ED188FAB4}" destId="{3ECD1576-6B3B-41E1-BC75-482E8CC79B0C}" srcOrd="5" destOrd="0" presId="urn:microsoft.com/office/officeart/2005/8/layout/hProcess9"/>
    <dgm:cxn modelId="{6650584C-C5EB-49FA-A2FB-92B65383633E}" type="presParOf" srcId="{E6DABB03-0227-4962-A34C-821ED188FAB4}" destId="{0F768DF9-F8A7-41A1-A31F-AB3422B439B5}"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F7C4FD-B7E8-4768-B92C-0B4DB56500B2}">
      <dsp:nvSpPr>
        <dsp:cNvPr id="0" name=""/>
        <dsp:cNvSpPr/>
      </dsp:nvSpPr>
      <dsp:spPr>
        <a:xfrm>
          <a:off x="664067" y="0"/>
          <a:ext cx="7526098" cy="3467788"/>
        </a:xfrm>
        <a:prstGeom prst="rightArrow">
          <a:avLst/>
        </a:prstGeom>
        <a:solidFill>
          <a:schemeClr val="accent4">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C1A6CD5-D37E-4CD8-898B-1DE08C299CB5}">
      <dsp:nvSpPr>
        <dsp:cNvPr id="0" name=""/>
        <dsp:cNvSpPr/>
      </dsp:nvSpPr>
      <dsp:spPr>
        <a:xfrm>
          <a:off x="2762" y="1040336"/>
          <a:ext cx="2125601" cy="1387115"/>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AU" sz="2400" kern="1200" dirty="0"/>
            <a:t>1. </a:t>
          </a:r>
          <a:r>
            <a:rPr lang="en-AU" sz="2400" b="0" kern="1200" dirty="0"/>
            <a:t>Realise</a:t>
          </a:r>
          <a:r>
            <a:rPr lang="en-AU" sz="2400" kern="1200" dirty="0"/>
            <a:t> Presence</a:t>
          </a:r>
        </a:p>
      </dsp:txBody>
      <dsp:txXfrm>
        <a:off x="70475" y="1108049"/>
        <a:ext cx="1990175" cy="1251689"/>
      </dsp:txXfrm>
    </dsp:sp>
    <dsp:sp modelId="{B7B5ED97-CC12-4469-9934-86F6D8AF930B}">
      <dsp:nvSpPr>
        <dsp:cNvPr id="0" name=""/>
        <dsp:cNvSpPr/>
      </dsp:nvSpPr>
      <dsp:spPr>
        <a:xfrm>
          <a:off x="2243798" y="1040336"/>
          <a:ext cx="2125601" cy="1387115"/>
        </a:xfrm>
        <a:prstGeom prst="roundRect">
          <a:avLst/>
        </a:prstGeom>
        <a:gradFill rotWithShape="0">
          <a:gsLst>
            <a:gs pos="0">
              <a:schemeClr val="accent4">
                <a:hueOff val="-15084"/>
                <a:satOff val="-13993"/>
                <a:lumOff val="-2352"/>
                <a:alphaOff val="0"/>
                <a:shade val="51000"/>
                <a:satMod val="130000"/>
              </a:schemeClr>
            </a:gs>
            <a:gs pos="80000">
              <a:schemeClr val="accent4">
                <a:hueOff val="-15084"/>
                <a:satOff val="-13993"/>
                <a:lumOff val="-2352"/>
                <a:alphaOff val="0"/>
                <a:shade val="93000"/>
                <a:satMod val="130000"/>
              </a:schemeClr>
            </a:gs>
            <a:gs pos="100000">
              <a:schemeClr val="accent4">
                <a:hueOff val="-15084"/>
                <a:satOff val="-13993"/>
                <a:lumOff val="-235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AU" sz="2400" kern="1200" dirty="0"/>
            <a:t>2. </a:t>
          </a:r>
          <a:r>
            <a:rPr lang="en-AU" sz="2400" b="0" kern="1200" dirty="0"/>
            <a:t>Recognise</a:t>
          </a:r>
          <a:r>
            <a:rPr lang="en-AU" sz="2400" kern="1200" dirty="0"/>
            <a:t> Impact</a:t>
          </a:r>
        </a:p>
      </dsp:txBody>
      <dsp:txXfrm>
        <a:off x="2311511" y="1108049"/>
        <a:ext cx="1990175" cy="1251689"/>
      </dsp:txXfrm>
    </dsp:sp>
    <dsp:sp modelId="{93F1B360-3C14-4C7E-ABB6-8772D420F877}">
      <dsp:nvSpPr>
        <dsp:cNvPr id="0" name=""/>
        <dsp:cNvSpPr/>
      </dsp:nvSpPr>
      <dsp:spPr>
        <a:xfrm>
          <a:off x="4484833" y="1040336"/>
          <a:ext cx="2125601" cy="1387115"/>
        </a:xfrm>
        <a:prstGeom prst="roundRect">
          <a:avLst/>
        </a:prstGeom>
        <a:gradFill rotWithShape="0">
          <a:gsLst>
            <a:gs pos="0">
              <a:schemeClr val="accent4">
                <a:hueOff val="-30168"/>
                <a:satOff val="-27987"/>
                <a:lumOff val="-4705"/>
                <a:alphaOff val="0"/>
                <a:shade val="51000"/>
                <a:satMod val="130000"/>
              </a:schemeClr>
            </a:gs>
            <a:gs pos="80000">
              <a:schemeClr val="accent4">
                <a:hueOff val="-30168"/>
                <a:satOff val="-27987"/>
                <a:lumOff val="-4705"/>
                <a:alphaOff val="0"/>
                <a:shade val="93000"/>
                <a:satMod val="130000"/>
              </a:schemeClr>
            </a:gs>
            <a:gs pos="100000">
              <a:schemeClr val="accent4">
                <a:hueOff val="-30168"/>
                <a:satOff val="-27987"/>
                <a:lumOff val="-470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AU" sz="2400" kern="1200" dirty="0"/>
            <a:t>3. Respond Principles</a:t>
          </a:r>
        </a:p>
      </dsp:txBody>
      <dsp:txXfrm>
        <a:off x="4552546" y="1108049"/>
        <a:ext cx="1990175" cy="1251689"/>
      </dsp:txXfrm>
    </dsp:sp>
    <dsp:sp modelId="{0F768DF9-F8A7-41A1-A31F-AB3422B439B5}">
      <dsp:nvSpPr>
        <dsp:cNvPr id="0" name=""/>
        <dsp:cNvSpPr/>
      </dsp:nvSpPr>
      <dsp:spPr>
        <a:xfrm>
          <a:off x="6725868" y="1040336"/>
          <a:ext cx="2125601" cy="1387115"/>
        </a:xfrm>
        <a:prstGeom prst="roundRect">
          <a:avLst/>
        </a:prstGeom>
        <a:gradFill rotWithShape="0">
          <a:gsLst>
            <a:gs pos="0">
              <a:schemeClr val="accent4">
                <a:hueOff val="-45253"/>
                <a:satOff val="-41980"/>
                <a:lumOff val="-7057"/>
                <a:alphaOff val="0"/>
                <a:shade val="51000"/>
                <a:satMod val="130000"/>
              </a:schemeClr>
            </a:gs>
            <a:gs pos="80000">
              <a:schemeClr val="accent4">
                <a:hueOff val="-45253"/>
                <a:satOff val="-41980"/>
                <a:lumOff val="-7057"/>
                <a:alphaOff val="0"/>
                <a:shade val="93000"/>
                <a:satMod val="130000"/>
              </a:schemeClr>
            </a:gs>
            <a:gs pos="100000">
              <a:schemeClr val="accent4">
                <a:hueOff val="-45253"/>
                <a:satOff val="-41980"/>
                <a:lumOff val="-7057"/>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AU" sz="2400" kern="1200" dirty="0"/>
            <a:t>4. Resist Traumatising</a:t>
          </a:r>
        </a:p>
      </dsp:txBody>
      <dsp:txXfrm>
        <a:off x="6793581" y="1108049"/>
        <a:ext cx="1990175" cy="125168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2CF847-1401-40A1-87B9-E5EB6ABECCF2}" type="datetimeFigureOut">
              <a:rPr lang="en-AU" smtClean="0"/>
              <a:t>20/10/2025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8C520D-0A40-4B8E-B07F-CB3ED6551A07}" type="slidenum">
              <a:rPr lang="en-AU" smtClean="0"/>
              <a:t>‹#›</a:t>
            </a:fld>
            <a:endParaRPr lang="en-AU"/>
          </a:p>
        </p:txBody>
      </p:sp>
    </p:spTree>
    <p:extLst>
      <p:ext uri="{BB962C8B-B14F-4D97-AF65-F5344CB8AC3E}">
        <p14:creationId xmlns:p14="http://schemas.microsoft.com/office/powerpoint/2010/main" val="2267670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2166A69-D5A2-4C7E-8B78-1E90C909E901}" type="slidenum">
              <a:rPr kumimoji="0" lang="en-US" sz="12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AU"/>
          </a:p>
        </p:txBody>
      </p:sp>
    </p:spTree>
    <p:extLst>
      <p:ext uri="{BB962C8B-B14F-4D97-AF65-F5344CB8AC3E}">
        <p14:creationId xmlns:p14="http://schemas.microsoft.com/office/powerpoint/2010/main" val="1161142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2166A69-D5A2-4C7E-8B78-1E90C909E901}" type="slidenum">
              <a:rPr kumimoji="0" lang="en-US" sz="12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AU"/>
          </a:p>
        </p:txBody>
      </p:sp>
    </p:spTree>
    <p:extLst>
      <p:ext uri="{BB962C8B-B14F-4D97-AF65-F5344CB8AC3E}">
        <p14:creationId xmlns:p14="http://schemas.microsoft.com/office/powerpoint/2010/main" val="72690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363C-8CD4-EA55-A2ED-2BBFD3A65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E840C-CCB2-237C-A404-CB5E91BC4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CC014-0671-59C9-ECAF-8ED37A60D9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3F7F71-B409-5EC6-2BAB-FEBB29058B2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07689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57949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DA1B9-D506-E7BF-AD0B-1993FB421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0CD69-BD91-DA8B-EDB7-A5908CA70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C3D12-89FD-E801-D931-FF2A977A75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5B0CB2-1DE4-7DD8-97BD-54358185238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2299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3C73-A1D3-FC1E-5849-647B25502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D8AFD-0ECB-9F2D-FCFF-89A6D1DEE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93AD0-EB99-467B-3044-EC8FB52451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02333F-6729-54B3-2243-AFFE29D6A00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0185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85265-CD58-2F20-46CC-8FA685588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71504-34F3-B367-B9F9-6FDA3F98A5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5FB87-0C2C-57F5-7009-8FDF380C63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758D8-F1BB-146F-AC48-BABAFA3F9B4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89540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BF7C1-97F8-4207-3B82-E09855307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EE54E-8968-6AF5-3D97-24A60ACA5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37945-BEB5-68B7-C679-C98BC3F1E7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56EEAC-7118-CF65-D977-0DB955919A9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93164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70D9-1BA5-7717-A19C-A96E1A7B7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8CE67-FAEB-5E36-8E15-DAAC7F8E4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92DC4-C7DE-9D05-10F0-A9BA102626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C8E367-9ADC-94A6-84B6-616FE083A5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333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D483-08BD-52D8-81AA-32CB9FB05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550C2-A7BD-41EA-ADFB-7591FC6E2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5B43F-5100-19A4-3B12-A8FE547E38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BD735E-3B55-E17A-211F-915117F301E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5087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F5B3F-C93C-53FE-1B0B-75D9A62EB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57E6A-3957-E712-4F2E-A96707EEA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EE998-FAF6-1DAE-8F25-AF2A6771C6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C7F3F-EF12-C4C3-9DC0-C688F5721AB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58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1DE0-3019-4787-3935-BAA71CE36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B7B7D-87C4-C30F-4951-C2BBFE242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8573C-853C-69AA-AEF2-769005EC0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40E9CE-6BE6-B640-5779-5C45D565CF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9278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8671-87DE-FD08-55DC-0579ED15E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050B1-ECBB-8811-45E1-9B9C924CF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924C0-64E5-182D-1CBE-4D416C876F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7002E-F099-81A0-E255-926C21A86F5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6288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E2E5-1605-C8E4-4E4E-8E45ACFF8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A7437-5499-D845-AB3D-CE8EEC2FB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7ACFA-9BF9-A8CA-71E2-C72AFD97FD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7A6793-1334-87D3-3F66-2C8970786CF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0306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CBC15-2C65-C6CF-94F4-A9F4AF74E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70C75-AE0B-F27A-98BD-FA2291269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7062D-9991-414B-D99C-AE86EBC806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C71F57-4C8B-ABA9-D59F-E687BF69707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3047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89429-9857-25B5-E7E0-180AECB02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62639-EC3E-BDBC-3E28-7B9C492F5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041BE-3593-10CC-5C3E-B25B53228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0B6265-C1F5-F57E-42F9-9F84EF17024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41820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D2E63-E1CD-F809-C3F1-2BFBBC8D2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B5FFE-D3B7-2595-F9DC-6EE268907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31E5C-E970-988F-874E-E28FDA699C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D78B39-285A-0D57-DA77-2DDE7203E7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4291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10B0D-AD02-69A9-4B6D-67DDB1143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4F699-6951-D57E-6CC6-89BEF7904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86B5D-4F5F-CB20-150C-41AA6E54A1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443511-3478-EDE6-3D11-E9ED2A781CB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67796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2BAC-F06C-CA40-58A9-37CC8AA71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94251-0750-C373-22D9-125A37A7A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CCCB5-6CBD-A05F-EF2D-58CBBBFC77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ED1C30-61B5-4E24-2756-EB3BCA33DEF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346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3687B-813B-49D5-C44C-BAAD3AF2E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973D8-8F6F-685A-B717-C55A4B778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E94CD-FAA3-A0CD-7E30-5920F1C368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F0C82-0A36-3C21-B431-F6FCAE4870A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09906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8618D-2C2B-69F2-F4CC-D00669499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47378-055F-A31C-77F5-292E8AF4B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D3EB0-725C-3849-4686-0D65A2280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7FE79C-030C-9A27-4F72-761665A4DA7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13978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D4CB5-3175-6357-8D50-3504B5415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8AE2C-6E2E-6EAB-4521-A97E31F75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7735C-3A60-220F-CA32-50359F715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1251B8-0EF7-5EBF-5744-4E4A4E2B1AC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5820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C67B-493B-22BE-61C8-1B65DC5AD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35347-751A-8BA9-EB34-79BB49B44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9E45E0-A7DF-DBDE-BD27-A38FB992D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C86393-1113-73C3-D1C5-4A2E2A188FA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31040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F2C1-9A8F-468C-44A0-ED36E9C80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DD5A1-49AD-414B-3FA0-581600BCB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74A22-C1F7-353F-29DE-22EACF772B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C05319-3472-D618-86F9-E363532F246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7231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4AAA4-BDB7-147B-90C2-AF95CB78A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0FCE8-3D2F-27FC-DDF1-C8E123188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FE8DB-6DAA-51CC-CD90-A181A6C705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9BE331-14F8-97FF-F2D6-72AFFA3449E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45084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4B91-2F80-DBFB-1449-DA0CD44D5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509C1-0A13-E118-4A8C-E25846489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B1E20-9C74-C4D3-22D7-4AB4FD78E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9B51B-D499-8D73-1F7F-01001A9E51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3192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80AC98-8E30-490D-A639-38DF0F70C274}" type="slidenum">
              <a:rPr kumimoji="0" lang="en-AU"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AU"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08585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8.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8" name="Picture 7" descr="MAC21_190.5x254_PowerPoint_Images_Cov v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41247"/>
            <a:ext cx="12192000" cy="3925824"/>
          </a:xfrm>
          <a:prstGeom prst="rect">
            <a:avLst/>
          </a:prstGeom>
        </p:spPr>
      </p:pic>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Tree>
    <p:extLst>
      <p:ext uri="{BB962C8B-B14F-4D97-AF65-F5344CB8AC3E}">
        <p14:creationId xmlns:p14="http://schemas.microsoft.com/office/powerpoint/2010/main" val="306181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
        <p:nvSpPr>
          <p:cNvPr id="2" name="Rectangle 1"/>
          <p:cNvSpPr/>
          <p:nvPr userDrawn="1"/>
        </p:nvSpPr>
        <p:spPr>
          <a:xfrm>
            <a:off x="253780" y="3062172"/>
            <a:ext cx="4711095"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userDrawn="1"/>
        </p:nvPicPr>
        <p:blipFill rotWithShape="1">
          <a:blip r:embed="rId3">
            <a:extLst>
              <a:ext uri="{28A0092B-C50C-407E-A947-70E740481C1C}">
                <a14:useLocalDpi xmlns:a14="http://schemas.microsoft.com/office/drawing/2010/main" val="0"/>
              </a:ext>
            </a:extLst>
          </a:blip>
          <a:srcRect l="11403" t="16516" r="100" b="1"/>
          <a:stretch/>
        </p:blipFill>
        <p:spPr>
          <a:xfrm>
            <a:off x="4964875" y="3062172"/>
            <a:ext cx="6987287" cy="3632400"/>
          </a:xfrm>
          <a:prstGeom prst="rect">
            <a:avLst/>
          </a:prstGeom>
        </p:spPr>
      </p:pic>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10118" y="3445665"/>
            <a:ext cx="1943987" cy="3239978"/>
          </a:xfrm>
          <a:prstGeom prst="rect">
            <a:avLst/>
          </a:prstGeom>
        </p:spPr>
      </p:pic>
      <p:sp>
        <p:nvSpPr>
          <p:cNvPr id="11" name="TextBox 10"/>
          <p:cNvSpPr txBox="1"/>
          <p:nvPr userDrawn="1"/>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spTree>
    <p:extLst>
      <p:ext uri="{BB962C8B-B14F-4D97-AF65-F5344CB8AC3E}">
        <p14:creationId xmlns:p14="http://schemas.microsoft.com/office/powerpoint/2010/main" val="247854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pic>
        <p:nvPicPr>
          <p:cNvPr id="9" name="Picture Placeholder 9" descr="Section_Image.jpg"/>
          <p:cNvPicPr>
            <a:picLocks noChangeAspect="1"/>
          </p:cNvPicPr>
          <p:nvPr userDrawn="1"/>
        </p:nvPicPr>
        <p:blipFill rotWithShape="1">
          <a:blip r:embed="rId3">
            <a:extLst>
              <a:ext uri="{28A0092B-C50C-407E-A947-70E740481C1C}">
                <a14:useLocalDpi xmlns:a14="http://schemas.microsoft.com/office/drawing/2010/main" val="0"/>
              </a:ext>
            </a:extLst>
          </a:blip>
          <a:srcRect l="102" t="16516" r="102" b="1"/>
          <a:stretch/>
        </p:blipFill>
        <p:spPr>
          <a:xfrm>
            <a:off x="251429" y="1257301"/>
            <a:ext cx="11706850" cy="5419724"/>
          </a:xfrm>
          <a:prstGeom prst="rect">
            <a:avLst/>
          </a:prstGeom>
        </p:spPr>
      </p:pic>
      <p:sp>
        <p:nvSpPr>
          <p:cNvPr id="11" name="Title 1"/>
          <p:cNvSpPr>
            <a:spLocks noGrp="1"/>
          </p:cNvSpPr>
          <p:nvPr>
            <p:ph type="title"/>
          </p:nvPr>
        </p:nvSpPr>
        <p:spPr>
          <a:xfrm>
            <a:off x="641048"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641048"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userDrawn="1"/>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05849" y="3428108"/>
            <a:ext cx="3248917" cy="3248917"/>
          </a:xfrm>
          <a:prstGeom prst="rect">
            <a:avLst/>
          </a:prstGeom>
        </p:spPr>
      </p:pic>
    </p:spTree>
    <p:extLst>
      <p:ext uri="{BB962C8B-B14F-4D97-AF65-F5344CB8AC3E}">
        <p14:creationId xmlns:p14="http://schemas.microsoft.com/office/powerpoint/2010/main" val="3229621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Rectangle 13"/>
          <p:cNvSpPr/>
          <p:nvPr userDrawn="1"/>
        </p:nvSpPr>
        <p:spPr>
          <a:xfrm>
            <a:off x="241904" y="181429"/>
            <a:ext cx="11710800"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15" name="Picture 14" descr="MAC21_190.5x254_PowerPoint_Images_Cov v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5844032" cy="6858000"/>
          </a:xfrm>
          <a:prstGeom prst="rect">
            <a:avLst/>
          </a:prstGeom>
        </p:spPr>
      </p:pic>
      <p:sp>
        <p:nvSpPr>
          <p:cNvPr id="19" name="Text Placeholder 2"/>
          <p:cNvSpPr>
            <a:spLocks noGrp="1"/>
          </p:cNvSpPr>
          <p:nvPr>
            <p:ph type="body" idx="14" hasCustomPrompt="1"/>
          </p:nvPr>
        </p:nvSpPr>
        <p:spPr>
          <a:xfrm>
            <a:off x="6161301"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6192011" y="2708920"/>
            <a:ext cx="5664629"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6191251"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6369" y="181429"/>
            <a:ext cx="2037600" cy="762730"/>
          </a:xfrm>
          <a:prstGeom prst="rect">
            <a:avLst/>
          </a:prstGeom>
        </p:spPr>
      </p:pic>
    </p:spTree>
    <p:extLst>
      <p:ext uri="{BB962C8B-B14F-4D97-AF65-F5344CB8AC3E}">
        <p14:creationId xmlns:p14="http://schemas.microsoft.com/office/powerpoint/2010/main" val="141842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3" name="Content Placeholder 2"/>
          <p:cNvSpPr>
            <a:spLocks noGrp="1"/>
          </p:cNvSpPr>
          <p:nvPr>
            <p:ph idx="1" hasCustomPrompt="1"/>
          </p:nvPr>
        </p:nvSpPr>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510288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594785" y="1604964"/>
            <a:ext cx="11002433" cy="452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dirty="0"/>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8393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609600" y="1594758"/>
            <a:ext cx="5348515" cy="4525963"/>
          </a:xfrm>
        </p:spPr>
        <p:txBody>
          <a:bodyPr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594758"/>
            <a:ext cx="5348515" cy="4525963"/>
          </a:xfrm>
        </p:spPr>
        <p:txBody>
          <a:bodyPr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280606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9" name="Text Placeholder 8"/>
          <p:cNvSpPr>
            <a:spLocks noGrp="1"/>
          </p:cNvSpPr>
          <p:nvPr>
            <p:ph type="body" sz="quarter" idx="17"/>
          </p:nvPr>
        </p:nvSpPr>
        <p:spPr>
          <a:xfrm>
            <a:off x="6096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8"/>
          <p:cNvSpPr>
            <a:spLocks noGrp="1"/>
          </p:cNvSpPr>
          <p:nvPr>
            <p:ph type="body" sz="quarter" idx="18"/>
          </p:nvPr>
        </p:nvSpPr>
        <p:spPr>
          <a:xfrm>
            <a:off x="62484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673721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4009877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34400" y="1601999"/>
            <a:ext cx="10752000" cy="4525200"/>
          </a:xfrm>
        </p:spPr>
        <p:txBody>
          <a:bodyPr/>
          <a:lstStyle/>
          <a:p>
            <a:r>
              <a:rPr lang="en-US"/>
              <a:t>Drag picture to placeholder or click icon to add</a:t>
            </a:r>
            <a:endParaRPr lang="en-AU"/>
          </a:p>
        </p:txBody>
      </p:sp>
    </p:spTree>
    <p:extLst>
      <p:ext uri="{BB962C8B-B14F-4D97-AF65-F5344CB8AC3E}">
        <p14:creationId xmlns:p14="http://schemas.microsoft.com/office/powerpoint/2010/main" val="2230806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r>
              <a:rPr lang="en-AU"/>
              <a:t>OFFICE | FACULTY | DEPARTMENT</a:t>
            </a:r>
          </a:p>
        </p:txBody>
      </p:sp>
      <p:sp>
        <p:nvSpPr>
          <p:cNvPr id="4" name="Slide Number Placeholder 3"/>
          <p:cNvSpPr>
            <a:spLocks noGrp="1"/>
          </p:cNvSpPr>
          <p:nvPr>
            <p:ph type="sldNum" sz="quarter" idx="12"/>
          </p:nvPr>
        </p:nvSpPr>
        <p:spPr>
          <a:xfrm>
            <a:off x="8737600" y="6309321"/>
            <a:ext cx="2844800" cy="365125"/>
          </a:xfrm>
        </p:spPr>
        <p:txBody>
          <a:bodyPr/>
          <a:lstStyle/>
          <a:p>
            <a:fld id="{D9C42BCC-44E8-4F98-A8FE-EAF16D8C1E6E}" type="slidenum">
              <a:rPr lang="en-AU" smtClean="0"/>
              <a:t>‹#›</a:t>
            </a:fld>
            <a:endParaRPr lang="en-AU"/>
          </a:p>
        </p:txBody>
      </p:sp>
    </p:spTree>
    <p:extLst>
      <p:ext uri="{BB962C8B-B14F-4D97-AF65-F5344CB8AC3E}">
        <p14:creationId xmlns:p14="http://schemas.microsoft.com/office/powerpoint/2010/main" val="134685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79910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ub Bullet Point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buFontTx/>
              <a:buNone/>
              <a:defRPr/>
            </a:lvl1pPr>
          </a:lstStyle>
          <a:p>
            <a:r>
              <a:rPr lang="en-AU" dirty="0"/>
              <a:t>Bullet point text</a:t>
            </a:r>
            <a:endParaRPr lang="en-US" dirty="0"/>
          </a:p>
        </p:txBody>
      </p:sp>
      <p:sp>
        <p:nvSpPr>
          <p:cNvPr id="3" name="Slide Number Placeholder 2"/>
          <p:cNvSpPr>
            <a:spLocks noGrp="1"/>
          </p:cNvSpPr>
          <p:nvPr>
            <p:ph type="sldNum" sz="quarter" idx="10"/>
          </p:nvPr>
        </p:nvSpPr>
        <p:spPr/>
        <p:txBody>
          <a:bodyPr/>
          <a:lstStyle/>
          <a:p>
            <a:fld id="{D263D112-7C89-384D-B4FC-664FC949D667}" type="slidenum">
              <a:rPr lang="en-AU" noProof="0" smtClean="0"/>
              <a:pPr/>
              <a:t>‹#›</a:t>
            </a:fld>
            <a:endParaRPr lang="en-AU" noProof="0" dirty="0"/>
          </a:p>
        </p:txBody>
      </p:sp>
      <p:sp>
        <p:nvSpPr>
          <p:cNvPr id="4" name="Date Placeholder 3"/>
          <p:cNvSpPr>
            <a:spLocks noGrp="1"/>
          </p:cNvSpPr>
          <p:nvPr>
            <p:ph type="dt" sz="half" idx="11"/>
          </p:nvPr>
        </p:nvSpPr>
        <p:spPr>
          <a:xfrm>
            <a:off x="609600" y="6356351"/>
            <a:ext cx="2844800" cy="365125"/>
          </a:xfrm>
          <a:prstGeom prst="rect">
            <a:avLst/>
          </a:prstGeom>
        </p:spPr>
        <p:txBody>
          <a:bodyPr/>
          <a:lstStyle/>
          <a:p>
            <a:r>
              <a:rPr lang="en-AU"/>
              <a:t>OFFICE  I  FACULTY  I  DEPARTMENT</a:t>
            </a:r>
            <a:endParaRPr lang="en-US" dirty="0"/>
          </a:p>
        </p:txBody>
      </p:sp>
      <p:sp>
        <p:nvSpPr>
          <p:cNvPr id="5" name="Text Placeholder 12"/>
          <p:cNvSpPr>
            <a:spLocks noGrp="1"/>
          </p:cNvSpPr>
          <p:nvPr>
            <p:ph type="body" sz="quarter" idx="29" hasCustomPrompt="1"/>
          </p:nvPr>
        </p:nvSpPr>
        <p:spPr>
          <a:xfrm>
            <a:off x="613429" y="846667"/>
            <a:ext cx="8530571" cy="532191"/>
          </a:xfrm>
          <a:prstGeom prst="rect">
            <a:avLst/>
          </a:prstGeom>
        </p:spPr>
        <p:txBody>
          <a:bodyPr>
            <a:normAutofit/>
          </a:bodyPr>
          <a:lstStyle>
            <a:lvl1pPr marL="0" indent="0">
              <a:buFontTx/>
              <a:buNone/>
              <a:defRPr lang="en-AU" sz="2400" kern="1200" cap="all" dirty="0" smtClean="0">
                <a:solidFill>
                  <a:schemeClr val="tx2"/>
                </a:solidFill>
                <a:latin typeface="+mj-lt"/>
                <a:ea typeface="+mn-ea"/>
                <a:cs typeface="Arial"/>
              </a:defRPr>
            </a:lvl1pPr>
          </a:lstStyle>
          <a:p>
            <a:pPr lvl="0"/>
            <a:r>
              <a:rPr lang="en-AU" dirty="0"/>
              <a:t>SUBHEAD</a:t>
            </a:r>
          </a:p>
        </p:txBody>
      </p:sp>
      <p:sp>
        <p:nvSpPr>
          <p:cNvPr id="9" name="Text Placeholder 12"/>
          <p:cNvSpPr>
            <a:spLocks noGrp="1"/>
          </p:cNvSpPr>
          <p:nvPr>
            <p:ph type="body" sz="quarter" idx="30" hasCustomPrompt="1"/>
          </p:nvPr>
        </p:nvSpPr>
        <p:spPr>
          <a:xfrm>
            <a:off x="613429" y="1628986"/>
            <a:ext cx="10914784" cy="4456855"/>
          </a:xfrm>
          <a:prstGeom prst="rect">
            <a:avLst/>
          </a:prstGeom>
        </p:spPr>
        <p:txBody>
          <a:bodyPr>
            <a:normAutofit/>
          </a:bodyPr>
          <a:lstStyle>
            <a:lvl1pPr marL="380990" indent="-380990">
              <a:spcAft>
                <a:spcPts val="0"/>
              </a:spcAft>
              <a:buSzPct val="73000"/>
              <a:buFont typeface="Arial" panose="020B0604020202020204" pitchFamily="34" charset="0"/>
              <a:buChar char="•"/>
              <a:defRPr lang="en-AU" sz="2400" b="0" kern="1200" cap="none" baseline="0" dirty="0" smtClean="0">
                <a:solidFill>
                  <a:schemeClr val="tx1"/>
                </a:solidFill>
                <a:latin typeface="Georgia"/>
                <a:ea typeface="+mn-ea"/>
                <a:cs typeface="Georgia"/>
              </a:defRPr>
            </a:lvl1pPr>
            <a:lvl2pPr>
              <a:defRPr baseline="0"/>
            </a:lvl2pPr>
            <a:lvl3pPr>
              <a:defRPr baseline="0"/>
            </a:lvl3pPr>
            <a:lvl4pPr>
              <a:defRPr lang="en-AU" sz="2400" b="0" kern="1200" cap="none" baseline="0" dirty="0" smtClean="0">
                <a:solidFill>
                  <a:schemeClr val="tx1"/>
                </a:solidFill>
                <a:latin typeface="Georgia"/>
                <a:ea typeface="+mn-ea"/>
                <a:cs typeface="Georgia"/>
              </a:defRPr>
            </a:lvl4pPr>
            <a:lvl5pPr>
              <a:defRPr baseline="0"/>
            </a:lvl5pPr>
          </a:lstStyle>
          <a:p>
            <a:pPr marL="0" lvl="3" indent="0" algn="l" defTabSz="609585" rtl="0" eaLnBrk="1" latinLnBrk="0" hangingPunct="1">
              <a:lnSpc>
                <a:spcPct val="100000"/>
              </a:lnSpc>
              <a:spcBef>
                <a:spcPts val="0"/>
              </a:spcBef>
              <a:spcAft>
                <a:spcPts val="400"/>
              </a:spcAft>
              <a:buFontTx/>
              <a:buNone/>
            </a:pPr>
            <a:r>
              <a:rPr lang="en-AU" noProof="0" dirty="0"/>
              <a:t>Bullets with sub-bullets</a:t>
            </a:r>
          </a:p>
          <a:p>
            <a:pPr lvl="0"/>
            <a:r>
              <a:rPr lang="en-AU" noProof="0" dirty="0"/>
              <a:t>First Level</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Tree>
    <p:extLst>
      <p:ext uri="{BB962C8B-B14F-4D97-AF65-F5344CB8AC3E}">
        <p14:creationId xmlns:p14="http://schemas.microsoft.com/office/powerpoint/2010/main" val="2039574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8" name="Picture 7" descr="MAC21_190.5x254_PowerPoint_Images_Cov v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41247"/>
            <a:ext cx="12192000" cy="3925824"/>
          </a:xfrm>
          <a:prstGeom prst="rect">
            <a:avLst/>
          </a:prstGeom>
        </p:spPr>
      </p:pic>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Tree>
    <p:extLst>
      <p:ext uri="{BB962C8B-B14F-4D97-AF65-F5344CB8AC3E}">
        <p14:creationId xmlns:p14="http://schemas.microsoft.com/office/powerpoint/2010/main" val="951264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
        <p:nvSpPr>
          <p:cNvPr id="2" name="Rectangle 1"/>
          <p:cNvSpPr/>
          <p:nvPr userDrawn="1"/>
        </p:nvSpPr>
        <p:spPr>
          <a:xfrm>
            <a:off x="253780" y="3062172"/>
            <a:ext cx="4711095"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userDrawn="1"/>
        </p:nvPicPr>
        <p:blipFill rotWithShape="1">
          <a:blip r:embed="rId3">
            <a:extLst>
              <a:ext uri="{28A0092B-C50C-407E-A947-70E740481C1C}">
                <a14:useLocalDpi xmlns:a14="http://schemas.microsoft.com/office/drawing/2010/main" val="0"/>
              </a:ext>
            </a:extLst>
          </a:blip>
          <a:srcRect l="11403" t="16516" r="100" b="1"/>
          <a:stretch/>
        </p:blipFill>
        <p:spPr>
          <a:xfrm>
            <a:off x="4964875" y="3062172"/>
            <a:ext cx="6987287" cy="3632400"/>
          </a:xfrm>
          <a:prstGeom prst="rect">
            <a:avLst/>
          </a:prstGeom>
        </p:spPr>
      </p:pic>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10118" y="3445665"/>
            <a:ext cx="1943987" cy="3239978"/>
          </a:xfrm>
          <a:prstGeom prst="rect">
            <a:avLst/>
          </a:prstGeom>
        </p:spPr>
      </p:pic>
      <p:sp>
        <p:nvSpPr>
          <p:cNvPr id="11" name="TextBox 10"/>
          <p:cNvSpPr txBox="1"/>
          <p:nvPr userDrawn="1"/>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a:solidFill>
                  <a:schemeClr val="bg1"/>
                </a:solidFill>
                <a:latin typeface="Arial"/>
                <a:cs typeface="Arial"/>
              </a:rPr>
              <a:t>Replace image</a:t>
            </a:r>
          </a:p>
          <a:p>
            <a:pPr marL="266700" lvl="2" indent="-266700">
              <a:buFont typeface="Wingdings" panose="05000000000000000000" pitchFamily="2" charset="2"/>
              <a:buChar char="§"/>
            </a:pPr>
            <a:r>
              <a:rPr lang="en-AU" sz="1200">
                <a:solidFill>
                  <a:schemeClr val="bg1"/>
                </a:solidFill>
                <a:latin typeface="Arial"/>
                <a:cs typeface="Arial"/>
              </a:rPr>
              <a:t>Select image and click ‘Resize image to fit in placeholder’)</a:t>
            </a:r>
          </a:p>
        </p:txBody>
      </p:sp>
    </p:spTree>
    <p:extLst>
      <p:ext uri="{BB962C8B-B14F-4D97-AF65-F5344CB8AC3E}">
        <p14:creationId xmlns:p14="http://schemas.microsoft.com/office/powerpoint/2010/main" val="1347431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pic>
        <p:nvPicPr>
          <p:cNvPr id="9" name="Picture Placeholder 9" descr="Section_Image.jpg"/>
          <p:cNvPicPr>
            <a:picLocks noChangeAspect="1"/>
          </p:cNvPicPr>
          <p:nvPr userDrawn="1"/>
        </p:nvPicPr>
        <p:blipFill rotWithShape="1">
          <a:blip r:embed="rId3">
            <a:extLst>
              <a:ext uri="{28A0092B-C50C-407E-A947-70E740481C1C}">
                <a14:useLocalDpi xmlns:a14="http://schemas.microsoft.com/office/drawing/2010/main" val="0"/>
              </a:ext>
            </a:extLst>
          </a:blip>
          <a:srcRect l="102" t="16516" r="102" b="1"/>
          <a:stretch/>
        </p:blipFill>
        <p:spPr>
          <a:xfrm>
            <a:off x="251429" y="1257301"/>
            <a:ext cx="11706850" cy="5419724"/>
          </a:xfrm>
          <a:prstGeom prst="rect">
            <a:avLst/>
          </a:prstGeom>
        </p:spPr>
      </p:pic>
      <p:sp>
        <p:nvSpPr>
          <p:cNvPr id="11" name="Title 1"/>
          <p:cNvSpPr>
            <a:spLocks noGrp="1"/>
          </p:cNvSpPr>
          <p:nvPr>
            <p:ph type="title"/>
          </p:nvPr>
        </p:nvSpPr>
        <p:spPr>
          <a:xfrm>
            <a:off x="641048" y="2863019"/>
            <a:ext cx="8045752" cy="608315"/>
          </a:xfrm>
        </p:spPr>
        <p:txBody>
          <a:bodyPr/>
          <a:lstStyle>
            <a:lvl1pPr>
              <a:defRPr>
                <a:solidFill>
                  <a:schemeClr val="tx1"/>
                </a:solidFill>
              </a:defRPr>
            </a:lvl1pPr>
          </a:lstStyle>
          <a:p>
            <a:r>
              <a:rPr lang="en-US"/>
              <a:t>Click to edit Master title style</a:t>
            </a:r>
            <a:endParaRPr lang="en-AU"/>
          </a:p>
        </p:txBody>
      </p:sp>
      <p:sp>
        <p:nvSpPr>
          <p:cNvPr id="13" name="Text Placeholder 16"/>
          <p:cNvSpPr>
            <a:spLocks noGrp="1"/>
          </p:cNvSpPr>
          <p:nvPr>
            <p:ph type="body" sz="quarter" idx="15" hasCustomPrompt="1"/>
          </p:nvPr>
        </p:nvSpPr>
        <p:spPr>
          <a:xfrm>
            <a:off x="641048" y="3485114"/>
            <a:ext cx="6407150" cy="503238"/>
          </a:xfrm>
        </p:spPr>
        <p:txBody>
          <a:bodyPr/>
          <a:lstStyle>
            <a:lvl1pPr marL="0" indent="0">
              <a:buNone/>
              <a:defRPr cap="all" baseline="0">
                <a:solidFill>
                  <a:schemeClr val="tx1"/>
                </a:solidFill>
                <a:latin typeface="+mj-lt"/>
              </a:defRPr>
            </a:lvl1pPr>
          </a:lstStyle>
          <a:p>
            <a:pPr lvl="0"/>
            <a:r>
              <a:rPr lang="en-AU"/>
              <a:t>Click to ADD SUBTITLE</a:t>
            </a:r>
          </a:p>
        </p:txBody>
      </p:sp>
      <p:sp>
        <p:nvSpPr>
          <p:cNvPr id="14" name="TextBox 13"/>
          <p:cNvSpPr txBox="1"/>
          <p:nvPr userDrawn="1"/>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a:solidFill>
                  <a:schemeClr val="bg1"/>
                </a:solidFill>
                <a:latin typeface="Arial"/>
                <a:cs typeface="Arial"/>
              </a:rPr>
              <a:t>Replace image</a:t>
            </a:r>
          </a:p>
          <a:p>
            <a:pPr marL="266700" lvl="2" indent="-266700">
              <a:buFont typeface="Wingdings" panose="05000000000000000000" pitchFamily="2" charset="2"/>
              <a:buChar char="§"/>
            </a:pPr>
            <a:r>
              <a:rPr lang="en-AU" sz="1200">
                <a:solidFill>
                  <a:schemeClr val="bg1"/>
                </a:solidFill>
                <a:latin typeface="Arial"/>
                <a:cs typeface="Arial"/>
              </a:rPr>
              <a:t>Select image and click ‘Resize image to fit in placeholder’)</a:t>
            </a: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05849" y="3428108"/>
            <a:ext cx="3248917" cy="3248917"/>
          </a:xfrm>
          <a:prstGeom prst="rect">
            <a:avLst/>
          </a:prstGeom>
        </p:spPr>
      </p:pic>
    </p:spTree>
    <p:extLst>
      <p:ext uri="{BB962C8B-B14F-4D97-AF65-F5344CB8AC3E}">
        <p14:creationId xmlns:p14="http://schemas.microsoft.com/office/powerpoint/2010/main" val="1462383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Rectangle 13"/>
          <p:cNvSpPr/>
          <p:nvPr userDrawn="1"/>
        </p:nvSpPr>
        <p:spPr>
          <a:xfrm>
            <a:off x="241904" y="181429"/>
            <a:ext cx="11710800"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15" name="Picture 14" descr="MAC21_190.5x254_PowerPoint_Images_Cov v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5844032" cy="6858000"/>
          </a:xfrm>
          <a:prstGeom prst="rect">
            <a:avLst/>
          </a:prstGeom>
        </p:spPr>
      </p:pic>
      <p:sp>
        <p:nvSpPr>
          <p:cNvPr id="19" name="Text Placeholder 2"/>
          <p:cNvSpPr>
            <a:spLocks noGrp="1"/>
          </p:cNvSpPr>
          <p:nvPr>
            <p:ph type="body" idx="14" hasCustomPrompt="1"/>
          </p:nvPr>
        </p:nvSpPr>
        <p:spPr>
          <a:xfrm>
            <a:off x="6161301"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21" name="Title 20"/>
          <p:cNvSpPr>
            <a:spLocks noGrp="1"/>
          </p:cNvSpPr>
          <p:nvPr>
            <p:ph type="title" hasCustomPrompt="1"/>
          </p:nvPr>
        </p:nvSpPr>
        <p:spPr>
          <a:xfrm>
            <a:off x="6192011" y="2708920"/>
            <a:ext cx="5664629" cy="648000"/>
          </a:xfrm>
        </p:spPr>
        <p:txBody>
          <a:bodyPr/>
          <a:lstStyle>
            <a:lvl1pPr>
              <a:defRPr/>
            </a:lvl1pPr>
          </a:lstStyle>
          <a:p>
            <a:r>
              <a:rPr lang="en-US"/>
              <a:t>Click to add title</a:t>
            </a:r>
            <a:endParaRPr lang="en-AU"/>
          </a:p>
        </p:txBody>
      </p:sp>
      <p:sp>
        <p:nvSpPr>
          <p:cNvPr id="23" name="Text Placeholder 22"/>
          <p:cNvSpPr>
            <a:spLocks noGrp="1"/>
          </p:cNvSpPr>
          <p:nvPr>
            <p:ph type="body" sz="quarter" idx="15" hasCustomPrompt="1"/>
          </p:nvPr>
        </p:nvSpPr>
        <p:spPr>
          <a:xfrm>
            <a:off x="6191251" y="3357564"/>
            <a:ext cx="5666316" cy="503237"/>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6369" y="181429"/>
            <a:ext cx="2037600" cy="762730"/>
          </a:xfrm>
          <a:prstGeom prst="rect">
            <a:avLst/>
          </a:prstGeom>
        </p:spPr>
      </p:pic>
    </p:spTree>
    <p:extLst>
      <p:ext uri="{BB962C8B-B14F-4D97-AF65-F5344CB8AC3E}">
        <p14:creationId xmlns:p14="http://schemas.microsoft.com/office/powerpoint/2010/main" val="1963272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AU"/>
          </a:p>
        </p:txBody>
      </p:sp>
      <p:sp>
        <p:nvSpPr>
          <p:cNvPr id="3" name="Content Placeholder 2"/>
          <p:cNvSpPr>
            <a:spLocks noGrp="1"/>
          </p:cNvSpPr>
          <p:nvPr>
            <p:ph idx="1" hasCustomPrompt="1"/>
          </p:nvPr>
        </p:nvSpPr>
        <p:spPr/>
        <p:txBody>
          <a:bodyPr/>
          <a:lstStyle>
            <a:lvl1pPr marL="0" indent="0">
              <a:buNone/>
              <a:defRPr baseline="0"/>
            </a:lvl1pPr>
          </a:lstStyle>
          <a:p>
            <a:pPr lvl="0"/>
            <a:r>
              <a:rPr lang="en-AU"/>
              <a:t>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1702276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594785" y="1604964"/>
            <a:ext cx="11002433" cy="452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itle 1"/>
          <p:cNvSpPr>
            <a:spLocks noGrp="1"/>
          </p:cNvSpPr>
          <p:nvPr>
            <p:ph type="title" hasCustomPrompt="1"/>
          </p:nvPr>
        </p:nvSpPr>
        <p:spPr/>
        <p:txBody>
          <a:bodyPr/>
          <a:lstStyle/>
          <a:p>
            <a:r>
              <a:rPr lang="en-US"/>
              <a:t>Click to edit master title style</a:t>
            </a:r>
            <a:endParaRPr lang="en-AU"/>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12476589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AU"/>
          </a:p>
        </p:txBody>
      </p:sp>
      <p:sp>
        <p:nvSpPr>
          <p:cNvPr id="3" name="Content Placeholder 2"/>
          <p:cNvSpPr>
            <a:spLocks noGrp="1"/>
          </p:cNvSpPr>
          <p:nvPr>
            <p:ph idx="1" hasCustomPrompt="1"/>
          </p:nvPr>
        </p:nvSpPr>
        <p:spPr>
          <a:xfrm>
            <a:off x="609600" y="1594758"/>
            <a:ext cx="5348515" cy="4525963"/>
          </a:xfrm>
        </p:spPr>
        <p:txBody>
          <a:bodyPr numCol="1" spcCol="144000"/>
          <a:lstStyle>
            <a:lvl1pPr marL="0" indent="0">
              <a:buNone/>
              <a:defRPr baseline="0"/>
            </a:lvl1pPr>
          </a:lstStyle>
          <a:p>
            <a:pPr lvl="0"/>
            <a:r>
              <a:rPr lang="en-AU"/>
              <a:t>Two Column 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8" name="Content Placeholder 2"/>
          <p:cNvSpPr>
            <a:spLocks noGrp="1"/>
          </p:cNvSpPr>
          <p:nvPr>
            <p:ph idx="16" hasCustomPrompt="1"/>
          </p:nvPr>
        </p:nvSpPr>
        <p:spPr>
          <a:xfrm>
            <a:off x="6248400" y="1594758"/>
            <a:ext cx="5348515" cy="4525963"/>
          </a:xfrm>
        </p:spPr>
        <p:txBody>
          <a:bodyPr numCol="1" spcCol="144000"/>
          <a:lstStyle>
            <a:lvl1pPr marL="0" indent="0">
              <a:buNone/>
              <a:defRPr baseline="0"/>
            </a:lvl1pPr>
          </a:lstStyle>
          <a:p>
            <a:pPr lvl="0"/>
            <a:r>
              <a:rPr lang="en-AU"/>
              <a:t>Two Column content no bullets</a:t>
            </a:r>
          </a:p>
        </p:txBody>
      </p:sp>
    </p:spTree>
    <p:extLst>
      <p:ext uri="{BB962C8B-B14F-4D97-AF65-F5344CB8AC3E}">
        <p14:creationId xmlns:p14="http://schemas.microsoft.com/office/powerpoint/2010/main" val="3296766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AU"/>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9" name="Text Placeholder 8"/>
          <p:cNvSpPr>
            <a:spLocks noGrp="1"/>
          </p:cNvSpPr>
          <p:nvPr>
            <p:ph type="body" sz="quarter" idx="17"/>
          </p:nvPr>
        </p:nvSpPr>
        <p:spPr>
          <a:xfrm>
            <a:off x="6096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8"/>
          <p:cNvSpPr>
            <a:spLocks noGrp="1"/>
          </p:cNvSpPr>
          <p:nvPr>
            <p:ph type="body" sz="quarter" idx="18"/>
          </p:nvPr>
        </p:nvSpPr>
        <p:spPr>
          <a:xfrm>
            <a:off x="62484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0190524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AU"/>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439693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AU"/>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4" name="Picture Placeholder 3"/>
          <p:cNvSpPr>
            <a:spLocks noGrp="1"/>
          </p:cNvSpPr>
          <p:nvPr>
            <p:ph type="pic" sz="quarter" idx="16"/>
          </p:nvPr>
        </p:nvSpPr>
        <p:spPr>
          <a:xfrm>
            <a:off x="734400" y="1601999"/>
            <a:ext cx="10752000" cy="4525200"/>
          </a:xfrm>
        </p:spPr>
        <p:txBody>
          <a:bodyPr/>
          <a:lstStyle/>
          <a:p>
            <a:r>
              <a:rPr lang="en-US"/>
              <a:t>Drag picture to placeholder or click icon to add</a:t>
            </a:r>
            <a:endParaRPr lang="en-AU"/>
          </a:p>
        </p:txBody>
      </p:sp>
    </p:spTree>
    <p:extLst>
      <p:ext uri="{BB962C8B-B14F-4D97-AF65-F5344CB8AC3E}">
        <p14:creationId xmlns:p14="http://schemas.microsoft.com/office/powerpoint/2010/main" val="23984378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r>
              <a:rPr lang="en-AU"/>
              <a:t>OFFICE | FACULTY | DEPARTMENT</a:t>
            </a:r>
          </a:p>
        </p:txBody>
      </p:sp>
      <p:sp>
        <p:nvSpPr>
          <p:cNvPr id="4" name="Slide Number Placeholder 3"/>
          <p:cNvSpPr>
            <a:spLocks noGrp="1"/>
          </p:cNvSpPr>
          <p:nvPr>
            <p:ph type="sldNum" sz="quarter" idx="12"/>
          </p:nvPr>
        </p:nvSpPr>
        <p:spPr>
          <a:xfrm>
            <a:off x="8737600" y="6309321"/>
            <a:ext cx="2844800" cy="365125"/>
          </a:xfrm>
        </p:spPr>
        <p:txBody>
          <a:bodyPr/>
          <a:lstStyle/>
          <a:p>
            <a:fld id="{D9C42BCC-44E8-4F98-A8FE-EAF16D8C1E6E}" type="slidenum">
              <a:rPr lang="en-AU" smtClean="0"/>
              <a:t>‹#›</a:t>
            </a:fld>
            <a:endParaRPr lang="en-AU"/>
          </a:p>
        </p:txBody>
      </p:sp>
    </p:spTree>
    <p:extLst>
      <p:ext uri="{BB962C8B-B14F-4D97-AF65-F5344CB8AC3E}">
        <p14:creationId xmlns:p14="http://schemas.microsoft.com/office/powerpoint/2010/main" val="2830020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b Bullet Point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buFontTx/>
              <a:buNone/>
              <a:defRPr/>
            </a:lvl1pPr>
          </a:lstStyle>
          <a:p>
            <a:r>
              <a:rPr lang="en-AU"/>
              <a:t>Bullet point text</a:t>
            </a:r>
            <a:endParaRPr lang="en-US"/>
          </a:p>
        </p:txBody>
      </p:sp>
      <p:sp>
        <p:nvSpPr>
          <p:cNvPr id="3" name="Slide Number Placeholder 2"/>
          <p:cNvSpPr>
            <a:spLocks noGrp="1"/>
          </p:cNvSpPr>
          <p:nvPr>
            <p:ph type="sldNum" sz="quarter" idx="10"/>
          </p:nvPr>
        </p:nvSpPr>
        <p:spPr/>
        <p:txBody>
          <a:bodyPr/>
          <a:lstStyle/>
          <a:p>
            <a:fld id="{D263D112-7C89-384D-B4FC-664FC949D667}" type="slidenum">
              <a:rPr lang="en-AU" noProof="0" smtClean="0"/>
              <a:pPr/>
              <a:t>‹#›</a:t>
            </a:fld>
            <a:endParaRPr lang="en-AU" noProof="0"/>
          </a:p>
        </p:txBody>
      </p:sp>
      <p:sp>
        <p:nvSpPr>
          <p:cNvPr id="4" name="Date Placeholder 3"/>
          <p:cNvSpPr>
            <a:spLocks noGrp="1"/>
          </p:cNvSpPr>
          <p:nvPr>
            <p:ph type="dt" sz="half" idx="11"/>
          </p:nvPr>
        </p:nvSpPr>
        <p:spPr>
          <a:xfrm>
            <a:off x="609600" y="6356351"/>
            <a:ext cx="2844800" cy="365125"/>
          </a:xfrm>
          <a:prstGeom prst="rect">
            <a:avLst/>
          </a:prstGeom>
        </p:spPr>
        <p:txBody>
          <a:bodyPr/>
          <a:lstStyle/>
          <a:p>
            <a:r>
              <a:rPr lang="en-AU"/>
              <a:t>OFFICE  I  FACULTY  I  DEPARTMENT</a:t>
            </a:r>
            <a:endParaRPr lang="en-US"/>
          </a:p>
        </p:txBody>
      </p:sp>
      <p:sp>
        <p:nvSpPr>
          <p:cNvPr id="5" name="Text Placeholder 12"/>
          <p:cNvSpPr>
            <a:spLocks noGrp="1"/>
          </p:cNvSpPr>
          <p:nvPr>
            <p:ph type="body" sz="quarter" idx="29" hasCustomPrompt="1"/>
          </p:nvPr>
        </p:nvSpPr>
        <p:spPr>
          <a:xfrm>
            <a:off x="613429" y="846667"/>
            <a:ext cx="8530571" cy="532191"/>
          </a:xfrm>
          <a:prstGeom prst="rect">
            <a:avLst/>
          </a:prstGeom>
        </p:spPr>
        <p:txBody>
          <a:bodyPr>
            <a:normAutofit/>
          </a:bodyPr>
          <a:lstStyle>
            <a:lvl1pPr marL="0" indent="0">
              <a:buFontTx/>
              <a:buNone/>
              <a:defRPr lang="en-AU" sz="2400" kern="1200" cap="all" dirty="0" smtClean="0">
                <a:solidFill>
                  <a:schemeClr val="tx2"/>
                </a:solidFill>
                <a:latin typeface="+mj-lt"/>
                <a:ea typeface="+mn-ea"/>
                <a:cs typeface="Arial"/>
              </a:defRPr>
            </a:lvl1pPr>
          </a:lstStyle>
          <a:p>
            <a:pPr lvl="0"/>
            <a:r>
              <a:rPr lang="en-AU"/>
              <a:t>SUBHEAD</a:t>
            </a:r>
          </a:p>
        </p:txBody>
      </p:sp>
      <p:sp>
        <p:nvSpPr>
          <p:cNvPr id="9" name="Text Placeholder 12"/>
          <p:cNvSpPr>
            <a:spLocks noGrp="1"/>
          </p:cNvSpPr>
          <p:nvPr>
            <p:ph type="body" sz="quarter" idx="30" hasCustomPrompt="1"/>
          </p:nvPr>
        </p:nvSpPr>
        <p:spPr>
          <a:xfrm>
            <a:off x="613429" y="1628986"/>
            <a:ext cx="10914784" cy="4456855"/>
          </a:xfrm>
          <a:prstGeom prst="rect">
            <a:avLst/>
          </a:prstGeom>
        </p:spPr>
        <p:txBody>
          <a:bodyPr>
            <a:normAutofit/>
          </a:bodyPr>
          <a:lstStyle>
            <a:lvl1pPr marL="380990" indent="-380990">
              <a:spcAft>
                <a:spcPts val="0"/>
              </a:spcAft>
              <a:buSzPct val="73000"/>
              <a:buFont typeface="Arial" panose="020B0604020202020204" pitchFamily="34" charset="0"/>
              <a:buChar char="•"/>
              <a:defRPr lang="en-AU" sz="2400" b="0" kern="1200" cap="none" baseline="0" dirty="0" smtClean="0">
                <a:solidFill>
                  <a:schemeClr val="tx1"/>
                </a:solidFill>
                <a:latin typeface="Georgia"/>
                <a:ea typeface="+mn-ea"/>
                <a:cs typeface="Georgia"/>
              </a:defRPr>
            </a:lvl1pPr>
            <a:lvl2pPr>
              <a:defRPr baseline="0"/>
            </a:lvl2pPr>
            <a:lvl3pPr>
              <a:defRPr baseline="0"/>
            </a:lvl3pPr>
            <a:lvl4pPr>
              <a:defRPr lang="en-AU" sz="2400" b="0" kern="1200" cap="none" baseline="0" dirty="0" smtClean="0">
                <a:solidFill>
                  <a:schemeClr val="tx1"/>
                </a:solidFill>
                <a:latin typeface="Georgia"/>
                <a:ea typeface="+mn-ea"/>
                <a:cs typeface="Georgia"/>
              </a:defRPr>
            </a:lvl4pPr>
            <a:lvl5pPr>
              <a:defRPr baseline="0"/>
            </a:lvl5pPr>
          </a:lstStyle>
          <a:p>
            <a:pPr marL="0" lvl="3" indent="0" algn="l" defTabSz="609585" rtl="0" eaLnBrk="1" latinLnBrk="0" hangingPunct="1">
              <a:lnSpc>
                <a:spcPct val="100000"/>
              </a:lnSpc>
              <a:spcBef>
                <a:spcPts val="0"/>
              </a:spcBef>
              <a:spcAft>
                <a:spcPts val="400"/>
              </a:spcAft>
              <a:buFontTx/>
              <a:buNone/>
            </a:pPr>
            <a:r>
              <a:rPr lang="en-AU" noProof="0"/>
              <a:t>Bullets with sub-bullets</a:t>
            </a:r>
          </a:p>
          <a:p>
            <a:pPr lvl="0"/>
            <a:r>
              <a:rPr lang="en-AU" noProof="0"/>
              <a:t>First Level</a:t>
            </a:r>
          </a:p>
          <a:p>
            <a:pPr lvl="1"/>
            <a:r>
              <a:rPr lang="en-AU" noProof="0"/>
              <a:t>Second Level</a:t>
            </a:r>
          </a:p>
          <a:p>
            <a:pPr lvl="2"/>
            <a:r>
              <a:rPr lang="en-AU" noProof="0"/>
              <a:t>Third Level</a:t>
            </a:r>
          </a:p>
          <a:p>
            <a:pPr lvl="3"/>
            <a:r>
              <a:rPr lang="en-AU" noProof="0"/>
              <a:t>Fourth Level</a:t>
            </a:r>
          </a:p>
          <a:p>
            <a:pPr lvl="4"/>
            <a:r>
              <a:rPr lang="en-AU" noProof="0"/>
              <a:t>Fifth Level</a:t>
            </a:r>
          </a:p>
        </p:txBody>
      </p:sp>
    </p:spTree>
    <p:extLst>
      <p:ext uri="{BB962C8B-B14F-4D97-AF65-F5344CB8AC3E}">
        <p14:creationId xmlns:p14="http://schemas.microsoft.com/office/powerpoint/2010/main" val="18611158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8" name="Picture 7" descr="MAC21_190.5x254_PowerPoint_Images_Cov v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41247"/>
            <a:ext cx="12192000" cy="3925824"/>
          </a:xfrm>
          <a:prstGeom prst="rect">
            <a:avLst/>
          </a:prstGeom>
        </p:spPr>
      </p:pic>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Tree>
    <p:extLst>
      <p:ext uri="{BB962C8B-B14F-4D97-AF65-F5344CB8AC3E}">
        <p14:creationId xmlns:p14="http://schemas.microsoft.com/office/powerpoint/2010/main" val="38187049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609599"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624341"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624417"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sp>
        <p:nvSpPr>
          <p:cNvPr id="2" name="Rectangle 1"/>
          <p:cNvSpPr/>
          <p:nvPr userDrawn="1"/>
        </p:nvSpPr>
        <p:spPr>
          <a:xfrm>
            <a:off x="253780" y="3062172"/>
            <a:ext cx="4711095"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userDrawn="1"/>
        </p:nvPicPr>
        <p:blipFill rotWithShape="1">
          <a:blip r:embed="rId3">
            <a:extLst>
              <a:ext uri="{28A0092B-C50C-407E-A947-70E740481C1C}">
                <a14:useLocalDpi xmlns:a14="http://schemas.microsoft.com/office/drawing/2010/main" val="0"/>
              </a:ext>
            </a:extLst>
          </a:blip>
          <a:srcRect l="11403" t="16516" r="100" b="1"/>
          <a:stretch/>
        </p:blipFill>
        <p:spPr>
          <a:xfrm>
            <a:off x="4964875" y="3062172"/>
            <a:ext cx="6987287" cy="3632400"/>
          </a:xfrm>
          <a:prstGeom prst="rect">
            <a:avLst/>
          </a:prstGeom>
        </p:spPr>
      </p:pic>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10118" y="3445665"/>
            <a:ext cx="1943987" cy="3239978"/>
          </a:xfrm>
          <a:prstGeom prst="rect">
            <a:avLst/>
          </a:prstGeom>
        </p:spPr>
      </p:pic>
      <p:sp>
        <p:nvSpPr>
          <p:cNvPr id="11" name="TextBox 10"/>
          <p:cNvSpPr txBox="1"/>
          <p:nvPr userDrawn="1"/>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spTree>
    <p:extLst>
      <p:ext uri="{BB962C8B-B14F-4D97-AF65-F5344CB8AC3E}">
        <p14:creationId xmlns:p14="http://schemas.microsoft.com/office/powerpoint/2010/main" val="4242331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117" y="181429"/>
            <a:ext cx="2037600" cy="762730"/>
          </a:xfrm>
          <a:prstGeom prst="rect">
            <a:avLst/>
          </a:prstGeom>
        </p:spPr>
      </p:pic>
      <p:pic>
        <p:nvPicPr>
          <p:cNvPr id="9" name="Picture Placeholder 9" descr="Section_Image.jpg"/>
          <p:cNvPicPr>
            <a:picLocks noChangeAspect="1"/>
          </p:cNvPicPr>
          <p:nvPr userDrawn="1"/>
        </p:nvPicPr>
        <p:blipFill rotWithShape="1">
          <a:blip r:embed="rId3">
            <a:extLst>
              <a:ext uri="{28A0092B-C50C-407E-A947-70E740481C1C}">
                <a14:useLocalDpi xmlns:a14="http://schemas.microsoft.com/office/drawing/2010/main" val="0"/>
              </a:ext>
            </a:extLst>
          </a:blip>
          <a:srcRect l="102" t="16516" r="102" b="1"/>
          <a:stretch/>
        </p:blipFill>
        <p:spPr>
          <a:xfrm>
            <a:off x="251429" y="1257301"/>
            <a:ext cx="11706850" cy="5419724"/>
          </a:xfrm>
          <a:prstGeom prst="rect">
            <a:avLst/>
          </a:prstGeom>
        </p:spPr>
      </p:pic>
      <p:sp>
        <p:nvSpPr>
          <p:cNvPr id="11" name="Title 1"/>
          <p:cNvSpPr>
            <a:spLocks noGrp="1"/>
          </p:cNvSpPr>
          <p:nvPr>
            <p:ph type="title"/>
          </p:nvPr>
        </p:nvSpPr>
        <p:spPr>
          <a:xfrm>
            <a:off x="641048"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641048"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userDrawn="1"/>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05849" y="3428108"/>
            <a:ext cx="3248917" cy="3248917"/>
          </a:xfrm>
          <a:prstGeom prst="rect">
            <a:avLst/>
          </a:prstGeom>
        </p:spPr>
      </p:pic>
    </p:spTree>
    <p:extLst>
      <p:ext uri="{BB962C8B-B14F-4D97-AF65-F5344CB8AC3E}">
        <p14:creationId xmlns:p14="http://schemas.microsoft.com/office/powerpoint/2010/main" val="547080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Rectangle 13"/>
          <p:cNvSpPr/>
          <p:nvPr userDrawn="1"/>
        </p:nvSpPr>
        <p:spPr>
          <a:xfrm>
            <a:off x="241904" y="181429"/>
            <a:ext cx="11710800" cy="65042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15" name="Picture 14" descr="MAC21_190.5x254_PowerPoint_Images_Cov v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5844032" cy="6858000"/>
          </a:xfrm>
          <a:prstGeom prst="rect">
            <a:avLst/>
          </a:prstGeom>
        </p:spPr>
      </p:pic>
      <p:sp>
        <p:nvSpPr>
          <p:cNvPr id="19" name="Text Placeholder 2"/>
          <p:cNvSpPr>
            <a:spLocks noGrp="1"/>
          </p:cNvSpPr>
          <p:nvPr>
            <p:ph type="body" idx="14" hasCustomPrompt="1"/>
          </p:nvPr>
        </p:nvSpPr>
        <p:spPr>
          <a:xfrm>
            <a:off x="6161301"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6192011" y="2708920"/>
            <a:ext cx="5664629"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6191251"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6369" y="181429"/>
            <a:ext cx="2037600" cy="762730"/>
          </a:xfrm>
          <a:prstGeom prst="rect">
            <a:avLst/>
          </a:prstGeom>
        </p:spPr>
      </p:pic>
    </p:spTree>
    <p:extLst>
      <p:ext uri="{BB962C8B-B14F-4D97-AF65-F5344CB8AC3E}">
        <p14:creationId xmlns:p14="http://schemas.microsoft.com/office/powerpoint/2010/main" val="20771672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3" name="Content Placeholder 2"/>
          <p:cNvSpPr>
            <a:spLocks noGrp="1"/>
          </p:cNvSpPr>
          <p:nvPr>
            <p:ph idx="1" hasCustomPrompt="1"/>
          </p:nvPr>
        </p:nvSpPr>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10606424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594785" y="1604964"/>
            <a:ext cx="11002433" cy="452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dirty="0"/>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19386256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609600" y="1594758"/>
            <a:ext cx="5348515" cy="4525963"/>
          </a:xfrm>
        </p:spPr>
        <p:txBody>
          <a:bodyPr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594758"/>
            <a:ext cx="5348515" cy="4525963"/>
          </a:xfrm>
        </p:spPr>
        <p:txBody>
          <a:bodyPr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39106518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9" name="Text Placeholder 8"/>
          <p:cNvSpPr>
            <a:spLocks noGrp="1"/>
          </p:cNvSpPr>
          <p:nvPr>
            <p:ph type="body" sz="quarter" idx="17"/>
          </p:nvPr>
        </p:nvSpPr>
        <p:spPr>
          <a:xfrm>
            <a:off x="6096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8"/>
          <p:cNvSpPr>
            <a:spLocks noGrp="1"/>
          </p:cNvSpPr>
          <p:nvPr>
            <p:ph type="body" sz="quarter" idx="18"/>
          </p:nvPr>
        </p:nvSpPr>
        <p:spPr>
          <a:xfrm>
            <a:off x="6248400" y="1591584"/>
            <a:ext cx="5306483"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930745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2810336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r>
              <a:rPr lang="en-AU"/>
              <a:t>OFFICE | FACULTY | DEPARTMENT</a:t>
            </a:r>
            <a:endParaRPr lang="en-AU" dirty="0"/>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623392" y="90872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34400" y="1601999"/>
            <a:ext cx="10752000" cy="4525200"/>
          </a:xfrm>
        </p:spPr>
        <p:txBody>
          <a:bodyPr/>
          <a:lstStyle/>
          <a:p>
            <a:r>
              <a:rPr lang="en-US"/>
              <a:t>Drag picture to placeholder or click icon to add</a:t>
            </a:r>
            <a:endParaRPr lang="en-AU"/>
          </a:p>
        </p:txBody>
      </p:sp>
    </p:spTree>
    <p:extLst>
      <p:ext uri="{BB962C8B-B14F-4D97-AF65-F5344CB8AC3E}">
        <p14:creationId xmlns:p14="http://schemas.microsoft.com/office/powerpoint/2010/main" val="527427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r>
              <a:rPr lang="en-AU"/>
              <a:t>OFFICE | FACULTY | DEPARTMENT</a:t>
            </a:r>
          </a:p>
        </p:txBody>
      </p:sp>
      <p:sp>
        <p:nvSpPr>
          <p:cNvPr id="4" name="Slide Number Placeholder 3"/>
          <p:cNvSpPr>
            <a:spLocks noGrp="1"/>
          </p:cNvSpPr>
          <p:nvPr>
            <p:ph type="sldNum" sz="quarter" idx="12"/>
          </p:nvPr>
        </p:nvSpPr>
        <p:spPr>
          <a:xfrm>
            <a:off x="8737600" y="6309321"/>
            <a:ext cx="2844800" cy="365125"/>
          </a:xfrm>
        </p:spPr>
        <p:txBody>
          <a:bodyPr/>
          <a:lstStyle/>
          <a:p>
            <a:fld id="{D9C42BCC-44E8-4F98-A8FE-EAF16D8C1E6E}" type="slidenum">
              <a:rPr lang="en-AU" smtClean="0"/>
              <a:t>‹#›</a:t>
            </a:fld>
            <a:endParaRPr lang="en-AU"/>
          </a:p>
        </p:txBody>
      </p:sp>
    </p:spTree>
    <p:extLst>
      <p:ext uri="{BB962C8B-B14F-4D97-AF65-F5344CB8AC3E}">
        <p14:creationId xmlns:p14="http://schemas.microsoft.com/office/powerpoint/2010/main" val="2145491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41641370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Sub Bullet Point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buFontTx/>
              <a:buNone/>
              <a:defRPr/>
            </a:lvl1pPr>
          </a:lstStyle>
          <a:p>
            <a:r>
              <a:rPr lang="en-AU" dirty="0"/>
              <a:t>Bullet point text</a:t>
            </a:r>
            <a:endParaRPr lang="en-US" dirty="0"/>
          </a:p>
        </p:txBody>
      </p:sp>
      <p:sp>
        <p:nvSpPr>
          <p:cNvPr id="3" name="Slide Number Placeholder 2"/>
          <p:cNvSpPr>
            <a:spLocks noGrp="1"/>
          </p:cNvSpPr>
          <p:nvPr>
            <p:ph type="sldNum" sz="quarter" idx="10"/>
          </p:nvPr>
        </p:nvSpPr>
        <p:spPr/>
        <p:txBody>
          <a:bodyPr/>
          <a:lstStyle/>
          <a:p>
            <a:fld id="{D263D112-7C89-384D-B4FC-664FC949D667}" type="slidenum">
              <a:rPr lang="en-AU" noProof="0" smtClean="0"/>
              <a:pPr/>
              <a:t>‹#›</a:t>
            </a:fld>
            <a:endParaRPr lang="en-AU" noProof="0" dirty="0"/>
          </a:p>
        </p:txBody>
      </p:sp>
      <p:sp>
        <p:nvSpPr>
          <p:cNvPr id="4" name="Date Placeholder 3"/>
          <p:cNvSpPr>
            <a:spLocks noGrp="1"/>
          </p:cNvSpPr>
          <p:nvPr>
            <p:ph type="dt" sz="half" idx="11"/>
          </p:nvPr>
        </p:nvSpPr>
        <p:spPr>
          <a:xfrm>
            <a:off x="609600" y="6356351"/>
            <a:ext cx="2844800" cy="365125"/>
          </a:xfrm>
          <a:prstGeom prst="rect">
            <a:avLst/>
          </a:prstGeom>
        </p:spPr>
        <p:txBody>
          <a:bodyPr/>
          <a:lstStyle/>
          <a:p>
            <a:r>
              <a:rPr lang="en-AU"/>
              <a:t>OFFICE  I  FACULTY  I  DEPARTMENT</a:t>
            </a:r>
            <a:endParaRPr lang="en-US" dirty="0"/>
          </a:p>
        </p:txBody>
      </p:sp>
      <p:sp>
        <p:nvSpPr>
          <p:cNvPr id="5" name="Text Placeholder 12"/>
          <p:cNvSpPr>
            <a:spLocks noGrp="1"/>
          </p:cNvSpPr>
          <p:nvPr>
            <p:ph type="body" sz="quarter" idx="29" hasCustomPrompt="1"/>
          </p:nvPr>
        </p:nvSpPr>
        <p:spPr>
          <a:xfrm>
            <a:off x="613429" y="846667"/>
            <a:ext cx="8530571" cy="532191"/>
          </a:xfrm>
          <a:prstGeom prst="rect">
            <a:avLst/>
          </a:prstGeom>
        </p:spPr>
        <p:txBody>
          <a:bodyPr>
            <a:normAutofit/>
          </a:bodyPr>
          <a:lstStyle>
            <a:lvl1pPr marL="0" indent="0">
              <a:buFontTx/>
              <a:buNone/>
              <a:defRPr lang="en-AU" sz="2400" kern="1200" cap="all" dirty="0" smtClean="0">
                <a:solidFill>
                  <a:schemeClr val="tx2"/>
                </a:solidFill>
                <a:latin typeface="+mj-lt"/>
                <a:ea typeface="+mn-ea"/>
                <a:cs typeface="Arial"/>
              </a:defRPr>
            </a:lvl1pPr>
          </a:lstStyle>
          <a:p>
            <a:pPr lvl="0"/>
            <a:r>
              <a:rPr lang="en-AU" dirty="0"/>
              <a:t>SUBHEAD</a:t>
            </a:r>
          </a:p>
        </p:txBody>
      </p:sp>
      <p:sp>
        <p:nvSpPr>
          <p:cNvPr id="9" name="Text Placeholder 12"/>
          <p:cNvSpPr>
            <a:spLocks noGrp="1"/>
          </p:cNvSpPr>
          <p:nvPr>
            <p:ph type="body" sz="quarter" idx="30" hasCustomPrompt="1"/>
          </p:nvPr>
        </p:nvSpPr>
        <p:spPr>
          <a:xfrm>
            <a:off x="613429" y="1628986"/>
            <a:ext cx="10914784" cy="4456855"/>
          </a:xfrm>
          <a:prstGeom prst="rect">
            <a:avLst/>
          </a:prstGeom>
        </p:spPr>
        <p:txBody>
          <a:bodyPr>
            <a:normAutofit/>
          </a:bodyPr>
          <a:lstStyle>
            <a:lvl1pPr marL="380990" indent="-380990">
              <a:spcAft>
                <a:spcPts val="0"/>
              </a:spcAft>
              <a:buSzPct val="73000"/>
              <a:buFont typeface="Arial" panose="020B0604020202020204" pitchFamily="34" charset="0"/>
              <a:buChar char="•"/>
              <a:defRPr lang="en-AU" sz="2400" b="0" kern="1200" cap="none" baseline="0" dirty="0" smtClean="0">
                <a:solidFill>
                  <a:schemeClr val="tx1"/>
                </a:solidFill>
                <a:latin typeface="Georgia"/>
                <a:ea typeface="+mn-ea"/>
                <a:cs typeface="Georgia"/>
              </a:defRPr>
            </a:lvl1pPr>
            <a:lvl2pPr>
              <a:defRPr baseline="0"/>
            </a:lvl2pPr>
            <a:lvl3pPr>
              <a:defRPr baseline="0"/>
            </a:lvl3pPr>
            <a:lvl4pPr>
              <a:defRPr lang="en-AU" sz="2400" b="0" kern="1200" cap="none" baseline="0" dirty="0" smtClean="0">
                <a:solidFill>
                  <a:schemeClr val="tx1"/>
                </a:solidFill>
                <a:latin typeface="Georgia"/>
                <a:ea typeface="+mn-ea"/>
                <a:cs typeface="Georgia"/>
              </a:defRPr>
            </a:lvl4pPr>
            <a:lvl5pPr>
              <a:defRPr baseline="0"/>
            </a:lvl5pPr>
          </a:lstStyle>
          <a:p>
            <a:pPr marL="0" lvl="3" indent="0" algn="l" defTabSz="609585" rtl="0" eaLnBrk="1" latinLnBrk="0" hangingPunct="1">
              <a:lnSpc>
                <a:spcPct val="100000"/>
              </a:lnSpc>
              <a:spcBef>
                <a:spcPts val="0"/>
              </a:spcBef>
              <a:spcAft>
                <a:spcPts val="400"/>
              </a:spcAft>
              <a:buFontTx/>
              <a:buNone/>
            </a:pPr>
            <a:r>
              <a:rPr lang="en-AU" noProof="0" dirty="0"/>
              <a:t>Bullets with sub-bullets</a:t>
            </a:r>
          </a:p>
          <a:p>
            <a:pPr lvl="0"/>
            <a:r>
              <a:rPr lang="en-AU" noProof="0" dirty="0"/>
              <a:t>First Level</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Tree>
    <p:extLst>
      <p:ext uri="{BB962C8B-B14F-4D97-AF65-F5344CB8AC3E}">
        <p14:creationId xmlns:p14="http://schemas.microsoft.com/office/powerpoint/2010/main" val="20778465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720000" y="2394920"/>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720000" y="1181873"/>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720000" y="1830689"/>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b="35463"/>
          <a:stretch/>
        </p:blipFill>
        <p:spPr>
          <a:xfrm>
            <a:off x="241904" y="2674447"/>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userDrawn="1"/>
        </p:nvPicPr>
        <p:blipFill>
          <a:blip r:embed="rId3"/>
          <a:stretch>
            <a:fillRect/>
          </a:stretch>
        </p:blipFill>
        <p:spPr>
          <a:xfrm>
            <a:off x="9673174" y="217272"/>
            <a:ext cx="2037600" cy="804766"/>
          </a:xfrm>
          <a:prstGeom prst="rect">
            <a:avLst/>
          </a:prstGeom>
        </p:spPr>
      </p:pic>
      <p:grpSp>
        <p:nvGrpSpPr>
          <p:cNvPr id="2" name="Group 1">
            <a:extLst>
              <a:ext uri="{FF2B5EF4-FFF2-40B4-BE49-F238E27FC236}">
                <a16:creationId xmlns:a16="http://schemas.microsoft.com/office/drawing/2014/main" id="{85624ACC-1159-92C8-964C-1FEF666CF07F}"/>
              </a:ext>
            </a:extLst>
          </p:cNvPr>
          <p:cNvGrpSpPr/>
          <p:nvPr userDrawn="1"/>
        </p:nvGrpSpPr>
        <p:grpSpPr>
          <a:xfrm>
            <a:off x="326445" y="6346963"/>
            <a:ext cx="11522950" cy="355609"/>
            <a:chOff x="326445" y="6363861"/>
            <a:chExt cx="8507162" cy="349843"/>
          </a:xfrm>
        </p:grpSpPr>
        <p:sp>
          <p:nvSpPr>
            <p:cNvPr id="4" name="TextBox 3">
              <a:extLst>
                <a:ext uri="{FF2B5EF4-FFF2-40B4-BE49-F238E27FC236}">
                  <a16:creationId xmlns:a16="http://schemas.microsoft.com/office/drawing/2014/main" id="{F0E535B7-F642-77BC-92F3-C3DD129D5561}"/>
                </a:ext>
              </a:extLst>
            </p:cNvPr>
            <p:cNvSpPr txBox="1"/>
            <p:nvPr userDrawn="1"/>
          </p:nvSpPr>
          <p:spPr>
            <a:xfrm>
              <a:off x="326445" y="6380639"/>
              <a:ext cx="8507162" cy="333065"/>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5" name="Straight Connector 4">
              <a:extLst>
                <a:ext uri="{FF2B5EF4-FFF2-40B4-BE49-F238E27FC236}">
                  <a16:creationId xmlns:a16="http://schemas.microsoft.com/office/drawing/2014/main" id="{523C2825-08A4-DEF2-7254-35EE30E98E38}"/>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30648491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232546" y="217272"/>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720000" y="2352813"/>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sp>
        <p:nvSpPr>
          <p:cNvPr id="15" name="Title 14"/>
          <p:cNvSpPr>
            <a:spLocks noGrp="1"/>
          </p:cNvSpPr>
          <p:nvPr>
            <p:ph type="title" hasCustomPrompt="1"/>
          </p:nvPr>
        </p:nvSpPr>
        <p:spPr>
          <a:xfrm>
            <a:off x="720000" y="1157405"/>
            <a:ext cx="8544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720000" y="1806221"/>
            <a:ext cx="8542867" cy="503238"/>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2" name="Rectangle 1"/>
          <p:cNvSpPr/>
          <p:nvPr userDrawn="1"/>
        </p:nvSpPr>
        <p:spPr>
          <a:xfrm>
            <a:off x="239349" y="2644481"/>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userDrawn="1"/>
        </p:nvPicPr>
        <p:blipFill rotWithShape="1">
          <a:blip r:embed="rId2">
            <a:extLst>
              <a:ext uri="{28A0092B-C50C-407E-A947-70E740481C1C}">
                <a14:useLocalDpi xmlns:a14="http://schemas.microsoft.com/office/drawing/2010/main" val="0"/>
              </a:ext>
            </a:extLst>
          </a:blip>
          <a:srcRect l="11403" t="15468" r="100" b="1049"/>
          <a:stretch/>
        </p:blipFill>
        <p:spPr>
          <a:xfrm>
            <a:off x="4964875" y="2644481"/>
            <a:ext cx="6987287" cy="3632400"/>
          </a:xfrm>
          <a:prstGeom prst="rect">
            <a:avLst/>
          </a:prstGeom>
        </p:spPr>
      </p:pic>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16959" y="3031149"/>
            <a:ext cx="1943987" cy="3239978"/>
          </a:xfrm>
          <a:prstGeom prst="rect">
            <a:avLst/>
          </a:prstGeom>
        </p:spPr>
      </p:pic>
      <p:sp>
        <p:nvSpPr>
          <p:cNvPr id="11" name="TextBox 10"/>
          <p:cNvSpPr txBox="1"/>
          <p:nvPr userDrawn="1"/>
        </p:nvSpPr>
        <p:spPr>
          <a:xfrm>
            <a:off x="8046796" y="5492344"/>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mn-lt"/>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mn-lt"/>
                <a:cs typeface="Arial"/>
              </a:rPr>
              <a:t>Go to the “View” menu, select “Master” then “Slide Master”</a:t>
            </a:r>
          </a:p>
          <a:p>
            <a:pPr marL="266700" lvl="2" indent="-266700">
              <a:buFont typeface="Wingdings" panose="05000000000000000000" pitchFamily="2" charset="2"/>
              <a:buChar char="§"/>
            </a:pPr>
            <a:r>
              <a:rPr lang="en-AU" sz="1200">
                <a:solidFill>
                  <a:schemeClr val="bg1"/>
                </a:solidFill>
                <a:latin typeface="+mn-lt"/>
                <a:cs typeface="Arial"/>
              </a:rPr>
              <a:t>Right click on this placeholder box, choose “Change Picture”</a:t>
            </a:r>
          </a:p>
          <a:p>
            <a:pPr marL="266700" lvl="2" indent="-266700">
              <a:buFont typeface="Wingdings" panose="05000000000000000000" pitchFamily="2" charset="2"/>
              <a:buChar char="§"/>
            </a:pPr>
            <a:r>
              <a:rPr lang="en-AU" sz="1200">
                <a:solidFill>
                  <a:schemeClr val="bg1"/>
                </a:solidFill>
                <a:latin typeface="+mn-lt"/>
                <a:cs typeface="Arial"/>
              </a:rPr>
              <a:t>”Close Master” and continue to edit as required</a:t>
            </a:r>
            <a:endParaRPr lang="en-AU" sz="1200">
              <a:solidFill>
                <a:schemeClr val="bg1"/>
              </a:solidFill>
              <a:latin typeface="Arial"/>
              <a:cs typeface="Arial"/>
            </a:endParaRP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userDrawn="1"/>
        </p:nvPicPr>
        <p:blipFill>
          <a:blip r:embed="rId4"/>
          <a:stretch>
            <a:fillRect/>
          </a:stretch>
        </p:blipFill>
        <p:spPr>
          <a:xfrm>
            <a:off x="9673174" y="217272"/>
            <a:ext cx="2037600" cy="804766"/>
          </a:xfrm>
          <a:prstGeom prst="rect">
            <a:avLst/>
          </a:prstGeom>
        </p:spPr>
      </p:pic>
      <p:grpSp>
        <p:nvGrpSpPr>
          <p:cNvPr id="8" name="Group 7">
            <a:extLst>
              <a:ext uri="{FF2B5EF4-FFF2-40B4-BE49-F238E27FC236}">
                <a16:creationId xmlns:a16="http://schemas.microsoft.com/office/drawing/2014/main" id="{6B8219B6-7192-07F3-81B6-19C22883495F}"/>
              </a:ext>
            </a:extLst>
          </p:cNvPr>
          <p:cNvGrpSpPr/>
          <p:nvPr userDrawn="1"/>
        </p:nvGrpSpPr>
        <p:grpSpPr>
          <a:xfrm>
            <a:off x="326445" y="6346963"/>
            <a:ext cx="11522950" cy="355609"/>
            <a:chOff x="326445" y="6363861"/>
            <a:chExt cx="8507162" cy="349843"/>
          </a:xfrm>
        </p:grpSpPr>
        <p:sp>
          <p:nvSpPr>
            <p:cNvPr id="10" name="TextBox 9">
              <a:extLst>
                <a:ext uri="{FF2B5EF4-FFF2-40B4-BE49-F238E27FC236}">
                  <a16:creationId xmlns:a16="http://schemas.microsoft.com/office/drawing/2014/main" id="{F9D30DEF-ECC8-72C2-51BF-F701D79F94B3}"/>
                </a:ext>
              </a:extLst>
            </p:cNvPr>
            <p:cNvSpPr txBox="1"/>
            <p:nvPr userDrawn="1"/>
          </p:nvSpPr>
          <p:spPr>
            <a:xfrm>
              <a:off x="326445" y="6380639"/>
              <a:ext cx="8507162" cy="333065"/>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14" name="Straight Connector 13">
              <a:extLst>
                <a:ext uri="{FF2B5EF4-FFF2-40B4-BE49-F238E27FC236}">
                  <a16:creationId xmlns:a16="http://schemas.microsoft.com/office/drawing/2014/main" id="{DF26CB86-1DBE-0467-E64E-D2C45A2DD4FC}"/>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18012345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userDrawn="1"/>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9" name="Picture Placeholder 9" descr="Section_Image.jpg"/>
          <p:cNvPicPr>
            <a:picLocks noChangeAspect="1"/>
          </p:cNvPicPr>
          <p:nvPr userDrawn="1"/>
        </p:nvPicPr>
        <p:blipFill rotWithShape="1">
          <a:blip r:embed="rId2">
            <a:extLst>
              <a:ext uri="{28A0092B-C50C-407E-A947-70E740481C1C}">
                <a14:useLocalDpi xmlns:a14="http://schemas.microsoft.com/office/drawing/2010/main" val="0"/>
              </a:ext>
            </a:extLst>
          </a:blip>
          <a:srcRect l="561" t="15596" r="462" b="8412"/>
          <a:stretch/>
        </p:blipFill>
        <p:spPr>
          <a:xfrm>
            <a:off x="251429" y="1253507"/>
            <a:ext cx="11706850" cy="4974165"/>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GB"/>
              <a:t>Click to edit Master title style</a:t>
            </a:r>
            <a:endParaRPr lang="en-AU"/>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a:t>Click to ADD SUBTITLE</a:t>
            </a:r>
          </a:p>
        </p:txBody>
      </p:sp>
      <p:sp>
        <p:nvSpPr>
          <p:cNvPr id="14" name="TextBox 13"/>
          <p:cNvSpPr txBox="1"/>
          <p:nvPr userDrawn="1"/>
        </p:nvSpPr>
        <p:spPr>
          <a:xfrm>
            <a:off x="342605" y="5423829"/>
            <a:ext cx="3591442" cy="655675"/>
          </a:xfrm>
          <a:prstGeom prst="rect">
            <a:avLst/>
          </a:prstGeom>
          <a:solidFill>
            <a:schemeClr val="accent1"/>
          </a:solidFill>
        </p:spPr>
        <p:txBody>
          <a:bodyPr wrap="square" rtlCol="0" anchor="ctr" anchorCtr="0">
            <a:normAutofit fontScale="77500" lnSpcReduction="20000"/>
          </a:bodyPr>
          <a:lstStyle/>
          <a:p>
            <a:r>
              <a:rPr lang="en-AU" sz="1200">
                <a:solidFill>
                  <a:schemeClr val="bg1"/>
                </a:solidFill>
                <a:latin typeface="+mn-lt"/>
                <a:cs typeface="Arial"/>
              </a:rPr>
              <a:t>Note to user: Replace this image with your own.</a:t>
            </a:r>
          </a:p>
          <a:p>
            <a:pPr marL="266700" indent="-266700">
              <a:buFont typeface="Wingdings" panose="05000000000000000000" pitchFamily="2" charset="2"/>
              <a:buChar char="§"/>
            </a:pPr>
            <a:r>
              <a:rPr lang="en-AU" sz="1200">
                <a:solidFill>
                  <a:schemeClr val="bg1"/>
                </a:solidFill>
                <a:latin typeface="+mn-lt"/>
                <a:cs typeface="Arial"/>
              </a:rPr>
              <a:t>Go to the “View” menu, select “Master” then “Slide Master”</a:t>
            </a:r>
          </a:p>
          <a:p>
            <a:pPr marL="266700" lvl="2" indent="-266700">
              <a:buFont typeface="Wingdings" panose="05000000000000000000" pitchFamily="2" charset="2"/>
              <a:buChar char="§"/>
            </a:pPr>
            <a:r>
              <a:rPr lang="en-AU" sz="1200">
                <a:solidFill>
                  <a:schemeClr val="bg1"/>
                </a:solidFill>
                <a:latin typeface="+mn-lt"/>
                <a:cs typeface="Arial"/>
              </a:rPr>
              <a:t>Right click on this placeholder box, choose “Change Picture”</a:t>
            </a:r>
          </a:p>
          <a:p>
            <a:pPr marL="266700" lvl="2" indent="-266700">
              <a:buFont typeface="Wingdings" panose="05000000000000000000" pitchFamily="2" charset="2"/>
              <a:buChar char="§"/>
            </a:pPr>
            <a:r>
              <a:rPr lang="en-AU" sz="1200">
                <a:solidFill>
                  <a:schemeClr val="bg1"/>
                </a:solidFill>
                <a:latin typeface="+mn-lt"/>
                <a:cs typeface="Arial"/>
              </a:rPr>
              <a:t>”Close Master” and continue to edit as required</a:t>
            </a:r>
            <a:endParaRPr lang="en-AU" sz="1200">
              <a:solidFill>
                <a:schemeClr val="bg1"/>
              </a:solidFill>
              <a:latin typeface="Arial"/>
              <a:cs typeface="Arial"/>
            </a:endParaRPr>
          </a:p>
        </p:txBody>
      </p:sp>
      <p:pic>
        <p:nvPicPr>
          <p:cNvPr id="16" name="Picture 15">
            <a:extLst>
              <a:ext uri="{FF2B5EF4-FFF2-40B4-BE49-F238E27FC236}">
                <a16:creationId xmlns:a16="http://schemas.microsoft.com/office/drawing/2014/main" id="{8C9B8C79-07FC-2444-B397-BBCDB3F9F22B}"/>
              </a:ext>
            </a:extLst>
          </p:cNvPr>
          <p:cNvPicPr>
            <a:picLocks noChangeAspect="1"/>
          </p:cNvPicPr>
          <p:nvPr userDrawn="1"/>
        </p:nvPicPr>
        <p:blipFill>
          <a:blip r:embed="rId3"/>
          <a:stretch>
            <a:fillRect/>
          </a:stretch>
        </p:blipFill>
        <p:spPr>
          <a:xfrm>
            <a:off x="9673174" y="217272"/>
            <a:ext cx="2037600" cy="804766"/>
          </a:xfrm>
          <a:prstGeom prst="rect">
            <a:avLst/>
          </a:prstGeom>
        </p:spPr>
      </p:pic>
      <p:pic>
        <p:nvPicPr>
          <p:cNvPr id="5" name="Picture 4">
            <a:extLst>
              <a:ext uri="{FF2B5EF4-FFF2-40B4-BE49-F238E27FC236}">
                <a16:creationId xmlns:a16="http://schemas.microsoft.com/office/drawing/2014/main" id="{35927CFB-5DE0-C115-FB22-AA6CE23CC37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783457" y="3061336"/>
            <a:ext cx="3174822" cy="3174822"/>
          </a:xfrm>
          <a:prstGeom prst="rect">
            <a:avLst/>
          </a:prstGeom>
        </p:spPr>
      </p:pic>
      <p:grpSp>
        <p:nvGrpSpPr>
          <p:cNvPr id="6" name="Group 5">
            <a:extLst>
              <a:ext uri="{FF2B5EF4-FFF2-40B4-BE49-F238E27FC236}">
                <a16:creationId xmlns:a16="http://schemas.microsoft.com/office/drawing/2014/main" id="{45DD8BB3-CE1C-43EE-E34F-41A4A9EFBECB}"/>
              </a:ext>
            </a:extLst>
          </p:cNvPr>
          <p:cNvGrpSpPr/>
          <p:nvPr userDrawn="1"/>
        </p:nvGrpSpPr>
        <p:grpSpPr>
          <a:xfrm>
            <a:off x="326445" y="6346963"/>
            <a:ext cx="11522950" cy="355609"/>
            <a:chOff x="326445" y="6363861"/>
            <a:chExt cx="8507162" cy="349843"/>
          </a:xfrm>
        </p:grpSpPr>
        <p:sp>
          <p:nvSpPr>
            <p:cNvPr id="8" name="TextBox 7">
              <a:extLst>
                <a:ext uri="{FF2B5EF4-FFF2-40B4-BE49-F238E27FC236}">
                  <a16:creationId xmlns:a16="http://schemas.microsoft.com/office/drawing/2014/main" id="{5158AD4F-F5F4-2586-4180-AE09D46E27DD}"/>
                </a:ext>
              </a:extLst>
            </p:cNvPr>
            <p:cNvSpPr txBox="1"/>
            <p:nvPr userDrawn="1"/>
          </p:nvSpPr>
          <p:spPr>
            <a:xfrm>
              <a:off x="326445" y="6380639"/>
              <a:ext cx="8507162" cy="333065"/>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10" name="Straight Connector 9">
              <a:extLst>
                <a:ext uri="{FF2B5EF4-FFF2-40B4-BE49-F238E27FC236}">
                  <a16:creationId xmlns:a16="http://schemas.microsoft.com/office/drawing/2014/main" id="{FD952F9B-208D-82D4-8110-4A48D91C14E3}"/>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25488866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Rectangle 13"/>
          <p:cNvSpPr/>
          <p:nvPr userDrawn="1"/>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a:t>Click to add title</a:t>
            </a:r>
            <a:endParaRPr lang="en-AU"/>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9" name="Picture 8" descr="MAC21_190.5x254_PowerPoint_Images_Cov v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userDrawn="1"/>
        </p:nvPicPr>
        <p:blipFill>
          <a:blip r:embed="rId3"/>
          <a:stretch>
            <a:fillRect/>
          </a:stretch>
        </p:blipFill>
        <p:spPr>
          <a:xfrm>
            <a:off x="9673174" y="217272"/>
            <a:ext cx="2037600" cy="804766"/>
          </a:xfrm>
          <a:prstGeom prst="rect">
            <a:avLst/>
          </a:prstGeom>
        </p:spPr>
      </p:pic>
      <p:sp>
        <p:nvSpPr>
          <p:cNvPr id="2" name="Text Placeholder 2">
            <a:extLst>
              <a:ext uri="{FF2B5EF4-FFF2-40B4-BE49-F238E27FC236}">
                <a16:creationId xmlns:a16="http://schemas.microsoft.com/office/drawing/2014/main" id="{0A2171D9-4579-FCCE-B5B5-C24E964900F2}"/>
              </a:ext>
            </a:extLst>
          </p:cNvPr>
          <p:cNvSpPr>
            <a:spLocks noGrp="1"/>
          </p:cNvSpPr>
          <p:nvPr>
            <p:ph type="body" idx="14" hasCustomPrompt="1"/>
          </p:nvPr>
        </p:nvSpPr>
        <p:spPr>
          <a:xfrm>
            <a:off x="5608410" y="5859459"/>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3 October 2014</a:t>
            </a:r>
          </a:p>
        </p:txBody>
      </p:sp>
      <p:grpSp>
        <p:nvGrpSpPr>
          <p:cNvPr id="3" name="Group 2">
            <a:extLst>
              <a:ext uri="{FF2B5EF4-FFF2-40B4-BE49-F238E27FC236}">
                <a16:creationId xmlns:a16="http://schemas.microsoft.com/office/drawing/2014/main" id="{98193F83-750E-89F9-C054-2DBCC7A15A57}"/>
              </a:ext>
            </a:extLst>
          </p:cNvPr>
          <p:cNvGrpSpPr/>
          <p:nvPr userDrawn="1"/>
        </p:nvGrpSpPr>
        <p:grpSpPr>
          <a:xfrm>
            <a:off x="5608410" y="6159983"/>
            <a:ext cx="5772668" cy="442882"/>
            <a:chOff x="540000" y="5907560"/>
            <a:chExt cx="12893160" cy="442882"/>
          </a:xfrm>
        </p:grpSpPr>
        <p:sp>
          <p:nvSpPr>
            <p:cNvPr id="4" name="TextBox 3">
              <a:extLst>
                <a:ext uri="{FF2B5EF4-FFF2-40B4-BE49-F238E27FC236}">
                  <a16:creationId xmlns:a16="http://schemas.microsoft.com/office/drawing/2014/main" id="{E16AB446-289A-DA42-8905-5E8FB65062EC}"/>
                </a:ext>
              </a:extLst>
            </p:cNvPr>
            <p:cNvSpPr txBox="1"/>
            <p:nvPr userDrawn="1"/>
          </p:nvSpPr>
          <p:spPr>
            <a:xfrm>
              <a:off x="540000" y="5934944"/>
              <a:ext cx="12893160" cy="415498"/>
            </a:xfrm>
            <a:prstGeom prst="rect">
              <a:avLst/>
            </a:prstGeom>
            <a:noFill/>
          </p:spPr>
          <p:txBody>
            <a:bodyPr wrap="square" lIns="0" rIns="0" rtlCol="0">
              <a:spAutoFit/>
            </a:bodyPr>
            <a:lstStyle/>
            <a:p>
              <a:r>
                <a:rPr lang="en-AU" sz="7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700" b="1" i="1" spc="10" baseline="0">
                  <a:effectLst/>
                  <a:latin typeface="+mn-lt"/>
                  <a:ea typeface="Times New Roman" panose="02020603050405020304" pitchFamily="18" charset="0"/>
                </a:rPr>
                <a:t>You cannot share this material publicly online without permission. </a:t>
              </a:r>
              <a:r>
                <a:rPr lang="en-AU" sz="7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700" spc="10" baseline="0">
                <a:effectLst/>
                <a:latin typeface="+mn-lt"/>
                <a:ea typeface="Times New Roman" panose="02020603050405020304" pitchFamily="18" charset="0"/>
              </a:endParaRPr>
            </a:p>
          </p:txBody>
        </p:sp>
        <p:cxnSp>
          <p:nvCxnSpPr>
            <p:cNvPr id="5" name="Straight Connector 4">
              <a:extLst>
                <a:ext uri="{FF2B5EF4-FFF2-40B4-BE49-F238E27FC236}">
                  <a16:creationId xmlns:a16="http://schemas.microsoft.com/office/drawing/2014/main" id="{87F83409-C82D-6483-34D9-3059A40B101E}"/>
                </a:ext>
              </a:extLst>
            </p:cNvPr>
            <p:cNvCxnSpPr>
              <a:cxnSpLocks/>
            </p:cNvCxnSpPr>
            <p:nvPr userDrawn="1"/>
          </p:nvCxnSpPr>
          <p:spPr>
            <a:xfrm>
              <a:off x="540000" y="5907560"/>
              <a:ext cx="12893160"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27129684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3" name="Content Placeholder 2"/>
          <p:cNvSpPr>
            <a:spLocks noGrp="1"/>
          </p:cNvSpPr>
          <p:nvPr>
            <p:ph idx="1" hasCustomPrompt="1"/>
          </p:nvPr>
        </p:nvSpPr>
        <p:spPr>
          <a:xfrm>
            <a:off x="720000" y="1620001"/>
            <a:ext cx="10800001" cy="4329280"/>
          </a:xfrm>
        </p:spPr>
        <p:txBody>
          <a:bodyPr/>
          <a:lstStyle>
            <a:lvl1pPr marL="0" indent="0">
              <a:buNone/>
              <a:defRPr baseline="0"/>
            </a:lvl1pPr>
          </a:lstStyle>
          <a:p>
            <a:pPr lvl="0"/>
            <a:r>
              <a:rPr lang="en-AU"/>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r>
              <a:rPr lang="en-AU"/>
              <a:t>Laws1100 | FoA | Macquarie Law School</a:t>
            </a:r>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a:t>Click to ADD SUBTITLE</a:t>
            </a:r>
          </a:p>
        </p:txBody>
      </p:sp>
      <p:grpSp>
        <p:nvGrpSpPr>
          <p:cNvPr id="10" name="Group 9">
            <a:extLst>
              <a:ext uri="{FF2B5EF4-FFF2-40B4-BE49-F238E27FC236}">
                <a16:creationId xmlns:a16="http://schemas.microsoft.com/office/drawing/2014/main" id="{27CA0B13-B1ED-7E72-C7DD-A918AF60A960}"/>
              </a:ext>
            </a:extLst>
          </p:cNvPr>
          <p:cNvGrpSpPr/>
          <p:nvPr userDrawn="1"/>
        </p:nvGrpSpPr>
        <p:grpSpPr>
          <a:xfrm>
            <a:off x="719999" y="6081502"/>
            <a:ext cx="10748401" cy="359407"/>
            <a:chOff x="326445" y="6363861"/>
            <a:chExt cx="8507162" cy="289177"/>
          </a:xfrm>
        </p:grpSpPr>
        <p:sp>
          <p:nvSpPr>
            <p:cNvPr id="11" name="TextBox 10">
              <a:extLst>
                <a:ext uri="{FF2B5EF4-FFF2-40B4-BE49-F238E27FC236}">
                  <a16:creationId xmlns:a16="http://schemas.microsoft.com/office/drawing/2014/main" id="{FBBBFF00-6AD3-D24B-94F3-F6E453B90BEB}"/>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12" name="Straight Connector 11">
              <a:extLst>
                <a:ext uri="{FF2B5EF4-FFF2-40B4-BE49-F238E27FC236}">
                  <a16:creationId xmlns:a16="http://schemas.microsoft.com/office/drawing/2014/main" id="{E0803D33-6659-5F36-A61F-28D5E0916015}"/>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41689498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1"/>
            <a:ext cx="10776675" cy="4329280"/>
          </a:xfrm>
        </p:spPr>
        <p:txBody>
          <a:bodyPr>
            <a:normAutofit/>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10" name="Footer Placeholder 4">
            <a:extLst>
              <a:ext uri="{FF2B5EF4-FFF2-40B4-BE49-F238E27FC236}">
                <a16:creationId xmlns:a16="http://schemas.microsoft.com/office/drawing/2014/main" id="{ACC8F67B-525E-7EE2-8625-24FCCC0BA39F}"/>
              </a:ext>
            </a:extLst>
          </p:cNvPr>
          <p:cNvSpPr>
            <a:spLocks noGrp="1"/>
          </p:cNvSpPr>
          <p:nvPr>
            <p:ph type="ftr" sz="quarter" idx="11"/>
          </p:nvPr>
        </p:nvSpPr>
        <p:spPr>
          <a:xfrm>
            <a:off x="720000" y="6381329"/>
            <a:ext cx="5304664" cy="365125"/>
          </a:xfrm>
        </p:spPr>
        <p:txBody>
          <a:bodyPr/>
          <a:lstStyle>
            <a:lvl1pPr algn="l">
              <a:defRPr sz="1050"/>
            </a:lvl1pPr>
          </a:lstStyle>
          <a:p>
            <a:r>
              <a:rPr lang="en-AU"/>
              <a:t>Laws1100 | FoA | Macquarie Law School</a:t>
            </a:r>
          </a:p>
        </p:txBody>
      </p:sp>
      <p:sp>
        <p:nvSpPr>
          <p:cNvPr id="11" name="Slide Number Placeholder 5">
            <a:extLst>
              <a:ext uri="{FF2B5EF4-FFF2-40B4-BE49-F238E27FC236}">
                <a16:creationId xmlns:a16="http://schemas.microsoft.com/office/drawing/2014/main" id="{134C919A-93F9-16AA-2E85-CD3FA01A919F}"/>
              </a:ext>
            </a:extLst>
          </p:cNvPr>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grpSp>
        <p:nvGrpSpPr>
          <p:cNvPr id="3" name="Group 2">
            <a:extLst>
              <a:ext uri="{FF2B5EF4-FFF2-40B4-BE49-F238E27FC236}">
                <a16:creationId xmlns:a16="http://schemas.microsoft.com/office/drawing/2014/main" id="{2C1B2DF6-4F01-7819-1AE4-9A2C5B3B3029}"/>
              </a:ext>
            </a:extLst>
          </p:cNvPr>
          <p:cNvGrpSpPr/>
          <p:nvPr userDrawn="1"/>
        </p:nvGrpSpPr>
        <p:grpSpPr>
          <a:xfrm>
            <a:off x="719999" y="6081502"/>
            <a:ext cx="10748401" cy="359407"/>
            <a:chOff x="326445" y="6363861"/>
            <a:chExt cx="8507162" cy="289177"/>
          </a:xfrm>
        </p:grpSpPr>
        <p:sp>
          <p:nvSpPr>
            <p:cNvPr id="4" name="TextBox 3">
              <a:extLst>
                <a:ext uri="{FF2B5EF4-FFF2-40B4-BE49-F238E27FC236}">
                  <a16:creationId xmlns:a16="http://schemas.microsoft.com/office/drawing/2014/main" id="{2D4AF73A-0CCB-DEC7-4D01-6670F5A5860A}"/>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9" name="Straight Connector 8">
              <a:extLst>
                <a:ext uri="{FF2B5EF4-FFF2-40B4-BE49-F238E27FC236}">
                  <a16:creationId xmlns:a16="http://schemas.microsoft.com/office/drawing/2014/main" id="{46474DCC-486D-10A9-4DE6-3B08D0B45C4B}"/>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35754812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a:t>Click to edit master title style</a:t>
            </a:r>
            <a:endParaRPr lang="en-AU"/>
          </a:p>
        </p:txBody>
      </p:sp>
      <p:sp>
        <p:nvSpPr>
          <p:cNvPr id="3" name="Content Placeholder 2"/>
          <p:cNvSpPr>
            <a:spLocks noGrp="1"/>
          </p:cNvSpPr>
          <p:nvPr>
            <p:ph idx="1" hasCustomPrompt="1"/>
          </p:nvPr>
        </p:nvSpPr>
        <p:spPr>
          <a:xfrm>
            <a:off x="720000" y="1620001"/>
            <a:ext cx="5220000" cy="4329280"/>
          </a:xfrm>
        </p:spPr>
        <p:txBody>
          <a:bodyPr lIns="0" tIns="0" rIns="0" bIns="0" numCol="1" spcCol="144000"/>
          <a:lstStyle>
            <a:lvl1pPr marL="0" indent="0">
              <a:buNone/>
              <a:defRPr baseline="0"/>
            </a:lvl1pPr>
          </a:lstStyle>
          <a:p>
            <a:pPr lvl="0"/>
            <a:r>
              <a:rPr lang="en-AU"/>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r>
              <a:rPr lang="en-AU"/>
              <a:t>Laws1100 | FoA | Macquarie Law School</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a:t>Click to ADD SUBTITLE</a:t>
            </a:r>
          </a:p>
        </p:txBody>
      </p:sp>
      <p:sp>
        <p:nvSpPr>
          <p:cNvPr id="8" name="Content Placeholder 2"/>
          <p:cNvSpPr>
            <a:spLocks noGrp="1"/>
          </p:cNvSpPr>
          <p:nvPr>
            <p:ph idx="16" hasCustomPrompt="1"/>
          </p:nvPr>
        </p:nvSpPr>
        <p:spPr>
          <a:xfrm>
            <a:off x="6248400" y="1620001"/>
            <a:ext cx="5220000" cy="4329280"/>
          </a:xfrm>
        </p:spPr>
        <p:txBody>
          <a:bodyPr lIns="0" tIns="0" rIns="0" bIns="0" numCol="1" spcCol="144000"/>
          <a:lstStyle>
            <a:lvl1pPr marL="0" indent="0">
              <a:buNone/>
              <a:defRPr baseline="0"/>
            </a:lvl1pPr>
          </a:lstStyle>
          <a:p>
            <a:pPr lvl="0"/>
            <a:r>
              <a:rPr lang="en-AU"/>
              <a:t>Two Column content no bullets</a:t>
            </a:r>
          </a:p>
        </p:txBody>
      </p:sp>
      <p:grpSp>
        <p:nvGrpSpPr>
          <p:cNvPr id="4" name="Group 3">
            <a:extLst>
              <a:ext uri="{FF2B5EF4-FFF2-40B4-BE49-F238E27FC236}">
                <a16:creationId xmlns:a16="http://schemas.microsoft.com/office/drawing/2014/main" id="{107688F0-335A-53FE-5F7A-6F1BD1335D28}"/>
              </a:ext>
            </a:extLst>
          </p:cNvPr>
          <p:cNvGrpSpPr/>
          <p:nvPr userDrawn="1"/>
        </p:nvGrpSpPr>
        <p:grpSpPr>
          <a:xfrm>
            <a:off x="719999" y="6081502"/>
            <a:ext cx="10748401" cy="359407"/>
            <a:chOff x="326445" y="6363861"/>
            <a:chExt cx="8507162" cy="289177"/>
          </a:xfrm>
        </p:grpSpPr>
        <p:sp>
          <p:nvSpPr>
            <p:cNvPr id="9" name="TextBox 8">
              <a:extLst>
                <a:ext uri="{FF2B5EF4-FFF2-40B4-BE49-F238E27FC236}">
                  <a16:creationId xmlns:a16="http://schemas.microsoft.com/office/drawing/2014/main" id="{A2F5079F-7B2B-1BB6-5D0B-AD87146B7D80}"/>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10" name="Straight Connector 9">
              <a:extLst>
                <a:ext uri="{FF2B5EF4-FFF2-40B4-BE49-F238E27FC236}">
                  <a16:creationId xmlns:a16="http://schemas.microsoft.com/office/drawing/2014/main" id="{306AF4C1-3D3E-53EA-53A3-C6B6A0C00644}"/>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3742422211"/>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r>
              <a:rPr lang="en-AU"/>
              <a:t>Laws1100 | FoA | Macquarie Law School</a:t>
            </a:r>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a:t>Click to ADD SUBTITLE </a:t>
            </a:r>
          </a:p>
        </p:txBody>
      </p:sp>
      <p:sp>
        <p:nvSpPr>
          <p:cNvPr id="9" name="Text Placeholder 8"/>
          <p:cNvSpPr>
            <a:spLocks noGrp="1"/>
          </p:cNvSpPr>
          <p:nvPr>
            <p:ph type="body" sz="quarter" idx="17"/>
          </p:nvPr>
        </p:nvSpPr>
        <p:spPr>
          <a:xfrm>
            <a:off x="720000" y="1620001"/>
            <a:ext cx="5220000" cy="4329280"/>
          </a:xfrm>
        </p:spPr>
        <p:txBody>
          <a:bodyPr>
            <a:normAutofit/>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0" name="Text Placeholder 8"/>
          <p:cNvSpPr>
            <a:spLocks noGrp="1"/>
          </p:cNvSpPr>
          <p:nvPr>
            <p:ph type="body" sz="quarter" idx="18"/>
          </p:nvPr>
        </p:nvSpPr>
        <p:spPr>
          <a:xfrm>
            <a:off x="6362400" y="1620001"/>
            <a:ext cx="5220000" cy="4329280"/>
          </a:xfrm>
        </p:spPr>
        <p:txBody>
          <a:bodyPr>
            <a:normAutofit/>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grpSp>
        <p:nvGrpSpPr>
          <p:cNvPr id="3" name="Group 2">
            <a:extLst>
              <a:ext uri="{FF2B5EF4-FFF2-40B4-BE49-F238E27FC236}">
                <a16:creationId xmlns:a16="http://schemas.microsoft.com/office/drawing/2014/main" id="{F3DA99FD-2B39-F21F-573E-85EB2C8B55B7}"/>
              </a:ext>
            </a:extLst>
          </p:cNvPr>
          <p:cNvGrpSpPr/>
          <p:nvPr userDrawn="1"/>
        </p:nvGrpSpPr>
        <p:grpSpPr>
          <a:xfrm>
            <a:off x="719999" y="6081502"/>
            <a:ext cx="10748401" cy="359407"/>
            <a:chOff x="326445" y="6363861"/>
            <a:chExt cx="8507162" cy="289177"/>
          </a:xfrm>
        </p:grpSpPr>
        <p:sp>
          <p:nvSpPr>
            <p:cNvPr id="4" name="TextBox 3">
              <a:extLst>
                <a:ext uri="{FF2B5EF4-FFF2-40B4-BE49-F238E27FC236}">
                  <a16:creationId xmlns:a16="http://schemas.microsoft.com/office/drawing/2014/main" id="{6A6CA9C5-4C93-4436-EF88-54A1829CB707}"/>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8" name="Straight Connector 7">
              <a:extLst>
                <a:ext uri="{FF2B5EF4-FFF2-40B4-BE49-F238E27FC236}">
                  <a16:creationId xmlns:a16="http://schemas.microsoft.com/office/drawing/2014/main" id="{986357DD-B5C8-09B7-9F19-24F68E3227C4}"/>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11300812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r>
              <a:rPr lang="en-AU"/>
              <a:t>Laws1100 | FoA | Macquarie Law School</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a:t>Click to ADD SUBTITLE</a:t>
            </a:r>
          </a:p>
        </p:txBody>
      </p:sp>
      <p:grpSp>
        <p:nvGrpSpPr>
          <p:cNvPr id="3" name="Group 2">
            <a:extLst>
              <a:ext uri="{FF2B5EF4-FFF2-40B4-BE49-F238E27FC236}">
                <a16:creationId xmlns:a16="http://schemas.microsoft.com/office/drawing/2014/main" id="{0C41381B-E8A1-C88D-8C7D-866810BF241F}"/>
              </a:ext>
            </a:extLst>
          </p:cNvPr>
          <p:cNvGrpSpPr/>
          <p:nvPr userDrawn="1"/>
        </p:nvGrpSpPr>
        <p:grpSpPr>
          <a:xfrm>
            <a:off x="719999" y="6081502"/>
            <a:ext cx="10748401" cy="359407"/>
            <a:chOff x="326445" y="6363861"/>
            <a:chExt cx="8507162" cy="289177"/>
          </a:xfrm>
        </p:grpSpPr>
        <p:sp>
          <p:nvSpPr>
            <p:cNvPr id="4" name="TextBox 3">
              <a:extLst>
                <a:ext uri="{FF2B5EF4-FFF2-40B4-BE49-F238E27FC236}">
                  <a16:creationId xmlns:a16="http://schemas.microsoft.com/office/drawing/2014/main" id="{F0C7EC9E-2E98-46B2-C99D-80AFF4EBA5F3}"/>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8" name="Straight Connector 7">
              <a:extLst>
                <a:ext uri="{FF2B5EF4-FFF2-40B4-BE49-F238E27FC236}">
                  <a16:creationId xmlns:a16="http://schemas.microsoft.com/office/drawing/2014/main" id="{E6043FC2-3EE9-B79A-5940-1AF0D719A5FF}"/>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25906922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a:t>Click to edit master title style</a:t>
            </a:r>
            <a:endParaRPr lang="en-AU"/>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r>
              <a:rPr lang="en-AU"/>
              <a:t>Laws1100 | FoA | Macquarie Law School</a:t>
            </a:r>
          </a:p>
        </p:txBody>
      </p:sp>
      <p:sp>
        <p:nvSpPr>
          <p:cNvPr id="6" name="Slide Number Placeholder 5"/>
          <p:cNvSpPr>
            <a:spLocks noGrp="1"/>
          </p:cNvSpPr>
          <p:nvPr>
            <p:ph type="sldNum" sz="quarter" idx="12"/>
          </p:nvPr>
        </p:nvSpPr>
        <p:spPr>
          <a:xfrm>
            <a:off x="8737600" y="6381329"/>
            <a:ext cx="2844800" cy="365125"/>
          </a:xfrm>
        </p:spPr>
        <p:txBody>
          <a:bodyPr/>
          <a:lstStyle/>
          <a:p>
            <a:fld id="{D9C42BCC-44E8-4F98-A8FE-EAF16D8C1E6E}" type="slidenum">
              <a:rPr lang="en-AU" smtClean="0"/>
              <a:t>‹#›</a:t>
            </a:fld>
            <a:endParaRPr lang="en-AU"/>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4" name="Picture Placeholder 3"/>
          <p:cNvSpPr>
            <a:spLocks noGrp="1"/>
          </p:cNvSpPr>
          <p:nvPr>
            <p:ph type="pic" sz="quarter" idx="16"/>
          </p:nvPr>
        </p:nvSpPr>
        <p:spPr>
          <a:xfrm>
            <a:off x="720000" y="1620000"/>
            <a:ext cx="10752000" cy="4329278"/>
          </a:xfrm>
        </p:spPr>
        <p:txBody>
          <a:bodyPr/>
          <a:lstStyle/>
          <a:p>
            <a:r>
              <a:rPr lang="en-GB"/>
              <a:t>Click icon to add picture</a:t>
            </a:r>
            <a:endParaRPr lang="en-AU"/>
          </a:p>
        </p:txBody>
      </p:sp>
      <p:grpSp>
        <p:nvGrpSpPr>
          <p:cNvPr id="3" name="Group 2">
            <a:extLst>
              <a:ext uri="{FF2B5EF4-FFF2-40B4-BE49-F238E27FC236}">
                <a16:creationId xmlns:a16="http://schemas.microsoft.com/office/drawing/2014/main" id="{B62351E5-F18F-3795-E65B-5DB56535E60C}"/>
              </a:ext>
            </a:extLst>
          </p:cNvPr>
          <p:cNvGrpSpPr/>
          <p:nvPr userDrawn="1"/>
        </p:nvGrpSpPr>
        <p:grpSpPr>
          <a:xfrm>
            <a:off x="719999" y="6081502"/>
            <a:ext cx="10748401" cy="359407"/>
            <a:chOff x="326445" y="6363861"/>
            <a:chExt cx="8507162" cy="289177"/>
          </a:xfrm>
        </p:grpSpPr>
        <p:sp>
          <p:nvSpPr>
            <p:cNvPr id="8" name="TextBox 7">
              <a:extLst>
                <a:ext uri="{FF2B5EF4-FFF2-40B4-BE49-F238E27FC236}">
                  <a16:creationId xmlns:a16="http://schemas.microsoft.com/office/drawing/2014/main" id="{8B936328-CBAD-49F1-EB10-489C18DA672C}"/>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9" name="Straight Connector 8">
              <a:extLst>
                <a:ext uri="{FF2B5EF4-FFF2-40B4-BE49-F238E27FC236}">
                  <a16:creationId xmlns:a16="http://schemas.microsoft.com/office/drawing/2014/main" id="{D2776244-01A2-0C22-93B0-E794BF5B150B}"/>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17948976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F166F2B7-AFA2-64BB-8A6C-CEE3D69D33DB}"/>
              </a:ext>
            </a:extLst>
          </p:cNvPr>
          <p:cNvSpPr>
            <a:spLocks noGrp="1"/>
          </p:cNvSpPr>
          <p:nvPr>
            <p:ph type="ftr" sz="quarter" idx="11"/>
          </p:nvPr>
        </p:nvSpPr>
        <p:spPr>
          <a:xfrm>
            <a:off x="720000" y="6381329"/>
            <a:ext cx="5304664" cy="365125"/>
          </a:xfrm>
        </p:spPr>
        <p:txBody>
          <a:bodyPr/>
          <a:lstStyle>
            <a:lvl1pPr algn="l">
              <a:defRPr sz="1050"/>
            </a:lvl1pPr>
          </a:lstStyle>
          <a:p>
            <a:r>
              <a:rPr lang="en-AU"/>
              <a:t>Laws1100 | FoA | Macquarie Law School</a:t>
            </a:r>
          </a:p>
        </p:txBody>
      </p:sp>
      <p:sp>
        <p:nvSpPr>
          <p:cNvPr id="8" name="Slide Number Placeholder 5">
            <a:extLst>
              <a:ext uri="{FF2B5EF4-FFF2-40B4-BE49-F238E27FC236}">
                <a16:creationId xmlns:a16="http://schemas.microsoft.com/office/drawing/2014/main" id="{A1BAB1A8-6D08-ECF4-F325-6F68CCC4716B}"/>
              </a:ext>
            </a:extLst>
          </p:cNvPr>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grpSp>
        <p:nvGrpSpPr>
          <p:cNvPr id="2" name="Group 1">
            <a:extLst>
              <a:ext uri="{FF2B5EF4-FFF2-40B4-BE49-F238E27FC236}">
                <a16:creationId xmlns:a16="http://schemas.microsoft.com/office/drawing/2014/main" id="{DEFA0299-05CC-C951-B4D7-C170B111433A}"/>
              </a:ext>
            </a:extLst>
          </p:cNvPr>
          <p:cNvGrpSpPr/>
          <p:nvPr userDrawn="1"/>
        </p:nvGrpSpPr>
        <p:grpSpPr>
          <a:xfrm>
            <a:off x="719999" y="6081502"/>
            <a:ext cx="10748401" cy="359407"/>
            <a:chOff x="326445" y="6363861"/>
            <a:chExt cx="8507162" cy="289177"/>
          </a:xfrm>
        </p:grpSpPr>
        <p:sp>
          <p:nvSpPr>
            <p:cNvPr id="5" name="TextBox 4">
              <a:extLst>
                <a:ext uri="{FF2B5EF4-FFF2-40B4-BE49-F238E27FC236}">
                  <a16:creationId xmlns:a16="http://schemas.microsoft.com/office/drawing/2014/main" id="{F4341908-5458-870A-49FB-CA110F3D7BDA}"/>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6" name="Straight Connector 5">
              <a:extLst>
                <a:ext uri="{FF2B5EF4-FFF2-40B4-BE49-F238E27FC236}">
                  <a16:creationId xmlns:a16="http://schemas.microsoft.com/office/drawing/2014/main" id="{59E934C0-D123-6DF1-1C44-21FB648848A1}"/>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5016085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720000" y="1620001"/>
            <a:ext cx="10800001" cy="43518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Box 3"/>
          <p:cNvSpPr txBox="1"/>
          <p:nvPr userDrawn="1"/>
        </p:nvSpPr>
        <p:spPr>
          <a:xfrm>
            <a:off x="10001277" y="5715016"/>
            <a:ext cx="571504" cy="369332"/>
          </a:xfrm>
          <a:prstGeom prst="rect">
            <a:avLst/>
          </a:prstGeom>
          <a:noFill/>
        </p:spPr>
        <p:txBody>
          <a:bodyPr wrap="square" rtlCol="0">
            <a:spAutoFit/>
          </a:bodyPr>
          <a:lstStyle/>
          <a:p>
            <a:endParaRPr lang="en-AU" sz="1800"/>
          </a:p>
        </p:txBody>
      </p:sp>
      <p:sp>
        <p:nvSpPr>
          <p:cNvPr id="8" name="Footer Placeholder 4">
            <a:extLst>
              <a:ext uri="{FF2B5EF4-FFF2-40B4-BE49-F238E27FC236}">
                <a16:creationId xmlns:a16="http://schemas.microsoft.com/office/drawing/2014/main" id="{6C5AC1BC-FF34-F619-6A53-37DBB441BDC9}"/>
              </a:ext>
            </a:extLst>
          </p:cNvPr>
          <p:cNvSpPr>
            <a:spLocks noGrp="1"/>
          </p:cNvSpPr>
          <p:nvPr>
            <p:ph type="ftr" sz="quarter" idx="11"/>
          </p:nvPr>
        </p:nvSpPr>
        <p:spPr>
          <a:xfrm>
            <a:off x="720000" y="6381329"/>
            <a:ext cx="5304664" cy="365125"/>
          </a:xfrm>
        </p:spPr>
        <p:txBody>
          <a:bodyPr/>
          <a:lstStyle>
            <a:lvl1pPr algn="l">
              <a:defRPr sz="1050"/>
            </a:lvl1pPr>
          </a:lstStyle>
          <a:p>
            <a:r>
              <a:rPr lang="en-AU"/>
              <a:t>Laws1100 | FoA | Macquarie Law School</a:t>
            </a:r>
          </a:p>
        </p:txBody>
      </p:sp>
      <p:sp>
        <p:nvSpPr>
          <p:cNvPr id="9" name="Slide Number Placeholder 5">
            <a:extLst>
              <a:ext uri="{FF2B5EF4-FFF2-40B4-BE49-F238E27FC236}">
                <a16:creationId xmlns:a16="http://schemas.microsoft.com/office/drawing/2014/main" id="{71260098-A306-531C-F97F-BB33D9A291C7}"/>
              </a:ext>
            </a:extLst>
          </p:cNvPr>
          <p:cNvSpPr>
            <a:spLocks noGrp="1"/>
          </p:cNvSpPr>
          <p:nvPr>
            <p:ph type="sldNum" sz="quarter" idx="12"/>
          </p:nvPr>
        </p:nvSpPr>
        <p:spPr>
          <a:xfrm>
            <a:off x="8737600" y="6381329"/>
            <a:ext cx="2844800" cy="365125"/>
          </a:xfrm>
        </p:spPr>
        <p:txBody>
          <a:bodyPr/>
          <a:lstStyle>
            <a:lvl1pPr>
              <a:defRPr sz="1050"/>
            </a:lvl1pPr>
          </a:lstStyle>
          <a:p>
            <a:fld id="{D9C42BCC-44E8-4F98-A8FE-EAF16D8C1E6E}" type="slidenum">
              <a:rPr lang="en-AU" smtClean="0"/>
              <a:pPr/>
              <a:t>‹#›</a:t>
            </a:fld>
            <a:endParaRPr lang="en-AU"/>
          </a:p>
        </p:txBody>
      </p:sp>
      <p:grpSp>
        <p:nvGrpSpPr>
          <p:cNvPr id="5" name="Group 4">
            <a:extLst>
              <a:ext uri="{FF2B5EF4-FFF2-40B4-BE49-F238E27FC236}">
                <a16:creationId xmlns:a16="http://schemas.microsoft.com/office/drawing/2014/main" id="{516DFD1A-1CC1-BC5F-01EB-1AB1F6FCD16C}"/>
              </a:ext>
            </a:extLst>
          </p:cNvPr>
          <p:cNvGrpSpPr/>
          <p:nvPr userDrawn="1"/>
        </p:nvGrpSpPr>
        <p:grpSpPr>
          <a:xfrm>
            <a:off x="719999" y="6081502"/>
            <a:ext cx="10748401" cy="359407"/>
            <a:chOff x="326445" y="6363861"/>
            <a:chExt cx="8507162" cy="289177"/>
          </a:xfrm>
        </p:grpSpPr>
        <p:sp>
          <p:nvSpPr>
            <p:cNvPr id="6" name="TextBox 5">
              <a:extLst>
                <a:ext uri="{FF2B5EF4-FFF2-40B4-BE49-F238E27FC236}">
                  <a16:creationId xmlns:a16="http://schemas.microsoft.com/office/drawing/2014/main" id="{DD500D61-1758-7F06-B3B9-F8B33A61968A}"/>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7" name="Straight Connector 6">
              <a:extLst>
                <a:ext uri="{FF2B5EF4-FFF2-40B4-BE49-F238E27FC236}">
                  <a16:creationId xmlns:a16="http://schemas.microsoft.com/office/drawing/2014/main" id="{7D4638F4-BC93-9841-6A59-1E25A052C6A3}"/>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12347907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GB"/>
              <a:t>Click to edit Master title style</a:t>
            </a:r>
            <a:endParaRPr lang="en-US"/>
          </a:p>
        </p:txBody>
      </p:sp>
      <p:sp>
        <p:nvSpPr>
          <p:cNvPr id="3" name="Slide Number Placeholder 2"/>
          <p:cNvSpPr>
            <a:spLocks noGrp="1"/>
          </p:cNvSpPr>
          <p:nvPr>
            <p:ph type="sldNum" sz="quarter" idx="10"/>
          </p:nvPr>
        </p:nvSpPr>
        <p:spPr/>
        <p:txBody>
          <a:bodyPr/>
          <a:lstStyle/>
          <a:p>
            <a:fld id="{D263D112-7C89-384D-B4FC-664FC949D667}" type="slidenum">
              <a:rPr lang="en-US" smtClean="0"/>
              <a:pPr/>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329277"/>
          </a:xfrm>
        </p:spPr>
        <p:txBody>
          <a:bodyPr>
            <a:noAutofit/>
          </a:bodyPr>
          <a:lstStyle>
            <a:lvl7pPr>
              <a:buNone/>
              <a:defRPr/>
            </a:lvl7pPr>
            <a:lvl8pPr>
              <a:buNone/>
              <a:defRPr/>
            </a:lvl8pPr>
          </a:lstStyle>
          <a:p>
            <a:r>
              <a:rPr lang="en-US" b="1">
                <a:solidFill>
                  <a:srgbClr val="6D0020"/>
                </a:solidFill>
              </a:rPr>
              <a:t>HEADER INFO</a:t>
            </a:r>
          </a:p>
          <a:p>
            <a:r>
              <a:rPr lang="en-US" err="1">
                <a:latin typeface="Georgia"/>
                <a:cs typeface="Georgia"/>
              </a:rPr>
              <a:t>Consectetur</a:t>
            </a:r>
            <a:r>
              <a:rPr lang="en-US">
                <a:latin typeface="Georgia"/>
                <a:cs typeface="Georgia"/>
              </a:rPr>
              <a:t>  met </a:t>
            </a:r>
            <a:r>
              <a:rPr lang="en-US" err="1">
                <a:latin typeface="Georgia"/>
                <a:cs typeface="Georgia"/>
              </a:rPr>
              <a:t>adipiscing</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Aenean</a:t>
            </a:r>
            <a:r>
              <a:rPr lang="en-US">
                <a:latin typeface="Georgia"/>
                <a:cs typeface="Georgia"/>
              </a:rPr>
              <a:t> ac </a:t>
            </a:r>
            <a:r>
              <a:rPr lang="en-US" err="1">
                <a:latin typeface="Georgia"/>
                <a:cs typeface="Georgia"/>
              </a:rPr>
              <a:t>elit</a:t>
            </a:r>
            <a:r>
              <a:rPr lang="en-US">
                <a:latin typeface="Georgia"/>
                <a:cs typeface="Georgia"/>
              </a:rPr>
              <a:t> a </a:t>
            </a:r>
            <a:r>
              <a:rPr lang="en-US" err="1">
                <a:latin typeface="Georgia"/>
                <a:cs typeface="Georgia"/>
              </a:rPr>
              <a:t>felis</a:t>
            </a:r>
            <a:r>
              <a:rPr lang="en-US">
                <a:latin typeface="Georgia"/>
                <a:cs typeface="Georgia"/>
              </a:rPr>
              <a:t> </a:t>
            </a:r>
            <a:r>
              <a:rPr lang="en-US" err="1">
                <a:latin typeface="Georgia"/>
                <a:cs typeface="Georgia"/>
              </a:rPr>
              <a:t>pharetra</a:t>
            </a:r>
            <a:r>
              <a:rPr lang="en-US">
                <a:latin typeface="Georgia"/>
                <a:cs typeface="Georgia"/>
              </a:rPr>
              <a:t> </a:t>
            </a:r>
            <a:br>
              <a:rPr lang="en-US">
                <a:latin typeface="Georgia"/>
                <a:cs typeface="Georgia"/>
              </a:rPr>
            </a:br>
            <a:r>
              <a:rPr lang="en-US" err="1">
                <a:latin typeface="Georgia"/>
                <a:cs typeface="Georgia"/>
              </a:rPr>
              <a:t>vel</a:t>
            </a:r>
            <a:r>
              <a:rPr lang="en-US">
                <a:latin typeface="Georgia"/>
                <a:cs typeface="Georgia"/>
              </a:rPr>
              <a:t> </a:t>
            </a:r>
            <a:r>
              <a:rPr lang="en-US" err="1">
                <a:latin typeface="Georgia"/>
                <a:cs typeface="Georgia"/>
              </a:rPr>
              <a:t>Fringilla</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Duis</a:t>
            </a:r>
            <a:r>
              <a:rPr lang="en-US">
                <a:latin typeface="Georgia"/>
                <a:cs typeface="Georgia"/>
              </a:rPr>
              <a:t> dui </a:t>
            </a:r>
            <a:r>
              <a:rPr lang="en-US" err="1">
                <a:latin typeface="Georgia"/>
                <a:cs typeface="Georgia"/>
              </a:rPr>
              <a:t>arcu</a:t>
            </a:r>
            <a:r>
              <a:rPr lang="en-US">
                <a:latin typeface="Georgia"/>
                <a:cs typeface="Georgia"/>
              </a:rPr>
              <a:t>, </a:t>
            </a:r>
            <a:r>
              <a:rPr lang="en-US" err="1">
                <a:latin typeface="Georgia"/>
                <a:cs typeface="Georgia"/>
              </a:rPr>
              <a:t>amet</a:t>
            </a:r>
            <a:r>
              <a:rPr lang="en-US">
                <a:latin typeface="Georgia"/>
                <a:cs typeface="Georgia"/>
              </a:rPr>
              <a:t> </a:t>
            </a:r>
            <a:r>
              <a:rPr lang="en-US" err="1">
                <a:latin typeface="Georgia"/>
                <a:cs typeface="Georgia"/>
              </a:rPr>
              <a:t>scelerisque</a:t>
            </a:r>
            <a:r>
              <a:rPr lang="en-US">
                <a:latin typeface="Georgia"/>
                <a:cs typeface="Georgia"/>
              </a:rPr>
              <a:t> </a:t>
            </a:r>
            <a:r>
              <a:rPr lang="en-US" err="1">
                <a:latin typeface="Georgia"/>
                <a:cs typeface="Georgia"/>
              </a:rPr>
              <a:t>nec</a:t>
            </a:r>
            <a:r>
              <a:rPr lang="en-US">
                <a:latin typeface="Georgia"/>
                <a:cs typeface="Georgia"/>
              </a:rPr>
              <a:t> dictum </a:t>
            </a:r>
            <a:br>
              <a:rPr lang="en-US">
                <a:latin typeface="Georgia"/>
                <a:cs typeface="Georgia"/>
              </a:rPr>
            </a:br>
            <a:r>
              <a:rPr lang="en-US">
                <a:latin typeface="Georgia"/>
                <a:cs typeface="Georgia"/>
              </a:rPr>
              <a:t>ac </a:t>
            </a:r>
            <a:r>
              <a:rPr lang="en-US" err="1">
                <a:latin typeface="Georgia"/>
                <a:cs typeface="Georgia"/>
              </a:rPr>
              <a:t>conse</a:t>
            </a:r>
            <a:r>
              <a:rPr lang="en-US">
                <a:latin typeface="Georgia"/>
                <a:cs typeface="Georgia"/>
              </a:rPr>
              <a:t> </a:t>
            </a:r>
            <a:r>
              <a:rPr lang="en-US" err="1">
                <a:latin typeface="Georgia"/>
                <a:cs typeface="Georgia"/>
              </a:rPr>
              <a:t>eu</a:t>
            </a:r>
            <a:r>
              <a:rPr lang="en-US">
                <a:latin typeface="Georgia"/>
                <a:cs typeface="Georgia"/>
              </a:rPr>
              <a:t> </a:t>
            </a:r>
            <a:r>
              <a:rPr lang="en-US" err="1">
                <a:latin typeface="Georgia"/>
                <a:cs typeface="Georgia"/>
              </a:rPr>
              <a:t>elit</a:t>
            </a:r>
            <a:r>
              <a:rPr lang="en-US">
                <a:latin typeface="Georgia"/>
                <a:cs typeface="Georgia"/>
              </a:rPr>
              <a:t> </a:t>
            </a:r>
            <a:r>
              <a:rPr lang="en-US" err="1">
                <a:latin typeface="Georgia"/>
                <a:cs typeface="Georgia"/>
              </a:rPr>
              <a:t>Donec</a:t>
            </a:r>
            <a:r>
              <a:rPr lang="en-US">
                <a:latin typeface="Georgia"/>
                <a:cs typeface="Georgia"/>
              </a:rPr>
              <a:t> </a:t>
            </a:r>
            <a:r>
              <a:rPr lang="en-US" err="1">
                <a:latin typeface="Georgia"/>
                <a:cs typeface="Georgia"/>
              </a:rPr>
              <a:t>tincid</a:t>
            </a:r>
            <a:r>
              <a:rPr lang="en-US">
                <a:latin typeface="Georgia"/>
                <a:cs typeface="Georgia"/>
              </a:rPr>
              <a:t> </a:t>
            </a:r>
            <a:r>
              <a:rPr lang="en-US" err="1">
                <a:latin typeface="Georgia"/>
                <a:cs typeface="Georgia"/>
              </a:rPr>
              <a:t>unt</a:t>
            </a:r>
            <a:r>
              <a:rPr lang="en-US">
                <a:latin typeface="Georgia"/>
                <a:cs typeface="Georgia"/>
              </a:rPr>
              <a:t> </a:t>
            </a:r>
            <a:r>
              <a:rPr lang="en-US" err="1">
                <a:latin typeface="Georgia"/>
                <a:cs typeface="Georgia"/>
              </a:rPr>
              <a:t>enim</a:t>
            </a:r>
            <a:r>
              <a:rPr lang="en-US">
                <a:latin typeface="Georgia"/>
                <a:cs typeface="Georgia"/>
              </a:rPr>
              <a:t> sit </a:t>
            </a:r>
            <a:r>
              <a:rPr lang="en-US" err="1">
                <a:latin typeface="Georgia"/>
                <a:cs typeface="Georgia"/>
              </a:rPr>
              <a:t>amet</a:t>
            </a:r>
            <a:r>
              <a:rPr lang="en-US">
                <a:latin typeface="Georgia"/>
                <a:cs typeface="Georgia"/>
              </a:rPr>
              <a:t> </a:t>
            </a:r>
            <a:r>
              <a:rPr lang="en-US" err="1">
                <a:latin typeface="Georgia"/>
                <a:cs typeface="Georgia"/>
              </a:rPr>
              <a:t>consequat</a:t>
            </a:r>
            <a:r>
              <a:rPr lang="en-US">
                <a:latin typeface="Georgia"/>
                <a:cs typeface="Georgia"/>
              </a:rPr>
              <a:t>.</a:t>
            </a:r>
          </a:p>
          <a:p>
            <a:pPr>
              <a:buFont typeface="Arial"/>
              <a:buChar char="•"/>
            </a:pPr>
            <a:endParaRPr lang="en-US">
              <a:latin typeface="Georgia"/>
              <a:cs typeface="Georgia"/>
            </a:endParaRPr>
          </a:p>
          <a:p>
            <a:pPr>
              <a:buFont typeface="Arial"/>
              <a:buChar char="•"/>
            </a:pPr>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r>
              <a:rPr lang="en-US">
                <a:latin typeface="Georgia"/>
                <a:cs typeface="Georgia"/>
              </a:rPr>
              <a:t> velum</a:t>
            </a:r>
          </a:p>
          <a:p>
            <a:pPr marL="342900" lvl="7" indent="0"/>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endParaRPr lang="en-US">
              <a:latin typeface="Georgia"/>
              <a:cs typeface="Georgia"/>
            </a:endParaRPr>
          </a:p>
          <a:p>
            <a:pPr marL="342900" lvl="7" indent="0"/>
            <a:endParaRPr lang="en-US">
              <a:latin typeface="Georgia"/>
              <a:cs typeface="Georgia"/>
            </a:endParaRPr>
          </a:p>
          <a:p>
            <a:pPr>
              <a:buFont typeface="Arial"/>
              <a:buChar char="•"/>
            </a:pPr>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r>
              <a:rPr lang="en-US">
                <a:latin typeface="Georgia"/>
                <a:cs typeface="Georgia"/>
              </a:rPr>
              <a:t> velum</a:t>
            </a:r>
          </a:p>
          <a:p>
            <a:pPr marL="342900" lvl="6" indent="0"/>
            <a:r>
              <a:rPr lang="en-US" err="1">
                <a:latin typeface="Georgia"/>
                <a:cs typeface="Georgia"/>
              </a:rPr>
              <a:t>Lorum</a:t>
            </a:r>
            <a:r>
              <a:rPr lang="en-US">
                <a:latin typeface="Georgia"/>
                <a:cs typeface="Georgia"/>
              </a:rPr>
              <a:t> </a:t>
            </a:r>
            <a:r>
              <a:rPr lang="en-US" err="1">
                <a:latin typeface="Georgia"/>
                <a:cs typeface="Georgia"/>
              </a:rPr>
              <a:t>ipsum</a:t>
            </a:r>
            <a:r>
              <a:rPr lang="en-US">
                <a:latin typeface="Georgia"/>
                <a:cs typeface="Georgia"/>
              </a:rPr>
              <a:t> </a:t>
            </a:r>
            <a:r>
              <a:rPr lang="en-US" err="1">
                <a:latin typeface="Georgia"/>
                <a:cs typeface="Georgia"/>
              </a:rPr>
              <a:t>dolore</a:t>
            </a:r>
            <a:r>
              <a:rPr lang="en-US">
                <a:latin typeface="Georgia"/>
                <a:cs typeface="Georgia"/>
              </a:rPr>
              <a:t> </a:t>
            </a:r>
            <a:r>
              <a:rPr lang="en-US" err="1">
                <a:latin typeface="Georgia"/>
                <a:cs typeface="Georgia"/>
              </a:rPr>
              <a:t>melior</a:t>
            </a:r>
            <a:r>
              <a:rPr lang="en-US">
                <a:latin typeface="Georgia"/>
                <a:cs typeface="Georgia"/>
              </a:rPr>
              <a:t> </a:t>
            </a:r>
            <a:r>
              <a:rPr lang="en-US" err="1">
                <a:latin typeface="Georgia"/>
                <a:cs typeface="Georgia"/>
              </a:rPr>
              <a:t>nonne</a:t>
            </a:r>
            <a:r>
              <a:rPr lang="en-US">
                <a:latin typeface="Georgia"/>
                <a:cs typeface="Georgia"/>
              </a:rPr>
              <a:t> </a:t>
            </a:r>
            <a:r>
              <a:rPr lang="en-US" err="1">
                <a:latin typeface="Georgia"/>
                <a:cs typeface="Georgia"/>
              </a:rPr>
              <a:t>tutte</a:t>
            </a:r>
            <a:r>
              <a:rPr lang="en-US">
                <a:latin typeface="Georgia"/>
                <a:cs typeface="Georgia"/>
              </a:rPr>
              <a:t> san </a:t>
            </a:r>
            <a:r>
              <a:rPr lang="en-US" err="1">
                <a:latin typeface="Georgia"/>
                <a:cs typeface="Georgia"/>
              </a:rPr>
              <a:t>toro</a:t>
            </a:r>
            <a:endParaRPr lang="en-US">
              <a:latin typeface="Georgia"/>
              <a:cs typeface="Georgia"/>
            </a:endParaRPr>
          </a:p>
          <a:p>
            <a:endParaRPr lang="en-US">
              <a:latin typeface="Georgia"/>
              <a:cs typeface="Georgia"/>
            </a:endParaRPr>
          </a:p>
          <a:p>
            <a:endParaRPr lang="en-US"/>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a:t>Click to ADD SUBTITLE</a:t>
            </a:r>
          </a:p>
        </p:txBody>
      </p:sp>
      <p:sp>
        <p:nvSpPr>
          <p:cNvPr id="10" name="Footer Placeholder 4">
            <a:extLst>
              <a:ext uri="{FF2B5EF4-FFF2-40B4-BE49-F238E27FC236}">
                <a16:creationId xmlns:a16="http://schemas.microsoft.com/office/drawing/2014/main" id="{0C5B0B39-E242-2BAF-B868-6EF6643B30FF}"/>
              </a:ext>
            </a:extLst>
          </p:cNvPr>
          <p:cNvSpPr>
            <a:spLocks noGrp="1"/>
          </p:cNvSpPr>
          <p:nvPr>
            <p:ph type="ftr" sz="quarter" idx="16"/>
          </p:nvPr>
        </p:nvSpPr>
        <p:spPr>
          <a:xfrm>
            <a:off x="720000" y="6381329"/>
            <a:ext cx="5304664" cy="365125"/>
          </a:xfrm>
        </p:spPr>
        <p:txBody>
          <a:bodyPr/>
          <a:lstStyle>
            <a:lvl1pPr algn="l">
              <a:defRPr sz="1050"/>
            </a:lvl1pPr>
          </a:lstStyle>
          <a:p>
            <a:r>
              <a:rPr lang="en-AU"/>
              <a:t>Laws1100 | FoA | Macquarie Law School</a:t>
            </a:r>
          </a:p>
        </p:txBody>
      </p:sp>
      <p:sp>
        <p:nvSpPr>
          <p:cNvPr id="11" name="Slide Number Placeholder 5">
            <a:extLst>
              <a:ext uri="{FF2B5EF4-FFF2-40B4-BE49-F238E27FC236}">
                <a16:creationId xmlns:a16="http://schemas.microsoft.com/office/drawing/2014/main" id="{A640CC11-CF45-0E34-603F-8CC7B7BEB611}"/>
              </a:ext>
            </a:extLst>
          </p:cNvPr>
          <p:cNvSpPr txBox="1">
            <a:spLocks/>
          </p:cNvSpPr>
          <p:nvPr userDrawn="1"/>
        </p:nvSpPr>
        <p:spPr>
          <a:xfrm>
            <a:off x="8737600" y="6381329"/>
            <a:ext cx="2844800" cy="365125"/>
          </a:xfrm>
          <a:prstGeom prst="rect">
            <a:avLst/>
          </a:prstGeom>
        </p:spPr>
        <p:txBody>
          <a:bodyPr vert="horz" lIns="0" tIns="0" rIns="0" bIns="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C42BCC-44E8-4F98-A8FE-EAF16D8C1E6E}" type="slidenum">
              <a:rPr lang="en-AU" smtClean="0"/>
              <a:pPr/>
              <a:t>‹#›</a:t>
            </a:fld>
            <a:endParaRPr lang="en-AU"/>
          </a:p>
        </p:txBody>
      </p:sp>
      <p:grpSp>
        <p:nvGrpSpPr>
          <p:cNvPr id="6" name="Group 5">
            <a:extLst>
              <a:ext uri="{FF2B5EF4-FFF2-40B4-BE49-F238E27FC236}">
                <a16:creationId xmlns:a16="http://schemas.microsoft.com/office/drawing/2014/main" id="{D8B3866C-E41E-3167-3233-42878E46D3F0}"/>
              </a:ext>
            </a:extLst>
          </p:cNvPr>
          <p:cNvGrpSpPr/>
          <p:nvPr userDrawn="1"/>
        </p:nvGrpSpPr>
        <p:grpSpPr>
          <a:xfrm>
            <a:off x="719999" y="6081502"/>
            <a:ext cx="10748401" cy="359407"/>
            <a:chOff x="326445" y="6363861"/>
            <a:chExt cx="8507162" cy="289177"/>
          </a:xfrm>
        </p:grpSpPr>
        <p:sp>
          <p:nvSpPr>
            <p:cNvPr id="8" name="TextBox 7">
              <a:extLst>
                <a:ext uri="{FF2B5EF4-FFF2-40B4-BE49-F238E27FC236}">
                  <a16:creationId xmlns:a16="http://schemas.microsoft.com/office/drawing/2014/main" id="{172ADEC8-99ED-9553-1FB6-702C9DC223E7}"/>
                </a:ext>
              </a:extLst>
            </p:cNvPr>
            <p:cNvSpPr txBox="1"/>
            <p:nvPr userDrawn="1"/>
          </p:nvSpPr>
          <p:spPr>
            <a:xfrm>
              <a:off x="326445" y="6380639"/>
              <a:ext cx="8507162" cy="272399"/>
            </a:xfrm>
            <a:prstGeom prst="rect">
              <a:avLst/>
            </a:prstGeom>
            <a:noFill/>
          </p:spPr>
          <p:txBody>
            <a:bodyPr wrap="square" lIns="0" rIns="0" rtlCol="0">
              <a:spAutoFit/>
            </a:bodyPr>
            <a:lstStyle/>
            <a:p>
              <a:r>
                <a:rPr lang="en-AU" sz="800" i="1" spc="10" baseline="0">
                  <a:effectLst/>
                  <a:latin typeface="+mn-lt"/>
                  <a:ea typeface="Times New Roman" panose="02020603050405020304" pitchFamily="18" charset="0"/>
                </a:rPr>
                <a:t>This material is provided to you as a Macquarie University student for your individual research and study purposes only. </a:t>
              </a:r>
              <a:r>
                <a:rPr lang="en-AU" sz="800" b="1" i="1" spc="10" baseline="0">
                  <a:effectLst/>
                  <a:latin typeface="+mn-lt"/>
                  <a:ea typeface="Times New Roman" panose="02020603050405020304" pitchFamily="18" charset="0"/>
                </a:rPr>
                <a:t>You cannot share this material publicly online without permission. </a:t>
              </a:r>
              <a:r>
                <a:rPr lang="en-AU" sz="800" i="1" spc="10" baseline="0">
                  <a:effectLst/>
                  <a:latin typeface="+mn-lt"/>
                  <a:ea typeface="Times New Roman" panose="02020603050405020304" pitchFamily="18" charset="0"/>
                </a:rPr>
                <a:t>Macquarie University is the copyright owner of (or has licence to use) the intellectual property in this material. Legal and/or disciplinary actions may be taken if this material is shared without the University’s written permission.</a:t>
              </a:r>
              <a:endParaRPr lang="en-AU" sz="800" spc="10" baseline="0">
                <a:effectLst/>
                <a:latin typeface="+mn-lt"/>
                <a:ea typeface="Times New Roman" panose="02020603050405020304" pitchFamily="18" charset="0"/>
              </a:endParaRPr>
            </a:p>
          </p:txBody>
        </p:sp>
        <p:cxnSp>
          <p:nvCxnSpPr>
            <p:cNvPr id="9" name="Straight Connector 8">
              <a:extLst>
                <a:ext uri="{FF2B5EF4-FFF2-40B4-BE49-F238E27FC236}">
                  <a16:creationId xmlns:a16="http://schemas.microsoft.com/office/drawing/2014/main" id="{1CF58F35-21C5-740B-A97A-C4A6CF4A634D}"/>
                </a:ext>
              </a:extLst>
            </p:cNvPr>
            <p:cNvCxnSpPr>
              <a:cxnSpLocks/>
            </p:cNvCxnSpPr>
            <p:nvPr userDrawn="1"/>
          </p:nvCxnSpPr>
          <p:spPr>
            <a:xfrm>
              <a:off x="326445" y="6363861"/>
              <a:ext cx="8507162" cy="0"/>
            </a:xfrm>
            <a:prstGeom prst="line">
              <a:avLst/>
            </a:prstGeom>
            <a:ln>
              <a:solidFill>
                <a:schemeClr val="accent6"/>
              </a:solidFill>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30584785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8" name="Picture 7">
            <a:extLst>
              <a:ext uri="{FF2B5EF4-FFF2-40B4-BE49-F238E27FC236}">
                <a16:creationId xmlns:a16="http://schemas.microsoft.com/office/drawing/2014/main" id="{EF3CB304-C67C-ECCC-ABF5-CD3FFA8828B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048" y="9144"/>
            <a:ext cx="12185904" cy="6839712"/>
          </a:xfrm>
          <a:prstGeom prst="rect">
            <a:avLst/>
          </a:prstGeom>
        </p:spPr>
      </p:pic>
    </p:spTree>
    <p:extLst>
      <p:ext uri="{BB962C8B-B14F-4D97-AF65-F5344CB8AC3E}">
        <p14:creationId xmlns:p14="http://schemas.microsoft.com/office/powerpoint/2010/main" val="34215828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p:cNvSpPr/>
          <p:nvPr userDrawn="1"/>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pic>
        <p:nvPicPr>
          <p:cNvPr id="2" name="Picture 1">
            <a:extLst>
              <a:ext uri="{FF2B5EF4-FFF2-40B4-BE49-F238E27FC236}">
                <a16:creationId xmlns:a16="http://schemas.microsoft.com/office/drawing/2014/main" id="{01BA2BF0-D81F-D2BB-4330-332A41B5B46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049" y="1182"/>
            <a:ext cx="12235103" cy="6867326"/>
          </a:xfrm>
          <a:prstGeom prst="rect">
            <a:avLst/>
          </a:prstGeom>
        </p:spPr>
      </p:pic>
    </p:spTree>
    <p:extLst>
      <p:ext uri="{BB962C8B-B14F-4D97-AF65-F5344CB8AC3E}">
        <p14:creationId xmlns:p14="http://schemas.microsoft.com/office/powerpoint/2010/main" val="659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2.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pn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image" Target="../media/image2.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media/image8.emf"/><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8544000" cy="648000"/>
          </a:xfrm>
          <a:prstGeom prst="rect">
            <a:avLst/>
          </a:prstGeom>
        </p:spPr>
        <p:txBody>
          <a:bodyPr vert="horz" lIns="91440" tIns="45720" rIns="91440" bIns="4572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623392" y="6309321"/>
            <a:ext cx="5472608"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AU"/>
              <a:t>OFFICE | FACULTY | DEPARTMENT</a:t>
            </a:r>
            <a:endParaRPr lang="en-AU" dirty="0"/>
          </a:p>
        </p:txBody>
      </p:sp>
      <p:sp>
        <p:nvSpPr>
          <p:cNvPr id="6" name="Slide Number Placeholder 5"/>
          <p:cNvSpPr>
            <a:spLocks noGrp="1"/>
          </p:cNvSpPr>
          <p:nvPr>
            <p:ph type="sldNum" sz="quarter" idx="4"/>
          </p:nvPr>
        </p:nvSpPr>
        <p:spPr>
          <a:xfrm>
            <a:off x="8737600" y="6309321"/>
            <a:ext cx="28448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C42BCC-44E8-4F98-A8FE-EAF16D8C1E6E}" type="slidenum">
              <a:rPr lang="en-AU" smtClean="0"/>
              <a:pPr/>
              <a:t>‹#›</a:t>
            </a:fld>
            <a:endParaRPr lang="en-AU"/>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35070" y="217272"/>
            <a:ext cx="2037600" cy="762730"/>
          </a:xfrm>
          <a:prstGeom prst="rect">
            <a:avLst/>
          </a:prstGeom>
        </p:spPr>
      </p:pic>
      <p:pic>
        <p:nvPicPr>
          <p:cNvPr id="1026" name="Picture 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34400" y="1378803"/>
            <a:ext cx="10752000" cy="12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6658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8544000" cy="648000"/>
          </a:xfrm>
          <a:prstGeom prst="rect">
            <a:avLst/>
          </a:prstGeom>
        </p:spPr>
        <p:txBody>
          <a:bodyPr vert="horz" lIns="91440" tIns="45720" rIns="91440" bIns="45720" rtlCol="0" anchor="t" anchorCtr="0">
            <a:normAutofit/>
          </a:bodyPr>
          <a:lstStyle/>
          <a:p>
            <a:r>
              <a:rPr lang="en-US"/>
              <a:t>Click to edit Master title style</a:t>
            </a:r>
            <a:endParaRPr lang="en-AU"/>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3"/>
          </p:nvPr>
        </p:nvSpPr>
        <p:spPr>
          <a:xfrm>
            <a:off x="623392" y="6309321"/>
            <a:ext cx="5472608"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AU"/>
              <a:t>OFFICE | FACULTY | DEPARTMENT</a:t>
            </a:r>
          </a:p>
        </p:txBody>
      </p:sp>
      <p:sp>
        <p:nvSpPr>
          <p:cNvPr id="6" name="Slide Number Placeholder 5"/>
          <p:cNvSpPr>
            <a:spLocks noGrp="1"/>
          </p:cNvSpPr>
          <p:nvPr>
            <p:ph type="sldNum" sz="quarter" idx="4"/>
          </p:nvPr>
        </p:nvSpPr>
        <p:spPr>
          <a:xfrm>
            <a:off x="8737600" y="6309321"/>
            <a:ext cx="28448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C42BCC-44E8-4F98-A8FE-EAF16D8C1E6E}" type="slidenum">
              <a:rPr lang="en-AU" smtClean="0"/>
              <a:pPr/>
              <a:t>‹#›</a:t>
            </a:fld>
            <a:endParaRPr lang="en-AU"/>
          </a:p>
        </p:txBody>
      </p:sp>
      <p:pic>
        <p:nvPicPr>
          <p:cNvPr id="7" name="Picture 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635070" y="217272"/>
            <a:ext cx="2037600" cy="762730"/>
          </a:xfrm>
          <a:prstGeom prst="rect">
            <a:avLst/>
          </a:prstGeom>
        </p:spPr>
      </p:pic>
      <p:pic>
        <p:nvPicPr>
          <p:cNvPr id="1026" name="Picture 2"/>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34400" y="1378803"/>
            <a:ext cx="10752000" cy="12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5490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8544000" cy="648000"/>
          </a:xfrm>
          <a:prstGeom prst="rect">
            <a:avLst/>
          </a:prstGeom>
        </p:spPr>
        <p:txBody>
          <a:bodyPr vert="horz" lIns="91440" tIns="45720" rIns="91440" bIns="4572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623392" y="6309321"/>
            <a:ext cx="5472608"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AU"/>
              <a:t>OFFICE | FACULTY | DEPARTMENT</a:t>
            </a:r>
            <a:endParaRPr lang="en-AU" dirty="0"/>
          </a:p>
        </p:txBody>
      </p:sp>
      <p:sp>
        <p:nvSpPr>
          <p:cNvPr id="6" name="Slide Number Placeholder 5"/>
          <p:cNvSpPr>
            <a:spLocks noGrp="1"/>
          </p:cNvSpPr>
          <p:nvPr>
            <p:ph type="sldNum" sz="quarter" idx="4"/>
          </p:nvPr>
        </p:nvSpPr>
        <p:spPr>
          <a:xfrm>
            <a:off x="8737600" y="6309321"/>
            <a:ext cx="28448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C42BCC-44E8-4F98-A8FE-EAF16D8C1E6E}" type="slidenum">
              <a:rPr lang="en-AU" smtClean="0"/>
              <a:pPr/>
              <a:t>‹#›</a:t>
            </a:fld>
            <a:endParaRPr lang="en-AU"/>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35070" y="217272"/>
            <a:ext cx="2037600" cy="762730"/>
          </a:xfrm>
          <a:prstGeom prst="rect">
            <a:avLst/>
          </a:prstGeom>
        </p:spPr>
      </p:pic>
      <p:pic>
        <p:nvPicPr>
          <p:cNvPr id="1026" name="Picture 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34400" y="1378803"/>
            <a:ext cx="10752000" cy="12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30986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hd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userDrawn="1"/>
        </p:nvPicPr>
        <p:blipFill>
          <a:blip r:embed="rId17"/>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GB"/>
              <a:t>Click to edit Master title style</a:t>
            </a:r>
            <a:endParaRPr lang="en-AU"/>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r>
              <a:rPr lang="en-AU"/>
              <a:t>Laws1100 | FoA | Macquarie Law School</a:t>
            </a:r>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D9C42BCC-44E8-4F98-A8FE-EAF16D8C1E6E}" type="slidenum">
              <a:rPr lang="en-AU" smtClean="0"/>
              <a:pPr/>
              <a:t>‹#›</a:t>
            </a:fld>
            <a:endParaRPr lang="en-AU"/>
          </a:p>
        </p:txBody>
      </p:sp>
      <p:pic>
        <p:nvPicPr>
          <p:cNvPr id="1026" name="Picture 2"/>
          <p:cNvPicPr preferRelativeResize="0">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768154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Lst>
  <p:hf hd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15.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image" Target="../media/image17.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4340" y="1713384"/>
            <a:ext cx="11107411" cy="648000"/>
          </a:xfrm>
        </p:spPr>
        <p:txBody>
          <a:bodyPr>
            <a:normAutofit/>
          </a:bodyPr>
          <a:lstStyle/>
          <a:p>
            <a:r>
              <a:rPr lang="en-AU" dirty="0">
                <a:solidFill>
                  <a:schemeClr val="accent5"/>
                </a:solidFill>
              </a:rPr>
              <a:t>Communication and Trauma-Informed Practice</a:t>
            </a:r>
          </a:p>
        </p:txBody>
      </p:sp>
      <p:sp>
        <p:nvSpPr>
          <p:cNvPr id="5" name="Text Placeholder 4">
            <a:extLst>
              <a:ext uri="{FF2B5EF4-FFF2-40B4-BE49-F238E27FC236}">
                <a16:creationId xmlns:a16="http://schemas.microsoft.com/office/drawing/2014/main" id="{F1BE891F-A88D-D745-8354-990D165485D9}"/>
              </a:ext>
            </a:extLst>
          </p:cNvPr>
          <p:cNvSpPr>
            <a:spLocks noGrp="1"/>
          </p:cNvSpPr>
          <p:nvPr>
            <p:ph type="body" sz="quarter" idx="15"/>
          </p:nvPr>
        </p:nvSpPr>
        <p:spPr>
          <a:xfrm>
            <a:off x="624341" y="1056930"/>
            <a:ext cx="8542867" cy="503238"/>
          </a:xfrm>
        </p:spPr>
        <p:txBody>
          <a:bodyPr/>
          <a:lstStyle/>
          <a:p>
            <a:r>
              <a:rPr lang="en-US" dirty="0"/>
              <a:t>LAWS1100/8006</a:t>
            </a: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41CE-C6AB-D393-1CD5-3DFA65916BA8}"/>
              </a:ext>
            </a:extLst>
          </p:cNvPr>
          <p:cNvSpPr>
            <a:spLocks noGrp="1"/>
          </p:cNvSpPr>
          <p:nvPr>
            <p:ph type="title"/>
          </p:nvPr>
        </p:nvSpPr>
        <p:spPr>
          <a:xfrm>
            <a:off x="1174458" y="407836"/>
            <a:ext cx="7979141" cy="648000"/>
          </a:xfrm>
        </p:spPr>
        <p:txBody>
          <a:bodyPr/>
          <a:lstStyle/>
          <a:p>
            <a:r>
              <a:rPr lang="en-AU" dirty="0"/>
              <a:t>Overview</a:t>
            </a:r>
          </a:p>
        </p:txBody>
      </p:sp>
      <p:sp>
        <p:nvSpPr>
          <p:cNvPr id="3" name="Content Placeholder 2">
            <a:extLst>
              <a:ext uri="{FF2B5EF4-FFF2-40B4-BE49-F238E27FC236}">
                <a16:creationId xmlns:a16="http://schemas.microsoft.com/office/drawing/2014/main" id="{118196E5-0CD9-783F-2CB2-4100F11A26A6}"/>
              </a:ext>
            </a:extLst>
          </p:cNvPr>
          <p:cNvSpPr>
            <a:spLocks noGrp="1"/>
          </p:cNvSpPr>
          <p:nvPr>
            <p:ph idx="1"/>
          </p:nvPr>
        </p:nvSpPr>
        <p:spPr>
          <a:xfrm>
            <a:off x="1421284" y="1239901"/>
            <a:ext cx="9157410" cy="4821388"/>
          </a:xfrm>
        </p:spPr>
        <p:txBody>
          <a:bodyPr>
            <a:normAutofit lnSpcReduction="10000"/>
          </a:bodyPr>
          <a:lstStyle/>
          <a:p>
            <a:endParaRPr lang="en-AU" b="1" dirty="0">
              <a:solidFill>
                <a:schemeClr val="accent5"/>
              </a:solidFill>
            </a:endParaRPr>
          </a:p>
          <a:p>
            <a:endParaRPr lang="en-AU" b="1" dirty="0">
              <a:solidFill>
                <a:schemeClr val="accent5"/>
              </a:solidFill>
            </a:endParaRPr>
          </a:p>
          <a:p>
            <a:r>
              <a:rPr lang="en-AU" b="1" dirty="0">
                <a:solidFill>
                  <a:schemeClr val="accent5"/>
                </a:solidFill>
              </a:rPr>
              <a:t>Communication</a:t>
            </a:r>
          </a:p>
          <a:p>
            <a:pPr marL="285750" indent="-285750">
              <a:buFont typeface="Arial" panose="020B0604020202020204" pitchFamily="34" charset="0"/>
              <a:buChar char="•"/>
            </a:pPr>
            <a:r>
              <a:rPr lang="en-AU" dirty="0"/>
              <a:t>Client Interview</a:t>
            </a:r>
          </a:p>
          <a:p>
            <a:pPr marL="285750" indent="-285750">
              <a:buFont typeface="Arial" panose="020B0604020202020204" pitchFamily="34" charset="0"/>
              <a:buChar char="•"/>
            </a:pPr>
            <a:r>
              <a:rPr lang="en-AU" dirty="0"/>
              <a:t>Rules</a:t>
            </a:r>
          </a:p>
          <a:p>
            <a:pPr marL="285750" indent="-285750">
              <a:buFont typeface="Arial" panose="020B0604020202020204" pitchFamily="34" charset="0"/>
              <a:buChar char="•"/>
            </a:pPr>
            <a:r>
              <a:rPr lang="en-AU" dirty="0"/>
              <a:t>Client-Focused Interviewing</a:t>
            </a:r>
          </a:p>
          <a:p>
            <a:pPr marL="285750" indent="-285750">
              <a:buFont typeface="Arial" panose="020B0604020202020204" pitchFamily="34" charset="0"/>
              <a:buChar char="•"/>
            </a:pPr>
            <a:r>
              <a:rPr lang="en-AU" dirty="0"/>
              <a:t>Building Rapport</a:t>
            </a:r>
          </a:p>
          <a:p>
            <a:pPr marL="285750" indent="-285750">
              <a:buFont typeface="Arial" panose="020B0604020202020204" pitchFamily="34" charset="0"/>
              <a:buChar char="•"/>
            </a:pPr>
            <a:r>
              <a:rPr lang="en-AU" dirty="0"/>
              <a:t>Listening</a:t>
            </a:r>
          </a:p>
          <a:p>
            <a:pPr marL="285750" indent="-285750">
              <a:buFont typeface="Arial" panose="020B0604020202020204" pitchFamily="34" charset="0"/>
              <a:buChar char="•"/>
            </a:pPr>
            <a:r>
              <a:rPr lang="en-AU" dirty="0"/>
              <a:t>Questions</a:t>
            </a:r>
          </a:p>
          <a:p>
            <a:endParaRPr lang="en-AU" dirty="0"/>
          </a:p>
          <a:p>
            <a:r>
              <a:rPr lang="en-AU" b="1" dirty="0">
                <a:solidFill>
                  <a:schemeClr val="accent5"/>
                </a:solidFill>
              </a:rPr>
              <a:t>Trauma-Informed Practice</a:t>
            </a:r>
          </a:p>
          <a:p>
            <a:pPr marL="285750" indent="-285750">
              <a:buFont typeface="Arial" panose="020B0604020202020204" pitchFamily="34" charset="0"/>
              <a:buChar char="•"/>
            </a:pPr>
            <a:r>
              <a:rPr lang="en-AU" dirty="0"/>
              <a:t>Concept</a:t>
            </a:r>
          </a:p>
          <a:p>
            <a:pPr marL="285750" indent="-285750">
              <a:buFont typeface="Arial" panose="020B0604020202020204" pitchFamily="34" charset="0"/>
              <a:buChar char="•"/>
            </a:pPr>
            <a:r>
              <a:rPr lang="en-AU" dirty="0"/>
              <a:t>Effects </a:t>
            </a:r>
          </a:p>
          <a:p>
            <a:pPr marL="285750" indent="-285750">
              <a:buFont typeface="Arial" panose="020B0604020202020204" pitchFamily="34" charset="0"/>
              <a:buChar char="•"/>
            </a:pPr>
            <a:r>
              <a:rPr lang="en-AU" sz="1800" dirty="0"/>
              <a:t>Rules</a:t>
            </a:r>
          </a:p>
          <a:p>
            <a:pPr marL="285750" indent="-285750">
              <a:buFont typeface="Arial" panose="020B0604020202020204" pitchFamily="34" charset="0"/>
              <a:buChar char="•"/>
            </a:pPr>
            <a:r>
              <a:rPr lang="en-AU" dirty="0"/>
              <a:t>Frameworks</a:t>
            </a:r>
            <a:endParaRPr lang="en-AU" sz="1800" dirty="0"/>
          </a:p>
        </p:txBody>
      </p:sp>
      <p:sp>
        <p:nvSpPr>
          <p:cNvPr id="4" name="Footer Placeholder 3">
            <a:extLst>
              <a:ext uri="{FF2B5EF4-FFF2-40B4-BE49-F238E27FC236}">
                <a16:creationId xmlns:a16="http://schemas.microsoft.com/office/drawing/2014/main" id="{66DA74A0-D2CB-5F10-1E85-3B968BF4A2C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6D1177B0-B8CF-95CA-ACEF-9778DB7046BD}"/>
              </a:ext>
            </a:extLst>
          </p:cNvPr>
          <p:cNvSpPr>
            <a:spLocks noGrp="1"/>
          </p:cNvSpPr>
          <p:nvPr>
            <p:ph type="sldNum" sz="quarter" idx="12"/>
          </p:nvPr>
        </p:nvSpPr>
        <p:spPr>
          <a:xfrm>
            <a:off x="7465251" y="5336433"/>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dirty="0">
                <a:solidFill>
                  <a:prstClr val="black">
                    <a:tint val="75000"/>
                  </a:prstClr>
                </a:solidFill>
                <a:latin typeface="Arial"/>
              </a:rPr>
              <a:t>© Kings Counsel Cartoon (edited)</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pic>
        <p:nvPicPr>
          <p:cNvPr id="3076" name="Picture 4" descr="Law Jokes, Lawyer Jokes, Law Cartoons and Law Humour | King's Counsel  Cartoon">
            <a:extLst>
              <a:ext uri="{FF2B5EF4-FFF2-40B4-BE49-F238E27FC236}">
                <a16:creationId xmlns:a16="http://schemas.microsoft.com/office/drawing/2014/main" id="{262542B4-823C-46DF-B955-A4EAA7A819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735"/>
          <a:stretch/>
        </p:blipFill>
        <p:spPr bwMode="auto">
          <a:xfrm>
            <a:off x="5999989" y="2431214"/>
            <a:ext cx="4310062" cy="297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885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6AB0-B145-AF8F-3F7C-F5AED63657F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2CD888A-8F49-2872-25B4-65BDC0B4D47B}"/>
              </a:ext>
            </a:extLst>
          </p:cNvPr>
          <p:cNvSpPr>
            <a:spLocks noGrp="1"/>
          </p:cNvSpPr>
          <p:nvPr>
            <p:ph type="body" sz="quarter" idx="15"/>
          </p:nvPr>
        </p:nvSpPr>
        <p:spPr>
          <a:xfrm>
            <a:off x="1824566" y="1706154"/>
            <a:ext cx="8542867" cy="503238"/>
          </a:xfrm>
        </p:spPr>
        <p:txBody>
          <a:bodyPr>
            <a:normAutofit/>
          </a:bodyPr>
          <a:lstStyle/>
          <a:p>
            <a:pPr algn="ctr"/>
            <a:r>
              <a:rPr lang="en-US" sz="2400" b="1" dirty="0"/>
              <a:t>Communication</a:t>
            </a:r>
          </a:p>
        </p:txBody>
      </p:sp>
    </p:spTree>
    <p:extLst>
      <p:ext uri="{BB962C8B-B14F-4D97-AF65-F5344CB8AC3E}">
        <p14:creationId xmlns:p14="http://schemas.microsoft.com/office/powerpoint/2010/main" val="59270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B049-E66B-13CD-C4A4-FE4AC604D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0979B-4069-04EB-6397-40254B868737}"/>
              </a:ext>
            </a:extLst>
          </p:cNvPr>
          <p:cNvSpPr>
            <a:spLocks noGrp="1"/>
          </p:cNvSpPr>
          <p:nvPr>
            <p:ph type="title"/>
          </p:nvPr>
        </p:nvSpPr>
        <p:spPr>
          <a:xfrm>
            <a:off x="758459" y="649526"/>
            <a:ext cx="7979141" cy="648000"/>
          </a:xfrm>
        </p:spPr>
        <p:txBody>
          <a:bodyPr/>
          <a:lstStyle/>
          <a:p>
            <a:r>
              <a:rPr lang="en-AU" dirty="0"/>
              <a:t>Communication</a:t>
            </a:r>
          </a:p>
        </p:txBody>
      </p:sp>
      <p:sp>
        <p:nvSpPr>
          <p:cNvPr id="3" name="Content Placeholder 2">
            <a:extLst>
              <a:ext uri="{FF2B5EF4-FFF2-40B4-BE49-F238E27FC236}">
                <a16:creationId xmlns:a16="http://schemas.microsoft.com/office/drawing/2014/main" id="{629191F3-E6DF-F1D0-14D3-BEFB1ADF2E4C}"/>
              </a:ext>
            </a:extLst>
          </p:cNvPr>
          <p:cNvSpPr>
            <a:spLocks noGrp="1"/>
          </p:cNvSpPr>
          <p:nvPr>
            <p:ph idx="1"/>
          </p:nvPr>
        </p:nvSpPr>
        <p:spPr>
          <a:xfrm>
            <a:off x="1174458" y="1636777"/>
            <a:ext cx="9991344" cy="4525963"/>
          </a:xfrm>
        </p:spPr>
        <p:txBody>
          <a:bodyPr>
            <a:normAutofit/>
          </a:bodyPr>
          <a:lstStyle/>
          <a:p>
            <a:endParaRPr lang="en-AU" dirty="0"/>
          </a:p>
          <a:p>
            <a:r>
              <a:rPr lang="en-AU" dirty="0"/>
              <a:t>Communication comprises the different types of exchanges you may have with your client, and includes:</a:t>
            </a:r>
          </a:p>
          <a:p>
            <a:pPr marL="1085850" lvl="1" indent="-285750">
              <a:buFont typeface="Arial" panose="020B0604020202020204" pitchFamily="34" charset="0"/>
              <a:buChar char="•"/>
            </a:pPr>
            <a:r>
              <a:rPr lang="en-AU" sz="1800" dirty="0"/>
              <a:t>Written communication</a:t>
            </a:r>
          </a:p>
          <a:p>
            <a:pPr marL="1085850" lvl="1" indent="-285750">
              <a:buFont typeface="Arial" panose="020B0604020202020204" pitchFamily="34" charset="0"/>
              <a:buChar char="•"/>
            </a:pPr>
            <a:r>
              <a:rPr lang="en-AU" sz="1800" dirty="0"/>
              <a:t>Verbal </a:t>
            </a:r>
            <a:r>
              <a:rPr lang="en-AU" sz="1800" dirty="0" err="1"/>
              <a:t>verbal</a:t>
            </a:r>
            <a:r>
              <a:rPr lang="en-AU" sz="1800" dirty="0"/>
              <a:t> communication</a:t>
            </a:r>
          </a:p>
          <a:p>
            <a:pPr marL="1085850" lvl="1" indent="-285750">
              <a:buFont typeface="Arial" panose="020B0604020202020204" pitchFamily="34" charset="0"/>
              <a:buChar char="•"/>
            </a:pPr>
            <a:r>
              <a:rPr lang="en-AU" sz="1800" dirty="0"/>
              <a:t>Non-verbal communication </a:t>
            </a:r>
          </a:p>
          <a:p>
            <a:r>
              <a:rPr lang="en-AU" dirty="0"/>
              <a:t>It captures everything your client tells you – and how you respond to that.</a:t>
            </a:r>
          </a:p>
        </p:txBody>
      </p:sp>
      <p:sp>
        <p:nvSpPr>
          <p:cNvPr id="4" name="Footer Placeholder 3">
            <a:extLst>
              <a:ext uri="{FF2B5EF4-FFF2-40B4-BE49-F238E27FC236}">
                <a16:creationId xmlns:a16="http://schemas.microsoft.com/office/drawing/2014/main" id="{0564D541-ED70-157D-D872-2AAC46E87C8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EBF03E4E-589E-D53B-3FE9-D9E43B9E8D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7C45AEE7-419D-F521-87F5-A9C6C86EF1E8}"/>
              </a:ext>
            </a:extLst>
          </p:cNvPr>
          <p:cNvSpPr/>
          <p:nvPr/>
        </p:nvSpPr>
        <p:spPr>
          <a:xfrm>
            <a:off x="1314275" y="4260181"/>
            <a:ext cx="9563450" cy="1300293"/>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AU" sz="1800" b="0" u="none" strike="noStrike" kern="1200" cap="none" spc="0" normalizeH="0" baseline="0" noProof="0" dirty="0">
                <a:ln>
                  <a:noFill/>
                </a:ln>
                <a:solidFill>
                  <a:prstClr val="black"/>
                </a:solidFill>
                <a:effectLst/>
                <a:uLnTx/>
                <a:uFillTx/>
                <a:latin typeface="Arial"/>
                <a:ea typeface="+mn-ea"/>
                <a:cs typeface="+mn-cs"/>
              </a:rPr>
              <a:t>Whilst generally</a:t>
            </a:r>
            <a:r>
              <a:rPr kumimoji="0" lang="en-AU" sz="1800" b="0" u="none" strike="noStrike" kern="1200" cap="none" spc="0" normalizeH="0" noProof="0" dirty="0">
                <a:ln>
                  <a:noFill/>
                </a:ln>
                <a:solidFill>
                  <a:prstClr val="black"/>
                </a:solidFill>
                <a:effectLst/>
                <a:uLnTx/>
                <a:uFillTx/>
                <a:latin typeface="Arial"/>
                <a:ea typeface="+mn-ea"/>
                <a:cs typeface="+mn-cs"/>
              </a:rPr>
              <a:t> called ‘communication’, this part of the lecture focuses on </a:t>
            </a:r>
          </a:p>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AU" sz="1800" b="0" u="none" strike="noStrike" kern="1200" cap="none" spc="0" normalizeH="0" noProof="0" dirty="0">
                <a:ln>
                  <a:noFill/>
                </a:ln>
                <a:solidFill>
                  <a:prstClr val="black"/>
                </a:solidFill>
                <a:effectLst/>
                <a:uLnTx/>
                <a:uFillTx/>
                <a:latin typeface="Arial"/>
                <a:ea typeface="+mn-ea"/>
                <a:cs typeface="+mn-cs"/>
              </a:rPr>
              <a:t>client-interviewing</a:t>
            </a:r>
            <a:endParaRPr kumimoji="0" lang="en-AU" sz="1800" b="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88224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19A9309-C71D-D628-0ACE-1896461DB970}"/>
              </a:ext>
            </a:extLst>
          </p:cNvPr>
          <p:cNvSpPr>
            <a:spLocks noGrp="1"/>
          </p:cNvSpPr>
          <p:nvPr>
            <p:ph type="body" sz="quarter" idx="15"/>
          </p:nvPr>
        </p:nvSpPr>
        <p:spPr>
          <a:xfrm>
            <a:off x="6319267" y="2925763"/>
            <a:ext cx="5666316" cy="503237"/>
          </a:xfrm>
        </p:spPr>
        <p:txBody>
          <a:bodyPr>
            <a:normAutofit/>
          </a:bodyPr>
          <a:lstStyle/>
          <a:p>
            <a:r>
              <a:rPr lang="en-AU" sz="2400" dirty="0"/>
              <a:t>Client Interview</a:t>
            </a:r>
          </a:p>
        </p:txBody>
      </p:sp>
    </p:spTree>
    <p:extLst>
      <p:ext uri="{BB962C8B-B14F-4D97-AF65-F5344CB8AC3E}">
        <p14:creationId xmlns:p14="http://schemas.microsoft.com/office/powerpoint/2010/main" val="351276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EA37-7060-3220-BB28-8FE8EAF22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1C9E1-A531-1A75-7C3D-D858D4D3ACBD}"/>
              </a:ext>
            </a:extLst>
          </p:cNvPr>
          <p:cNvSpPr>
            <a:spLocks noGrp="1"/>
          </p:cNvSpPr>
          <p:nvPr>
            <p:ph type="title"/>
          </p:nvPr>
        </p:nvSpPr>
        <p:spPr>
          <a:xfrm>
            <a:off x="1174458" y="407836"/>
            <a:ext cx="7979141" cy="648000"/>
          </a:xfrm>
        </p:spPr>
        <p:txBody>
          <a:bodyPr/>
          <a:lstStyle/>
          <a:p>
            <a:r>
              <a:rPr lang="en-AU" dirty="0"/>
              <a:t>Client Interview</a:t>
            </a:r>
          </a:p>
        </p:txBody>
      </p:sp>
      <p:sp>
        <p:nvSpPr>
          <p:cNvPr id="3" name="Content Placeholder 2">
            <a:extLst>
              <a:ext uri="{FF2B5EF4-FFF2-40B4-BE49-F238E27FC236}">
                <a16:creationId xmlns:a16="http://schemas.microsoft.com/office/drawing/2014/main" id="{988072EE-7647-5FB1-1505-1111145331FB}"/>
              </a:ext>
            </a:extLst>
          </p:cNvPr>
          <p:cNvSpPr>
            <a:spLocks noGrp="1"/>
          </p:cNvSpPr>
          <p:nvPr>
            <p:ph idx="1"/>
          </p:nvPr>
        </p:nvSpPr>
        <p:spPr>
          <a:xfrm>
            <a:off x="1174458" y="1636777"/>
            <a:ext cx="9991344" cy="4525963"/>
          </a:xfrm>
        </p:spPr>
        <p:txBody>
          <a:bodyPr>
            <a:normAutofit/>
          </a:bodyPr>
          <a:lstStyle/>
          <a:p>
            <a:endParaRPr lang="en-AU" dirty="0"/>
          </a:p>
          <a:p>
            <a:r>
              <a:rPr lang="en-AU" b="1" dirty="0">
                <a:solidFill>
                  <a:schemeClr val="accent5"/>
                </a:solidFill>
              </a:rPr>
              <a:t>Client Interview</a:t>
            </a:r>
          </a:p>
          <a:p>
            <a:r>
              <a:rPr lang="en-AU" dirty="0"/>
              <a:t>The initial conversation a lawyer and their client have about the client’s issue</a:t>
            </a:r>
          </a:p>
          <a:p>
            <a:pPr marL="1085850" lvl="1" indent="-285750">
              <a:buFont typeface="Wingdings" panose="05000000000000000000" pitchFamily="2" charset="2"/>
              <a:buChar char="Ø"/>
            </a:pPr>
            <a:r>
              <a:rPr lang="en-AU" sz="1800" dirty="0"/>
              <a:t> Client interviews are part of the solicitor’s job (barristers are briefed by solicitors)</a:t>
            </a:r>
          </a:p>
          <a:p>
            <a:endParaRPr lang="en-AU" dirty="0"/>
          </a:p>
          <a:p>
            <a:r>
              <a:rPr lang="en-AU" dirty="0"/>
              <a:t>A client interview is:</a:t>
            </a:r>
          </a:p>
          <a:p>
            <a:pPr lvl="1">
              <a:buFont typeface="Arial" panose="020B0604020202020204" pitchFamily="34" charset="0"/>
              <a:buChar char="•"/>
            </a:pPr>
            <a:r>
              <a:rPr lang="en-AU" sz="1800" dirty="0"/>
              <a:t>A meeting between lawyer and potential client</a:t>
            </a:r>
          </a:p>
          <a:p>
            <a:pPr lvl="1">
              <a:buFont typeface="Arial" panose="020B0604020202020204" pitchFamily="34" charset="0"/>
              <a:buChar char="•"/>
            </a:pPr>
            <a:r>
              <a:rPr lang="en-AU" sz="1800" dirty="0"/>
              <a:t>An initial exploration of the case</a:t>
            </a:r>
          </a:p>
          <a:p>
            <a:pPr lvl="1">
              <a:buFont typeface="Arial" panose="020B0604020202020204" pitchFamily="34" charset="0"/>
              <a:buChar char="•"/>
            </a:pPr>
            <a:r>
              <a:rPr lang="en-AU" sz="1800" dirty="0"/>
              <a:t>30-60 minutes (less time today)</a:t>
            </a:r>
          </a:p>
          <a:p>
            <a:pPr lvl="1">
              <a:buFont typeface="Arial" panose="020B0604020202020204" pitchFamily="34" charset="0"/>
              <a:buChar char="•"/>
            </a:pPr>
            <a:r>
              <a:rPr lang="en-AU" sz="1800" dirty="0"/>
              <a:t>Usually free (but culminates in option retainer)</a:t>
            </a:r>
          </a:p>
        </p:txBody>
      </p:sp>
      <p:sp>
        <p:nvSpPr>
          <p:cNvPr id="4" name="Footer Placeholder 3">
            <a:extLst>
              <a:ext uri="{FF2B5EF4-FFF2-40B4-BE49-F238E27FC236}">
                <a16:creationId xmlns:a16="http://schemas.microsoft.com/office/drawing/2014/main" id="{27C5A25A-0DA8-1F07-4CCB-441AC637BBB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9C811A9F-1B8C-1503-6B11-F3568461CA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1476091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98848" y="666740"/>
            <a:ext cx="8544000" cy="648000"/>
          </a:xfrm>
        </p:spPr>
        <p:txBody>
          <a:bodyPr>
            <a:normAutofit fontScale="90000"/>
          </a:bodyPr>
          <a:lstStyle/>
          <a:p>
            <a:pPr eaLnBrk="1" hangingPunct="1"/>
            <a:r>
              <a:rPr lang="en-US" sz="4000" dirty="0"/>
              <a:t>Client Interview</a:t>
            </a:r>
          </a:p>
        </p:txBody>
      </p:sp>
      <p:sp>
        <p:nvSpPr>
          <p:cNvPr id="4099" name="Rectangle 3"/>
          <p:cNvSpPr>
            <a:spLocks noGrp="1" noChangeArrowheads="1"/>
          </p:cNvSpPr>
          <p:nvPr>
            <p:ph sz="quarter" idx="1"/>
          </p:nvPr>
        </p:nvSpPr>
        <p:spPr>
          <a:xfrm>
            <a:off x="898848" y="1566401"/>
            <a:ext cx="10577805" cy="4896740"/>
          </a:xfrm>
        </p:spPr>
        <p:txBody>
          <a:bodyPr>
            <a:noAutofit/>
          </a:bodyPr>
          <a:lstStyle/>
          <a:p>
            <a:pPr marL="0" indent="0">
              <a:lnSpc>
                <a:spcPct val="90000"/>
              </a:lnSpc>
              <a:buNone/>
            </a:pPr>
            <a:endParaRPr lang="en-AU" b="1" dirty="0">
              <a:cs typeface="Times New Roman" panose="02020603050405020304" pitchFamily="18" charset="0"/>
            </a:endParaRPr>
          </a:p>
          <a:p>
            <a:pPr marL="0" indent="0">
              <a:lnSpc>
                <a:spcPct val="90000"/>
              </a:lnSpc>
              <a:buNone/>
            </a:pPr>
            <a:endParaRPr lang="en-AU" dirty="0">
              <a:cs typeface="Times New Roman" panose="02020603050405020304" pitchFamily="18" charset="0"/>
            </a:endParaRPr>
          </a:p>
          <a:p>
            <a:pPr marL="0" indent="0">
              <a:lnSpc>
                <a:spcPct val="90000"/>
              </a:lnSpc>
              <a:buNone/>
            </a:pPr>
            <a:r>
              <a:rPr lang="en-AU" b="1" dirty="0">
                <a:cs typeface="Times New Roman" panose="02020603050405020304" pitchFamily="18" charset="0"/>
              </a:rPr>
              <a:t> </a:t>
            </a:r>
            <a:endParaRPr lang="en-US" dirty="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4D36D410-B38B-B24C-5F87-3FC8D3F315FD}"/>
              </a:ext>
            </a:extLst>
          </p:cNvPr>
          <p:cNvSpPr/>
          <p:nvPr/>
        </p:nvSpPr>
        <p:spPr>
          <a:xfrm>
            <a:off x="1082181" y="1780897"/>
            <a:ext cx="10142290" cy="4762516"/>
          </a:xfrm>
          <a:prstGeom prst="roundRect">
            <a:avLst/>
          </a:prstGeom>
          <a:ln w="57150"/>
        </p:spPr>
        <p:style>
          <a:lnRef idx="2">
            <a:schemeClr val="accent5"/>
          </a:lnRef>
          <a:fillRef idx="1">
            <a:schemeClr val="lt1"/>
          </a:fillRef>
          <a:effectRef idx="0">
            <a:schemeClr val="accent5"/>
          </a:effectRef>
          <a:fontRef idx="minor">
            <a:schemeClr val="dk1"/>
          </a:fontRef>
        </p:style>
        <p:txBody>
          <a:bodyPr rtlCol="0" anchor="ctr"/>
          <a:lstStyle/>
          <a:p>
            <a:pPr marL="0" marR="0" lvl="0" indent="0" algn="l" defTabSz="914400" rtl="0" eaLnBrk="1" fontAlgn="auto" latinLnBrk="0" hangingPunct="1">
              <a:lnSpc>
                <a:spcPct val="90000"/>
              </a:lnSpc>
              <a:spcBef>
                <a:spcPts val="0"/>
              </a:spcBef>
              <a:spcAft>
                <a:spcPts val="0"/>
              </a:spcAft>
              <a:buClrTx/>
              <a:buSzTx/>
              <a:buFont typeface="Wingdings" panose="05000000000000000000" pitchFamily="2" charset="2"/>
              <a:buChar char="v"/>
              <a:tabLst/>
              <a:defRPr/>
            </a:pPr>
            <a:r>
              <a:rPr kumimoji="0" lang="en-AU" sz="1800" b="0" i="1"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Roberts v Cashman </a:t>
            </a: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[2000] NSWSC 770</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Facts: The client’s banana chair broke and she got injured. She had Depo Medrol injections, which made things worse. The client joined a class action against Depo Medrol and filled out the law firm’s questionnaire. She never had a conference [client interview], or was asked about the original injury. When she found out she should have sued the chair’s manufacturer, her claim was time-barred.</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NSW SC: duty of care breached, because:</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Firm had expertise in personal injury and product liability</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Inherent in Depo Medrol claim was assessment of original injury [for causation]</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Detailed information should have been obtained to be able to build a case [incl for damages]</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Lawyer should have obtained medical records (personal attendance or fees not uncommon)</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Questionnaire should have put on notice that conference was called for: problems for 3 years, significant operations and could not work (if not alarm bells, at least alert)</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There is no different standard of conduct in class actions or mass tort litigation</a:t>
            </a:r>
          </a:p>
          <a:p>
            <a:pPr marL="457200" marR="0" lvl="1" indent="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Not impracticable or uneconomic to have a conference (client lived in Sydney)</a:t>
            </a:r>
          </a:p>
        </p:txBody>
      </p:sp>
    </p:spTree>
    <p:extLst>
      <p:ext uri="{BB962C8B-B14F-4D97-AF65-F5344CB8AC3E}">
        <p14:creationId xmlns:p14="http://schemas.microsoft.com/office/powerpoint/2010/main" val="3708349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69658" y="595684"/>
            <a:ext cx="8544000" cy="648000"/>
          </a:xfrm>
        </p:spPr>
        <p:txBody>
          <a:bodyPr>
            <a:normAutofit fontScale="90000"/>
          </a:bodyPr>
          <a:lstStyle/>
          <a:p>
            <a:pPr eaLnBrk="1" hangingPunct="1"/>
            <a:r>
              <a:rPr lang="en-US" sz="4000" dirty="0"/>
              <a:t>Client Interview</a:t>
            </a:r>
          </a:p>
        </p:txBody>
      </p:sp>
      <p:sp>
        <p:nvSpPr>
          <p:cNvPr id="2" name="Rectangle: Rounded Corners 1">
            <a:extLst>
              <a:ext uri="{FF2B5EF4-FFF2-40B4-BE49-F238E27FC236}">
                <a16:creationId xmlns:a16="http://schemas.microsoft.com/office/drawing/2014/main" id="{69F95284-1379-27E2-79DB-ED051B467206}"/>
              </a:ext>
            </a:extLst>
          </p:cNvPr>
          <p:cNvSpPr/>
          <p:nvPr/>
        </p:nvSpPr>
        <p:spPr>
          <a:xfrm>
            <a:off x="989902" y="1988626"/>
            <a:ext cx="10050011" cy="3866890"/>
          </a:xfrm>
          <a:prstGeom prst="roundRect">
            <a:avLst/>
          </a:prstGeom>
          <a:ln w="57150"/>
        </p:spPr>
        <p:style>
          <a:lnRef idx="2">
            <a:schemeClr val="accent5"/>
          </a:lnRef>
          <a:fillRef idx="1">
            <a:schemeClr val="lt1"/>
          </a:fillRef>
          <a:effectRef idx="0">
            <a:schemeClr val="accent5"/>
          </a:effectRef>
          <a:fontRef idx="minor">
            <a:schemeClr val="dk1"/>
          </a:fontRef>
        </p:style>
        <p:txBody>
          <a:bodyPr rtlCol="0" anchor="ct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AU" sz="1800" b="0" i="1"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Roberts v Cashman </a:t>
            </a: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[2000] NSWSC 770 Cont’d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AU" sz="1800" b="1"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My final reason is that, as Mr Watts said, clients are notoriously unreliable in providing their own history in letter form or any form where the solicitor does not have the opportunity to interact with them. </a:t>
            </a:r>
            <a:r>
              <a:rPr kumimoji="0" lang="en-AU" sz="1800" b="1" i="0" u="none" strike="noStrike" kern="1200" cap="none" spc="0" normalizeH="0" baseline="0" noProof="0" dirty="0">
                <a:ln>
                  <a:noFill/>
                </a:ln>
                <a:solidFill>
                  <a:schemeClr val="accent5"/>
                </a:solidFill>
                <a:effectLst/>
                <a:uLnTx/>
                <a:uFillTx/>
                <a:latin typeface="Arial"/>
                <a:ea typeface="+mn-ea"/>
                <a:cs typeface="Times New Roman" panose="02020603050405020304" pitchFamily="18" charset="0"/>
              </a:rPr>
              <a:t>There is a grave danger that a solicitor will breach the implied duty in his retainer if he does not, in litigation matters, take the opportunity of interviewing the client and drawing out those aspects of the circumstances which may have a bearing upon potential causes of action arising out of all of the circumstances.</a:t>
            </a: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 The lay client is simply not in a position to provide information at this depth and level by filling in a pre-planned questionnaire. Such a document may be a useful tool in getting an over view [sic] of a potential claim or claims but is not of itself a sufficient discharge of the solicitor’s obligation in a case such as the present. As Mr O’Halloran said, </a:t>
            </a:r>
            <a:r>
              <a:rPr kumimoji="0" lang="en-AU" sz="1800" b="1" i="0" u="none" strike="noStrike" kern="1200" cap="none" spc="0" normalizeH="0" baseline="0" noProof="0" dirty="0">
                <a:ln>
                  <a:noFill/>
                </a:ln>
                <a:solidFill>
                  <a:schemeClr val="accent5"/>
                </a:solidFill>
                <a:effectLst/>
                <a:uLnTx/>
                <a:uFillTx/>
                <a:latin typeface="Arial"/>
                <a:ea typeface="+mn-ea"/>
                <a:cs typeface="Times New Roman" panose="02020603050405020304" pitchFamily="18" charset="0"/>
              </a:rPr>
              <a:t>a solicitor who does not interview his client in such a situation does so at his own peril.</a:t>
            </a:r>
            <a:r>
              <a:rPr kumimoji="0" lang="en-AU" sz="1800" b="0" i="0" u="none" strike="noStrike" kern="1200" cap="none" spc="0" normalizeH="0" baseline="0" noProof="0" dirty="0">
                <a:ln>
                  <a:noFill/>
                </a:ln>
                <a:solidFill>
                  <a:prstClr val="black"/>
                </a:solidFill>
                <a:effectLst/>
                <a:uLnTx/>
                <a:uFillTx/>
                <a:latin typeface="Arial"/>
                <a:ea typeface="+mn-ea"/>
                <a:cs typeface="Times New Roman" panose="02020603050405020304" pitchFamily="18" charset="0"/>
              </a:rPr>
              <a:t> [64]</a:t>
            </a:r>
          </a:p>
        </p:txBody>
      </p:sp>
    </p:spTree>
    <p:extLst>
      <p:ext uri="{BB962C8B-B14F-4D97-AF65-F5344CB8AC3E}">
        <p14:creationId xmlns:p14="http://schemas.microsoft.com/office/powerpoint/2010/main" val="1222950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FF5E-3B30-88DA-A0ED-95A8DA27ACB9}"/>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C891DA50-486E-64C8-3E08-6D252063B3D8}"/>
              </a:ext>
            </a:extLst>
          </p:cNvPr>
          <p:cNvSpPr>
            <a:spLocks noGrp="1"/>
          </p:cNvSpPr>
          <p:nvPr>
            <p:ph type="body" sz="quarter" idx="15"/>
          </p:nvPr>
        </p:nvSpPr>
        <p:spPr>
          <a:xfrm>
            <a:off x="6319267" y="2925763"/>
            <a:ext cx="5666316" cy="503237"/>
          </a:xfrm>
        </p:spPr>
        <p:txBody>
          <a:bodyPr>
            <a:normAutofit/>
          </a:bodyPr>
          <a:lstStyle/>
          <a:p>
            <a:r>
              <a:rPr lang="en-AU" sz="2400" dirty="0"/>
              <a:t>Applicable Rules</a:t>
            </a:r>
          </a:p>
        </p:txBody>
      </p:sp>
    </p:spTree>
    <p:extLst>
      <p:ext uri="{BB962C8B-B14F-4D97-AF65-F5344CB8AC3E}">
        <p14:creationId xmlns:p14="http://schemas.microsoft.com/office/powerpoint/2010/main" val="4253228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7376-402C-5208-C725-3ABD5B33F9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0726C-EF4D-93A5-130D-305DCCC237EF}"/>
              </a:ext>
            </a:extLst>
          </p:cNvPr>
          <p:cNvSpPr>
            <a:spLocks noGrp="1"/>
          </p:cNvSpPr>
          <p:nvPr>
            <p:ph sz="quarter" idx="16"/>
          </p:nvPr>
        </p:nvSpPr>
        <p:spPr>
          <a:xfrm>
            <a:off x="941832" y="1604964"/>
            <a:ext cx="10655386" cy="4524375"/>
          </a:xfrm>
        </p:spPr>
        <p:txBody>
          <a:bodyPr>
            <a:normAutofit/>
          </a:bodyPr>
          <a:lstStyle/>
          <a:p>
            <a:pPr marL="0" lvl="0" indent="0">
              <a:lnSpc>
                <a:spcPct val="150000"/>
              </a:lnSpc>
              <a:buNone/>
            </a:pPr>
            <a:r>
              <a:rPr lang="en-AU" b="1" dirty="0">
                <a:solidFill>
                  <a:schemeClr val="accent5"/>
                </a:solidFill>
              </a:rPr>
              <a:t>Duties owed to the Court </a:t>
            </a:r>
          </a:p>
          <a:p>
            <a:pPr marL="0" lvl="0" indent="0">
              <a:lnSpc>
                <a:spcPct val="150000"/>
              </a:lnSpc>
              <a:buNone/>
            </a:pPr>
            <a:r>
              <a:rPr lang="en-AU" dirty="0"/>
              <a:t>Consider:</a:t>
            </a:r>
          </a:p>
          <a:p>
            <a:pPr lvl="1">
              <a:lnSpc>
                <a:spcPct val="150000"/>
              </a:lnSpc>
              <a:buFont typeface="Wingdings" panose="05000000000000000000" pitchFamily="2" charset="2"/>
              <a:buChar char="Ø"/>
            </a:pPr>
            <a:r>
              <a:rPr lang="en-AU" sz="1800" dirty="0"/>
              <a:t>Duty to the court and the administration of justice is paramount (r 3.1 ASCR)</a:t>
            </a:r>
          </a:p>
          <a:p>
            <a:pPr lvl="2">
              <a:lnSpc>
                <a:spcPct val="150000"/>
              </a:lnSpc>
              <a:buFont typeface="Arial" panose="020B0604020202020204" pitchFamily="34" charset="0"/>
              <a:buChar char="•"/>
            </a:pPr>
            <a:r>
              <a:rPr lang="en-AU" sz="1800" dirty="0"/>
              <a:t>What do you do if a client asks you to institute proceedings that are frivolous or vexatious?</a:t>
            </a:r>
          </a:p>
          <a:p>
            <a:pPr lvl="2">
              <a:lnSpc>
                <a:spcPct val="150000"/>
              </a:lnSpc>
              <a:buFont typeface="Arial" panose="020B0604020202020204" pitchFamily="34" charset="0"/>
              <a:buChar char="•"/>
            </a:pPr>
            <a:r>
              <a:rPr lang="en-AU" sz="1800" dirty="0"/>
              <a:t>What do you do it a client asks you to misrepresent facts to the court?</a:t>
            </a:r>
          </a:p>
          <a:p>
            <a:pPr lvl="2">
              <a:lnSpc>
                <a:spcPct val="150000"/>
              </a:lnSpc>
              <a:buFont typeface="Arial" panose="020B0604020202020204" pitchFamily="34" charset="0"/>
              <a:buChar char="•"/>
            </a:pPr>
            <a:r>
              <a:rPr lang="en-AU" sz="1800" dirty="0"/>
              <a:t>What do you do if a client instructs you to make unfounded allegations against another party or a witness during a hearing?</a:t>
            </a:r>
          </a:p>
          <a:p>
            <a:pPr lvl="2">
              <a:lnSpc>
                <a:spcPct val="150000"/>
              </a:lnSpc>
              <a:buFont typeface="Arial" panose="020B0604020202020204" pitchFamily="34" charset="0"/>
              <a:buChar char="•"/>
            </a:pPr>
            <a:r>
              <a:rPr lang="en-AU" sz="1800" dirty="0"/>
              <a:t>What do you do if a client asks you to drown the other party in an endless sea of court documents?</a:t>
            </a:r>
          </a:p>
          <a:p>
            <a:endParaRPr lang="en-US" dirty="0"/>
          </a:p>
        </p:txBody>
      </p:sp>
      <p:sp>
        <p:nvSpPr>
          <p:cNvPr id="3" name="Title 2">
            <a:extLst>
              <a:ext uri="{FF2B5EF4-FFF2-40B4-BE49-F238E27FC236}">
                <a16:creationId xmlns:a16="http://schemas.microsoft.com/office/drawing/2014/main" id="{04DE2178-DAF8-3F55-653B-2BADB63B35A6}"/>
              </a:ext>
            </a:extLst>
          </p:cNvPr>
          <p:cNvSpPr>
            <a:spLocks noGrp="1"/>
          </p:cNvSpPr>
          <p:nvPr>
            <p:ph type="title"/>
          </p:nvPr>
        </p:nvSpPr>
        <p:spPr>
          <a:xfrm>
            <a:off x="627117" y="588963"/>
            <a:ext cx="9532883" cy="648000"/>
          </a:xfrm>
        </p:spPr>
        <p:txBody>
          <a:bodyPr>
            <a:normAutofit/>
          </a:bodyPr>
          <a:lstStyle/>
          <a:p>
            <a:r>
              <a:rPr lang="en-US" dirty="0"/>
              <a:t>Rules</a:t>
            </a:r>
          </a:p>
        </p:txBody>
      </p:sp>
      <p:sp>
        <p:nvSpPr>
          <p:cNvPr id="4" name="Footer Placeholder 3">
            <a:extLst>
              <a:ext uri="{FF2B5EF4-FFF2-40B4-BE49-F238E27FC236}">
                <a16:creationId xmlns:a16="http://schemas.microsoft.com/office/drawing/2014/main" id="{60699B9F-9D05-D9C1-A493-7393CE31369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134C806E-3AD2-E788-DC05-F180D93467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1699763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6"/>
          </p:nvPr>
        </p:nvSpPr>
        <p:spPr>
          <a:xfrm>
            <a:off x="1190625" y="1746504"/>
            <a:ext cx="10406593" cy="4382835"/>
          </a:xfrm>
        </p:spPr>
        <p:txBody>
          <a:bodyPr>
            <a:normAutofit/>
          </a:bodyPr>
          <a:lstStyle/>
          <a:p>
            <a:pPr marL="0" lvl="0" indent="0">
              <a:lnSpc>
                <a:spcPct val="150000"/>
              </a:lnSpc>
              <a:buNone/>
            </a:pPr>
            <a:r>
              <a:rPr lang="en-AU" b="1" dirty="0">
                <a:solidFill>
                  <a:schemeClr val="accent5"/>
                </a:solidFill>
              </a:rPr>
              <a:t>Duties owed to the Client </a:t>
            </a:r>
          </a:p>
          <a:p>
            <a:pPr marL="0" lvl="0" indent="0">
              <a:lnSpc>
                <a:spcPct val="150000"/>
              </a:lnSpc>
              <a:buNone/>
            </a:pPr>
            <a:r>
              <a:rPr lang="en-AU" dirty="0"/>
              <a:t>These duties include:</a:t>
            </a:r>
          </a:p>
          <a:p>
            <a:pPr lvl="1">
              <a:lnSpc>
                <a:spcPct val="150000"/>
              </a:lnSpc>
              <a:buFont typeface="Wingdings" panose="05000000000000000000" pitchFamily="2" charset="2"/>
              <a:buChar char="Ø"/>
            </a:pPr>
            <a:r>
              <a:rPr lang="en-AU" sz="1800" dirty="0"/>
              <a:t>Duty of representation (including a duty to disclose information about costs) </a:t>
            </a:r>
          </a:p>
          <a:p>
            <a:pPr lvl="1">
              <a:lnSpc>
                <a:spcPct val="150000"/>
              </a:lnSpc>
              <a:buFont typeface="Wingdings" panose="05000000000000000000" pitchFamily="2" charset="2"/>
              <a:buChar char="Ø"/>
            </a:pPr>
            <a:r>
              <a:rPr lang="en-AU" sz="1800" dirty="0"/>
              <a:t>Duty to Inform, advise and act on instructions</a:t>
            </a:r>
          </a:p>
          <a:p>
            <a:pPr lvl="1">
              <a:lnSpc>
                <a:spcPct val="150000"/>
              </a:lnSpc>
              <a:buFont typeface="Wingdings" panose="05000000000000000000" pitchFamily="2" charset="2"/>
              <a:buChar char="Ø"/>
            </a:pPr>
            <a:r>
              <a:rPr lang="en-AU" sz="1800" dirty="0"/>
              <a:t>Duty to continue to act</a:t>
            </a:r>
          </a:p>
          <a:p>
            <a:pPr lvl="1">
              <a:lnSpc>
                <a:spcPct val="150000"/>
              </a:lnSpc>
              <a:buFont typeface="Wingdings" panose="05000000000000000000" pitchFamily="2" charset="2"/>
              <a:buChar char="Ø"/>
            </a:pPr>
            <a:r>
              <a:rPr lang="en-AU" sz="1800" dirty="0"/>
              <a:t>Duty of competence and diligence</a:t>
            </a:r>
          </a:p>
          <a:p>
            <a:pPr lvl="1">
              <a:lnSpc>
                <a:spcPct val="150000"/>
              </a:lnSpc>
              <a:buFont typeface="Wingdings" panose="05000000000000000000" pitchFamily="2" charset="2"/>
              <a:buChar char="Ø"/>
            </a:pPr>
            <a:r>
              <a:rPr lang="en-AU" sz="1800" dirty="0"/>
              <a:t>Duty of loyalty</a:t>
            </a:r>
          </a:p>
          <a:p>
            <a:pPr lvl="1">
              <a:lnSpc>
                <a:spcPct val="150000"/>
              </a:lnSpc>
              <a:buFont typeface="Wingdings" panose="05000000000000000000" pitchFamily="2" charset="2"/>
              <a:buChar char="Ø"/>
            </a:pPr>
            <a:r>
              <a:rPr lang="en-AU" sz="1800" dirty="0"/>
              <a:t>Duty of confidence (confidentiality)</a:t>
            </a:r>
          </a:p>
          <a:p>
            <a:pPr marL="0" indent="0">
              <a:buNone/>
            </a:pPr>
            <a:endParaRPr lang="en-US" dirty="0"/>
          </a:p>
        </p:txBody>
      </p:sp>
      <p:sp>
        <p:nvSpPr>
          <p:cNvPr id="3" name="Title 2"/>
          <p:cNvSpPr>
            <a:spLocks noGrp="1"/>
          </p:cNvSpPr>
          <p:nvPr>
            <p:ph type="title"/>
          </p:nvPr>
        </p:nvSpPr>
        <p:spPr>
          <a:xfrm>
            <a:off x="627117" y="588963"/>
            <a:ext cx="9532883" cy="648000"/>
          </a:xfrm>
        </p:spPr>
        <p:txBody>
          <a:bodyPr>
            <a:normAutofit/>
          </a:bodyPr>
          <a:lstStyle/>
          <a:p>
            <a:r>
              <a:rPr lang="en-US" dirty="0"/>
              <a:t>Rules</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791101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FBB92-4A82-9736-123C-6B92A198AB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B1836D-5E1D-2E0B-0380-CF4E13732C00}"/>
              </a:ext>
            </a:extLst>
          </p:cNvPr>
          <p:cNvSpPr>
            <a:spLocks noGrp="1"/>
          </p:cNvSpPr>
          <p:nvPr>
            <p:ph sz="quarter" idx="16"/>
          </p:nvPr>
        </p:nvSpPr>
        <p:spPr>
          <a:xfrm>
            <a:off x="1876044" y="3596130"/>
            <a:ext cx="8621268" cy="2700339"/>
          </a:xfrm>
        </p:spPr>
        <p:txBody>
          <a:bodyPr>
            <a:normAutofit/>
          </a:bodyPr>
          <a:lstStyle/>
          <a:p>
            <a:pPr marL="0" indent="0">
              <a:buNone/>
            </a:pPr>
            <a:endParaRPr lang="en-US" dirty="0"/>
          </a:p>
          <a:p>
            <a:pPr>
              <a:buFont typeface="Wingdings" panose="05000000000000000000" pitchFamily="2" charset="2"/>
              <a:buChar char="Ø"/>
            </a:pPr>
            <a:r>
              <a:rPr lang="en-US" dirty="0"/>
              <a:t>Confidentiality: be truthful, but don’t scare your client away (and remember imputed knowledge)</a:t>
            </a:r>
          </a:p>
          <a:p>
            <a:pPr>
              <a:buFont typeface="Wingdings" panose="05000000000000000000" pitchFamily="2" charset="2"/>
              <a:buChar char="Ø"/>
            </a:pPr>
            <a:r>
              <a:rPr lang="en-US" dirty="0"/>
              <a:t>Retainer: explain what it is, as well as what it covers</a:t>
            </a:r>
          </a:p>
          <a:p>
            <a:pPr>
              <a:buFont typeface="Wingdings" panose="05000000000000000000" pitchFamily="2" charset="2"/>
              <a:buChar char="Ø"/>
            </a:pPr>
            <a:r>
              <a:rPr lang="en-US" dirty="0"/>
              <a:t>Costs: have a cost structure ready (and tell client to obtain independent advice if too complicated)</a:t>
            </a:r>
          </a:p>
        </p:txBody>
      </p:sp>
      <p:sp>
        <p:nvSpPr>
          <p:cNvPr id="3" name="Title 2">
            <a:extLst>
              <a:ext uri="{FF2B5EF4-FFF2-40B4-BE49-F238E27FC236}">
                <a16:creationId xmlns:a16="http://schemas.microsoft.com/office/drawing/2014/main" id="{F433D5CB-2D31-068A-067F-F77BE2BE9148}"/>
              </a:ext>
            </a:extLst>
          </p:cNvPr>
          <p:cNvSpPr>
            <a:spLocks noGrp="1"/>
          </p:cNvSpPr>
          <p:nvPr>
            <p:ph type="title"/>
          </p:nvPr>
        </p:nvSpPr>
        <p:spPr>
          <a:xfrm>
            <a:off x="627117" y="588963"/>
            <a:ext cx="9532883" cy="648000"/>
          </a:xfrm>
        </p:spPr>
        <p:txBody>
          <a:bodyPr>
            <a:normAutofit/>
          </a:bodyPr>
          <a:lstStyle/>
          <a:p>
            <a:r>
              <a:rPr lang="en-US" dirty="0"/>
              <a:t>Rules</a:t>
            </a:r>
          </a:p>
        </p:txBody>
      </p:sp>
      <p:sp>
        <p:nvSpPr>
          <p:cNvPr id="4" name="Footer Placeholder 3">
            <a:extLst>
              <a:ext uri="{FF2B5EF4-FFF2-40B4-BE49-F238E27FC236}">
                <a16:creationId xmlns:a16="http://schemas.microsoft.com/office/drawing/2014/main" id="{3F794EEC-CA94-9A55-3187-6BC0D8B7093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3DD8A8D2-6542-AC0F-EB0D-763ED509DA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640222E2-B3E7-9E6C-BBE5-3C2D7BC87E89}"/>
              </a:ext>
            </a:extLst>
          </p:cNvPr>
          <p:cNvSpPr/>
          <p:nvPr/>
        </p:nvSpPr>
        <p:spPr>
          <a:xfrm>
            <a:off x="1876044" y="1828800"/>
            <a:ext cx="8439912" cy="1767330"/>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Key duties in an initial interview:</a:t>
            </a:r>
          </a:p>
          <a:p>
            <a:pPr algn="ctr"/>
            <a:endParaRPr lang="en-AU" sz="1200" dirty="0"/>
          </a:p>
          <a:p>
            <a:pPr marL="342900" indent="-342900" algn="ctr">
              <a:buAutoNum type="arabicPeriod"/>
            </a:pPr>
            <a:r>
              <a:rPr lang="en-AU" dirty="0"/>
              <a:t>Explain confidentiality</a:t>
            </a:r>
          </a:p>
          <a:p>
            <a:pPr marL="342900" indent="-342900" algn="ctr">
              <a:buAutoNum type="arabicPeriod"/>
            </a:pPr>
            <a:r>
              <a:rPr lang="en-AU" dirty="0"/>
              <a:t>Establish limits of the retainer</a:t>
            </a:r>
          </a:p>
          <a:p>
            <a:pPr marL="342900" indent="-342900" algn="ctr">
              <a:buAutoNum type="arabicPeriod"/>
            </a:pPr>
            <a:r>
              <a:rPr lang="en-AU" dirty="0"/>
              <a:t>Disclose costs</a:t>
            </a:r>
          </a:p>
        </p:txBody>
      </p:sp>
    </p:spTree>
    <p:extLst>
      <p:ext uri="{BB962C8B-B14F-4D97-AF65-F5344CB8AC3E}">
        <p14:creationId xmlns:p14="http://schemas.microsoft.com/office/powerpoint/2010/main" val="349433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520A-5BD8-5642-40A7-B4323597E785}"/>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9911FFA1-90DB-40E8-BFF4-68E5E90EEF3E}"/>
              </a:ext>
            </a:extLst>
          </p:cNvPr>
          <p:cNvSpPr>
            <a:spLocks noGrp="1"/>
          </p:cNvSpPr>
          <p:nvPr>
            <p:ph type="body" sz="quarter" idx="15"/>
          </p:nvPr>
        </p:nvSpPr>
        <p:spPr>
          <a:xfrm>
            <a:off x="6246115" y="2925763"/>
            <a:ext cx="5666316" cy="503237"/>
          </a:xfrm>
        </p:spPr>
        <p:txBody>
          <a:bodyPr>
            <a:normAutofit/>
          </a:bodyPr>
          <a:lstStyle/>
          <a:p>
            <a:r>
              <a:rPr lang="en-AU" sz="2400" dirty="0"/>
              <a:t>Client-focused interviewing</a:t>
            </a:r>
          </a:p>
        </p:txBody>
      </p:sp>
    </p:spTree>
    <p:extLst>
      <p:ext uri="{BB962C8B-B14F-4D97-AF65-F5344CB8AC3E}">
        <p14:creationId xmlns:p14="http://schemas.microsoft.com/office/powerpoint/2010/main" val="4087398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B077-A978-AAB1-E4AD-C8075948A1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AB38D7-378A-1384-2740-7CF834E5AABA}"/>
              </a:ext>
            </a:extLst>
          </p:cNvPr>
          <p:cNvSpPr>
            <a:spLocks noGrp="1"/>
          </p:cNvSpPr>
          <p:nvPr>
            <p:ph type="title"/>
          </p:nvPr>
        </p:nvSpPr>
        <p:spPr>
          <a:xfrm>
            <a:off x="627117" y="588963"/>
            <a:ext cx="9532883" cy="648000"/>
          </a:xfrm>
        </p:spPr>
        <p:txBody>
          <a:bodyPr>
            <a:normAutofit/>
          </a:bodyPr>
          <a:lstStyle/>
          <a:p>
            <a:r>
              <a:rPr lang="en-US" dirty="0"/>
              <a:t>Client-Focused Interviewing</a:t>
            </a:r>
          </a:p>
        </p:txBody>
      </p:sp>
      <p:sp>
        <p:nvSpPr>
          <p:cNvPr id="4" name="Footer Placeholder 3">
            <a:extLst>
              <a:ext uri="{FF2B5EF4-FFF2-40B4-BE49-F238E27FC236}">
                <a16:creationId xmlns:a16="http://schemas.microsoft.com/office/drawing/2014/main" id="{E7F834A5-4C5D-8859-A319-F5006F264A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567830D9-1F92-B466-673A-4505ED00C5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9" name="Flowchart: Connector 8">
            <a:extLst>
              <a:ext uri="{FF2B5EF4-FFF2-40B4-BE49-F238E27FC236}">
                <a16:creationId xmlns:a16="http://schemas.microsoft.com/office/drawing/2014/main" id="{1440CEED-37F9-DBAD-45F9-4385C4E19267}"/>
              </a:ext>
            </a:extLst>
          </p:cNvPr>
          <p:cNvSpPr/>
          <p:nvPr/>
        </p:nvSpPr>
        <p:spPr>
          <a:xfrm>
            <a:off x="822960" y="1551788"/>
            <a:ext cx="2160000" cy="2160000"/>
          </a:xfrm>
          <a:prstGeom prst="flowChartConnector">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AU" dirty="0"/>
              <a:t>Getting to know client</a:t>
            </a:r>
          </a:p>
        </p:txBody>
      </p:sp>
      <p:sp>
        <p:nvSpPr>
          <p:cNvPr id="10" name="Flowchart: Connector 9">
            <a:extLst>
              <a:ext uri="{FF2B5EF4-FFF2-40B4-BE49-F238E27FC236}">
                <a16:creationId xmlns:a16="http://schemas.microsoft.com/office/drawing/2014/main" id="{999A2836-9EE3-E1A8-C86D-2DAB5F242145}"/>
              </a:ext>
            </a:extLst>
          </p:cNvPr>
          <p:cNvSpPr/>
          <p:nvPr/>
        </p:nvSpPr>
        <p:spPr>
          <a:xfrm>
            <a:off x="1542288" y="3966558"/>
            <a:ext cx="2160000" cy="2160000"/>
          </a:xfrm>
          <a:prstGeom prst="flowChartConnec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dirty="0"/>
              <a:t>Admin matters</a:t>
            </a:r>
          </a:p>
        </p:txBody>
      </p:sp>
      <p:sp>
        <p:nvSpPr>
          <p:cNvPr id="11" name="Flowchart: Connector 10">
            <a:extLst>
              <a:ext uri="{FF2B5EF4-FFF2-40B4-BE49-F238E27FC236}">
                <a16:creationId xmlns:a16="http://schemas.microsoft.com/office/drawing/2014/main" id="{ACC25812-E024-CA43-F065-4C614233D547}"/>
              </a:ext>
            </a:extLst>
          </p:cNvPr>
          <p:cNvSpPr/>
          <p:nvPr/>
        </p:nvSpPr>
        <p:spPr>
          <a:xfrm>
            <a:off x="3373658" y="1521760"/>
            <a:ext cx="2160000" cy="2160000"/>
          </a:xfrm>
          <a:prstGeom prst="flowChartConnector">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AU" dirty="0"/>
              <a:t>Understand client needs</a:t>
            </a:r>
          </a:p>
        </p:txBody>
      </p:sp>
      <p:sp>
        <p:nvSpPr>
          <p:cNvPr id="12" name="Flowchart: Connector 11">
            <a:extLst>
              <a:ext uri="{FF2B5EF4-FFF2-40B4-BE49-F238E27FC236}">
                <a16:creationId xmlns:a16="http://schemas.microsoft.com/office/drawing/2014/main" id="{334009EB-3EE2-3C8C-D695-905503A7C694}"/>
              </a:ext>
            </a:extLst>
          </p:cNvPr>
          <p:cNvSpPr/>
          <p:nvPr/>
        </p:nvSpPr>
        <p:spPr>
          <a:xfrm>
            <a:off x="4139184" y="3951544"/>
            <a:ext cx="2160000" cy="2160000"/>
          </a:xfrm>
          <a:prstGeom prst="flowChartConnector">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AU" dirty="0"/>
              <a:t>Putting the client at ease</a:t>
            </a:r>
          </a:p>
        </p:txBody>
      </p:sp>
      <p:sp>
        <p:nvSpPr>
          <p:cNvPr id="13" name="Flowchart: Connector 12">
            <a:extLst>
              <a:ext uri="{FF2B5EF4-FFF2-40B4-BE49-F238E27FC236}">
                <a16:creationId xmlns:a16="http://schemas.microsoft.com/office/drawing/2014/main" id="{445066B5-8CC8-EC15-CD0F-FF7679C58D41}"/>
              </a:ext>
            </a:extLst>
          </p:cNvPr>
          <p:cNvSpPr/>
          <p:nvPr/>
        </p:nvSpPr>
        <p:spPr>
          <a:xfrm>
            <a:off x="6736080" y="3966558"/>
            <a:ext cx="2160000" cy="2160000"/>
          </a:xfrm>
          <a:prstGeom prst="flowChartConnector">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AU" dirty="0"/>
              <a:t>Obtaining client’s story</a:t>
            </a:r>
          </a:p>
        </p:txBody>
      </p:sp>
      <p:sp>
        <p:nvSpPr>
          <p:cNvPr id="14" name="Flowchart: Connector 13">
            <a:extLst>
              <a:ext uri="{FF2B5EF4-FFF2-40B4-BE49-F238E27FC236}">
                <a16:creationId xmlns:a16="http://schemas.microsoft.com/office/drawing/2014/main" id="{34D8AA9F-3285-6C95-A061-452F6921E6BC}"/>
              </a:ext>
            </a:extLst>
          </p:cNvPr>
          <p:cNvSpPr/>
          <p:nvPr/>
        </p:nvSpPr>
        <p:spPr>
          <a:xfrm>
            <a:off x="9332976" y="3951544"/>
            <a:ext cx="2160000" cy="2160000"/>
          </a:xfrm>
          <a:prstGeom prst="flowChartConnec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dirty="0"/>
              <a:t>Explaining lawyer’s role &amp; going forward</a:t>
            </a:r>
          </a:p>
        </p:txBody>
      </p:sp>
      <p:sp>
        <p:nvSpPr>
          <p:cNvPr id="15" name="Flowchart: Connector 14">
            <a:extLst>
              <a:ext uri="{FF2B5EF4-FFF2-40B4-BE49-F238E27FC236}">
                <a16:creationId xmlns:a16="http://schemas.microsoft.com/office/drawing/2014/main" id="{FC8FA5A2-8010-1F0E-C4EA-31D2CB47010B}"/>
              </a:ext>
            </a:extLst>
          </p:cNvPr>
          <p:cNvSpPr/>
          <p:nvPr/>
        </p:nvSpPr>
        <p:spPr>
          <a:xfrm>
            <a:off x="5924356" y="1551788"/>
            <a:ext cx="2160000" cy="2160000"/>
          </a:xfrm>
          <a:prstGeom prst="flowChartConnec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dirty="0"/>
              <a:t>Identifying legal issues</a:t>
            </a:r>
          </a:p>
        </p:txBody>
      </p:sp>
      <p:sp>
        <p:nvSpPr>
          <p:cNvPr id="16" name="Flowchart: Connector 15">
            <a:extLst>
              <a:ext uri="{FF2B5EF4-FFF2-40B4-BE49-F238E27FC236}">
                <a16:creationId xmlns:a16="http://schemas.microsoft.com/office/drawing/2014/main" id="{396A0A53-0B51-6A7D-1CD8-5DBDC4B013A7}"/>
              </a:ext>
            </a:extLst>
          </p:cNvPr>
          <p:cNvSpPr/>
          <p:nvPr/>
        </p:nvSpPr>
        <p:spPr>
          <a:xfrm>
            <a:off x="8475054" y="1649146"/>
            <a:ext cx="2160000" cy="2160000"/>
          </a:xfrm>
          <a:prstGeom prst="flowChartConnector">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AU" dirty="0"/>
              <a:t>Identify what the client wants/seeks</a:t>
            </a:r>
          </a:p>
        </p:txBody>
      </p:sp>
      <p:sp>
        <p:nvSpPr>
          <p:cNvPr id="17" name="TextBox 16">
            <a:extLst>
              <a:ext uri="{FF2B5EF4-FFF2-40B4-BE49-F238E27FC236}">
                <a16:creationId xmlns:a16="http://schemas.microsoft.com/office/drawing/2014/main" id="{EF070426-B2A3-C479-C056-0160F1A2D1A2}"/>
              </a:ext>
            </a:extLst>
          </p:cNvPr>
          <p:cNvSpPr txBox="1"/>
          <p:nvPr/>
        </p:nvSpPr>
        <p:spPr>
          <a:xfrm>
            <a:off x="9332976" y="6309360"/>
            <a:ext cx="1905000" cy="246221"/>
          </a:xfrm>
          <a:prstGeom prst="rect">
            <a:avLst/>
          </a:prstGeom>
          <a:noFill/>
        </p:spPr>
        <p:txBody>
          <a:bodyPr wrap="square" rtlCol="0">
            <a:spAutoFit/>
          </a:bodyPr>
          <a:lstStyle/>
          <a:p>
            <a:r>
              <a:rPr lang="en-AU" sz="1000" dirty="0"/>
              <a:t>Adapted from Barry (2017)</a:t>
            </a:r>
          </a:p>
        </p:txBody>
      </p:sp>
    </p:spTree>
    <p:extLst>
      <p:ext uri="{BB962C8B-B14F-4D97-AF65-F5344CB8AC3E}">
        <p14:creationId xmlns:p14="http://schemas.microsoft.com/office/powerpoint/2010/main" val="224281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2ED5D-F7E8-4D1C-7C86-6B0B4E4553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829480-55B0-D080-2AE9-53C312D3072E}"/>
              </a:ext>
            </a:extLst>
          </p:cNvPr>
          <p:cNvSpPr>
            <a:spLocks noGrp="1"/>
          </p:cNvSpPr>
          <p:nvPr>
            <p:ph type="title"/>
          </p:nvPr>
        </p:nvSpPr>
        <p:spPr>
          <a:xfrm>
            <a:off x="627117" y="588963"/>
            <a:ext cx="9532883" cy="648000"/>
          </a:xfrm>
        </p:spPr>
        <p:txBody>
          <a:bodyPr>
            <a:normAutofit/>
          </a:bodyPr>
          <a:lstStyle/>
          <a:p>
            <a:r>
              <a:rPr lang="en-US" dirty="0"/>
              <a:t>Client-Focused Interviewing</a:t>
            </a:r>
          </a:p>
        </p:txBody>
      </p:sp>
      <p:sp>
        <p:nvSpPr>
          <p:cNvPr id="4" name="Footer Placeholder 3">
            <a:extLst>
              <a:ext uri="{FF2B5EF4-FFF2-40B4-BE49-F238E27FC236}">
                <a16:creationId xmlns:a16="http://schemas.microsoft.com/office/drawing/2014/main" id="{5AABC45A-CDA9-8526-15B3-D3539E9F409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2C518B57-4576-B8DC-DFF7-76BF6F00A1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CFCF96B4-3256-0498-8DDC-6DF72D83A48D}"/>
              </a:ext>
            </a:extLst>
          </p:cNvPr>
          <p:cNvSpPr/>
          <p:nvPr/>
        </p:nvSpPr>
        <p:spPr>
          <a:xfrm>
            <a:off x="1329558" y="2423830"/>
            <a:ext cx="9532883" cy="2770632"/>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marL="0" indent="0" algn="ctr">
              <a:buNone/>
            </a:pPr>
            <a:r>
              <a:rPr lang="en-US" dirty="0"/>
              <a:t>‘If we begin by asking questions and getting answers, asking more questions and getting more answers, we are setting up a pattern from which neither we nor surely the [client] will be able to extricate himself… We shall be teaching him that in this situation it is up to us to ask the questions and up to him to answer them … he will perceive himself as an object… We are telling him that we are the authority, the boss, and that only we know what is important and relevant for him’ (Shaffer &amp; Elkins, 2005)</a:t>
            </a:r>
          </a:p>
        </p:txBody>
      </p:sp>
    </p:spTree>
    <p:extLst>
      <p:ext uri="{BB962C8B-B14F-4D97-AF65-F5344CB8AC3E}">
        <p14:creationId xmlns:p14="http://schemas.microsoft.com/office/powerpoint/2010/main" val="3679999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79CC-CCE6-C8B2-8F09-75AB7258BA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670919-5AE6-8C7B-AE66-D3E0CA271C59}"/>
              </a:ext>
            </a:extLst>
          </p:cNvPr>
          <p:cNvSpPr>
            <a:spLocks noGrp="1"/>
          </p:cNvSpPr>
          <p:nvPr>
            <p:ph sz="quarter" idx="16"/>
          </p:nvPr>
        </p:nvSpPr>
        <p:spPr>
          <a:xfrm>
            <a:off x="1190625" y="1746504"/>
            <a:ext cx="10406593" cy="4382835"/>
          </a:xfrm>
        </p:spPr>
        <p:txBody>
          <a:bodyPr>
            <a:normAutofit/>
          </a:bodyPr>
          <a:lstStyle/>
          <a:p>
            <a:pPr marL="0" lvl="0" indent="0">
              <a:lnSpc>
                <a:spcPct val="150000"/>
              </a:lnSpc>
              <a:buNone/>
            </a:pPr>
            <a:r>
              <a:rPr lang="en-AU" b="1" dirty="0">
                <a:solidFill>
                  <a:schemeClr val="accent5"/>
                </a:solidFill>
              </a:rPr>
              <a:t>Client-Focused interviewing</a:t>
            </a:r>
          </a:p>
          <a:p>
            <a:pPr marL="0" lvl="0" indent="0">
              <a:lnSpc>
                <a:spcPct val="150000"/>
              </a:lnSpc>
              <a:buNone/>
            </a:pPr>
            <a:r>
              <a:rPr lang="en-AU" dirty="0"/>
              <a:t>A form of interviewing that established the client as an actor and agent (in line with </a:t>
            </a:r>
            <a:r>
              <a:rPr lang="en-AU" dirty="0" err="1"/>
              <a:t>rr</a:t>
            </a:r>
            <a:r>
              <a:rPr lang="en-AU" dirty="0"/>
              <a:t> 7 and 8 ASCR)</a:t>
            </a:r>
          </a:p>
          <a:p>
            <a:pPr lvl="1">
              <a:lnSpc>
                <a:spcPct val="150000"/>
              </a:lnSpc>
              <a:buFont typeface="Wingdings" panose="05000000000000000000" pitchFamily="2" charset="2"/>
              <a:buChar char="Ø"/>
            </a:pPr>
            <a:r>
              <a:rPr lang="en-AU" sz="1800" dirty="0"/>
              <a:t>Moves away from traditional fully lawyer-controlled styles </a:t>
            </a:r>
          </a:p>
          <a:p>
            <a:pPr lvl="1">
              <a:lnSpc>
                <a:spcPct val="150000"/>
              </a:lnSpc>
              <a:buFont typeface="Wingdings" panose="05000000000000000000" pitchFamily="2" charset="2"/>
              <a:buChar char="Ø"/>
            </a:pPr>
            <a:r>
              <a:rPr lang="en-US" sz="1800" dirty="0"/>
              <a:t>The lawyer controls the process, not the content</a:t>
            </a:r>
            <a:endParaRPr lang="en-AU" sz="1800" dirty="0"/>
          </a:p>
          <a:p>
            <a:pPr lvl="2">
              <a:lnSpc>
                <a:spcPct val="150000"/>
              </a:lnSpc>
              <a:buFont typeface="Arial" panose="020B0604020202020204" pitchFamily="34" charset="0"/>
              <a:buChar char="•"/>
            </a:pPr>
            <a:r>
              <a:rPr lang="en-US" sz="1800" dirty="0" err="1"/>
              <a:t>Recognises</a:t>
            </a:r>
            <a:r>
              <a:rPr lang="en-US" sz="1800" dirty="0"/>
              <a:t> clients are well (best?) informed about relevant factual matters </a:t>
            </a:r>
          </a:p>
          <a:p>
            <a:pPr lvl="2">
              <a:lnSpc>
                <a:spcPct val="150000"/>
              </a:lnSpc>
              <a:buFont typeface="Arial" panose="020B0604020202020204" pitchFamily="34" charset="0"/>
              <a:buChar char="•"/>
            </a:pPr>
            <a:r>
              <a:rPr lang="en-US" sz="1800" dirty="0" err="1"/>
              <a:t>Emphasises</a:t>
            </a:r>
            <a:r>
              <a:rPr lang="en-US" sz="1800" dirty="0"/>
              <a:t> respect for client’s own preferences and priorities</a:t>
            </a:r>
          </a:p>
          <a:p>
            <a:pPr lvl="2">
              <a:lnSpc>
                <a:spcPct val="150000"/>
              </a:lnSpc>
              <a:buFont typeface="Arial" panose="020B0604020202020204" pitchFamily="34" charset="0"/>
              <a:buChar char="•"/>
            </a:pPr>
            <a:r>
              <a:rPr lang="en-US" sz="1800" dirty="0" err="1"/>
              <a:t>Recognises</a:t>
            </a:r>
            <a:r>
              <a:rPr lang="en-US" sz="1800" dirty="0"/>
              <a:t> that clients should have the opportunity to make their own decisions</a:t>
            </a:r>
          </a:p>
          <a:p>
            <a:pPr lvl="2">
              <a:lnSpc>
                <a:spcPct val="150000"/>
              </a:lnSpc>
              <a:buFont typeface="Arial" panose="020B0604020202020204" pitchFamily="34" charset="0"/>
              <a:buChar char="•"/>
            </a:pPr>
            <a:r>
              <a:rPr lang="en-US" sz="1800" dirty="0"/>
              <a:t>Makes clients responsible for making decisions (and the consequences of the decisions) </a:t>
            </a:r>
          </a:p>
          <a:p>
            <a:pPr marL="0" indent="0">
              <a:buNone/>
            </a:pPr>
            <a:endParaRPr lang="en-US" dirty="0"/>
          </a:p>
        </p:txBody>
      </p:sp>
      <p:sp>
        <p:nvSpPr>
          <p:cNvPr id="3" name="Title 2">
            <a:extLst>
              <a:ext uri="{FF2B5EF4-FFF2-40B4-BE49-F238E27FC236}">
                <a16:creationId xmlns:a16="http://schemas.microsoft.com/office/drawing/2014/main" id="{0C391972-0FB3-3D7D-4E90-8593F1242459}"/>
              </a:ext>
            </a:extLst>
          </p:cNvPr>
          <p:cNvSpPr>
            <a:spLocks noGrp="1"/>
          </p:cNvSpPr>
          <p:nvPr>
            <p:ph type="title"/>
          </p:nvPr>
        </p:nvSpPr>
        <p:spPr>
          <a:xfrm>
            <a:off x="627117" y="588963"/>
            <a:ext cx="9532883" cy="648000"/>
          </a:xfrm>
        </p:spPr>
        <p:txBody>
          <a:bodyPr>
            <a:normAutofit/>
          </a:bodyPr>
          <a:lstStyle/>
          <a:p>
            <a:r>
              <a:rPr lang="en-US" dirty="0"/>
              <a:t>Client-Focused Interviewing</a:t>
            </a:r>
          </a:p>
        </p:txBody>
      </p:sp>
      <p:sp>
        <p:nvSpPr>
          <p:cNvPr id="4" name="Footer Placeholder 3">
            <a:extLst>
              <a:ext uri="{FF2B5EF4-FFF2-40B4-BE49-F238E27FC236}">
                <a16:creationId xmlns:a16="http://schemas.microsoft.com/office/drawing/2014/main" id="{D33C730A-8C9F-71F3-CA10-59084DA07A9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FC95D0A3-26CC-F7A9-2360-C1ED411A84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2916723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62313-AD17-D564-4216-F31B2E30D8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7F8928-1A8A-2BB5-32A5-A709B847A322}"/>
              </a:ext>
            </a:extLst>
          </p:cNvPr>
          <p:cNvSpPr>
            <a:spLocks noGrp="1"/>
          </p:cNvSpPr>
          <p:nvPr>
            <p:ph type="title"/>
          </p:nvPr>
        </p:nvSpPr>
        <p:spPr>
          <a:xfrm>
            <a:off x="627117" y="588963"/>
            <a:ext cx="9532883" cy="648000"/>
          </a:xfrm>
        </p:spPr>
        <p:txBody>
          <a:bodyPr>
            <a:normAutofit/>
          </a:bodyPr>
          <a:lstStyle/>
          <a:p>
            <a:r>
              <a:rPr lang="en-US" dirty="0"/>
              <a:t>Client-Focused Interviewing</a:t>
            </a:r>
          </a:p>
        </p:txBody>
      </p:sp>
      <p:sp>
        <p:nvSpPr>
          <p:cNvPr id="4" name="Footer Placeholder 3">
            <a:extLst>
              <a:ext uri="{FF2B5EF4-FFF2-40B4-BE49-F238E27FC236}">
                <a16:creationId xmlns:a16="http://schemas.microsoft.com/office/drawing/2014/main" id="{599F5834-8B82-8259-8D9A-050512727B6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61A21820-86BE-F6F5-2D44-B99683FF07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DD045344-C1C0-1DC9-0497-6C5956FFF3D7}"/>
              </a:ext>
            </a:extLst>
          </p:cNvPr>
          <p:cNvSpPr/>
          <p:nvPr/>
        </p:nvSpPr>
        <p:spPr>
          <a:xfrm>
            <a:off x="1329558" y="2423830"/>
            <a:ext cx="9532883" cy="277063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dirty="0"/>
              <a:t>Attention: client-focused interviewing works really well in Western settings, but a client coming from overseas might feel anxious about high levels of agency</a:t>
            </a:r>
          </a:p>
          <a:p>
            <a:pPr marL="0" indent="0" algn="ctr">
              <a:buNone/>
            </a:pPr>
            <a:endParaRPr lang="en-US" dirty="0"/>
          </a:p>
          <a:p>
            <a:pPr marL="0" indent="0" algn="ctr">
              <a:buNone/>
            </a:pPr>
            <a:r>
              <a:rPr lang="en-US" dirty="0"/>
              <a:t>Ultimately, the ASCR suggest that clients take decisions, but adjust your level of scaffolding to the individual client in front of you</a:t>
            </a:r>
          </a:p>
        </p:txBody>
      </p:sp>
    </p:spTree>
    <p:extLst>
      <p:ext uri="{BB962C8B-B14F-4D97-AF65-F5344CB8AC3E}">
        <p14:creationId xmlns:p14="http://schemas.microsoft.com/office/powerpoint/2010/main" val="652509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2423-8773-1DA7-9958-3CDF1AB11F90}"/>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5CC37DBC-49DA-CF27-D752-74F8651A177B}"/>
              </a:ext>
            </a:extLst>
          </p:cNvPr>
          <p:cNvSpPr>
            <a:spLocks noGrp="1"/>
          </p:cNvSpPr>
          <p:nvPr>
            <p:ph type="body" sz="quarter" idx="15"/>
          </p:nvPr>
        </p:nvSpPr>
        <p:spPr>
          <a:xfrm>
            <a:off x="6319267" y="2925763"/>
            <a:ext cx="5666316" cy="503237"/>
          </a:xfrm>
        </p:spPr>
        <p:txBody>
          <a:bodyPr>
            <a:normAutofit/>
          </a:bodyPr>
          <a:lstStyle/>
          <a:p>
            <a:r>
              <a:rPr lang="en-AU" sz="2400" dirty="0"/>
              <a:t>Building rapport</a:t>
            </a:r>
          </a:p>
        </p:txBody>
      </p:sp>
    </p:spTree>
    <p:extLst>
      <p:ext uri="{BB962C8B-B14F-4D97-AF65-F5344CB8AC3E}">
        <p14:creationId xmlns:p14="http://schemas.microsoft.com/office/powerpoint/2010/main" val="1869304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676C-FD07-176A-2B5F-8EBB613673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63EBA6-6262-460B-2201-3BFD70E337B5}"/>
              </a:ext>
            </a:extLst>
          </p:cNvPr>
          <p:cNvSpPr>
            <a:spLocks noGrp="1"/>
          </p:cNvSpPr>
          <p:nvPr>
            <p:ph type="title"/>
          </p:nvPr>
        </p:nvSpPr>
        <p:spPr>
          <a:xfrm>
            <a:off x="627117" y="588963"/>
            <a:ext cx="9532883" cy="648000"/>
          </a:xfrm>
        </p:spPr>
        <p:txBody>
          <a:bodyPr>
            <a:normAutofit/>
          </a:bodyPr>
          <a:lstStyle/>
          <a:p>
            <a:r>
              <a:rPr lang="en-US" dirty="0"/>
              <a:t>Rapport</a:t>
            </a:r>
          </a:p>
        </p:txBody>
      </p:sp>
      <p:sp>
        <p:nvSpPr>
          <p:cNvPr id="4" name="Footer Placeholder 3">
            <a:extLst>
              <a:ext uri="{FF2B5EF4-FFF2-40B4-BE49-F238E27FC236}">
                <a16:creationId xmlns:a16="http://schemas.microsoft.com/office/drawing/2014/main" id="{9783C34A-5424-A8F6-769E-DE035077831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31802275-D9CA-354C-88F5-ED85296AE5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983C1868-9651-2ACB-94C5-EA5A6864B477}"/>
              </a:ext>
            </a:extLst>
          </p:cNvPr>
          <p:cNvSpPr/>
          <p:nvPr/>
        </p:nvSpPr>
        <p:spPr>
          <a:xfrm>
            <a:off x="1780033" y="2395728"/>
            <a:ext cx="8439912" cy="1767330"/>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Rapport (or lack of it) starts from the moment we see another person</a:t>
            </a:r>
          </a:p>
          <a:p>
            <a:pPr algn="ctr"/>
            <a:endParaRPr lang="en-AU" dirty="0"/>
          </a:p>
          <a:p>
            <a:pPr algn="ctr"/>
            <a:r>
              <a:rPr lang="en-AU" dirty="0"/>
              <a:t>Be very mindful of your and their unconscious bias</a:t>
            </a:r>
          </a:p>
        </p:txBody>
      </p:sp>
    </p:spTree>
    <p:extLst>
      <p:ext uri="{BB962C8B-B14F-4D97-AF65-F5344CB8AC3E}">
        <p14:creationId xmlns:p14="http://schemas.microsoft.com/office/powerpoint/2010/main" val="1884023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248A-FA0F-16FA-768E-2A5A877840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152912-4950-6A7E-F435-77190A4CC211}"/>
              </a:ext>
            </a:extLst>
          </p:cNvPr>
          <p:cNvSpPr>
            <a:spLocks noGrp="1"/>
          </p:cNvSpPr>
          <p:nvPr>
            <p:ph sz="quarter" idx="16"/>
          </p:nvPr>
        </p:nvSpPr>
        <p:spPr>
          <a:xfrm>
            <a:off x="1689355" y="3759524"/>
            <a:ext cx="8621268" cy="2700339"/>
          </a:xfrm>
        </p:spPr>
        <p:txBody>
          <a:bodyPr>
            <a:normAutofit/>
          </a:bodyPr>
          <a:lstStyle/>
          <a:p>
            <a:pPr marL="0" indent="0">
              <a:buNone/>
            </a:pPr>
            <a:endParaRPr lang="en-US" dirty="0"/>
          </a:p>
          <a:p>
            <a:pPr marL="0" indent="0">
              <a:buNone/>
            </a:pPr>
            <a:r>
              <a:rPr lang="en-US" dirty="0"/>
              <a:t>Rapport starts with a good environment:</a:t>
            </a:r>
          </a:p>
          <a:p>
            <a:pPr lvl="1">
              <a:buFont typeface="Arial" panose="020B0604020202020204" pitchFamily="34" charset="0"/>
              <a:buChar char="•"/>
            </a:pPr>
            <a:r>
              <a:rPr lang="en-US" sz="1800" dirty="0"/>
              <a:t>Are you rushed? </a:t>
            </a:r>
          </a:p>
          <a:p>
            <a:pPr lvl="1">
              <a:buFont typeface="Arial" panose="020B0604020202020204" pitchFamily="34" charset="0"/>
              <a:buChar char="•"/>
            </a:pPr>
            <a:r>
              <a:rPr lang="en-US" sz="1800" dirty="0"/>
              <a:t>Are phones on the table?</a:t>
            </a:r>
          </a:p>
          <a:p>
            <a:pPr lvl="1">
              <a:buFont typeface="Arial" panose="020B0604020202020204" pitchFamily="34" charset="0"/>
              <a:buChar char="•"/>
            </a:pPr>
            <a:r>
              <a:rPr lang="en-US" sz="1800" dirty="0"/>
              <a:t>Are there business pressures?</a:t>
            </a:r>
          </a:p>
          <a:p>
            <a:pPr lvl="1">
              <a:buFont typeface="Arial" panose="020B0604020202020204" pitchFamily="34" charset="0"/>
              <a:buChar char="•"/>
            </a:pPr>
            <a:r>
              <a:rPr lang="en-US" sz="1800" dirty="0"/>
              <a:t>What is the room set-up?</a:t>
            </a:r>
          </a:p>
          <a:p>
            <a:pPr lvl="1">
              <a:buFont typeface="Arial" panose="020B0604020202020204" pitchFamily="34" charset="0"/>
              <a:buChar char="•"/>
            </a:pPr>
            <a:r>
              <a:rPr lang="en-US" sz="1800" dirty="0"/>
              <a:t>Will you pick up the client from the reception area?</a:t>
            </a:r>
          </a:p>
        </p:txBody>
      </p:sp>
      <p:sp>
        <p:nvSpPr>
          <p:cNvPr id="3" name="Title 2">
            <a:extLst>
              <a:ext uri="{FF2B5EF4-FFF2-40B4-BE49-F238E27FC236}">
                <a16:creationId xmlns:a16="http://schemas.microsoft.com/office/drawing/2014/main" id="{1016F467-F4E1-C999-5AD9-54192A83B50A}"/>
              </a:ext>
            </a:extLst>
          </p:cNvPr>
          <p:cNvSpPr>
            <a:spLocks noGrp="1"/>
          </p:cNvSpPr>
          <p:nvPr>
            <p:ph type="title"/>
          </p:nvPr>
        </p:nvSpPr>
        <p:spPr>
          <a:xfrm>
            <a:off x="627117" y="588963"/>
            <a:ext cx="9532883" cy="648000"/>
          </a:xfrm>
        </p:spPr>
        <p:txBody>
          <a:bodyPr>
            <a:normAutofit/>
          </a:bodyPr>
          <a:lstStyle/>
          <a:p>
            <a:r>
              <a:rPr lang="en-US" dirty="0"/>
              <a:t>Rapport</a:t>
            </a:r>
          </a:p>
        </p:txBody>
      </p:sp>
      <p:sp>
        <p:nvSpPr>
          <p:cNvPr id="4" name="Footer Placeholder 3">
            <a:extLst>
              <a:ext uri="{FF2B5EF4-FFF2-40B4-BE49-F238E27FC236}">
                <a16:creationId xmlns:a16="http://schemas.microsoft.com/office/drawing/2014/main" id="{02B5D6F5-30DF-AA79-CFC2-0DCD1724485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E9DF6A7F-EB1D-69BD-626F-DC7798A031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508A5D14-CB46-9AEE-767C-D02CB5091B4A}"/>
              </a:ext>
            </a:extLst>
          </p:cNvPr>
          <p:cNvSpPr/>
          <p:nvPr/>
        </p:nvSpPr>
        <p:spPr>
          <a:xfrm>
            <a:off x="1344168" y="1797466"/>
            <a:ext cx="9262872" cy="2011680"/>
          </a:xfrm>
          <a:prstGeom prst="round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en-AU" b="0" i="0" dirty="0">
                <a:solidFill>
                  <a:schemeClr val="tx1"/>
                </a:solidFill>
                <a:effectLst/>
              </a:rPr>
              <a:t>‘Building rapport involves establishing a connection with another person, based on mutual trust and respect. When you have a good rapport with someone, you will become more approachable, you can communicate more effectively, there are less chances for miscommunication or misunderstandings, you can collaborate more seamlessly, and resolve conflicts more easily.’ (Association of Corporate Counsel, </a:t>
            </a:r>
            <a:r>
              <a:rPr lang="en-AU" b="0" i="0" dirty="0" err="1">
                <a:solidFill>
                  <a:schemeClr val="tx1"/>
                </a:solidFill>
                <a:effectLst/>
              </a:rPr>
              <a:t>nd</a:t>
            </a:r>
            <a:r>
              <a:rPr lang="en-AU" b="0" i="0" dirty="0">
                <a:solidFill>
                  <a:schemeClr val="tx1"/>
                </a:solidFill>
                <a:effectLst/>
              </a:rPr>
              <a:t>)</a:t>
            </a:r>
            <a:endParaRPr lang="en-AU" dirty="0">
              <a:solidFill>
                <a:schemeClr val="tx1"/>
              </a:solidFill>
            </a:endParaRPr>
          </a:p>
        </p:txBody>
      </p:sp>
    </p:spTree>
    <p:extLst>
      <p:ext uri="{BB962C8B-B14F-4D97-AF65-F5344CB8AC3E}">
        <p14:creationId xmlns:p14="http://schemas.microsoft.com/office/powerpoint/2010/main" val="1970858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0CCC-E05F-3651-DD4B-84EB38355E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2BE11-386E-1F7A-063B-40ECF6E70B56}"/>
              </a:ext>
            </a:extLst>
          </p:cNvPr>
          <p:cNvSpPr>
            <a:spLocks noGrp="1"/>
          </p:cNvSpPr>
          <p:nvPr>
            <p:ph sz="quarter" idx="16"/>
          </p:nvPr>
        </p:nvSpPr>
        <p:spPr>
          <a:xfrm>
            <a:off x="1003555" y="1416096"/>
            <a:ext cx="8621268" cy="5149296"/>
          </a:xfrm>
        </p:spPr>
        <p:txBody>
          <a:bodyPr>
            <a:normAutofit lnSpcReduction="10000"/>
          </a:bodyPr>
          <a:lstStyle/>
          <a:p>
            <a:pPr marL="0" indent="0">
              <a:buNone/>
            </a:pPr>
            <a:endParaRPr lang="en-US" dirty="0"/>
          </a:p>
          <a:p>
            <a:pPr marL="0" indent="0">
              <a:buNone/>
            </a:pPr>
            <a:r>
              <a:rPr lang="en-US" b="1" dirty="0">
                <a:solidFill>
                  <a:schemeClr val="accent5"/>
                </a:solidFill>
              </a:rPr>
              <a:t>Building rapport</a:t>
            </a:r>
          </a:p>
          <a:p>
            <a:pPr marL="0" indent="0">
              <a:buNone/>
            </a:pPr>
            <a:endParaRPr lang="en-US" sz="1800" dirty="0"/>
          </a:p>
          <a:p>
            <a:pPr>
              <a:buFont typeface="Wingdings" panose="05000000000000000000" pitchFamily="2" charset="2"/>
              <a:buChar char="Ø"/>
            </a:pPr>
            <a:r>
              <a:rPr lang="en-US" dirty="0"/>
              <a:t>Small talk/ice-breakers </a:t>
            </a:r>
          </a:p>
          <a:p>
            <a:pPr lvl="1">
              <a:buFont typeface="Arial" panose="020B0604020202020204" pitchFamily="34" charset="0"/>
              <a:buChar char="•"/>
            </a:pPr>
            <a:r>
              <a:rPr lang="en-US" sz="1800" dirty="0"/>
              <a:t>Ask about their day, the weather, traffic etc.</a:t>
            </a:r>
          </a:p>
          <a:p>
            <a:pPr lvl="1">
              <a:buFont typeface="Arial" panose="020B0604020202020204" pitchFamily="34" charset="0"/>
              <a:buChar char="•"/>
            </a:pPr>
            <a:r>
              <a:rPr lang="en-US" sz="1800" dirty="0" err="1"/>
              <a:t>Humour</a:t>
            </a:r>
            <a:r>
              <a:rPr lang="en-US" sz="1800" dirty="0"/>
              <a:t> if appropriate (and you share the same sense)</a:t>
            </a:r>
          </a:p>
          <a:p>
            <a:pPr>
              <a:buFont typeface="Wingdings" panose="05000000000000000000" pitchFamily="2" charset="2"/>
              <a:buChar char="Ø"/>
            </a:pPr>
            <a:r>
              <a:rPr lang="en-US" sz="1800" dirty="0"/>
              <a:t>Physical comfort</a:t>
            </a:r>
          </a:p>
          <a:p>
            <a:pPr lvl="1">
              <a:buFont typeface="Arial" panose="020B0604020202020204" pitchFamily="34" charset="0"/>
              <a:buChar char="•"/>
            </a:pPr>
            <a:r>
              <a:rPr lang="en-US" sz="1800" dirty="0"/>
              <a:t>Attend to client’s physical needs</a:t>
            </a:r>
          </a:p>
          <a:p>
            <a:pPr lvl="1">
              <a:buFont typeface="Arial" panose="020B0604020202020204" pitchFamily="34" charset="0"/>
              <a:buChar char="•"/>
            </a:pPr>
            <a:r>
              <a:rPr lang="en-US" sz="1800" dirty="0"/>
              <a:t>Water, toilet, tissues, but also accommodation for disability</a:t>
            </a:r>
          </a:p>
          <a:p>
            <a:pPr>
              <a:buFont typeface="Wingdings" panose="05000000000000000000" pitchFamily="2" charset="2"/>
              <a:buChar char="Ø"/>
            </a:pPr>
            <a:r>
              <a:rPr lang="en-US" dirty="0"/>
              <a:t>Emotional comfort</a:t>
            </a:r>
          </a:p>
          <a:p>
            <a:pPr lvl="1">
              <a:buFont typeface="Arial" panose="020B0604020202020204" pitchFamily="34" charset="0"/>
              <a:buChar char="•"/>
            </a:pPr>
            <a:r>
              <a:rPr lang="en-US" sz="1800" dirty="0"/>
              <a:t>Attend to client’s emotional needs (without becoming a counsellor!)</a:t>
            </a:r>
          </a:p>
          <a:p>
            <a:pPr>
              <a:buFont typeface="Wingdings" panose="05000000000000000000" pitchFamily="2" charset="2"/>
              <a:buChar char="Ø"/>
            </a:pPr>
            <a:r>
              <a:rPr lang="en-US" sz="1800" dirty="0"/>
              <a:t>Ensure privacy</a:t>
            </a:r>
          </a:p>
          <a:p>
            <a:pPr lvl="1">
              <a:buFont typeface="Arial" panose="020B0604020202020204" pitchFamily="34" charset="0"/>
              <a:buChar char="•"/>
            </a:pPr>
            <a:r>
              <a:rPr lang="en-US" sz="1800" dirty="0"/>
              <a:t>Consider both information and client being seen</a:t>
            </a:r>
          </a:p>
          <a:p>
            <a:pPr>
              <a:buFont typeface="Wingdings" panose="05000000000000000000" pitchFamily="2" charset="2"/>
              <a:buChar char="Ø"/>
            </a:pPr>
            <a:r>
              <a:rPr lang="en-US" dirty="0"/>
              <a:t>Ensure appropriate non-verbal communication</a:t>
            </a:r>
          </a:p>
          <a:p>
            <a:pPr lvl="1">
              <a:buFont typeface="Arial" panose="020B0604020202020204" pitchFamily="34" charset="0"/>
              <a:buChar char="•"/>
            </a:pPr>
            <a:r>
              <a:rPr lang="en-US" sz="1800" dirty="0"/>
              <a:t>Posture, body language, eye contact</a:t>
            </a:r>
          </a:p>
          <a:p>
            <a:pPr lvl="1">
              <a:buFont typeface="Arial" panose="020B0604020202020204" pitchFamily="34" charset="0"/>
              <a:buChar char="•"/>
            </a:pPr>
            <a:r>
              <a:rPr lang="en-US" sz="1800" dirty="0"/>
              <a:t>Appropriate for your and your client’s cultural background</a:t>
            </a:r>
          </a:p>
          <a:p>
            <a:pPr marL="0" indent="0">
              <a:buNone/>
            </a:pPr>
            <a:endParaRPr lang="en-US" dirty="0"/>
          </a:p>
          <a:p>
            <a:pPr marL="0" indent="0">
              <a:buNone/>
            </a:pPr>
            <a:endParaRPr lang="en-US" sz="1800" dirty="0"/>
          </a:p>
        </p:txBody>
      </p:sp>
      <p:sp>
        <p:nvSpPr>
          <p:cNvPr id="3" name="Title 2">
            <a:extLst>
              <a:ext uri="{FF2B5EF4-FFF2-40B4-BE49-F238E27FC236}">
                <a16:creationId xmlns:a16="http://schemas.microsoft.com/office/drawing/2014/main" id="{AFCCBCBE-C371-BD61-5B6E-86A0B84F7DEB}"/>
              </a:ext>
            </a:extLst>
          </p:cNvPr>
          <p:cNvSpPr>
            <a:spLocks noGrp="1"/>
          </p:cNvSpPr>
          <p:nvPr>
            <p:ph type="title"/>
          </p:nvPr>
        </p:nvSpPr>
        <p:spPr>
          <a:xfrm>
            <a:off x="627117" y="588963"/>
            <a:ext cx="9532883" cy="648000"/>
          </a:xfrm>
        </p:spPr>
        <p:txBody>
          <a:bodyPr>
            <a:normAutofit/>
          </a:bodyPr>
          <a:lstStyle/>
          <a:p>
            <a:r>
              <a:rPr lang="en-US" dirty="0"/>
              <a:t>Rapport</a:t>
            </a:r>
          </a:p>
        </p:txBody>
      </p:sp>
      <p:sp>
        <p:nvSpPr>
          <p:cNvPr id="4" name="Footer Placeholder 3">
            <a:extLst>
              <a:ext uri="{FF2B5EF4-FFF2-40B4-BE49-F238E27FC236}">
                <a16:creationId xmlns:a16="http://schemas.microsoft.com/office/drawing/2014/main" id="{941F422B-00AB-BD07-C047-A447CF538D9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CA00B08C-6A20-81B6-8A17-FCCD46D61A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18" name="Flowchart: Connector 17">
            <a:extLst>
              <a:ext uri="{FF2B5EF4-FFF2-40B4-BE49-F238E27FC236}">
                <a16:creationId xmlns:a16="http://schemas.microsoft.com/office/drawing/2014/main" id="{F022E2C8-0BAF-E568-5E0C-F076CEEA01D8}"/>
              </a:ext>
            </a:extLst>
          </p:cNvPr>
          <p:cNvSpPr/>
          <p:nvPr/>
        </p:nvSpPr>
        <p:spPr>
          <a:xfrm>
            <a:off x="8654986" y="1821008"/>
            <a:ext cx="2700000" cy="2700000"/>
          </a:xfrm>
          <a:prstGeom prst="flowChartConnector">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AU" dirty="0"/>
              <a:t>‘How was your day’</a:t>
            </a:r>
          </a:p>
          <a:p>
            <a:pPr algn="ctr"/>
            <a:r>
              <a:rPr lang="en-AU" dirty="0"/>
              <a:t>&amp; </a:t>
            </a:r>
          </a:p>
          <a:p>
            <a:pPr algn="ctr"/>
            <a:r>
              <a:rPr lang="en-AU" dirty="0"/>
              <a:t>Showing you listen</a:t>
            </a:r>
          </a:p>
        </p:txBody>
      </p:sp>
    </p:spTree>
    <p:extLst>
      <p:ext uri="{BB962C8B-B14F-4D97-AF65-F5344CB8AC3E}">
        <p14:creationId xmlns:p14="http://schemas.microsoft.com/office/powerpoint/2010/main" val="84396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5545-2A76-1668-BFA0-73845C4E89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BE2087-4474-DF0A-C433-A1DEF4042A44}"/>
              </a:ext>
            </a:extLst>
          </p:cNvPr>
          <p:cNvSpPr>
            <a:spLocks noGrp="1"/>
          </p:cNvSpPr>
          <p:nvPr>
            <p:ph type="title"/>
          </p:nvPr>
        </p:nvSpPr>
        <p:spPr>
          <a:xfrm>
            <a:off x="627117" y="588963"/>
            <a:ext cx="9532883" cy="648000"/>
          </a:xfrm>
        </p:spPr>
        <p:txBody>
          <a:bodyPr>
            <a:normAutofit/>
          </a:bodyPr>
          <a:lstStyle/>
          <a:p>
            <a:r>
              <a:rPr lang="en-US" dirty="0"/>
              <a:t>Rapport</a:t>
            </a:r>
          </a:p>
        </p:txBody>
      </p:sp>
      <p:sp>
        <p:nvSpPr>
          <p:cNvPr id="4" name="Footer Placeholder 3">
            <a:extLst>
              <a:ext uri="{FF2B5EF4-FFF2-40B4-BE49-F238E27FC236}">
                <a16:creationId xmlns:a16="http://schemas.microsoft.com/office/drawing/2014/main" id="{CA0D711B-4444-A56C-301F-5458CEDFF72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5EB8B675-604A-676E-88F9-09E2653FC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8" name="Rectangle: Rounded Corners 7">
            <a:extLst>
              <a:ext uri="{FF2B5EF4-FFF2-40B4-BE49-F238E27FC236}">
                <a16:creationId xmlns:a16="http://schemas.microsoft.com/office/drawing/2014/main" id="{B2D5D51C-6859-28FB-C77E-7B35AFD8CCE8}"/>
              </a:ext>
            </a:extLst>
          </p:cNvPr>
          <p:cNvSpPr/>
          <p:nvPr/>
        </p:nvSpPr>
        <p:spPr>
          <a:xfrm>
            <a:off x="2086394" y="1920910"/>
            <a:ext cx="3145536" cy="3776472"/>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Is your client the </a:t>
            </a:r>
            <a:r>
              <a:rPr lang="en-AU" b="1" dirty="0">
                <a:solidFill>
                  <a:schemeClr val="accent5"/>
                </a:solidFill>
              </a:rPr>
              <a:t>TRANSACTIONAL</a:t>
            </a:r>
            <a:r>
              <a:rPr lang="en-AU" dirty="0"/>
              <a:t> type?</a:t>
            </a:r>
          </a:p>
        </p:txBody>
      </p:sp>
      <p:sp>
        <p:nvSpPr>
          <p:cNvPr id="9" name="Rectangle: Rounded Corners 8">
            <a:extLst>
              <a:ext uri="{FF2B5EF4-FFF2-40B4-BE49-F238E27FC236}">
                <a16:creationId xmlns:a16="http://schemas.microsoft.com/office/drawing/2014/main" id="{234D87B3-78CA-6971-E8A4-FB1022BD52B8}"/>
              </a:ext>
            </a:extLst>
          </p:cNvPr>
          <p:cNvSpPr/>
          <p:nvPr/>
        </p:nvSpPr>
        <p:spPr>
          <a:xfrm>
            <a:off x="6960070" y="1920910"/>
            <a:ext cx="3145536" cy="3776472"/>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Is your client the </a:t>
            </a:r>
            <a:r>
              <a:rPr lang="en-AU" b="1" dirty="0">
                <a:solidFill>
                  <a:schemeClr val="accent5"/>
                </a:solidFill>
              </a:rPr>
              <a:t>RELATIONAL </a:t>
            </a:r>
            <a:r>
              <a:rPr lang="en-AU" dirty="0"/>
              <a:t>type?</a:t>
            </a:r>
          </a:p>
        </p:txBody>
      </p:sp>
      <p:sp>
        <p:nvSpPr>
          <p:cNvPr id="10" name="TextBox 9">
            <a:extLst>
              <a:ext uri="{FF2B5EF4-FFF2-40B4-BE49-F238E27FC236}">
                <a16:creationId xmlns:a16="http://schemas.microsoft.com/office/drawing/2014/main" id="{885CA46E-0C8F-ED22-FF62-91AD7E723E6E}"/>
              </a:ext>
            </a:extLst>
          </p:cNvPr>
          <p:cNvSpPr txBox="1"/>
          <p:nvPr/>
        </p:nvSpPr>
        <p:spPr>
          <a:xfrm>
            <a:off x="9976104" y="6080760"/>
            <a:ext cx="1883664" cy="246221"/>
          </a:xfrm>
          <a:prstGeom prst="rect">
            <a:avLst/>
          </a:prstGeom>
          <a:noFill/>
        </p:spPr>
        <p:txBody>
          <a:bodyPr wrap="square" rtlCol="0">
            <a:spAutoFit/>
          </a:bodyPr>
          <a:lstStyle/>
          <a:p>
            <a:r>
              <a:rPr lang="en-AU" sz="1000" dirty="0"/>
              <a:t>See also Chow et al, 2023</a:t>
            </a:r>
          </a:p>
        </p:txBody>
      </p:sp>
    </p:spTree>
    <p:extLst>
      <p:ext uri="{BB962C8B-B14F-4D97-AF65-F5344CB8AC3E}">
        <p14:creationId xmlns:p14="http://schemas.microsoft.com/office/powerpoint/2010/main" val="1240744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C004-0934-9652-B957-10F3885120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243CC2-A4BD-8097-0DA3-2BE4BBCDB888}"/>
              </a:ext>
            </a:extLst>
          </p:cNvPr>
          <p:cNvSpPr>
            <a:spLocks noGrp="1"/>
          </p:cNvSpPr>
          <p:nvPr>
            <p:ph type="title"/>
          </p:nvPr>
        </p:nvSpPr>
        <p:spPr>
          <a:xfrm>
            <a:off x="627117" y="588963"/>
            <a:ext cx="9532883" cy="648000"/>
          </a:xfrm>
        </p:spPr>
        <p:txBody>
          <a:bodyPr>
            <a:normAutofit/>
          </a:bodyPr>
          <a:lstStyle/>
          <a:p>
            <a:r>
              <a:rPr lang="en-US" dirty="0"/>
              <a:t>Rapport</a:t>
            </a:r>
          </a:p>
        </p:txBody>
      </p:sp>
      <p:sp>
        <p:nvSpPr>
          <p:cNvPr id="4" name="Footer Placeholder 3">
            <a:extLst>
              <a:ext uri="{FF2B5EF4-FFF2-40B4-BE49-F238E27FC236}">
                <a16:creationId xmlns:a16="http://schemas.microsoft.com/office/drawing/2014/main" id="{A01A4545-D315-DAEA-FE18-4684F681AD7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3F559549-3C53-D5FC-6349-06A85499E1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E8F65B9F-DC49-9DF0-CEAC-42D7E911DE41}"/>
              </a:ext>
            </a:extLst>
          </p:cNvPr>
          <p:cNvSpPr/>
          <p:nvPr/>
        </p:nvSpPr>
        <p:spPr>
          <a:xfrm>
            <a:off x="1780033" y="2295144"/>
            <a:ext cx="8439912" cy="2962656"/>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Key to building rapport is being non-judgmental in your verbal and non-verbal communication</a:t>
            </a:r>
          </a:p>
          <a:p>
            <a:pPr algn="ctr"/>
            <a:endParaRPr lang="en-AU" dirty="0"/>
          </a:p>
          <a:p>
            <a:pPr algn="ctr"/>
            <a:r>
              <a:rPr lang="en-AU" dirty="0"/>
              <a:t>Clients will not like or trust you if they think you are not on their side</a:t>
            </a:r>
          </a:p>
          <a:p>
            <a:pPr algn="ctr"/>
            <a:endParaRPr lang="en-AU" dirty="0"/>
          </a:p>
          <a:p>
            <a:pPr algn="ctr"/>
            <a:r>
              <a:rPr lang="en-AU" dirty="0"/>
              <a:t>Empathy… has proved to help improve the professional-client relationship and build up rapport and trust (Chow et al, 2023)</a:t>
            </a:r>
          </a:p>
        </p:txBody>
      </p:sp>
    </p:spTree>
    <p:extLst>
      <p:ext uri="{BB962C8B-B14F-4D97-AF65-F5344CB8AC3E}">
        <p14:creationId xmlns:p14="http://schemas.microsoft.com/office/powerpoint/2010/main" val="2416397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63A82-8330-197D-1D4F-43961CA61445}"/>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5AEC619C-0E5C-9F4D-B6A0-DE7304E7B1E3}"/>
              </a:ext>
            </a:extLst>
          </p:cNvPr>
          <p:cNvSpPr>
            <a:spLocks noGrp="1"/>
          </p:cNvSpPr>
          <p:nvPr>
            <p:ph type="body" sz="quarter" idx="15"/>
          </p:nvPr>
        </p:nvSpPr>
        <p:spPr>
          <a:xfrm>
            <a:off x="6319267" y="2925763"/>
            <a:ext cx="5666316" cy="503237"/>
          </a:xfrm>
        </p:spPr>
        <p:txBody>
          <a:bodyPr>
            <a:normAutofit/>
          </a:bodyPr>
          <a:lstStyle/>
          <a:p>
            <a:r>
              <a:rPr lang="en-AU" sz="2400" dirty="0"/>
              <a:t>listening</a:t>
            </a:r>
          </a:p>
        </p:txBody>
      </p:sp>
    </p:spTree>
    <p:extLst>
      <p:ext uri="{BB962C8B-B14F-4D97-AF65-F5344CB8AC3E}">
        <p14:creationId xmlns:p14="http://schemas.microsoft.com/office/powerpoint/2010/main" val="4094139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539F9-6476-C464-C327-862F131031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6CEB89-18BC-EFE9-08B1-3185ACE6AAE5}"/>
              </a:ext>
            </a:extLst>
          </p:cNvPr>
          <p:cNvSpPr>
            <a:spLocks noGrp="1"/>
          </p:cNvSpPr>
          <p:nvPr>
            <p:ph sz="quarter" idx="16"/>
          </p:nvPr>
        </p:nvSpPr>
        <p:spPr>
          <a:xfrm>
            <a:off x="1003555" y="1416096"/>
            <a:ext cx="7536941" cy="5149296"/>
          </a:xfrm>
        </p:spPr>
        <p:txBody>
          <a:bodyPr>
            <a:normAutofit/>
          </a:bodyPr>
          <a:lstStyle/>
          <a:p>
            <a:pPr marL="0" indent="0">
              <a:buNone/>
            </a:pPr>
            <a:endParaRPr lang="en-US" dirty="0"/>
          </a:p>
          <a:p>
            <a:pPr marL="0" indent="0">
              <a:buNone/>
            </a:pPr>
            <a:r>
              <a:rPr lang="en-US" b="1" dirty="0">
                <a:solidFill>
                  <a:schemeClr val="accent5"/>
                </a:solidFill>
              </a:rPr>
              <a:t>Active Listening</a:t>
            </a:r>
          </a:p>
          <a:p>
            <a:pPr marL="0" indent="0">
              <a:buNone/>
            </a:pPr>
            <a:endParaRPr lang="en-US" sz="1800" dirty="0"/>
          </a:p>
          <a:p>
            <a:pPr marL="0" indent="0">
              <a:buNone/>
            </a:pPr>
            <a:r>
              <a:rPr lang="en-US" sz="1800" dirty="0"/>
              <a:t>A form of engaged listening whereby you tru</a:t>
            </a:r>
            <a:r>
              <a:rPr lang="en-US" dirty="0"/>
              <a:t>ly try to obtain someone’s s</a:t>
            </a:r>
            <a:r>
              <a:rPr lang="en-US" sz="1800" dirty="0"/>
              <a:t>tory and seek to understand them, rather than just letting them talk.</a:t>
            </a:r>
          </a:p>
          <a:p>
            <a:pPr marL="0" indent="0">
              <a:buNone/>
            </a:pPr>
            <a:endParaRPr lang="en-US" dirty="0"/>
          </a:p>
          <a:p>
            <a:pPr marL="0" indent="0">
              <a:buNone/>
            </a:pPr>
            <a:r>
              <a:rPr lang="en-US" b="1" dirty="0">
                <a:solidFill>
                  <a:schemeClr val="accent5"/>
                </a:solidFill>
              </a:rPr>
              <a:t>1. Listening</a:t>
            </a:r>
          </a:p>
          <a:p>
            <a:pPr marL="0" indent="0">
              <a:buNone/>
            </a:pPr>
            <a:r>
              <a:rPr lang="en-US" dirty="0"/>
              <a:t>Make sure you listen to what your client wants to say, not to what you want to hear.</a:t>
            </a:r>
          </a:p>
          <a:p>
            <a:pPr marL="0" indent="0">
              <a:buNone/>
            </a:pPr>
            <a:endParaRPr lang="en-US" sz="1800" dirty="0"/>
          </a:p>
          <a:p>
            <a:pPr marL="0" indent="0">
              <a:buNone/>
            </a:pPr>
            <a:endParaRPr lang="en-US" dirty="0"/>
          </a:p>
          <a:p>
            <a:pPr>
              <a:buAutoNum type="arabicPeriod"/>
            </a:pPr>
            <a:endParaRPr lang="en-US" sz="1800" dirty="0"/>
          </a:p>
          <a:p>
            <a:pPr>
              <a:buAutoNum type="arabicPeriod"/>
            </a:pPr>
            <a:endParaRPr lang="en-US" dirty="0"/>
          </a:p>
          <a:p>
            <a:pPr>
              <a:buAutoNum type="arabicPeriod"/>
            </a:pPr>
            <a:endParaRPr lang="en-US" sz="1800" dirty="0"/>
          </a:p>
          <a:p>
            <a:pPr>
              <a:buAutoNum type="arabicPeriod"/>
            </a:pPr>
            <a:endParaRPr lang="en-US" dirty="0"/>
          </a:p>
          <a:p>
            <a:pPr marL="0" indent="0">
              <a:buNone/>
            </a:pPr>
            <a:endParaRPr lang="en-US" sz="1800" dirty="0"/>
          </a:p>
          <a:p>
            <a:pPr marL="0" indent="0">
              <a:buNone/>
            </a:pPr>
            <a:endParaRPr lang="en-US" sz="1800" dirty="0"/>
          </a:p>
          <a:p>
            <a:pPr marL="0" indent="0">
              <a:buNone/>
            </a:pPr>
            <a:endParaRPr lang="en-US" dirty="0"/>
          </a:p>
          <a:p>
            <a:pPr marL="0" indent="0">
              <a:buNone/>
            </a:pPr>
            <a:endParaRPr lang="en-US" sz="1800" dirty="0"/>
          </a:p>
        </p:txBody>
      </p:sp>
      <p:sp>
        <p:nvSpPr>
          <p:cNvPr id="3" name="Title 2">
            <a:extLst>
              <a:ext uri="{FF2B5EF4-FFF2-40B4-BE49-F238E27FC236}">
                <a16:creationId xmlns:a16="http://schemas.microsoft.com/office/drawing/2014/main" id="{D8018A7C-812D-ECEC-7835-DED56F694F93}"/>
              </a:ext>
            </a:extLst>
          </p:cNvPr>
          <p:cNvSpPr>
            <a:spLocks noGrp="1"/>
          </p:cNvSpPr>
          <p:nvPr>
            <p:ph type="title"/>
          </p:nvPr>
        </p:nvSpPr>
        <p:spPr>
          <a:xfrm>
            <a:off x="627117" y="588963"/>
            <a:ext cx="9532883" cy="648000"/>
          </a:xfrm>
        </p:spPr>
        <p:txBody>
          <a:bodyPr>
            <a:normAutofit/>
          </a:bodyPr>
          <a:lstStyle/>
          <a:p>
            <a:r>
              <a:rPr lang="en-US" dirty="0"/>
              <a:t>Listening</a:t>
            </a:r>
          </a:p>
        </p:txBody>
      </p:sp>
      <p:sp>
        <p:nvSpPr>
          <p:cNvPr id="4" name="Footer Placeholder 3">
            <a:extLst>
              <a:ext uri="{FF2B5EF4-FFF2-40B4-BE49-F238E27FC236}">
                <a16:creationId xmlns:a16="http://schemas.microsoft.com/office/drawing/2014/main" id="{2E60B575-1C17-8305-71AB-9C7707CD5A3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9775C0F6-B0DC-2E85-46D6-C725482C61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18" name="Flowchart: Connector 17">
            <a:extLst>
              <a:ext uri="{FF2B5EF4-FFF2-40B4-BE49-F238E27FC236}">
                <a16:creationId xmlns:a16="http://schemas.microsoft.com/office/drawing/2014/main" id="{070E5DE7-8B92-6789-5957-55FD0A773DAD}"/>
              </a:ext>
            </a:extLst>
          </p:cNvPr>
          <p:cNvSpPr/>
          <p:nvPr/>
        </p:nvSpPr>
        <p:spPr>
          <a:xfrm>
            <a:off x="8654986" y="1821008"/>
            <a:ext cx="2700000" cy="2700000"/>
          </a:xfrm>
          <a:prstGeom prst="flowChartConnec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dirty="0"/>
              <a:t>LARS</a:t>
            </a:r>
          </a:p>
          <a:p>
            <a:pPr algn="ctr"/>
            <a:endParaRPr lang="en-AU" sz="800" dirty="0"/>
          </a:p>
          <a:p>
            <a:pPr algn="ctr"/>
            <a:r>
              <a:rPr lang="en-AU" dirty="0"/>
              <a:t>Listening</a:t>
            </a:r>
          </a:p>
          <a:p>
            <a:pPr algn="ctr"/>
            <a:r>
              <a:rPr lang="en-AU" dirty="0"/>
              <a:t>Acknowledging</a:t>
            </a:r>
          </a:p>
          <a:p>
            <a:pPr algn="ctr"/>
            <a:r>
              <a:rPr lang="en-AU" dirty="0"/>
              <a:t>Reflecting</a:t>
            </a:r>
          </a:p>
          <a:p>
            <a:pPr algn="ctr"/>
            <a:r>
              <a:rPr lang="en-AU" dirty="0"/>
              <a:t>Summarising</a:t>
            </a:r>
          </a:p>
        </p:txBody>
      </p:sp>
      <p:sp>
        <p:nvSpPr>
          <p:cNvPr id="6" name="Rectangle: Rounded Corners 5">
            <a:extLst>
              <a:ext uri="{FF2B5EF4-FFF2-40B4-BE49-F238E27FC236}">
                <a16:creationId xmlns:a16="http://schemas.microsoft.com/office/drawing/2014/main" id="{F2BDDC06-10C6-18E8-B492-140BDBBF7255}"/>
              </a:ext>
            </a:extLst>
          </p:cNvPr>
          <p:cNvSpPr/>
          <p:nvPr/>
        </p:nvSpPr>
        <p:spPr>
          <a:xfrm>
            <a:off x="1138301" y="4442801"/>
            <a:ext cx="7267448" cy="1938528"/>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b="1" i="0" dirty="0">
                <a:solidFill>
                  <a:schemeClr val="accent5"/>
                </a:solidFill>
                <a:effectLst/>
              </a:rPr>
              <a:t>Listen, listen, listen</a:t>
            </a:r>
          </a:p>
          <a:p>
            <a:pPr algn="ctr"/>
            <a:r>
              <a:rPr lang="en-AU" b="0" i="0" dirty="0">
                <a:solidFill>
                  <a:schemeClr val="tx1"/>
                </a:solidFill>
                <a:effectLst/>
              </a:rPr>
              <a:t>You might think that client communication is about giving legal advice, but often, what clients really need is for you to listen. It happens too often that lawyers jump in and share their thoughts before they’ve truly understood the problem, which can leave clients feeling as if they’re not truly heard. (Kunzler/IBA, 2022)</a:t>
            </a:r>
            <a:endParaRPr lang="en-AU" dirty="0">
              <a:solidFill>
                <a:schemeClr val="tx1"/>
              </a:solidFill>
            </a:endParaRPr>
          </a:p>
        </p:txBody>
      </p:sp>
    </p:spTree>
    <p:extLst>
      <p:ext uri="{BB962C8B-B14F-4D97-AF65-F5344CB8AC3E}">
        <p14:creationId xmlns:p14="http://schemas.microsoft.com/office/powerpoint/2010/main" val="3515597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92D1A-0F84-8411-7355-D377F02B9A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57D2A1-879D-4DAB-7600-84236C60D131}"/>
              </a:ext>
            </a:extLst>
          </p:cNvPr>
          <p:cNvSpPr>
            <a:spLocks noGrp="1"/>
          </p:cNvSpPr>
          <p:nvPr>
            <p:ph sz="quarter" idx="16"/>
          </p:nvPr>
        </p:nvSpPr>
        <p:spPr>
          <a:xfrm>
            <a:off x="1003555" y="1416096"/>
            <a:ext cx="7536941" cy="5149296"/>
          </a:xfrm>
        </p:spPr>
        <p:txBody>
          <a:bodyPr>
            <a:normAutofit/>
          </a:bodyPr>
          <a:lstStyle/>
          <a:p>
            <a:pPr marL="0" indent="0">
              <a:buNone/>
            </a:pPr>
            <a:endParaRPr lang="en-US" dirty="0"/>
          </a:p>
          <a:p>
            <a:pPr marL="0" indent="0">
              <a:buNone/>
            </a:pPr>
            <a:r>
              <a:rPr lang="en-US" b="1" dirty="0">
                <a:solidFill>
                  <a:schemeClr val="accent5"/>
                </a:solidFill>
              </a:rPr>
              <a:t>2. Acknowledging</a:t>
            </a:r>
          </a:p>
          <a:p>
            <a:pPr marL="0" indent="0">
              <a:buNone/>
            </a:pPr>
            <a:r>
              <a:rPr lang="en-US" dirty="0"/>
              <a:t>Also called ‘following’ – let’s the client know you are still with them and are interested in (and understand) their story. You can </a:t>
            </a:r>
            <a:r>
              <a:rPr lang="en-US" dirty="0" err="1"/>
              <a:t>eg</a:t>
            </a:r>
            <a:r>
              <a:rPr lang="en-US" dirty="0"/>
              <a:t> use:</a:t>
            </a:r>
          </a:p>
          <a:p>
            <a:pPr lvl="1">
              <a:buFont typeface="Arial" panose="020B0604020202020204" pitchFamily="34" charset="0"/>
              <a:buChar char="•"/>
            </a:pPr>
            <a:r>
              <a:rPr lang="en-US" sz="1800" dirty="0"/>
              <a:t>Door openers </a:t>
            </a:r>
          </a:p>
          <a:p>
            <a:pPr lvl="1">
              <a:buFont typeface="Arial" panose="020B0604020202020204" pitchFamily="34" charset="0"/>
              <a:buChar char="•"/>
            </a:pPr>
            <a:r>
              <a:rPr lang="en-US" sz="1800" dirty="0"/>
              <a:t>Minimal encouragers</a:t>
            </a:r>
          </a:p>
          <a:p>
            <a:pPr marL="0" indent="0">
              <a:buNone/>
            </a:pPr>
            <a:endParaRPr lang="en-US" dirty="0"/>
          </a:p>
          <a:p>
            <a:pPr marL="0" indent="0">
              <a:buNone/>
            </a:pPr>
            <a:r>
              <a:rPr lang="en-US" b="1" dirty="0">
                <a:solidFill>
                  <a:schemeClr val="accent5"/>
                </a:solidFill>
              </a:rPr>
              <a:t>3. Reflecting and Reframing</a:t>
            </a:r>
          </a:p>
          <a:p>
            <a:pPr marL="0" indent="0">
              <a:buNone/>
            </a:pPr>
            <a:r>
              <a:rPr lang="en-US" dirty="0"/>
              <a:t>Reflecting and reframing both rely on what the client has said, but their functions are different:</a:t>
            </a:r>
          </a:p>
          <a:p>
            <a:pPr lvl="1">
              <a:buFont typeface="Wingdings" panose="05000000000000000000" pitchFamily="2" charset="2"/>
              <a:buChar char="Ø"/>
            </a:pPr>
            <a:r>
              <a:rPr lang="en-US" sz="1800" i="1" dirty="0"/>
              <a:t>Reflecting: </a:t>
            </a:r>
            <a:r>
              <a:rPr lang="en-US" sz="1800" dirty="0"/>
              <a:t>response that mirrors (reflects) what the client just said in own or client’s words    Important for confirmation</a:t>
            </a:r>
          </a:p>
          <a:p>
            <a:pPr lvl="1">
              <a:buFont typeface="Wingdings" panose="05000000000000000000" pitchFamily="2" charset="2"/>
              <a:buChar char="Ø"/>
            </a:pPr>
            <a:r>
              <a:rPr lang="en-US" sz="1800" i="1" dirty="0"/>
              <a:t>Reframing: </a:t>
            </a:r>
            <a:r>
              <a:rPr lang="en-US" sz="1800" dirty="0"/>
              <a:t>takes the underlying content or feelings, but gives it back to the client in a new set of words     Important for changing perspective</a:t>
            </a:r>
          </a:p>
          <a:p>
            <a:pPr marL="0" indent="0">
              <a:buNone/>
            </a:pPr>
            <a:endParaRPr lang="en-US" sz="1800" dirty="0"/>
          </a:p>
          <a:p>
            <a:pPr marL="0" indent="0">
              <a:buNone/>
            </a:pPr>
            <a:endParaRPr lang="en-US" dirty="0"/>
          </a:p>
          <a:p>
            <a:pPr>
              <a:buAutoNum type="arabicPeriod"/>
            </a:pPr>
            <a:endParaRPr lang="en-US" sz="1800" dirty="0"/>
          </a:p>
          <a:p>
            <a:pPr>
              <a:buAutoNum type="arabicPeriod"/>
            </a:pPr>
            <a:endParaRPr lang="en-US" dirty="0"/>
          </a:p>
          <a:p>
            <a:pPr>
              <a:buAutoNum type="arabicPeriod"/>
            </a:pPr>
            <a:endParaRPr lang="en-US" sz="1800" dirty="0"/>
          </a:p>
          <a:p>
            <a:pPr>
              <a:buAutoNum type="arabicPeriod"/>
            </a:pPr>
            <a:endParaRPr lang="en-US" dirty="0"/>
          </a:p>
          <a:p>
            <a:pPr marL="0" indent="0">
              <a:buNone/>
            </a:pPr>
            <a:endParaRPr lang="en-US" sz="1800" dirty="0"/>
          </a:p>
          <a:p>
            <a:pPr marL="0" indent="0">
              <a:buNone/>
            </a:pPr>
            <a:endParaRPr lang="en-US" sz="1800" dirty="0"/>
          </a:p>
          <a:p>
            <a:pPr marL="0" indent="0">
              <a:buNone/>
            </a:pPr>
            <a:endParaRPr lang="en-US" dirty="0"/>
          </a:p>
          <a:p>
            <a:pPr marL="0" indent="0">
              <a:buNone/>
            </a:pPr>
            <a:endParaRPr lang="en-US" sz="1800" dirty="0"/>
          </a:p>
        </p:txBody>
      </p:sp>
      <p:sp>
        <p:nvSpPr>
          <p:cNvPr id="3" name="Title 2">
            <a:extLst>
              <a:ext uri="{FF2B5EF4-FFF2-40B4-BE49-F238E27FC236}">
                <a16:creationId xmlns:a16="http://schemas.microsoft.com/office/drawing/2014/main" id="{9D3F5BCD-1523-940D-5223-6064793CF3C7}"/>
              </a:ext>
            </a:extLst>
          </p:cNvPr>
          <p:cNvSpPr>
            <a:spLocks noGrp="1"/>
          </p:cNvSpPr>
          <p:nvPr>
            <p:ph type="title"/>
          </p:nvPr>
        </p:nvSpPr>
        <p:spPr>
          <a:xfrm>
            <a:off x="627117" y="588963"/>
            <a:ext cx="9532883" cy="648000"/>
          </a:xfrm>
        </p:spPr>
        <p:txBody>
          <a:bodyPr>
            <a:normAutofit/>
          </a:bodyPr>
          <a:lstStyle/>
          <a:p>
            <a:r>
              <a:rPr lang="en-US" dirty="0"/>
              <a:t>Listening</a:t>
            </a:r>
          </a:p>
        </p:txBody>
      </p:sp>
      <p:sp>
        <p:nvSpPr>
          <p:cNvPr id="4" name="Footer Placeholder 3">
            <a:extLst>
              <a:ext uri="{FF2B5EF4-FFF2-40B4-BE49-F238E27FC236}">
                <a16:creationId xmlns:a16="http://schemas.microsoft.com/office/drawing/2014/main" id="{871CB9EF-367E-5058-871A-301880182EF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8A7894FB-D60E-1703-C34C-089AA73FDE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7" name="Arrow: Right 6">
            <a:extLst>
              <a:ext uri="{FF2B5EF4-FFF2-40B4-BE49-F238E27FC236}">
                <a16:creationId xmlns:a16="http://schemas.microsoft.com/office/drawing/2014/main" id="{9EDAF38C-9477-F072-EA9D-71EEF90E859F}"/>
              </a:ext>
            </a:extLst>
          </p:cNvPr>
          <p:cNvSpPr/>
          <p:nvPr/>
        </p:nvSpPr>
        <p:spPr>
          <a:xfrm>
            <a:off x="4772024" y="5029200"/>
            <a:ext cx="174879" cy="91440"/>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AU"/>
          </a:p>
        </p:txBody>
      </p:sp>
      <p:sp>
        <p:nvSpPr>
          <p:cNvPr id="8" name="Arrow: Right 7">
            <a:extLst>
              <a:ext uri="{FF2B5EF4-FFF2-40B4-BE49-F238E27FC236}">
                <a16:creationId xmlns:a16="http://schemas.microsoft.com/office/drawing/2014/main" id="{1B1E6031-0903-24F3-9AA2-DE19ECC064E4}"/>
              </a:ext>
            </a:extLst>
          </p:cNvPr>
          <p:cNvSpPr/>
          <p:nvPr/>
        </p:nvSpPr>
        <p:spPr>
          <a:xfrm>
            <a:off x="5912549" y="5613825"/>
            <a:ext cx="174879" cy="91440"/>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89487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71C53-0F16-C302-76A3-8BBE316155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19FF1-34A9-2BC4-ADD2-93E397510F8A}"/>
              </a:ext>
            </a:extLst>
          </p:cNvPr>
          <p:cNvSpPr>
            <a:spLocks noGrp="1"/>
          </p:cNvSpPr>
          <p:nvPr>
            <p:ph sz="quarter" idx="16"/>
          </p:nvPr>
        </p:nvSpPr>
        <p:spPr>
          <a:xfrm>
            <a:off x="1003555" y="1416096"/>
            <a:ext cx="7536941" cy="5149296"/>
          </a:xfrm>
        </p:spPr>
        <p:txBody>
          <a:bodyPr>
            <a:normAutofit/>
          </a:bodyPr>
          <a:lstStyle/>
          <a:p>
            <a:pPr marL="0" indent="0">
              <a:buNone/>
            </a:pPr>
            <a:endParaRPr lang="en-US" dirty="0"/>
          </a:p>
          <a:p>
            <a:pPr marL="0" indent="0">
              <a:buNone/>
            </a:pPr>
            <a:r>
              <a:rPr lang="en-US" dirty="0"/>
              <a:t>Why following, reframing and reflecting?</a:t>
            </a:r>
          </a:p>
          <a:p>
            <a:pPr>
              <a:buFont typeface="Wingdings" panose="05000000000000000000" pitchFamily="2" charset="2"/>
              <a:buChar char="Ø"/>
            </a:pPr>
            <a:r>
              <a:rPr lang="en-US" dirty="0"/>
              <a:t>Clarify your understanding, </a:t>
            </a:r>
            <a:r>
              <a:rPr lang="en-US" dirty="0" err="1"/>
              <a:t>eg</a:t>
            </a:r>
            <a:r>
              <a:rPr lang="en-US" dirty="0"/>
              <a:t>:</a:t>
            </a:r>
          </a:p>
          <a:p>
            <a:pPr lvl="1">
              <a:buFont typeface="Arial" panose="020B0604020202020204" pitchFamily="34" charset="0"/>
              <a:buChar char="•"/>
            </a:pPr>
            <a:r>
              <a:rPr lang="en-AU" sz="1800" dirty="0">
                <a:ea typeface="MS Mincho" charset="-128"/>
              </a:rPr>
              <a:t>‘Let me see if I’ve got this right…’</a:t>
            </a:r>
            <a:endParaRPr lang="en-US" sz="1800" dirty="0">
              <a:ea typeface="MS Mincho" charset="-128"/>
            </a:endParaRPr>
          </a:p>
          <a:p>
            <a:pPr lvl="1">
              <a:buFont typeface="Arial" panose="020B0604020202020204" pitchFamily="34" charset="0"/>
              <a:buChar char="•"/>
            </a:pPr>
            <a:r>
              <a:rPr lang="en-AU" sz="1800" dirty="0">
                <a:ea typeface="MS Mincho" charset="-128"/>
              </a:rPr>
              <a:t>‘I just want to check if I’ve understood you properly…’</a:t>
            </a:r>
          </a:p>
          <a:p>
            <a:pPr>
              <a:buFont typeface="Wingdings" panose="05000000000000000000" pitchFamily="2" charset="2"/>
              <a:buChar char="Ø"/>
            </a:pPr>
            <a:r>
              <a:rPr lang="en-US" dirty="0">
                <a:ea typeface="MS Mincho" charset="-128"/>
              </a:rPr>
              <a:t>Helps you get information and build a trusting relationship:</a:t>
            </a:r>
          </a:p>
          <a:p>
            <a:pPr lvl="1">
              <a:buFont typeface="Arial" panose="020B0604020202020204" pitchFamily="34" charset="0"/>
              <a:buChar char="•"/>
            </a:pPr>
            <a:r>
              <a:rPr lang="en-AU" sz="1800" dirty="0"/>
              <a:t>Signals to client they’ve been heard (clients won’t listen to you until they think you have heard their issues)</a:t>
            </a:r>
            <a:endParaRPr lang="en-US" sz="1800" dirty="0"/>
          </a:p>
          <a:p>
            <a:pPr lvl="1">
              <a:buFont typeface="Arial" panose="020B0604020202020204" pitchFamily="34" charset="0"/>
              <a:buChar char="•"/>
            </a:pPr>
            <a:r>
              <a:rPr lang="en-AU" sz="1800" dirty="0"/>
              <a:t>Encourages clients to keep talking without asking questions that might take them off track</a:t>
            </a:r>
            <a:endParaRPr lang="en-US" sz="1800" dirty="0"/>
          </a:p>
          <a:p>
            <a:pPr lvl="1">
              <a:buFont typeface="Arial" panose="020B0604020202020204" pitchFamily="34" charset="0"/>
              <a:buChar char="•"/>
            </a:pPr>
            <a:r>
              <a:rPr lang="en-AU" sz="1800" dirty="0"/>
              <a:t>Can give you and your client a moment when you’re not sure how to proceed </a:t>
            </a:r>
          </a:p>
          <a:p>
            <a:pPr lvl="1">
              <a:buFont typeface="Arial" panose="020B0604020202020204" pitchFamily="34" charset="0"/>
              <a:buChar char="•"/>
            </a:pPr>
            <a:r>
              <a:rPr lang="en-AU" sz="1800" dirty="0"/>
              <a:t>Acknowledges emotions but does not dwell on them.</a:t>
            </a:r>
            <a:endParaRPr lang="en-US" sz="1800" dirty="0"/>
          </a:p>
          <a:p>
            <a:pPr lvl="1">
              <a:buFont typeface="Arial" panose="020B0604020202020204" pitchFamily="34" charset="0"/>
              <a:buChar char="•"/>
            </a:pPr>
            <a:r>
              <a:rPr lang="en-AU" sz="1800" dirty="0"/>
              <a:t>Enhances rapport between you and the client</a:t>
            </a:r>
          </a:p>
          <a:p>
            <a:pPr lvl="1">
              <a:buFont typeface="Arial" panose="020B0604020202020204" pitchFamily="34" charset="0"/>
              <a:buChar char="•"/>
            </a:pPr>
            <a:r>
              <a:rPr lang="en-AU" sz="1800" dirty="0"/>
              <a:t>Can lead to shared understanding (</a:t>
            </a:r>
            <a:r>
              <a:rPr lang="en-AU" sz="1800" dirty="0" err="1"/>
              <a:t>esp</a:t>
            </a:r>
            <a:r>
              <a:rPr lang="en-AU" sz="1800" dirty="0"/>
              <a:t> from clarification)</a:t>
            </a:r>
            <a:endParaRPr lang="en-US" sz="1800" dirty="0"/>
          </a:p>
        </p:txBody>
      </p:sp>
      <p:sp>
        <p:nvSpPr>
          <p:cNvPr id="3" name="Title 2">
            <a:extLst>
              <a:ext uri="{FF2B5EF4-FFF2-40B4-BE49-F238E27FC236}">
                <a16:creationId xmlns:a16="http://schemas.microsoft.com/office/drawing/2014/main" id="{50400D67-9811-3480-1994-45A5075EC5E4}"/>
              </a:ext>
            </a:extLst>
          </p:cNvPr>
          <p:cNvSpPr>
            <a:spLocks noGrp="1"/>
          </p:cNvSpPr>
          <p:nvPr>
            <p:ph type="title"/>
          </p:nvPr>
        </p:nvSpPr>
        <p:spPr>
          <a:xfrm>
            <a:off x="627117" y="588963"/>
            <a:ext cx="9532883" cy="648000"/>
          </a:xfrm>
        </p:spPr>
        <p:txBody>
          <a:bodyPr>
            <a:normAutofit/>
          </a:bodyPr>
          <a:lstStyle/>
          <a:p>
            <a:r>
              <a:rPr lang="en-US" dirty="0"/>
              <a:t>Listening</a:t>
            </a:r>
          </a:p>
        </p:txBody>
      </p:sp>
      <p:sp>
        <p:nvSpPr>
          <p:cNvPr id="4" name="Footer Placeholder 3">
            <a:extLst>
              <a:ext uri="{FF2B5EF4-FFF2-40B4-BE49-F238E27FC236}">
                <a16:creationId xmlns:a16="http://schemas.microsoft.com/office/drawing/2014/main" id="{458A623E-3AEA-6536-4785-106D4E0C9D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AECBBB85-5E50-56A8-5FE3-7B7965374A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689767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5A4D-6A3D-D54A-58E9-25CA513AD4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7F0816-0C21-3B26-07A5-1913696E6424}"/>
              </a:ext>
            </a:extLst>
          </p:cNvPr>
          <p:cNvSpPr>
            <a:spLocks noGrp="1"/>
          </p:cNvSpPr>
          <p:nvPr>
            <p:ph sz="quarter" idx="16"/>
          </p:nvPr>
        </p:nvSpPr>
        <p:spPr>
          <a:xfrm>
            <a:off x="1003555" y="1416096"/>
            <a:ext cx="7536941" cy="5149296"/>
          </a:xfrm>
        </p:spPr>
        <p:txBody>
          <a:bodyPr>
            <a:normAutofit/>
          </a:bodyPr>
          <a:lstStyle/>
          <a:p>
            <a:pPr marL="0" indent="0">
              <a:buNone/>
            </a:pPr>
            <a:endParaRPr lang="en-US" dirty="0"/>
          </a:p>
          <a:p>
            <a:pPr marL="0" indent="0">
              <a:buNone/>
            </a:pPr>
            <a:r>
              <a:rPr lang="en-US" b="1" dirty="0">
                <a:solidFill>
                  <a:schemeClr val="accent5"/>
                </a:solidFill>
              </a:rPr>
              <a:t>4. </a:t>
            </a:r>
            <a:r>
              <a:rPr lang="en-US" b="1" dirty="0" err="1">
                <a:solidFill>
                  <a:schemeClr val="accent5"/>
                </a:solidFill>
              </a:rPr>
              <a:t>Summarising</a:t>
            </a:r>
            <a:endParaRPr lang="en-US" sz="1800" dirty="0"/>
          </a:p>
          <a:p>
            <a:pPr marL="0" indent="0">
              <a:buNone/>
            </a:pPr>
            <a:r>
              <a:rPr lang="en-US" sz="1800" dirty="0"/>
              <a:t>Providing a summary of what has been sai</a:t>
            </a:r>
            <a:r>
              <a:rPr lang="en-US" dirty="0"/>
              <a:t>d allows for consolidation of information and double-checking for accuracy </a:t>
            </a:r>
          </a:p>
          <a:p>
            <a:pPr lvl="1">
              <a:buFont typeface="Wingdings" panose="05000000000000000000" pitchFamily="2" charset="2"/>
              <a:buChar char="Ø"/>
            </a:pPr>
            <a:r>
              <a:rPr lang="en-US" sz="1800" dirty="0"/>
              <a:t>The summary should not just be of legally relevant facts, but also of client concerns</a:t>
            </a:r>
          </a:p>
          <a:p>
            <a:pPr marL="0" indent="0">
              <a:buNone/>
            </a:pPr>
            <a:endParaRPr lang="en-US" dirty="0"/>
          </a:p>
          <a:p>
            <a:pPr>
              <a:buAutoNum type="arabicPeriod"/>
            </a:pPr>
            <a:endParaRPr lang="en-US" sz="1800" dirty="0"/>
          </a:p>
          <a:p>
            <a:pPr>
              <a:buAutoNum type="arabicPeriod"/>
            </a:pPr>
            <a:endParaRPr lang="en-US" dirty="0"/>
          </a:p>
          <a:p>
            <a:pPr>
              <a:buAutoNum type="arabicPeriod"/>
            </a:pPr>
            <a:endParaRPr lang="en-US" sz="1800" dirty="0"/>
          </a:p>
          <a:p>
            <a:pPr>
              <a:buAutoNum type="arabicPeriod"/>
            </a:pPr>
            <a:endParaRPr lang="en-US" dirty="0"/>
          </a:p>
          <a:p>
            <a:pPr marL="0" indent="0">
              <a:buNone/>
            </a:pPr>
            <a:endParaRPr lang="en-US" sz="1800" dirty="0"/>
          </a:p>
          <a:p>
            <a:pPr marL="0" indent="0">
              <a:buNone/>
            </a:pPr>
            <a:endParaRPr lang="en-US" sz="1800" dirty="0"/>
          </a:p>
          <a:p>
            <a:pPr marL="0" indent="0">
              <a:buNone/>
            </a:pPr>
            <a:endParaRPr lang="en-US" dirty="0"/>
          </a:p>
          <a:p>
            <a:pPr marL="0" indent="0">
              <a:buNone/>
            </a:pPr>
            <a:endParaRPr lang="en-US" sz="1800" dirty="0"/>
          </a:p>
        </p:txBody>
      </p:sp>
      <p:sp>
        <p:nvSpPr>
          <p:cNvPr id="3" name="Title 2">
            <a:extLst>
              <a:ext uri="{FF2B5EF4-FFF2-40B4-BE49-F238E27FC236}">
                <a16:creationId xmlns:a16="http://schemas.microsoft.com/office/drawing/2014/main" id="{8CAACEFC-F41B-F008-696F-A376AEC0598C}"/>
              </a:ext>
            </a:extLst>
          </p:cNvPr>
          <p:cNvSpPr>
            <a:spLocks noGrp="1"/>
          </p:cNvSpPr>
          <p:nvPr>
            <p:ph type="title"/>
          </p:nvPr>
        </p:nvSpPr>
        <p:spPr>
          <a:xfrm>
            <a:off x="627117" y="588963"/>
            <a:ext cx="9532883" cy="648000"/>
          </a:xfrm>
        </p:spPr>
        <p:txBody>
          <a:bodyPr>
            <a:normAutofit/>
          </a:bodyPr>
          <a:lstStyle/>
          <a:p>
            <a:r>
              <a:rPr lang="en-US" dirty="0"/>
              <a:t>Listening</a:t>
            </a:r>
          </a:p>
        </p:txBody>
      </p:sp>
      <p:sp>
        <p:nvSpPr>
          <p:cNvPr id="4" name="Footer Placeholder 3">
            <a:extLst>
              <a:ext uri="{FF2B5EF4-FFF2-40B4-BE49-F238E27FC236}">
                <a16:creationId xmlns:a16="http://schemas.microsoft.com/office/drawing/2014/main" id="{09B9963D-7F9C-56D3-366E-96F10C85645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25AF26AC-BF42-EBA3-E7C4-EF12839441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56F8435C-A480-4F84-9727-BD60FF71A8E8}"/>
              </a:ext>
            </a:extLst>
          </p:cNvPr>
          <p:cNvSpPr/>
          <p:nvPr/>
        </p:nvSpPr>
        <p:spPr>
          <a:xfrm>
            <a:off x="1533145" y="3895344"/>
            <a:ext cx="8439912" cy="1444752"/>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It is crucial to </a:t>
            </a:r>
            <a:r>
              <a:rPr lang="en-AU" b="1" dirty="0">
                <a:solidFill>
                  <a:schemeClr val="accent5"/>
                </a:solidFill>
              </a:rPr>
              <a:t>HEAR</a:t>
            </a:r>
            <a:r>
              <a:rPr lang="en-AU" dirty="0"/>
              <a:t> the client </a:t>
            </a:r>
            <a:r>
              <a:rPr lang="en-AU" b="1" dirty="0">
                <a:solidFill>
                  <a:schemeClr val="accent5"/>
                </a:solidFill>
              </a:rPr>
              <a:t>BEFORE</a:t>
            </a:r>
            <a:r>
              <a:rPr lang="en-AU" dirty="0"/>
              <a:t> trying to solve their problems</a:t>
            </a:r>
          </a:p>
        </p:txBody>
      </p:sp>
    </p:spTree>
    <p:extLst>
      <p:ext uri="{BB962C8B-B14F-4D97-AF65-F5344CB8AC3E}">
        <p14:creationId xmlns:p14="http://schemas.microsoft.com/office/powerpoint/2010/main" val="1795970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33937-5736-3C5D-E658-8C3C5032D82B}"/>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BF59AE15-AA7B-F4B8-6AD3-74F062EFD8E8}"/>
              </a:ext>
            </a:extLst>
          </p:cNvPr>
          <p:cNvSpPr>
            <a:spLocks noGrp="1"/>
          </p:cNvSpPr>
          <p:nvPr>
            <p:ph type="body" sz="quarter" idx="15"/>
          </p:nvPr>
        </p:nvSpPr>
        <p:spPr>
          <a:xfrm>
            <a:off x="6319267" y="2925763"/>
            <a:ext cx="5666316" cy="503237"/>
          </a:xfrm>
        </p:spPr>
        <p:txBody>
          <a:bodyPr>
            <a:normAutofit/>
          </a:bodyPr>
          <a:lstStyle/>
          <a:p>
            <a:r>
              <a:rPr lang="en-AU" sz="2400" dirty="0"/>
              <a:t>questions</a:t>
            </a:r>
          </a:p>
        </p:txBody>
      </p:sp>
    </p:spTree>
    <p:extLst>
      <p:ext uri="{BB962C8B-B14F-4D97-AF65-F5344CB8AC3E}">
        <p14:creationId xmlns:p14="http://schemas.microsoft.com/office/powerpoint/2010/main" val="1092839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7BE4-8B73-29F9-F774-2BFE9810FC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FB8CFE-CB94-9F80-4C65-B12F7F790593}"/>
              </a:ext>
            </a:extLst>
          </p:cNvPr>
          <p:cNvSpPr>
            <a:spLocks noGrp="1"/>
          </p:cNvSpPr>
          <p:nvPr>
            <p:ph sz="quarter" idx="16"/>
          </p:nvPr>
        </p:nvSpPr>
        <p:spPr>
          <a:xfrm>
            <a:off x="1901952" y="3319272"/>
            <a:ext cx="9025128" cy="3246120"/>
          </a:xfrm>
        </p:spPr>
        <p:txBody>
          <a:bodyPr>
            <a:normAutofit/>
          </a:bodyPr>
          <a:lstStyle/>
          <a:p>
            <a:pPr marL="0" indent="0">
              <a:buNone/>
            </a:pPr>
            <a:endParaRPr lang="en-US" dirty="0"/>
          </a:p>
          <a:p>
            <a:pPr marL="0" indent="0">
              <a:buNone/>
            </a:pPr>
            <a:r>
              <a:rPr lang="en-US" dirty="0"/>
              <a:t>Things to keep in mind (see Barry, 2017):</a:t>
            </a:r>
          </a:p>
          <a:p>
            <a:pPr>
              <a:buFont typeface="Wingdings" panose="05000000000000000000" pitchFamily="2" charset="2"/>
              <a:buChar char="Ø"/>
            </a:pPr>
            <a:r>
              <a:rPr lang="en-US" dirty="0"/>
              <a:t>Listen to your client’s narrative first</a:t>
            </a:r>
          </a:p>
          <a:p>
            <a:pPr>
              <a:buFont typeface="Wingdings" panose="05000000000000000000" pitchFamily="2" charset="2"/>
              <a:buChar char="Ø"/>
            </a:pPr>
            <a:r>
              <a:rPr lang="en-US" sz="1800" dirty="0"/>
              <a:t>Don’t start with detailed questions (see quote slide 15)</a:t>
            </a:r>
          </a:p>
          <a:p>
            <a:pPr>
              <a:buFont typeface="Wingdings" panose="05000000000000000000" pitchFamily="2" charset="2"/>
              <a:buChar char="Ø"/>
            </a:pPr>
            <a:r>
              <a:rPr lang="en-US" dirty="0"/>
              <a:t>Do not insist on early problem identification</a:t>
            </a:r>
          </a:p>
          <a:p>
            <a:pPr>
              <a:buFont typeface="Wingdings" panose="05000000000000000000" pitchFamily="2" charset="2"/>
              <a:buChar char="Ø"/>
            </a:pPr>
            <a:r>
              <a:rPr lang="en-US" sz="1800" dirty="0"/>
              <a:t>Do not assign the problem to legal boxes </a:t>
            </a:r>
            <a:r>
              <a:rPr lang="en-US" dirty="0"/>
              <a:t>(actions/remedies) too early</a:t>
            </a:r>
            <a:endParaRPr lang="en-US" sz="1800" dirty="0"/>
          </a:p>
          <a:p>
            <a:pPr>
              <a:buFont typeface="Wingdings" panose="05000000000000000000" pitchFamily="2" charset="2"/>
              <a:buChar char="Ø"/>
            </a:pPr>
            <a:r>
              <a:rPr lang="en-US" dirty="0"/>
              <a:t>Start with broader questions and then narrow down</a:t>
            </a:r>
          </a:p>
          <a:p>
            <a:pPr>
              <a:buAutoNum type="arabicPeriod"/>
            </a:pPr>
            <a:endParaRPr lang="en-US" sz="1800" dirty="0"/>
          </a:p>
          <a:p>
            <a:pPr>
              <a:buAutoNum type="arabicPeriod"/>
            </a:pPr>
            <a:endParaRPr lang="en-US" dirty="0"/>
          </a:p>
          <a:p>
            <a:pPr>
              <a:buAutoNum type="arabicPeriod"/>
            </a:pPr>
            <a:endParaRPr lang="en-US" sz="1800" dirty="0"/>
          </a:p>
          <a:p>
            <a:pPr>
              <a:buAutoNum type="arabicPeriod"/>
            </a:pPr>
            <a:endParaRPr lang="en-US" dirty="0"/>
          </a:p>
          <a:p>
            <a:pPr marL="0" indent="0">
              <a:buNone/>
            </a:pPr>
            <a:endParaRPr lang="en-US" sz="1800" dirty="0"/>
          </a:p>
          <a:p>
            <a:pPr marL="0" indent="0">
              <a:buNone/>
            </a:pPr>
            <a:endParaRPr lang="en-US" sz="1800" dirty="0"/>
          </a:p>
          <a:p>
            <a:pPr marL="0" indent="0">
              <a:buNone/>
            </a:pPr>
            <a:endParaRPr lang="en-US" dirty="0"/>
          </a:p>
          <a:p>
            <a:pPr marL="0" indent="0">
              <a:buNone/>
            </a:pPr>
            <a:endParaRPr lang="en-US" sz="1800" dirty="0"/>
          </a:p>
        </p:txBody>
      </p:sp>
      <p:sp>
        <p:nvSpPr>
          <p:cNvPr id="3" name="Title 2">
            <a:extLst>
              <a:ext uri="{FF2B5EF4-FFF2-40B4-BE49-F238E27FC236}">
                <a16:creationId xmlns:a16="http://schemas.microsoft.com/office/drawing/2014/main" id="{F44AC68C-640F-0DC0-2451-F46568E29A13}"/>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DA69EF37-2999-018A-BAAE-DB6B2EB946F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5A6A6177-0196-6402-BC55-83556C1413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C1D04481-74AC-2247-F5EB-BDBC1DBE3AE7}"/>
              </a:ext>
            </a:extLst>
          </p:cNvPr>
          <p:cNvSpPr/>
          <p:nvPr/>
        </p:nvSpPr>
        <p:spPr>
          <a:xfrm>
            <a:off x="1780033" y="1803186"/>
            <a:ext cx="8439912" cy="1444752"/>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The key rules of questioning are: (1) don’t start it too soon, and (2) don’t do too much of it (this is not a cross-examination)</a:t>
            </a:r>
          </a:p>
        </p:txBody>
      </p:sp>
    </p:spTree>
    <p:extLst>
      <p:ext uri="{BB962C8B-B14F-4D97-AF65-F5344CB8AC3E}">
        <p14:creationId xmlns:p14="http://schemas.microsoft.com/office/powerpoint/2010/main" val="1682794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6F26-5127-074A-DA3E-718749B9B2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8D1E1A-E28A-25A6-3BA6-140DA4B7ADC8}"/>
              </a:ext>
            </a:extLst>
          </p:cNvPr>
          <p:cNvSpPr>
            <a:spLocks noGrp="1"/>
          </p:cNvSpPr>
          <p:nvPr>
            <p:ph sz="quarter" idx="16"/>
          </p:nvPr>
        </p:nvSpPr>
        <p:spPr>
          <a:xfrm>
            <a:off x="8571738" y="2308126"/>
            <a:ext cx="2575052" cy="1060704"/>
          </a:xfrm>
        </p:spPr>
        <p:txBody>
          <a:bodyPr>
            <a:normAutofit/>
          </a:bodyPr>
          <a:lstStyle/>
          <a:p>
            <a:pPr marL="0" indent="0">
              <a:buNone/>
            </a:pPr>
            <a:endParaRPr lang="en-US" b="1" dirty="0">
              <a:solidFill>
                <a:schemeClr val="accent5"/>
              </a:solidFill>
            </a:endParaRPr>
          </a:p>
          <a:p>
            <a:pPr marL="0" indent="0">
              <a:buNone/>
            </a:pPr>
            <a:r>
              <a:rPr lang="en-US" sz="1800" b="1" dirty="0">
                <a:solidFill>
                  <a:schemeClr val="accent5"/>
                </a:solidFill>
              </a:rPr>
              <a:t>T-Funnel Questioning</a:t>
            </a:r>
          </a:p>
          <a:p>
            <a:pPr>
              <a:buAutoNum type="arabicPeriod"/>
            </a:pPr>
            <a:endParaRPr lang="en-US" b="1" dirty="0">
              <a:solidFill>
                <a:schemeClr val="accent5"/>
              </a:solidFill>
            </a:endParaRPr>
          </a:p>
          <a:p>
            <a:pPr>
              <a:buAutoNum type="arabicPeriod"/>
            </a:pPr>
            <a:endParaRPr lang="en-US" sz="1800" b="1" dirty="0">
              <a:solidFill>
                <a:schemeClr val="accent5"/>
              </a:solidFill>
            </a:endParaRPr>
          </a:p>
          <a:p>
            <a:pPr>
              <a:buAutoNum type="arabicPeriod"/>
            </a:pPr>
            <a:endParaRPr lang="en-US" b="1" dirty="0">
              <a:solidFill>
                <a:schemeClr val="accent5"/>
              </a:solidFill>
            </a:endParaRPr>
          </a:p>
          <a:p>
            <a:pPr marL="0" indent="0">
              <a:buNone/>
            </a:pPr>
            <a:endParaRPr lang="en-US" sz="1800" b="1" dirty="0">
              <a:solidFill>
                <a:schemeClr val="accent5"/>
              </a:solidFill>
            </a:endParaRPr>
          </a:p>
          <a:p>
            <a:pPr marL="0" indent="0">
              <a:buNone/>
            </a:pPr>
            <a:endParaRPr lang="en-US" sz="1800" b="1" dirty="0">
              <a:solidFill>
                <a:schemeClr val="accent5"/>
              </a:solidFill>
            </a:endParaRPr>
          </a:p>
          <a:p>
            <a:pPr marL="0" indent="0">
              <a:buNone/>
            </a:pPr>
            <a:endParaRPr lang="en-US" b="1" dirty="0">
              <a:solidFill>
                <a:schemeClr val="accent5"/>
              </a:solidFill>
            </a:endParaRPr>
          </a:p>
          <a:p>
            <a:pPr marL="0" indent="0">
              <a:buNone/>
            </a:pPr>
            <a:endParaRPr lang="en-US" sz="1800" b="1" dirty="0">
              <a:solidFill>
                <a:schemeClr val="accent5"/>
              </a:solidFill>
            </a:endParaRPr>
          </a:p>
        </p:txBody>
      </p:sp>
      <p:sp>
        <p:nvSpPr>
          <p:cNvPr id="3" name="Title 2">
            <a:extLst>
              <a:ext uri="{FF2B5EF4-FFF2-40B4-BE49-F238E27FC236}">
                <a16:creationId xmlns:a16="http://schemas.microsoft.com/office/drawing/2014/main" id="{EE7AE5EF-9CF9-0C28-981E-E6222F21C832}"/>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EFB07211-FA22-8E53-675A-FB5E9712B72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873E98D2-4F50-21C2-D94E-A451FEAF71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80525778-3FA7-B0B0-71EF-C01D5F665909}"/>
              </a:ext>
            </a:extLst>
          </p:cNvPr>
          <p:cNvCxnSpPr/>
          <p:nvPr/>
        </p:nvCxnSpPr>
        <p:spPr>
          <a:xfrm>
            <a:off x="2039112" y="1984248"/>
            <a:ext cx="5056632" cy="0"/>
          </a:xfrm>
          <a:prstGeom prst="line">
            <a:avLst/>
          </a:prstGeom>
          <a:ln w="76200"/>
        </p:spPr>
        <p:style>
          <a:lnRef idx="1">
            <a:schemeClr val="accent5"/>
          </a:lnRef>
          <a:fillRef idx="0">
            <a:schemeClr val="accent5"/>
          </a:fillRef>
          <a:effectRef idx="0">
            <a:schemeClr val="accent5"/>
          </a:effectRef>
          <a:fontRef idx="minor">
            <a:schemeClr val="tx1"/>
          </a:fontRef>
        </p:style>
      </p:cxnSp>
      <p:cxnSp>
        <p:nvCxnSpPr>
          <p:cNvPr id="10" name="Straight Connector 9">
            <a:extLst>
              <a:ext uri="{FF2B5EF4-FFF2-40B4-BE49-F238E27FC236}">
                <a16:creationId xmlns:a16="http://schemas.microsoft.com/office/drawing/2014/main" id="{B4097FF4-9ECC-01A9-DAF7-7AD6F3EEEB4A}"/>
              </a:ext>
            </a:extLst>
          </p:cNvPr>
          <p:cNvCxnSpPr/>
          <p:nvPr/>
        </p:nvCxnSpPr>
        <p:spPr>
          <a:xfrm>
            <a:off x="4507992" y="2011680"/>
            <a:ext cx="0" cy="3621024"/>
          </a:xfrm>
          <a:prstGeom prst="line">
            <a:avLst/>
          </a:prstGeom>
          <a:ln w="76200"/>
        </p:spPr>
        <p:style>
          <a:lnRef idx="1">
            <a:schemeClr val="accent5"/>
          </a:lnRef>
          <a:fillRef idx="0">
            <a:schemeClr val="accent5"/>
          </a:fillRef>
          <a:effectRef idx="0">
            <a:schemeClr val="accent5"/>
          </a:effectRef>
          <a:fontRef idx="minor">
            <a:schemeClr val="tx1"/>
          </a:fontRef>
        </p:style>
      </p:cxnSp>
      <p:cxnSp>
        <p:nvCxnSpPr>
          <p:cNvPr id="13" name="Straight Arrow Connector 12">
            <a:extLst>
              <a:ext uri="{FF2B5EF4-FFF2-40B4-BE49-F238E27FC236}">
                <a16:creationId xmlns:a16="http://schemas.microsoft.com/office/drawing/2014/main" id="{AF3BF7BC-F1CD-0AB7-A55F-2F445858E4BC}"/>
              </a:ext>
            </a:extLst>
          </p:cNvPr>
          <p:cNvCxnSpPr/>
          <p:nvPr/>
        </p:nvCxnSpPr>
        <p:spPr>
          <a:xfrm>
            <a:off x="1636776" y="2468880"/>
            <a:ext cx="2048256" cy="3008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4DBCE03-C926-648B-C09F-8C0E9DFAFCDC}"/>
              </a:ext>
            </a:extLst>
          </p:cNvPr>
          <p:cNvCxnSpPr>
            <a:cxnSpLocks/>
          </p:cNvCxnSpPr>
          <p:nvPr/>
        </p:nvCxnSpPr>
        <p:spPr>
          <a:xfrm flipH="1">
            <a:off x="5393558" y="2587752"/>
            <a:ext cx="1903354" cy="288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Graphic 19" descr="Filter outline">
            <a:extLst>
              <a:ext uri="{FF2B5EF4-FFF2-40B4-BE49-F238E27FC236}">
                <a16:creationId xmlns:a16="http://schemas.microsoft.com/office/drawing/2014/main" id="{3B7DD068-D8FB-F9BB-D4EA-F72CD863D7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37600" y="3140182"/>
            <a:ext cx="2243328" cy="2243328"/>
          </a:xfrm>
          <a:prstGeom prst="rect">
            <a:avLst/>
          </a:prstGeom>
        </p:spPr>
      </p:pic>
      <p:sp>
        <p:nvSpPr>
          <p:cNvPr id="21" name="TextBox 20">
            <a:extLst>
              <a:ext uri="{FF2B5EF4-FFF2-40B4-BE49-F238E27FC236}">
                <a16:creationId xmlns:a16="http://schemas.microsoft.com/office/drawing/2014/main" id="{05A67735-3DB6-8FC2-FE72-51676A8AC8E8}"/>
              </a:ext>
            </a:extLst>
          </p:cNvPr>
          <p:cNvSpPr txBox="1"/>
          <p:nvPr/>
        </p:nvSpPr>
        <p:spPr>
          <a:xfrm>
            <a:off x="2156460" y="2199512"/>
            <a:ext cx="1828799" cy="369332"/>
          </a:xfrm>
          <a:prstGeom prst="rect">
            <a:avLst/>
          </a:prstGeom>
          <a:noFill/>
        </p:spPr>
        <p:txBody>
          <a:bodyPr wrap="square" rtlCol="0">
            <a:spAutoFit/>
          </a:bodyPr>
          <a:lstStyle/>
          <a:p>
            <a:r>
              <a:rPr lang="en-AU" dirty="0"/>
              <a:t>Broad open</a:t>
            </a:r>
          </a:p>
        </p:txBody>
      </p:sp>
      <p:sp>
        <p:nvSpPr>
          <p:cNvPr id="22" name="TextBox 21">
            <a:extLst>
              <a:ext uri="{FF2B5EF4-FFF2-40B4-BE49-F238E27FC236}">
                <a16:creationId xmlns:a16="http://schemas.microsoft.com/office/drawing/2014/main" id="{69C242F1-D4BD-5C75-5CEC-43507D859310}"/>
              </a:ext>
            </a:extLst>
          </p:cNvPr>
          <p:cNvSpPr txBox="1"/>
          <p:nvPr/>
        </p:nvSpPr>
        <p:spPr>
          <a:xfrm>
            <a:off x="2970398" y="3455362"/>
            <a:ext cx="1828799" cy="369332"/>
          </a:xfrm>
          <a:prstGeom prst="rect">
            <a:avLst/>
          </a:prstGeom>
          <a:noFill/>
        </p:spPr>
        <p:txBody>
          <a:bodyPr wrap="square" rtlCol="0">
            <a:spAutoFit/>
          </a:bodyPr>
          <a:lstStyle/>
          <a:p>
            <a:r>
              <a:rPr lang="en-AU" dirty="0"/>
              <a:t>Detailed</a:t>
            </a:r>
          </a:p>
        </p:txBody>
      </p:sp>
      <p:sp>
        <p:nvSpPr>
          <p:cNvPr id="23" name="TextBox 22">
            <a:extLst>
              <a:ext uri="{FF2B5EF4-FFF2-40B4-BE49-F238E27FC236}">
                <a16:creationId xmlns:a16="http://schemas.microsoft.com/office/drawing/2014/main" id="{148039D2-67FF-F3EF-3CA2-67B597676FDC}"/>
              </a:ext>
            </a:extLst>
          </p:cNvPr>
          <p:cNvSpPr txBox="1"/>
          <p:nvPr/>
        </p:nvSpPr>
        <p:spPr>
          <a:xfrm>
            <a:off x="2619759" y="2838478"/>
            <a:ext cx="1828799" cy="369332"/>
          </a:xfrm>
          <a:prstGeom prst="rect">
            <a:avLst/>
          </a:prstGeom>
          <a:noFill/>
        </p:spPr>
        <p:txBody>
          <a:bodyPr wrap="square" rtlCol="0">
            <a:spAutoFit/>
          </a:bodyPr>
          <a:lstStyle/>
          <a:p>
            <a:r>
              <a:rPr lang="en-AU" dirty="0"/>
              <a:t>Open</a:t>
            </a:r>
          </a:p>
        </p:txBody>
      </p:sp>
      <p:sp>
        <p:nvSpPr>
          <p:cNvPr id="24" name="TextBox 23">
            <a:extLst>
              <a:ext uri="{FF2B5EF4-FFF2-40B4-BE49-F238E27FC236}">
                <a16:creationId xmlns:a16="http://schemas.microsoft.com/office/drawing/2014/main" id="{51B504EB-1C80-6B0F-4D5C-06B108D24533}"/>
              </a:ext>
            </a:extLst>
          </p:cNvPr>
          <p:cNvSpPr txBox="1"/>
          <p:nvPr/>
        </p:nvSpPr>
        <p:spPr>
          <a:xfrm>
            <a:off x="3213415" y="4077180"/>
            <a:ext cx="1828799" cy="369332"/>
          </a:xfrm>
          <a:prstGeom prst="rect">
            <a:avLst/>
          </a:prstGeom>
          <a:noFill/>
        </p:spPr>
        <p:txBody>
          <a:bodyPr wrap="square" rtlCol="0">
            <a:spAutoFit/>
          </a:bodyPr>
          <a:lstStyle/>
          <a:p>
            <a:r>
              <a:rPr lang="en-AU" dirty="0"/>
              <a:t>Nitty-gritty</a:t>
            </a:r>
          </a:p>
        </p:txBody>
      </p:sp>
      <p:sp>
        <p:nvSpPr>
          <p:cNvPr id="25" name="TextBox 24">
            <a:extLst>
              <a:ext uri="{FF2B5EF4-FFF2-40B4-BE49-F238E27FC236}">
                <a16:creationId xmlns:a16="http://schemas.microsoft.com/office/drawing/2014/main" id="{D4CB4647-9566-1232-43C1-241142F88339}"/>
              </a:ext>
            </a:extLst>
          </p:cNvPr>
          <p:cNvSpPr txBox="1"/>
          <p:nvPr/>
        </p:nvSpPr>
        <p:spPr>
          <a:xfrm>
            <a:off x="3698046" y="1514949"/>
            <a:ext cx="1619891" cy="369332"/>
          </a:xfrm>
          <a:prstGeom prst="rect">
            <a:avLst/>
          </a:prstGeom>
          <a:noFill/>
        </p:spPr>
        <p:txBody>
          <a:bodyPr wrap="square" rtlCol="0">
            <a:spAutoFit/>
          </a:bodyPr>
          <a:lstStyle/>
          <a:p>
            <a:r>
              <a:rPr lang="en-AU" dirty="0"/>
              <a:t>QUESTIONS</a:t>
            </a:r>
          </a:p>
        </p:txBody>
      </p:sp>
      <p:sp>
        <p:nvSpPr>
          <p:cNvPr id="26" name="TextBox 25">
            <a:extLst>
              <a:ext uri="{FF2B5EF4-FFF2-40B4-BE49-F238E27FC236}">
                <a16:creationId xmlns:a16="http://schemas.microsoft.com/office/drawing/2014/main" id="{DCA53F85-6FF2-40B8-CC86-1A9E1AF7DB7F}"/>
              </a:ext>
            </a:extLst>
          </p:cNvPr>
          <p:cNvSpPr txBox="1"/>
          <p:nvPr/>
        </p:nvSpPr>
        <p:spPr>
          <a:xfrm rot="18000477">
            <a:off x="5002270" y="3336769"/>
            <a:ext cx="1828799" cy="369332"/>
          </a:xfrm>
          <a:prstGeom prst="rect">
            <a:avLst/>
          </a:prstGeom>
          <a:noFill/>
        </p:spPr>
        <p:txBody>
          <a:bodyPr wrap="square" rtlCol="0">
            <a:spAutoFit/>
          </a:bodyPr>
          <a:lstStyle/>
          <a:p>
            <a:pPr algn="ctr"/>
            <a:r>
              <a:rPr lang="en-AU" dirty="0"/>
              <a:t>Clarification </a:t>
            </a:r>
          </a:p>
        </p:txBody>
      </p:sp>
    </p:spTree>
    <p:extLst>
      <p:ext uri="{BB962C8B-B14F-4D97-AF65-F5344CB8AC3E}">
        <p14:creationId xmlns:p14="http://schemas.microsoft.com/office/powerpoint/2010/main" val="2246440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2BD13-BEED-909E-7743-1FCA4A3E01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BF0FE2-8E85-D7D8-A642-1DC8D8715FA5}"/>
              </a:ext>
            </a:extLst>
          </p:cNvPr>
          <p:cNvSpPr>
            <a:spLocks noGrp="1"/>
          </p:cNvSpPr>
          <p:nvPr>
            <p:ph sz="quarter" idx="16"/>
          </p:nvPr>
        </p:nvSpPr>
        <p:spPr>
          <a:xfrm>
            <a:off x="880994" y="1431036"/>
            <a:ext cx="9025128" cy="4302252"/>
          </a:xfrm>
        </p:spPr>
        <p:txBody>
          <a:bodyPr>
            <a:noAutofit/>
          </a:bodyPr>
          <a:lstStyle/>
          <a:p>
            <a:pPr marL="0" indent="0">
              <a:buNone/>
            </a:pPr>
            <a:endParaRPr lang="en-US" dirty="0"/>
          </a:p>
          <a:p>
            <a:pPr marL="0" indent="0">
              <a:buNone/>
            </a:pPr>
            <a:r>
              <a:rPr lang="en-US" b="1" dirty="0">
                <a:solidFill>
                  <a:schemeClr val="accent5"/>
                </a:solidFill>
              </a:rPr>
              <a:t>1. Broad Open Questions</a:t>
            </a:r>
          </a:p>
          <a:p>
            <a:pPr marL="0" indent="0">
              <a:buNone/>
            </a:pPr>
            <a:r>
              <a:rPr lang="en-US" dirty="0"/>
              <a:t>Start with questions inviting client to share their narrative/story and goals, </a:t>
            </a:r>
            <a:r>
              <a:rPr lang="en-US" dirty="0" err="1"/>
              <a:t>eg</a:t>
            </a:r>
            <a:r>
              <a:rPr lang="en-US" dirty="0"/>
              <a:t>:</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What can I help you with/why have you come to see me? (</a:t>
            </a:r>
            <a:r>
              <a:rPr lang="en-AU" sz="1800" i="1" kern="100" dirty="0">
                <a:effectLst/>
                <a:ea typeface="Calibri" panose="020F0502020204030204" pitchFamily="34" charset="0"/>
                <a:cs typeface="Times New Roman" panose="02020603050405020304" pitchFamily="18" charset="0"/>
              </a:rPr>
              <a:t>interests/goals</a:t>
            </a:r>
            <a:r>
              <a:rPr lang="en-AU" sz="1800" kern="100" dirty="0">
                <a:effectLst/>
                <a:ea typeface="Calibri" panose="020F0502020204030204" pitchFamily="34" charset="0"/>
                <a:cs typeface="Times New Roman" panose="02020603050405020304" pitchFamily="18" charset="0"/>
              </a:rPr>
              <a:t>)</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Could you tell me what happened? </a:t>
            </a:r>
            <a:r>
              <a:rPr lang="en-AU" sz="1800" kern="100" dirty="0">
                <a:ea typeface="Calibri" panose="020F0502020204030204" pitchFamily="34" charset="0"/>
                <a:cs typeface="Times New Roman" panose="02020603050405020304" pitchFamily="18" charset="0"/>
              </a:rPr>
              <a:t>(</a:t>
            </a:r>
            <a:r>
              <a:rPr lang="en-AU" sz="1800" i="1" kern="100" dirty="0">
                <a:effectLst/>
                <a:ea typeface="Calibri" panose="020F0502020204030204" pitchFamily="34" charset="0"/>
                <a:cs typeface="Times New Roman" panose="02020603050405020304" pitchFamily="18" charset="0"/>
              </a:rPr>
              <a:t>facts/narrative</a:t>
            </a:r>
            <a:r>
              <a:rPr lang="en-AU" sz="1800" kern="100" dirty="0">
                <a:effectLst/>
                <a:ea typeface="Calibri" panose="020F0502020204030204" pitchFamily="34" charset="0"/>
                <a:cs typeface="Times New Roman" panose="02020603050405020304" pitchFamily="18" charset="0"/>
              </a:rPr>
              <a:t>)</a:t>
            </a:r>
          </a:p>
          <a:p>
            <a:pPr marL="0" lvl="0" indent="0">
              <a:spcAft>
                <a:spcPts val="800"/>
              </a:spcAft>
              <a:buNone/>
              <a:tabLst>
                <a:tab pos="457200" algn="l"/>
              </a:tabLst>
            </a:pPr>
            <a:endParaRPr lang="en-AU" kern="100" dirty="0">
              <a:ea typeface="Calibri" panose="020F0502020204030204" pitchFamily="34" charset="0"/>
              <a:cs typeface="Times New Roman" panose="02020603050405020304" pitchFamily="18" charset="0"/>
            </a:endParaRPr>
          </a:p>
          <a:p>
            <a:pPr marL="0" lvl="0" indent="0">
              <a:spcAft>
                <a:spcPts val="800"/>
              </a:spcAft>
              <a:buNone/>
              <a:tabLst>
                <a:tab pos="457200" algn="l"/>
              </a:tabLst>
            </a:pPr>
            <a:r>
              <a:rPr lang="en-AU" b="1" kern="100" dirty="0">
                <a:solidFill>
                  <a:schemeClr val="accent5"/>
                </a:solidFill>
                <a:effectLst/>
                <a:ea typeface="Calibri" panose="020F0502020204030204" pitchFamily="34" charset="0"/>
                <a:cs typeface="Times New Roman" panose="02020603050405020304" pitchFamily="18" charset="0"/>
              </a:rPr>
              <a:t>2. General Open Questions</a:t>
            </a:r>
          </a:p>
          <a:p>
            <a:pPr marL="0" lvl="0" indent="0">
              <a:spcAft>
                <a:spcPts val="800"/>
              </a:spcAft>
              <a:buNone/>
              <a:tabLst>
                <a:tab pos="457200" algn="l"/>
              </a:tabLst>
            </a:pPr>
            <a:r>
              <a:rPr lang="en-AU" kern="100" dirty="0">
                <a:ea typeface="Calibri" panose="020F0502020204030204" pitchFamily="34" charset="0"/>
                <a:cs typeface="Times New Roman" panose="02020603050405020304" pitchFamily="18" charset="0"/>
              </a:rPr>
              <a:t>Often ask for clarification to get the client to tell you more, </a:t>
            </a:r>
            <a:r>
              <a:rPr lang="en-AU" kern="100" dirty="0" err="1">
                <a:ea typeface="Calibri" panose="020F0502020204030204" pitchFamily="34" charset="0"/>
                <a:cs typeface="Times New Roman" panose="02020603050405020304" pitchFamily="18" charset="0"/>
              </a:rPr>
              <a:t>eg</a:t>
            </a:r>
            <a:r>
              <a:rPr lang="en-AU" kern="100" dirty="0">
                <a:ea typeface="Calibri" panose="020F0502020204030204" pitchFamily="34" charset="0"/>
                <a:cs typeface="Times New Roman" panose="02020603050405020304" pitchFamily="18" charset="0"/>
              </a:rPr>
              <a:t>:</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What happened next?</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Can you describe that in some more detail?</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Can you give me an example?</a:t>
            </a:r>
          </a:p>
          <a:p>
            <a:pPr lvl="1">
              <a:lnSpc>
                <a:spcPct val="107000"/>
              </a:lnSpc>
              <a:spcAft>
                <a:spcPts val="800"/>
              </a:spcAft>
              <a:buFont typeface="Wingdings" panose="05000000000000000000" pitchFamily="2" charset="2"/>
              <a:buChar char="Ø"/>
              <a:tabLst>
                <a:tab pos="457200" algn="l"/>
              </a:tabLst>
            </a:pPr>
            <a:r>
              <a:rPr lang="en-AU" sz="1800" kern="100" dirty="0">
                <a:effectLst/>
                <a:ea typeface="Calibri" panose="020F0502020204030204" pitchFamily="34" charset="0"/>
                <a:cs typeface="Times New Roman" panose="02020603050405020304" pitchFamily="18" charset="0"/>
              </a:rPr>
              <a:t>I’d like to understand this better – can you tell me some more?</a:t>
            </a:r>
          </a:p>
          <a:p>
            <a:pPr marL="0" indent="0">
              <a:buNone/>
            </a:pPr>
            <a:endParaRPr lang="en-US" dirty="0"/>
          </a:p>
          <a:p>
            <a:pPr>
              <a:buAutoNum type="arabicPeriod"/>
            </a:pPr>
            <a:endParaRPr lang="en-US" dirty="0"/>
          </a:p>
          <a:p>
            <a:pPr>
              <a:buAutoNum type="arabicPeriod"/>
            </a:pPr>
            <a:endParaRPr lang="en-US" dirty="0"/>
          </a:p>
          <a:p>
            <a:pPr>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96D7D0F2-4319-76B8-A3AA-5F94234F41C2}"/>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D2E7EB55-BD9D-6F53-C029-DA089BCAE7E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F1617294-641F-F272-936A-14B666ACED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2073664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8805-9B52-BAA5-D20A-EFDBE74938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4921BC-49CE-A6C4-C8F1-8550DB5A1DAE}"/>
              </a:ext>
            </a:extLst>
          </p:cNvPr>
          <p:cNvSpPr>
            <a:spLocks noGrp="1"/>
          </p:cNvSpPr>
          <p:nvPr>
            <p:ph sz="quarter" idx="16"/>
          </p:nvPr>
        </p:nvSpPr>
        <p:spPr>
          <a:xfrm>
            <a:off x="880994" y="1431036"/>
            <a:ext cx="9025128" cy="4302252"/>
          </a:xfrm>
        </p:spPr>
        <p:txBody>
          <a:bodyPr>
            <a:noAutofit/>
          </a:bodyPr>
          <a:lstStyle/>
          <a:p>
            <a:pPr marL="0" indent="0">
              <a:buNone/>
            </a:pPr>
            <a:endParaRPr lang="en-US" dirty="0"/>
          </a:p>
          <a:p>
            <a:pPr marL="0" indent="0">
              <a:buNone/>
            </a:pPr>
            <a:r>
              <a:rPr lang="en-US" b="1" dirty="0">
                <a:solidFill>
                  <a:schemeClr val="accent5"/>
                </a:solidFill>
              </a:rPr>
              <a:t>3. Detailed Questions</a:t>
            </a:r>
          </a:p>
          <a:p>
            <a:pPr marL="0" indent="0">
              <a:buNone/>
            </a:pPr>
            <a:r>
              <a:rPr lang="en-AU" dirty="0"/>
              <a:t>Once you have obtained the story with relevant additions, move towards more pointed questions, </a:t>
            </a:r>
            <a:r>
              <a:rPr lang="en-AU" dirty="0" err="1"/>
              <a:t>eg</a:t>
            </a:r>
            <a:r>
              <a:rPr lang="en-AU" dirty="0"/>
              <a:t>:</a:t>
            </a:r>
          </a:p>
          <a:p>
            <a:pPr lvl="1">
              <a:buFont typeface="Wingdings" panose="05000000000000000000" pitchFamily="2" charset="2"/>
              <a:buChar char="Ø"/>
            </a:pPr>
            <a:r>
              <a:rPr lang="en-AU" sz="1800" dirty="0"/>
              <a:t>Would you be able to describe the car that hit you?</a:t>
            </a:r>
          </a:p>
          <a:p>
            <a:pPr lvl="1">
              <a:buFont typeface="Wingdings" panose="05000000000000000000" pitchFamily="2" charset="2"/>
              <a:buChar char="Ø"/>
            </a:pPr>
            <a:r>
              <a:rPr lang="en-AU" sz="1800" dirty="0"/>
              <a:t>Does your workplace have an anti-harassment policy (that you know of)?</a:t>
            </a:r>
          </a:p>
          <a:p>
            <a:pPr lvl="1">
              <a:buFont typeface="Wingdings" panose="05000000000000000000" pitchFamily="2" charset="2"/>
              <a:buChar char="Ø"/>
            </a:pPr>
            <a:r>
              <a:rPr lang="en-AU" sz="1800" dirty="0"/>
              <a:t>What injuries did the hospital diagnose after you had the accident?</a:t>
            </a:r>
          </a:p>
          <a:p>
            <a:pPr marL="0" indent="0">
              <a:buNone/>
            </a:pPr>
            <a:endParaRPr lang="en-AU" dirty="0"/>
          </a:p>
          <a:p>
            <a:pPr marL="0" indent="0">
              <a:buNone/>
            </a:pPr>
            <a:r>
              <a:rPr lang="en-AU" b="1" dirty="0">
                <a:solidFill>
                  <a:schemeClr val="accent5"/>
                </a:solidFill>
              </a:rPr>
              <a:t>4. Nitty Gritty Questions</a:t>
            </a:r>
          </a:p>
          <a:p>
            <a:pPr marL="0" indent="0">
              <a:buNone/>
            </a:pPr>
            <a:r>
              <a:rPr lang="en-AU" dirty="0"/>
              <a:t>These questions really get down to the details – your client might not have an immediate answer, </a:t>
            </a:r>
            <a:r>
              <a:rPr lang="en-AU" dirty="0" err="1"/>
              <a:t>eg</a:t>
            </a:r>
            <a:r>
              <a:rPr lang="en-AU" dirty="0"/>
              <a:t>:</a:t>
            </a:r>
          </a:p>
          <a:p>
            <a:pPr lvl="1">
              <a:lnSpc>
                <a:spcPct val="107000"/>
              </a:lnSpc>
              <a:buFont typeface="Wingdings" panose="05000000000000000000" pitchFamily="2" charset="2"/>
              <a:buChar char="Ø"/>
              <a:tabLst>
                <a:tab pos="457200" algn="l"/>
              </a:tabLst>
            </a:pPr>
            <a:r>
              <a:rPr lang="en-US" sz="1800" dirty="0">
                <a:effectLst/>
                <a:ea typeface="Calibri" panose="020F0502020204030204" pitchFamily="34" charset="0"/>
                <a:cs typeface="Times New Roman" panose="02020603050405020304" pitchFamily="18" charset="0"/>
              </a:rPr>
              <a:t>At what speed was your car travelling? (Do not ask ‘were you speeding?’)</a:t>
            </a:r>
            <a:endParaRPr lang="en-AU" sz="1800" dirty="0">
              <a:effectLst/>
              <a:ea typeface="Calibri" panose="020F0502020204030204" pitchFamily="34" charset="0"/>
              <a:cs typeface="Times New Roman" panose="02020603050405020304" pitchFamily="18" charset="0"/>
            </a:endParaRPr>
          </a:p>
          <a:p>
            <a:pPr lvl="1">
              <a:lnSpc>
                <a:spcPct val="107000"/>
              </a:lnSpc>
              <a:buFont typeface="Wingdings" panose="05000000000000000000" pitchFamily="2" charset="2"/>
              <a:buChar char="Ø"/>
              <a:tabLst>
                <a:tab pos="457200" algn="l"/>
              </a:tabLst>
            </a:pPr>
            <a:r>
              <a:rPr lang="en-US" sz="1800" dirty="0">
                <a:effectLst/>
                <a:ea typeface="Calibri" panose="020F0502020204030204" pitchFamily="34" charset="0"/>
                <a:cs typeface="Times New Roman" panose="02020603050405020304" pitchFamily="18" charset="0"/>
              </a:rPr>
              <a:t>What brand was the laptop your co-worker threw on the ground?</a:t>
            </a:r>
            <a:endParaRPr lang="en-AU" sz="1800" dirty="0">
              <a:effectLst/>
              <a:ea typeface="Calibri" panose="020F0502020204030204" pitchFamily="34" charset="0"/>
              <a:cs typeface="Times New Roman" panose="02020603050405020304" pitchFamily="18" charset="0"/>
            </a:endParaRPr>
          </a:p>
          <a:p>
            <a:pPr lvl="1">
              <a:lnSpc>
                <a:spcPct val="107000"/>
              </a:lnSpc>
              <a:spcAft>
                <a:spcPts val="800"/>
              </a:spcAft>
              <a:buFont typeface="Wingdings" panose="05000000000000000000" pitchFamily="2" charset="2"/>
              <a:buChar char="Ø"/>
              <a:tabLst>
                <a:tab pos="457200" algn="l"/>
              </a:tabLst>
            </a:pPr>
            <a:r>
              <a:rPr lang="en-US" sz="1800" dirty="0">
                <a:effectLst/>
                <a:ea typeface="Calibri" panose="020F0502020204030204" pitchFamily="34" charset="0"/>
                <a:cs typeface="Times New Roman" panose="02020603050405020304" pitchFamily="18" charset="0"/>
              </a:rPr>
              <a:t>How many times did you send your </a:t>
            </a:r>
            <a:r>
              <a:rPr lang="en-US" sz="1800" dirty="0" err="1">
                <a:effectLst/>
                <a:ea typeface="Calibri" panose="020F0502020204030204" pitchFamily="34" charset="0"/>
                <a:cs typeface="Times New Roman" panose="02020603050405020304" pitchFamily="18" charset="0"/>
              </a:rPr>
              <a:t>neighbour</a:t>
            </a:r>
            <a:r>
              <a:rPr lang="en-US" sz="1800" dirty="0">
                <a:effectLst/>
                <a:ea typeface="Calibri" panose="020F0502020204030204" pitchFamily="34" charset="0"/>
                <a:cs typeface="Times New Roman" panose="02020603050405020304" pitchFamily="18" charset="0"/>
              </a:rPr>
              <a:t> a text message asking to turn down the volume?</a:t>
            </a:r>
            <a:endParaRPr lang="en-AU" sz="1800" dirty="0">
              <a:effectLst/>
              <a:ea typeface="Calibri" panose="020F0502020204030204" pitchFamily="34" charset="0"/>
              <a:cs typeface="Times New Roman" panose="02020603050405020304" pitchFamily="18" charset="0"/>
            </a:endParaRPr>
          </a:p>
          <a:p>
            <a:pPr marL="0" indent="0">
              <a:buNone/>
            </a:pPr>
            <a:endParaRPr lang="en-US" dirty="0"/>
          </a:p>
          <a:p>
            <a:pPr>
              <a:buAutoNum type="arabicPeriod"/>
            </a:pPr>
            <a:endParaRPr lang="en-US" dirty="0"/>
          </a:p>
          <a:p>
            <a:pPr>
              <a:buAutoNum type="arabicPeriod"/>
            </a:pPr>
            <a:endParaRPr lang="en-US" dirty="0"/>
          </a:p>
          <a:p>
            <a:pPr>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09D23EF6-EA2B-6269-2E7B-BACAF4A282FF}"/>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CBC5C12E-DC8D-99DD-3B65-E618A4B048E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2E0628DE-418C-FA1A-C441-9D3FDBF25F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1329495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D549-3B95-C008-9F80-DDFE6E66FF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B4DDAE-77BD-4FFE-607F-87D113E397F3}"/>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DFA8B6C4-BEBD-54C6-41D7-5F3F6CD79BE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9A4B5545-E5E4-0B12-F1E3-526AB035D2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8" name="Rectangle: Rounded Corners 7">
            <a:extLst>
              <a:ext uri="{FF2B5EF4-FFF2-40B4-BE49-F238E27FC236}">
                <a16:creationId xmlns:a16="http://schemas.microsoft.com/office/drawing/2014/main" id="{CB161171-DB84-0432-1A79-A80C9BDAB58B}"/>
              </a:ext>
            </a:extLst>
          </p:cNvPr>
          <p:cNvSpPr/>
          <p:nvPr/>
        </p:nvSpPr>
        <p:spPr>
          <a:xfrm>
            <a:off x="1322870" y="1953768"/>
            <a:ext cx="3977640" cy="1746504"/>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Open questions</a:t>
            </a:r>
          </a:p>
          <a:p>
            <a:pPr algn="ctr"/>
            <a:endParaRPr lang="en-AU" dirty="0"/>
          </a:p>
          <a:p>
            <a:pPr algn="ctr"/>
            <a:r>
              <a:rPr lang="en-AU" dirty="0"/>
              <a:t>Invites to relate thoughts in client’s own words</a:t>
            </a:r>
          </a:p>
        </p:txBody>
      </p:sp>
      <p:sp>
        <p:nvSpPr>
          <p:cNvPr id="9" name="Rectangle: Rounded Corners 8">
            <a:extLst>
              <a:ext uri="{FF2B5EF4-FFF2-40B4-BE49-F238E27FC236}">
                <a16:creationId xmlns:a16="http://schemas.microsoft.com/office/drawing/2014/main" id="{DF6E0B22-375B-D7D6-8479-DC6B4F851CA9}"/>
              </a:ext>
            </a:extLst>
          </p:cNvPr>
          <p:cNvSpPr/>
          <p:nvPr/>
        </p:nvSpPr>
        <p:spPr>
          <a:xfrm>
            <a:off x="6748780" y="1953768"/>
            <a:ext cx="3977640" cy="1746504"/>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Closed Questions</a:t>
            </a:r>
          </a:p>
          <a:p>
            <a:pPr algn="ctr"/>
            <a:endParaRPr lang="en-AU" dirty="0"/>
          </a:p>
          <a:p>
            <a:pPr algn="ctr"/>
            <a:r>
              <a:rPr lang="en-AU" dirty="0"/>
              <a:t>Directs client to give a specific (and short) response</a:t>
            </a:r>
          </a:p>
        </p:txBody>
      </p:sp>
      <p:sp>
        <p:nvSpPr>
          <p:cNvPr id="10" name="Rectangle: Rounded Corners 9">
            <a:extLst>
              <a:ext uri="{FF2B5EF4-FFF2-40B4-BE49-F238E27FC236}">
                <a16:creationId xmlns:a16="http://schemas.microsoft.com/office/drawing/2014/main" id="{0EE162E1-C7F6-979B-CD8E-D8820D54CA4E}"/>
              </a:ext>
            </a:extLst>
          </p:cNvPr>
          <p:cNvSpPr/>
          <p:nvPr/>
        </p:nvSpPr>
        <p:spPr>
          <a:xfrm>
            <a:off x="1322870" y="4270248"/>
            <a:ext cx="3977640" cy="1746504"/>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Non-leading questions</a:t>
            </a:r>
          </a:p>
          <a:p>
            <a:pPr algn="ctr"/>
            <a:endParaRPr lang="en-AU" dirty="0"/>
          </a:p>
          <a:p>
            <a:pPr algn="ctr"/>
            <a:r>
              <a:rPr lang="en-AU" dirty="0"/>
              <a:t>Helps obtain narrative from client (does not suggest answer)</a:t>
            </a:r>
          </a:p>
        </p:txBody>
      </p:sp>
      <p:sp>
        <p:nvSpPr>
          <p:cNvPr id="11" name="Rectangle: Rounded Corners 10">
            <a:extLst>
              <a:ext uri="{FF2B5EF4-FFF2-40B4-BE49-F238E27FC236}">
                <a16:creationId xmlns:a16="http://schemas.microsoft.com/office/drawing/2014/main" id="{0D3FA61F-ED9E-6386-3C65-3332642DBB49}"/>
              </a:ext>
            </a:extLst>
          </p:cNvPr>
          <p:cNvSpPr/>
          <p:nvPr/>
        </p:nvSpPr>
        <p:spPr>
          <a:xfrm>
            <a:off x="6748780" y="4270248"/>
            <a:ext cx="3977640" cy="1746504"/>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t>Leading questions</a:t>
            </a:r>
          </a:p>
          <a:p>
            <a:pPr algn="ctr"/>
            <a:endParaRPr lang="en-AU" dirty="0"/>
          </a:p>
          <a:p>
            <a:pPr algn="ctr"/>
            <a:r>
              <a:rPr lang="en-AU" dirty="0"/>
              <a:t>Suggests an answer to the question – do not use in interviews</a:t>
            </a:r>
          </a:p>
        </p:txBody>
      </p:sp>
      <p:cxnSp>
        <p:nvCxnSpPr>
          <p:cNvPr id="13" name="Straight Connector 12">
            <a:extLst>
              <a:ext uri="{FF2B5EF4-FFF2-40B4-BE49-F238E27FC236}">
                <a16:creationId xmlns:a16="http://schemas.microsoft.com/office/drawing/2014/main" id="{D29B84DE-FD2A-9A48-0491-7B7DCAF40BCF}"/>
              </a:ext>
            </a:extLst>
          </p:cNvPr>
          <p:cNvCxnSpPr/>
          <p:nvPr/>
        </p:nvCxnSpPr>
        <p:spPr>
          <a:xfrm>
            <a:off x="10042633" y="4380501"/>
            <a:ext cx="411988" cy="56692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ED2CF3-8B98-7231-B2D6-C2E4568744FA}"/>
              </a:ext>
            </a:extLst>
          </p:cNvPr>
          <p:cNvCxnSpPr/>
          <p:nvPr/>
        </p:nvCxnSpPr>
        <p:spPr>
          <a:xfrm flipH="1">
            <a:off x="10042633" y="4417077"/>
            <a:ext cx="426682" cy="516295"/>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7" name="Graphic 16" descr="Checkmark with solid fill">
            <a:extLst>
              <a:ext uri="{FF2B5EF4-FFF2-40B4-BE49-F238E27FC236}">
                <a16:creationId xmlns:a16="http://schemas.microsoft.com/office/drawing/2014/main" id="{14C955F7-A9E8-A64A-C807-9D65FCC744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22648" y="2083045"/>
            <a:ext cx="670560" cy="670560"/>
          </a:xfrm>
          <a:prstGeom prst="rect">
            <a:avLst/>
          </a:prstGeom>
        </p:spPr>
      </p:pic>
      <p:pic>
        <p:nvPicPr>
          <p:cNvPr id="18" name="Graphic 17" descr="Checkmark with solid fill">
            <a:extLst>
              <a:ext uri="{FF2B5EF4-FFF2-40B4-BE49-F238E27FC236}">
                <a16:creationId xmlns:a16="http://schemas.microsoft.com/office/drawing/2014/main" id="{377A87E3-B5FA-4B37-FA39-0D7B6770A4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1896" y="4417077"/>
            <a:ext cx="670560" cy="670560"/>
          </a:xfrm>
          <a:prstGeom prst="rect">
            <a:avLst/>
          </a:prstGeom>
        </p:spPr>
      </p:pic>
      <p:pic>
        <p:nvPicPr>
          <p:cNvPr id="19" name="Graphic 18" descr="Checkmark with solid fill">
            <a:extLst>
              <a:ext uri="{FF2B5EF4-FFF2-40B4-BE49-F238E27FC236}">
                <a16:creationId xmlns:a16="http://schemas.microsoft.com/office/drawing/2014/main" id="{49276B8C-3C2C-F172-79D6-899E83E145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24720" y="2070709"/>
            <a:ext cx="670560" cy="670560"/>
          </a:xfrm>
          <a:prstGeom prst="rect">
            <a:avLst/>
          </a:prstGeom>
        </p:spPr>
      </p:pic>
    </p:spTree>
    <p:extLst>
      <p:ext uri="{BB962C8B-B14F-4D97-AF65-F5344CB8AC3E}">
        <p14:creationId xmlns:p14="http://schemas.microsoft.com/office/powerpoint/2010/main" val="3877808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B314-6BD2-348D-3AFA-4D46151E3C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BA0594-7B4E-0467-99C4-AA3661ABD0E3}"/>
              </a:ext>
            </a:extLst>
          </p:cNvPr>
          <p:cNvSpPr>
            <a:spLocks noGrp="1"/>
          </p:cNvSpPr>
          <p:nvPr>
            <p:ph sz="quarter" idx="16"/>
          </p:nvPr>
        </p:nvSpPr>
        <p:spPr>
          <a:xfrm>
            <a:off x="880994" y="1357884"/>
            <a:ext cx="9025128" cy="4302252"/>
          </a:xfrm>
        </p:spPr>
        <p:txBody>
          <a:bodyPr>
            <a:noAutofit/>
          </a:bodyPr>
          <a:lstStyle/>
          <a:p>
            <a:pPr marL="0" indent="0">
              <a:buNone/>
            </a:pPr>
            <a:endParaRPr lang="en-US" dirty="0"/>
          </a:p>
          <a:p>
            <a:pPr marL="0" indent="0">
              <a:buNone/>
            </a:pPr>
            <a:r>
              <a:rPr lang="en-US" b="1" dirty="0">
                <a:solidFill>
                  <a:schemeClr val="accent5"/>
                </a:solidFill>
              </a:rPr>
              <a:t>Questioners beware!</a:t>
            </a:r>
          </a:p>
          <a:p>
            <a:pPr lvl="1">
              <a:buFont typeface="Arial" panose="020B0604020202020204" pitchFamily="34" charset="0"/>
              <a:buChar char="•"/>
            </a:pPr>
            <a:r>
              <a:rPr lang="en-US" sz="1800" dirty="0"/>
              <a:t>Ask only one question at a time </a:t>
            </a:r>
          </a:p>
          <a:p>
            <a:pPr lvl="1">
              <a:buFont typeface="Arial" panose="020B0604020202020204" pitchFamily="34" charset="0"/>
              <a:buChar char="•"/>
            </a:pPr>
            <a:r>
              <a:rPr lang="en-US" sz="1800" dirty="0"/>
              <a:t>No compound questions &amp; questions within questions</a:t>
            </a:r>
          </a:p>
          <a:p>
            <a:pPr lvl="1">
              <a:buFont typeface="Arial" panose="020B0604020202020204" pitchFamily="34" charset="0"/>
              <a:buChar char="•"/>
            </a:pPr>
            <a:r>
              <a:rPr lang="en-US" sz="1800" dirty="0"/>
              <a:t>Use plain words</a:t>
            </a:r>
          </a:p>
          <a:p>
            <a:pPr lvl="1">
              <a:buFont typeface="Arial" panose="020B0604020202020204" pitchFamily="34" charset="0"/>
              <a:buChar char="•"/>
            </a:pPr>
            <a:r>
              <a:rPr lang="en-US" sz="1800" dirty="0"/>
              <a:t>Use short questions</a:t>
            </a:r>
          </a:p>
          <a:p>
            <a:pPr lvl="1">
              <a:buFont typeface="Arial" panose="020B0604020202020204" pitchFamily="34" charset="0"/>
              <a:buChar char="•"/>
            </a:pPr>
            <a:r>
              <a:rPr lang="en-US" sz="1800" dirty="0"/>
              <a:t>Avoid double negatives</a:t>
            </a:r>
          </a:p>
          <a:p>
            <a:pPr lvl="1">
              <a:buFont typeface="Arial" panose="020B0604020202020204" pitchFamily="34" charset="0"/>
              <a:buChar char="•"/>
            </a:pPr>
            <a:r>
              <a:rPr lang="en-US" sz="1800" dirty="0"/>
              <a:t>Not too many questions overall </a:t>
            </a:r>
          </a:p>
          <a:p>
            <a:pPr marL="0" indent="0">
              <a:buNone/>
            </a:pPr>
            <a:endParaRPr lang="en-US" dirty="0"/>
          </a:p>
          <a:p>
            <a:pPr>
              <a:buAutoNum type="arabicPeriod"/>
            </a:pPr>
            <a:endParaRPr lang="en-US" dirty="0"/>
          </a:p>
          <a:p>
            <a:pPr>
              <a:buAutoNum type="arabicPeriod"/>
            </a:pPr>
            <a:endParaRPr lang="en-US" dirty="0"/>
          </a:p>
          <a:p>
            <a:pPr>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CA8648EC-DF01-E2F4-4D9B-F9C3BC609C7C}"/>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076CC318-986F-2E76-A8DA-E9D8A094578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72C39A95-03F8-4DC7-E7FA-3A59DF9466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AB16AA47-1D10-84CE-8F72-CC9C306CC612}"/>
              </a:ext>
            </a:extLst>
          </p:cNvPr>
          <p:cNvSpPr/>
          <p:nvPr/>
        </p:nvSpPr>
        <p:spPr>
          <a:xfrm>
            <a:off x="1655064" y="4259921"/>
            <a:ext cx="9290304" cy="2121408"/>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solidFill>
                  <a:schemeClr val="tx1"/>
                </a:solidFill>
              </a:rPr>
              <a:t>Does your client’s first language</a:t>
            </a:r>
            <a:r>
              <a:rPr lang="en-AU" b="0" i="0" dirty="0">
                <a:solidFill>
                  <a:schemeClr val="tx1"/>
                </a:solidFill>
                <a:effectLst/>
              </a:rPr>
              <a:t> respond to the grammatical structure or the proposition of a sentence? </a:t>
            </a:r>
            <a:r>
              <a:rPr lang="en-AU" b="0" i="0" dirty="0" err="1">
                <a:solidFill>
                  <a:schemeClr val="tx1"/>
                </a:solidFill>
                <a:effectLst/>
              </a:rPr>
              <a:t>Eg</a:t>
            </a:r>
            <a:r>
              <a:rPr lang="en-AU" b="0" i="0" dirty="0">
                <a:solidFill>
                  <a:schemeClr val="tx1"/>
                </a:solidFill>
                <a:effectLst/>
              </a:rPr>
              <a:t>, if the client did not go to their sister's house and you ask them </a:t>
            </a:r>
          </a:p>
          <a:p>
            <a:pPr algn="ctr"/>
            <a:r>
              <a:rPr lang="en-AU" dirty="0">
                <a:solidFill>
                  <a:schemeClr val="tx1"/>
                </a:solidFill>
              </a:rPr>
              <a:t>‘</a:t>
            </a:r>
            <a:r>
              <a:rPr lang="en-AU" b="0" i="0" dirty="0">
                <a:solidFill>
                  <a:schemeClr val="tx1"/>
                </a:solidFill>
                <a:effectLst/>
              </a:rPr>
              <a:t>so, you did not go to your sister's house?’:</a:t>
            </a:r>
          </a:p>
          <a:p>
            <a:pPr algn="ctr"/>
            <a:endParaRPr lang="en-AU" sz="1200" b="0" i="0" dirty="0">
              <a:solidFill>
                <a:schemeClr val="tx1"/>
              </a:solidFill>
              <a:effectLst/>
            </a:endParaRPr>
          </a:p>
          <a:p>
            <a:pPr algn="ctr">
              <a:buFont typeface="Arial" panose="020B0604020202020204" pitchFamily="34" charset="0"/>
              <a:buChar char="•"/>
            </a:pPr>
            <a:r>
              <a:rPr lang="en-AU" b="0" i="0" dirty="0">
                <a:solidFill>
                  <a:schemeClr val="tx1"/>
                </a:solidFill>
                <a:effectLst/>
              </a:rPr>
              <a:t> Grammatical: "no" [I did not go]</a:t>
            </a:r>
          </a:p>
          <a:p>
            <a:pPr algn="ctr">
              <a:buFont typeface="Arial" panose="020B0604020202020204" pitchFamily="34" charset="0"/>
              <a:buChar char="•"/>
            </a:pPr>
            <a:r>
              <a:rPr lang="en-AU" b="0" i="0" dirty="0">
                <a:solidFill>
                  <a:schemeClr val="tx1"/>
                </a:solidFill>
                <a:effectLst/>
              </a:rPr>
              <a:t> Proposition : "yes" [you are correct that I did not go]</a:t>
            </a:r>
          </a:p>
        </p:txBody>
      </p:sp>
    </p:spTree>
    <p:extLst>
      <p:ext uri="{BB962C8B-B14F-4D97-AF65-F5344CB8AC3E}">
        <p14:creationId xmlns:p14="http://schemas.microsoft.com/office/powerpoint/2010/main" val="2371530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A43C2-5E27-0F85-60EE-F68BBE4EA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19A924-D65F-7D7A-C9DF-0CD1FE9D4AF5}"/>
              </a:ext>
            </a:extLst>
          </p:cNvPr>
          <p:cNvSpPr>
            <a:spLocks noGrp="1"/>
          </p:cNvSpPr>
          <p:nvPr>
            <p:ph type="title"/>
          </p:nvPr>
        </p:nvSpPr>
        <p:spPr>
          <a:xfrm>
            <a:off x="627117" y="588963"/>
            <a:ext cx="9532883" cy="648000"/>
          </a:xfrm>
        </p:spPr>
        <p:txBody>
          <a:bodyPr>
            <a:normAutofit/>
          </a:bodyPr>
          <a:lstStyle/>
          <a:p>
            <a:r>
              <a:rPr lang="en-US" dirty="0"/>
              <a:t>Questioning</a:t>
            </a:r>
          </a:p>
        </p:txBody>
      </p:sp>
      <p:sp>
        <p:nvSpPr>
          <p:cNvPr id="4" name="Footer Placeholder 3">
            <a:extLst>
              <a:ext uri="{FF2B5EF4-FFF2-40B4-BE49-F238E27FC236}">
                <a16:creationId xmlns:a16="http://schemas.microsoft.com/office/drawing/2014/main" id="{9DB4304A-F584-EA8D-7EA7-B47A85956BB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8D4D4CCF-BF01-4092-6DF7-D3AF124983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88559542-FDB3-00EB-CA6E-43B751A076D1}"/>
              </a:ext>
            </a:extLst>
          </p:cNvPr>
          <p:cNvSpPr/>
          <p:nvPr/>
        </p:nvSpPr>
        <p:spPr>
          <a:xfrm>
            <a:off x="1450848" y="1891625"/>
            <a:ext cx="9290304" cy="1711111"/>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algn="ctr"/>
            <a:r>
              <a:rPr lang="en-AU" dirty="0"/>
              <a:t>Being non-judgmental is also key to questioning!</a:t>
            </a:r>
          </a:p>
          <a:p>
            <a:pPr algn="ctr"/>
            <a:endParaRPr lang="en-AU" dirty="0"/>
          </a:p>
          <a:p>
            <a:pPr algn="ctr"/>
            <a:r>
              <a:rPr lang="en-AU" dirty="0" err="1"/>
              <a:t>Eg</a:t>
            </a:r>
            <a:r>
              <a:rPr lang="en-AU" dirty="0"/>
              <a:t>, ‘Can you tell me more about that?’ instead of ‘What did you do that for?’) </a:t>
            </a:r>
            <a:endParaRPr lang="en-AU" b="0" i="0" dirty="0">
              <a:solidFill>
                <a:srgbClr val="212529"/>
              </a:solidFill>
              <a:effectLst/>
            </a:endParaRPr>
          </a:p>
        </p:txBody>
      </p:sp>
      <p:sp>
        <p:nvSpPr>
          <p:cNvPr id="9" name="Rectangle: Rounded Corners 8">
            <a:extLst>
              <a:ext uri="{FF2B5EF4-FFF2-40B4-BE49-F238E27FC236}">
                <a16:creationId xmlns:a16="http://schemas.microsoft.com/office/drawing/2014/main" id="{EE7FA7E7-AD4F-3027-7D49-38F1C8A03734}"/>
              </a:ext>
            </a:extLst>
          </p:cNvPr>
          <p:cNvSpPr/>
          <p:nvPr/>
        </p:nvSpPr>
        <p:spPr>
          <a:xfrm>
            <a:off x="1450848" y="4015556"/>
            <a:ext cx="9290304" cy="2074348"/>
          </a:xfrm>
          <a:prstGeom prst="round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r>
              <a:rPr lang="en-AU" dirty="0">
                <a:solidFill>
                  <a:schemeClr val="tx1"/>
                </a:solidFill>
              </a:rPr>
              <a:t>Reflect on your own questioning:</a:t>
            </a:r>
          </a:p>
          <a:p>
            <a:pPr algn="ctr"/>
            <a:endParaRPr lang="en-AU" b="0" i="0" dirty="0">
              <a:solidFill>
                <a:schemeClr val="tx1"/>
              </a:solidFill>
              <a:effectLst/>
            </a:endParaRPr>
          </a:p>
          <a:p>
            <a:pPr marL="285750" indent="-285750" algn="ctr">
              <a:buFont typeface="Arial" panose="020B0604020202020204" pitchFamily="34" charset="0"/>
              <a:buChar char="•"/>
            </a:pPr>
            <a:r>
              <a:rPr lang="en-AU" b="0" i="0" dirty="0">
                <a:solidFill>
                  <a:schemeClr val="tx1"/>
                </a:solidFill>
                <a:effectLst/>
              </a:rPr>
              <a:t>What questions are you asking</a:t>
            </a:r>
            <a:r>
              <a:rPr lang="en-AU" dirty="0">
                <a:solidFill>
                  <a:schemeClr val="tx1"/>
                </a:solidFill>
              </a:rPr>
              <a:t>? (Are there alternatives?)</a:t>
            </a:r>
          </a:p>
          <a:p>
            <a:pPr marL="285750" indent="-285750" algn="ctr">
              <a:buFont typeface="Arial" panose="020B0604020202020204" pitchFamily="34" charset="0"/>
              <a:buChar char="•"/>
            </a:pPr>
            <a:r>
              <a:rPr lang="en-AU" b="0" i="0" dirty="0">
                <a:solidFill>
                  <a:schemeClr val="tx1"/>
                </a:solidFill>
                <a:effectLst/>
              </a:rPr>
              <a:t>What (types of) questions are available, and which do </a:t>
            </a:r>
            <a:r>
              <a:rPr lang="en-AU" dirty="0">
                <a:solidFill>
                  <a:schemeClr val="tx1"/>
                </a:solidFill>
              </a:rPr>
              <a:t>you tend to use?</a:t>
            </a:r>
          </a:p>
          <a:p>
            <a:pPr marL="285750" indent="-285750" algn="ctr">
              <a:buFont typeface="Arial" panose="020B0604020202020204" pitchFamily="34" charset="0"/>
              <a:buChar char="•"/>
            </a:pPr>
            <a:r>
              <a:rPr lang="en-AU" b="0" i="0" dirty="0">
                <a:solidFill>
                  <a:schemeClr val="tx1"/>
                </a:solidFill>
                <a:effectLst/>
              </a:rPr>
              <a:t>What </a:t>
            </a:r>
            <a:r>
              <a:rPr lang="en-AU" dirty="0">
                <a:solidFill>
                  <a:schemeClr val="tx1"/>
                </a:solidFill>
              </a:rPr>
              <a:t>is the impact of you questioning this person at this point in time?</a:t>
            </a:r>
            <a:endParaRPr lang="en-AU" b="0" i="0" dirty="0">
              <a:solidFill>
                <a:schemeClr val="tx1"/>
              </a:solidFill>
              <a:effectLst/>
            </a:endParaRPr>
          </a:p>
        </p:txBody>
      </p:sp>
    </p:spTree>
    <p:extLst>
      <p:ext uri="{BB962C8B-B14F-4D97-AF65-F5344CB8AC3E}">
        <p14:creationId xmlns:p14="http://schemas.microsoft.com/office/powerpoint/2010/main" val="3586170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51221-000B-5D35-91C9-635835232B6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CFE68AC-677A-D569-5082-58D92D885137}"/>
              </a:ext>
            </a:extLst>
          </p:cNvPr>
          <p:cNvSpPr>
            <a:spLocks noGrp="1"/>
          </p:cNvSpPr>
          <p:nvPr>
            <p:ph type="body" sz="quarter" idx="15"/>
          </p:nvPr>
        </p:nvSpPr>
        <p:spPr>
          <a:xfrm>
            <a:off x="1824566" y="1706154"/>
            <a:ext cx="8542867" cy="503238"/>
          </a:xfrm>
        </p:spPr>
        <p:txBody>
          <a:bodyPr>
            <a:normAutofit/>
          </a:bodyPr>
          <a:lstStyle/>
          <a:p>
            <a:pPr algn="ctr"/>
            <a:r>
              <a:rPr lang="en-US" sz="2400" b="1" dirty="0"/>
              <a:t>BREAK</a:t>
            </a:r>
          </a:p>
        </p:txBody>
      </p:sp>
    </p:spTree>
    <p:extLst>
      <p:ext uri="{BB962C8B-B14F-4D97-AF65-F5344CB8AC3E}">
        <p14:creationId xmlns:p14="http://schemas.microsoft.com/office/powerpoint/2010/main" val="4264083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71F49-91AE-802E-9AA1-14B22BB2E5C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045929A-95C9-E14A-288B-7D5465760661}"/>
              </a:ext>
            </a:extLst>
          </p:cNvPr>
          <p:cNvSpPr>
            <a:spLocks noGrp="1"/>
          </p:cNvSpPr>
          <p:nvPr>
            <p:ph type="body" sz="quarter" idx="15"/>
          </p:nvPr>
        </p:nvSpPr>
        <p:spPr>
          <a:xfrm>
            <a:off x="1824566" y="1706154"/>
            <a:ext cx="8542867" cy="503238"/>
          </a:xfrm>
        </p:spPr>
        <p:txBody>
          <a:bodyPr>
            <a:normAutofit/>
          </a:bodyPr>
          <a:lstStyle/>
          <a:p>
            <a:pPr algn="ctr"/>
            <a:r>
              <a:rPr lang="en-US" sz="2400" b="1" dirty="0"/>
              <a:t>Trauma-informed practice</a:t>
            </a:r>
          </a:p>
        </p:txBody>
      </p:sp>
    </p:spTree>
    <p:extLst>
      <p:ext uri="{BB962C8B-B14F-4D97-AF65-F5344CB8AC3E}">
        <p14:creationId xmlns:p14="http://schemas.microsoft.com/office/powerpoint/2010/main" val="2635500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F124-A1AC-A67F-6240-444D939744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BBCFE2-3F80-3D78-A7BF-99DC502E5600}"/>
              </a:ext>
            </a:extLst>
          </p:cNvPr>
          <p:cNvSpPr>
            <a:spLocks noGrp="1"/>
          </p:cNvSpPr>
          <p:nvPr>
            <p:ph sz="quarter" idx="16"/>
          </p:nvPr>
        </p:nvSpPr>
        <p:spPr>
          <a:xfrm>
            <a:off x="990722" y="1966785"/>
            <a:ext cx="9025128" cy="4302252"/>
          </a:xfrm>
        </p:spPr>
        <p:txBody>
          <a:bodyPr>
            <a:noAutofit/>
          </a:bodyPr>
          <a:lstStyle/>
          <a:p>
            <a:pPr marL="0" indent="0">
              <a:buNone/>
            </a:pPr>
            <a:endParaRPr lang="en-US" dirty="0"/>
          </a:p>
          <a:p>
            <a:pPr marL="0" indent="0">
              <a:buNone/>
            </a:pPr>
            <a:r>
              <a:rPr lang="en-US" b="1" dirty="0">
                <a:solidFill>
                  <a:schemeClr val="accent5"/>
                </a:solidFill>
              </a:rPr>
              <a:t>Overview reminder: Trauma-Informed Practice</a:t>
            </a:r>
          </a:p>
          <a:p>
            <a:pPr marL="742950" lvl="1" indent="-285750">
              <a:buFont typeface="Arial" panose="020B0604020202020204" pitchFamily="34" charset="0"/>
              <a:buChar char="•"/>
            </a:pPr>
            <a:r>
              <a:rPr lang="en-AU" sz="1800" dirty="0"/>
              <a:t>Concept</a:t>
            </a:r>
          </a:p>
          <a:p>
            <a:pPr marL="742950" lvl="1" indent="-285750">
              <a:buFont typeface="Arial" panose="020B0604020202020204" pitchFamily="34" charset="0"/>
              <a:buChar char="•"/>
            </a:pPr>
            <a:r>
              <a:rPr lang="en-AU" sz="1800" dirty="0"/>
              <a:t>Effects</a:t>
            </a:r>
          </a:p>
          <a:p>
            <a:pPr marL="742950" lvl="1" indent="-285750">
              <a:buFont typeface="Arial" panose="020B0604020202020204" pitchFamily="34" charset="0"/>
              <a:buChar char="•"/>
            </a:pPr>
            <a:r>
              <a:rPr lang="en-AU" sz="1800" dirty="0"/>
              <a:t>Rules</a:t>
            </a:r>
          </a:p>
          <a:p>
            <a:pPr marL="742950" lvl="1" indent="-285750">
              <a:buFont typeface="Arial" panose="020B0604020202020204" pitchFamily="34" charset="0"/>
              <a:buChar char="•"/>
            </a:pPr>
            <a:r>
              <a:rPr lang="en-AU" sz="1800" dirty="0"/>
              <a:t>Frameworks</a:t>
            </a:r>
          </a:p>
          <a:p>
            <a:pPr marL="0" indent="0">
              <a:buNone/>
            </a:pPr>
            <a:endParaRPr lang="en-US" dirty="0"/>
          </a:p>
          <a:p>
            <a:pPr>
              <a:buAutoNum type="arabicPeriod"/>
            </a:pPr>
            <a:endParaRPr lang="en-US" dirty="0"/>
          </a:p>
          <a:p>
            <a:pPr>
              <a:buAutoNum type="arabicPeriod"/>
            </a:pPr>
            <a:endParaRPr lang="en-US" dirty="0"/>
          </a:p>
          <a:p>
            <a:pPr>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25F08D09-E26C-1062-C99B-4970AC927206}"/>
              </a:ext>
            </a:extLst>
          </p:cNvPr>
          <p:cNvSpPr>
            <a:spLocks noGrp="1"/>
          </p:cNvSpPr>
          <p:nvPr>
            <p:ph type="title"/>
          </p:nvPr>
        </p:nvSpPr>
        <p:spPr>
          <a:xfrm>
            <a:off x="627117" y="588963"/>
            <a:ext cx="9532883" cy="648000"/>
          </a:xfrm>
        </p:spPr>
        <p:txBody>
          <a:bodyPr>
            <a:normAutofit/>
          </a:bodyPr>
          <a:lstStyle/>
          <a:p>
            <a:r>
              <a:rPr lang="en-US" dirty="0"/>
              <a:t>Trauma-Informed Practice</a:t>
            </a:r>
          </a:p>
        </p:txBody>
      </p:sp>
      <p:sp>
        <p:nvSpPr>
          <p:cNvPr id="4" name="Footer Placeholder 3">
            <a:extLst>
              <a:ext uri="{FF2B5EF4-FFF2-40B4-BE49-F238E27FC236}">
                <a16:creationId xmlns:a16="http://schemas.microsoft.com/office/drawing/2014/main" id="{8A578157-2251-A8DA-305F-5DA4218AFD9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OFFICE | FACULTY | DEPARTMENT</a:t>
            </a:r>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1EAE2095-1710-BE26-D036-EB18BA8A44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2264084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6717-3FFA-2B7C-08E2-B396B22FEB89}"/>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3E3DB603-3905-FE64-29C3-AEC95FFD9F28}"/>
              </a:ext>
            </a:extLst>
          </p:cNvPr>
          <p:cNvSpPr>
            <a:spLocks noGrp="1"/>
          </p:cNvSpPr>
          <p:nvPr>
            <p:ph type="body" sz="quarter" idx="15"/>
          </p:nvPr>
        </p:nvSpPr>
        <p:spPr>
          <a:xfrm>
            <a:off x="6319267" y="2925763"/>
            <a:ext cx="5666316" cy="503237"/>
          </a:xfrm>
        </p:spPr>
        <p:txBody>
          <a:bodyPr>
            <a:normAutofit/>
          </a:bodyPr>
          <a:lstStyle/>
          <a:p>
            <a:r>
              <a:rPr lang="en-AU" sz="2400" dirty="0"/>
              <a:t>Effects</a:t>
            </a:r>
          </a:p>
        </p:txBody>
      </p:sp>
    </p:spTree>
    <p:extLst>
      <p:ext uri="{BB962C8B-B14F-4D97-AF65-F5344CB8AC3E}">
        <p14:creationId xmlns:p14="http://schemas.microsoft.com/office/powerpoint/2010/main" val="834269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479631"/>
            <a:ext cx="8458276" cy="648000"/>
          </a:xfrm>
        </p:spPr>
        <p:txBody>
          <a:bodyPr/>
          <a:lstStyle/>
          <a:p>
            <a:r>
              <a:rPr lang="en-AU" dirty="0"/>
              <a:t>Trauma</a:t>
            </a:r>
          </a:p>
        </p:txBody>
      </p:sp>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Flowchart: Alternate Process 6">
            <a:extLst>
              <a:ext uri="{FF2B5EF4-FFF2-40B4-BE49-F238E27FC236}">
                <a16:creationId xmlns:a16="http://schemas.microsoft.com/office/drawing/2014/main" id="{C726D981-96E9-893C-3DB2-26D69036457C}"/>
              </a:ext>
            </a:extLst>
          </p:cNvPr>
          <p:cNvSpPr/>
          <p:nvPr/>
        </p:nvSpPr>
        <p:spPr>
          <a:xfrm>
            <a:off x="1169200" y="1611080"/>
            <a:ext cx="9710928" cy="4286800"/>
          </a:xfrm>
          <a:prstGeom prst="flowChartAlternateProcess">
            <a:avLst/>
          </a:prstGeom>
          <a:ln w="57150"/>
        </p:spPr>
        <p:style>
          <a:lnRef idx="2">
            <a:schemeClr val="accent4"/>
          </a:lnRef>
          <a:fillRef idx="1">
            <a:schemeClr val="lt1"/>
          </a:fillRef>
          <a:effectRef idx="0">
            <a:schemeClr val="accent4"/>
          </a:effectRef>
          <a:fontRef idx="minor">
            <a:schemeClr val="dk1"/>
          </a:fontRef>
        </p:style>
        <p:txBody>
          <a:bodyPr rtlCol="0" anchor="ctr"/>
          <a:lstStyle/>
          <a:p>
            <a:pPr lvl="0" algn="ctr">
              <a:defRPr/>
            </a:pPr>
            <a:r>
              <a:rPr lang="en-AU" dirty="0"/>
              <a:t>Cultural awareness is acknowledging that someone you are working with has a culture different to yours. </a:t>
            </a:r>
          </a:p>
          <a:p>
            <a:pPr lvl="0" algn="ctr">
              <a:defRPr/>
            </a:pPr>
            <a:endParaRPr lang="en-AU" dirty="0"/>
          </a:p>
          <a:p>
            <a:pPr lvl="0" algn="ctr">
              <a:defRPr/>
            </a:pPr>
            <a:r>
              <a:rPr lang="en-AU" dirty="0"/>
              <a:t>Cultural sensitivity is taking steps to understand your own culture and life experiences, and how they impact others… </a:t>
            </a:r>
          </a:p>
          <a:p>
            <a:pPr lvl="0" algn="ctr">
              <a:defRPr/>
            </a:pPr>
            <a:endParaRPr lang="en-AU" dirty="0"/>
          </a:p>
          <a:p>
            <a:pPr lvl="0" algn="ctr">
              <a:defRPr/>
            </a:pPr>
            <a:r>
              <a:rPr lang="en-AU" dirty="0"/>
              <a:t>[C]</a:t>
            </a:r>
            <a:r>
              <a:rPr lang="en-AU" dirty="0" err="1"/>
              <a:t>ultural</a:t>
            </a:r>
            <a:r>
              <a:rPr lang="en-AU" dirty="0"/>
              <a:t> safety is said to be present when the recipient of your work considers you safe and not a threat to their culture being accepted. To be culturally safe is to understand one’s own culture and the cultures of others without judgement…</a:t>
            </a:r>
          </a:p>
          <a:p>
            <a:pPr lvl="0" algn="ctr">
              <a:defRPr/>
            </a:pPr>
            <a:endParaRPr lang="en-AU" dirty="0">
              <a:solidFill>
                <a:prstClr val="black"/>
              </a:solidFill>
              <a:latin typeface="Arial"/>
            </a:endParaRPr>
          </a:p>
          <a:p>
            <a:pPr lvl="0" algn="ctr">
              <a:defRPr/>
            </a:pPr>
            <a:r>
              <a:rPr lang="en-AU" dirty="0">
                <a:solidFill>
                  <a:prstClr val="black"/>
                </a:solidFill>
                <a:latin typeface="Arial"/>
              </a:rPr>
              <a:t>[C]</a:t>
            </a:r>
            <a:r>
              <a:rPr lang="en-AU" dirty="0"/>
              <a:t>losing the gap between knowledge and practice also requires understanding the impacts of trauma and reflecting upon one’s own culture and privilege… Trauma-informed practice asks, ‘What is that person’s story?’ rather than, ‘What is wrong with that person?’</a:t>
            </a:r>
          </a:p>
          <a:p>
            <a:pPr lvl="0" algn="ctr">
              <a:defRPr/>
            </a:pPr>
            <a:r>
              <a:rPr lang="en-AU" dirty="0"/>
              <a:t>(Tujague and Ryan, 2020) </a:t>
            </a:r>
            <a:endParaRPr kumimoji="0" lang="en-AU" b="0" i="0" u="none" strike="noStrike" kern="1200" cap="none" spc="0"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173194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4F42-B4EC-2E6C-1AEA-6627AE5BC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E55A-E45E-2FFA-21F4-259AF85AD15A}"/>
              </a:ext>
            </a:extLst>
          </p:cNvPr>
          <p:cNvSpPr>
            <a:spLocks noGrp="1"/>
          </p:cNvSpPr>
          <p:nvPr>
            <p:ph type="title"/>
          </p:nvPr>
        </p:nvSpPr>
        <p:spPr>
          <a:xfrm>
            <a:off x="720000" y="540679"/>
            <a:ext cx="8458276" cy="648000"/>
          </a:xfrm>
        </p:spPr>
        <p:txBody>
          <a:bodyPr/>
          <a:lstStyle/>
          <a:p>
            <a:r>
              <a:rPr lang="en-AU" dirty="0"/>
              <a:t>Trauma</a:t>
            </a:r>
          </a:p>
        </p:txBody>
      </p:sp>
      <p:sp>
        <p:nvSpPr>
          <p:cNvPr id="4" name="Footer Placeholder 3">
            <a:extLst>
              <a:ext uri="{FF2B5EF4-FFF2-40B4-BE49-F238E27FC236}">
                <a16:creationId xmlns:a16="http://schemas.microsoft.com/office/drawing/2014/main" id="{E646A2CC-99AF-E255-2E6A-9AC6B64AB97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70E720-299E-8B56-C139-6523670FCB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Flowchart: Alternate Process 6">
            <a:extLst>
              <a:ext uri="{FF2B5EF4-FFF2-40B4-BE49-F238E27FC236}">
                <a16:creationId xmlns:a16="http://schemas.microsoft.com/office/drawing/2014/main" id="{617F57A4-F00E-5207-EAAB-6CAD0E6724A3}"/>
              </a:ext>
            </a:extLst>
          </p:cNvPr>
          <p:cNvSpPr/>
          <p:nvPr/>
        </p:nvSpPr>
        <p:spPr>
          <a:xfrm>
            <a:off x="1426464" y="2167128"/>
            <a:ext cx="8988552" cy="2587752"/>
          </a:xfrm>
          <a:prstGeom prst="flowChartAlternateProcess">
            <a:avLst/>
          </a:prstGeom>
          <a:ln w="57150"/>
        </p:spPr>
        <p:style>
          <a:lnRef idx="2">
            <a:schemeClr val="accent3"/>
          </a:lnRef>
          <a:fillRef idx="1">
            <a:schemeClr val="lt1"/>
          </a:fillRef>
          <a:effectRef idx="0">
            <a:schemeClr val="accent3"/>
          </a:effectRef>
          <a:fontRef idx="minor">
            <a:schemeClr val="dk1"/>
          </a:fontRef>
        </p:style>
        <p:txBody>
          <a:bodyPr rtlCol="0" anchor="ctr"/>
          <a:lstStyle/>
          <a:p>
            <a:pPr lvl="0" algn="ctr">
              <a:defRPr/>
            </a:pPr>
            <a:r>
              <a:rPr kumimoji="0" lang="en-AU" b="0" i="0" u="none" strike="noStrike" kern="1200" cap="none" spc="0" normalizeH="0" baseline="0" noProof="0" dirty="0">
                <a:ln>
                  <a:noFill/>
                </a:ln>
                <a:solidFill>
                  <a:prstClr val="black"/>
                </a:solidFill>
                <a:effectLst/>
                <a:uLnTx/>
                <a:uFillTx/>
                <a:latin typeface="Arial"/>
              </a:rPr>
              <a:t>Trauma-Informed Practice</a:t>
            </a:r>
            <a:r>
              <a:rPr kumimoji="0" lang="en-AU" b="0" i="0" u="none" strike="noStrike" kern="1200" cap="none" spc="0" normalizeH="0" noProof="0" dirty="0">
                <a:ln>
                  <a:noFill/>
                </a:ln>
                <a:solidFill>
                  <a:prstClr val="black"/>
                </a:solidFill>
                <a:effectLst/>
                <a:uLnTx/>
                <a:uFillTx/>
                <a:latin typeface="Arial"/>
              </a:rPr>
              <a:t> is about </a:t>
            </a:r>
            <a:r>
              <a:rPr kumimoji="0" lang="en-AU" b="1" i="0" u="none" strike="noStrike" kern="1200" cap="none" spc="0" normalizeH="0" noProof="0" dirty="0">
                <a:ln>
                  <a:noFill/>
                </a:ln>
                <a:solidFill>
                  <a:schemeClr val="accent5"/>
                </a:solidFill>
                <a:effectLst/>
                <a:uLnTx/>
                <a:uFillTx/>
                <a:latin typeface="Arial"/>
              </a:rPr>
              <a:t>avoiding re-traumatisation</a:t>
            </a:r>
            <a:r>
              <a:rPr kumimoji="0" lang="en-AU" b="0" i="0" u="none" strike="noStrike" kern="1200" cap="none" spc="0" normalizeH="0" noProof="0" dirty="0">
                <a:ln>
                  <a:noFill/>
                </a:ln>
                <a:solidFill>
                  <a:prstClr val="black"/>
                </a:solidFill>
                <a:effectLst/>
                <a:uLnTx/>
                <a:uFillTx/>
                <a:latin typeface="Arial"/>
              </a:rPr>
              <a:t>, not helping people solve their trauma. Your job is not to try and ‘help’ – but you should know where people can find appropriate professional help. </a:t>
            </a:r>
            <a:r>
              <a:rPr kumimoji="0" lang="en-AU" b="0" i="0" u="none" strike="noStrike" kern="1200" cap="none" spc="0" normalizeH="0" baseline="0" noProof="0" dirty="0">
                <a:ln>
                  <a:noFill/>
                </a:ln>
                <a:solidFill>
                  <a:prstClr val="black"/>
                </a:solidFill>
                <a:effectLst/>
                <a:uLnTx/>
                <a:uFillTx/>
                <a:latin typeface="Arial"/>
              </a:rPr>
              <a:t>(see Kendall, 2024)</a:t>
            </a:r>
          </a:p>
          <a:p>
            <a:pPr lvl="0" algn="ctr">
              <a:defRPr/>
            </a:pPr>
            <a:endParaRPr lang="en-AU" dirty="0">
              <a:solidFill>
                <a:prstClr val="black"/>
              </a:solidFill>
              <a:latin typeface="Arial"/>
            </a:endParaRPr>
          </a:p>
          <a:p>
            <a:pPr lvl="0" algn="ctr">
              <a:defRPr/>
            </a:pPr>
            <a:r>
              <a:rPr kumimoji="0" lang="en-AU" b="0" i="0" u="none" strike="noStrike" kern="1200" cap="none" spc="0" normalizeH="0" baseline="0" noProof="0" dirty="0">
                <a:ln>
                  <a:noFill/>
                </a:ln>
                <a:solidFill>
                  <a:prstClr val="black"/>
                </a:solidFill>
                <a:effectLst/>
                <a:uLnTx/>
                <a:uFillTx/>
                <a:latin typeface="Arial"/>
              </a:rPr>
              <a:t>‘all interactions with the organization [law firm]</a:t>
            </a:r>
            <a:r>
              <a:rPr kumimoji="0" lang="en-AU" b="0" i="0" u="none" strike="noStrike" kern="1200" cap="none" spc="0" normalizeH="0" noProof="0" dirty="0">
                <a:ln>
                  <a:noFill/>
                </a:ln>
                <a:solidFill>
                  <a:prstClr val="black"/>
                </a:solidFill>
                <a:effectLst/>
                <a:uLnTx/>
                <a:uFillTx/>
                <a:latin typeface="Arial"/>
              </a:rPr>
              <a:t> reduce the possibility of re-traumatisation and are </a:t>
            </a:r>
            <a:r>
              <a:rPr kumimoji="0" lang="en-AU" b="1" i="0" u="none" strike="noStrike" kern="1200" cap="none" spc="0" normalizeH="0" noProof="0" dirty="0">
                <a:ln>
                  <a:noFill/>
                </a:ln>
                <a:solidFill>
                  <a:schemeClr val="accent5"/>
                </a:solidFill>
                <a:effectLst/>
                <a:uLnTx/>
                <a:uFillTx/>
                <a:latin typeface="Arial"/>
              </a:rPr>
              <a:t>consistent with </a:t>
            </a:r>
            <a:r>
              <a:rPr kumimoji="0" lang="en-AU" b="0" i="0" u="none" strike="noStrike" kern="1200" cap="none" spc="0" normalizeH="0" noProof="0" dirty="0">
                <a:ln>
                  <a:noFill/>
                </a:ln>
                <a:solidFill>
                  <a:prstClr val="black"/>
                </a:solidFill>
                <a:effectLst/>
                <a:uLnTx/>
                <a:uFillTx/>
                <a:latin typeface="Arial"/>
              </a:rPr>
              <a:t>the process of recovery’ (Katz, 2022)</a:t>
            </a:r>
            <a:endParaRPr kumimoji="0" lang="en-AU" b="0" i="0" u="none" strike="noStrike" kern="1200" cap="none" spc="0"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243483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DAECD-136D-FF8B-439B-578F61476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AED9B-7BC3-1999-776F-5A80F8515233}"/>
              </a:ext>
            </a:extLst>
          </p:cNvPr>
          <p:cNvSpPr>
            <a:spLocks noGrp="1"/>
          </p:cNvSpPr>
          <p:nvPr>
            <p:ph type="title"/>
          </p:nvPr>
        </p:nvSpPr>
        <p:spPr>
          <a:xfrm>
            <a:off x="720000" y="590745"/>
            <a:ext cx="8458276" cy="648000"/>
          </a:xfrm>
        </p:spPr>
        <p:txBody>
          <a:bodyPr/>
          <a:lstStyle/>
          <a:p>
            <a:r>
              <a:rPr lang="en-AU" dirty="0"/>
              <a:t>Trauma</a:t>
            </a:r>
          </a:p>
        </p:txBody>
      </p:sp>
      <p:sp>
        <p:nvSpPr>
          <p:cNvPr id="3" name="Content Placeholder 2">
            <a:extLst>
              <a:ext uri="{FF2B5EF4-FFF2-40B4-BE49-F238E27FC236}">
                <a16:creationId xmlns:a16="http://schemas.microsoft.com/office/drawing/2014/main" id="{DBD8E7A1-B338-C460-D2CF-0EA12B54F213}"/>
              </a:ext>
            </a:extLst>
          </p:cNvPr>
          <p:cNvSpPr>
            <a:spLocks noGrp="1"/>
          </p:cNvSpPr>
          <p:nvPr>
            <p:ph idx="1"/>
          </p:nvPr>
        </p:nvSpPr>
        <p:spPr>
          <a:xfrm>
            <a:off x="1225484" y="1549521"/>
            <a:ext cx="4964784" cy="4329280"/>
          </a:xfrm>
        </p:spPr>
        <p:txBody>
          <a:bodyPr>
            <a:normAutofit/>
          </a:bodyPr>
          <a:lstStyle/>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r>
              <a:rPr lang="en-AU" sz="1600" kern="0" dirty="0">
                <a:latin typeface="Arial" panose="020B0604020202020204" pitchFamily="34" charset="0"/>
                <a:cs typeface="Arial" panose="020B0604020202020204" pitchFamily="34" charset="0"/>
              </a:rPr>
              <a:t>Katz (2022): ‘Trauma, simply defined is an experience or set of experiences which render an individual’s resources inadequate, such that the individual cannot effectively cope’</a:t>
            </a: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r>
              <a:rPr lang="en-AU" sz="1600" kern="0" dirty="0">
                <a:latin typeface="Arial" panose="020B0604020202020204" pitchFamily="34" charset="0"/>
                <a:cs typeface="Arial" panose="020B0604020202020204" pitchFamily="34" charset="0"/>
              </a:rPr>
              <a:t>Randell &amp; Haskell (2013): ‘</a:t>
            </a:r>
            <a:r>
              <a:rPr lang="en-AU" sz="1600" dirty="0"/>
              <a:t>Traumatic events are not necessarily violent, though they always entail the violation of a person’s sense of self and security’</a:t>
            </a: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r>
              <a:rPr lang="en-AU" sz="1600" kern="0" dirty="0" err="1">
                <a:latin typeface="Arial" panose="020B0604020202020204" pitchFamily="34" charset="0"/>
                <a:cs typeface="Arial" panose="020B0604020202020204" pitchFamily="34" charset="0"/>
              </a:rPr>
              <a:t>Manakem</a:t>
            </a:r>
            <a:r>
              <a:rPr lang="en-AU" sz="1600" kern="0" dirty="0">
                <a:latin typeface="Arial" panose="020B0604020202020204" pitchFamily="34" charset="0"/>
                <a:cs typeface="Arial" panose="020B0604020202020204" pitchFamily="34" charset="0"/>
              </a:rPr>
              <a:t> (2017): ‘Trauma is not a flaw or a weakness. It is a highly effective tool of safety and survival. Trauma is also not an event. Trauma is the body’s protective response to an event – or a series of events – that it perceives as potentially dangerous.’</a:t>
            </a:r>
          </a:p>
        </p:txBody>
      </p:sp>
      <p:sp>
        <p:nvSpPr>
          <p:cNvPr id="4" name="Footer Placeholder 3">
            <a:extLst>
              <a:ext uri="{FF2B5EF4-FFF2-40B4-BE49-F238E27FC236}">
                <a16:creationId xmlns:a16="http://schemas.microsoft.com/office/drawing/2014/main" id="{2F041CB8-89CB-BEA8-52B0-CAFA4F1DFEC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8097800-222F-07DC-2C06-CFB07D55BC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Flowchart: Alternate Process 6">
            <a:extLst>
              <a:ext uri="{FF2B5EF4-FFF2-40B4-BE49-F238E27FC236}">
                <a16:creationId xmlns:a16="http://schemas.microsoft.com/office/drawing/2014/main" id="{DE9FFBE5-E667-D7AA-9FE7-BC3BCD115E2D}"/>
              </a:ext>
            </a:extLst>
          </p:cNvPr>
          <p:cNvSpPr/>
          <p:nvPr/>
        </p:nvSpPr>
        <p:spPr>
          <a:xfrm>
            <a:off x="7230359" y="1677971"/>
            <a:ext cx="3516198" cy="4081806"/>
          </a:xfrm>
          <a:prstGeom prst="flowChartAlternateProcess">
            <a:avLst/>
          </a:prstGeom>
          <a:ln w="57150"/>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Acute adverse 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And/or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Chronic adverse experiences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35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Individual experience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And/or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Group/community experience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And/or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Situational/systemic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35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Importance intersectionality</a:t>
            </a:r>
          </a:p>
        </p:txBody>
      </p:sp>
    </p:spTree>
    <p:extLst>
      <p:ext uri="{BB962C8B-B14F-4D97-AF65-F5344CB8AC3E}">
        <p14:creationId xmlns:p14="http://schemas.microsoft.com/office/powerpoint/2010/main" val="94436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289F1-A086-5B50-FB40-AFFF630EA730}"/>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E04F8A0-4937-0AAC-ABC9-78C2DE417B6E}"/>
              </a:ext>
            </a:extLst>
          </p:cNvPr>
          <p:cNvSpPr>
            <a:spLocks noGrp="1"/>
          </p:cNvSpPr>
          <p:nvPr>
            <p:ph type="body" sz="quarter" idx="15"/>
          </p:nvPr>
        </p:nvSpPr>
        <p:spPr>
          <a:xfrm>
            <a:off x="6319267" y="2925763"/>
            <a:ext cx="5666316" cy="503237"/>
          </a:xfrm>
        </p:spPr>
        <p:txBody>
          <a:bodyPr>
            <a:normAutofit/>
          </a:bodyPr>
          <a:lstStyle/>
          <a:p>
            <a:r>
              <a:rPr lang="en-AU" sz="2400" dirty="0"/>
              <a:t>EFFECTS</a:t>
            </a:r>
          </a:p>
        </p:txBody>
      </p:sp>
    </p:spTree>
    <p:extLst>
      <p:ext uri="{BB962C8B-B14F-4D97-AF65-F5344CB8AC3E}">
        <p14:creationId xmlns:p14="http://schemas.microsoft.com/office/powerpoint/2010/main" val="30292391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536DF-E43B-A795-695B-513A137F0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8247B-B94A-67BD-45BD-B04E35298B68}"/>
              </a:ext>
            </a:extLst>
          </p:cNvPr>
          <p:cNvSpPr>
            <a:spLocks noGrp="1"/>
          </p:cNvSpPr>
          <p:nvPr>
            <p:ph type="title"/>
          </p:nvPr>
        </p:nvSpPr>
        <p:spPr>
          <a:xfrm>
            <a:off x="720000" y="568519"/>
            <a:ext cx="8458276" cy="648000"/>
          </a:xfrm>
        </p:spPr>
        <p:txBody>
          <a:bodyPr/>
          <a:lstStyle/>
          <a:p>
            <a:r>
              <a:rPr lang="en-AU" dirty="0"/>
              <a:t>Effects</a:t>
            </a:r>
          </a:p>
        </p:txBody>
      </p:sp>
      <p:sp>
        <p:nvSpPr>
          <p:cNvPr id="4" name="Footer Placeholder 3">
            <a:extLst>
              <a:ext uri="{FF2B5EF4-FFF2-40B4-BE49-F238E27FC236}">
                <a16:creationId xmlns:a16="http://schemas.microsoft.com/office/drawing/2014/main" id="{C630184B-BD77-8977-9A80-A96749F62C5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21059A3A-9E4E-6FE8-8F2C-1215E2EDCA7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9" name="Flowchart: Connector 8">
            <a:extLst>
              <a:ext uri="{FF2B5EF4-FFF2-40B4-BE49-F238E27FC236}">
                <a16:creationId xmlns:a16="http://schemas.microsoft.com/office/drawing/2014/main" id="{BC27863D-D64A-52EF-9093-76D6FF3178C7}"/>
              </a:ext>
            </a:extLst>
          </p:cNvPr>
          <p:cNvSpPr/>
          <p:nvPr/>
        </p:nvSpPr>
        <p:spPr>
          <a:xfrm>
            <a:off x="1501085" y="2028744"/>
            <a:ext cx="3240000" cy="3240000"/>
          </a:xfrm>
          <a:prstGeom prst="flowChartConnector">
            <a:avLst/>
          </a:prstGeom>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Arial"/>
                <a:ea typeface="+mn-ea"/>
                <a:cs typeface="+mn-cs"/>
              </a:rPr>
              <a:t>Anything can be a trigger, from the colour of your jacket to the little joke about needing a drink!</a:t>
            </a:r>
          </a:p>
        </p:txBody>
      </p:sp>
      <p:sp>
        <p:nvSpPr>
          <p:cNvPr id="8" name="Rectangle: Rounded Corners 7">
            <a:extLst>
              <a:ext uri="{FF2B5EF4-FFF2-40B4-BE49-F238E27FC236}">
                <a16:creationId xmlns:a16="http://schemas.microsoft.com/office/drawing/2014/main" id="{CA328C3E-D015-D38D-AB47-89F9A90066EE}"/>
              </a:ext>
            </a:extLst>
          </p:cNvPr>
          <p:cNvSpPr/>
          <p:nvPr/>
        </p:nvSpPr>
        <p:spPr>
          <a:xfrm>
            <a:off x="6281928" y="1589832"/>
            <a:ext cx="4187952" cy="877824"/>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AU" b="1" dirty="0"/>
              <a:t>Fight: </a:t>
            </a:r>
            <a:r>
              <a:rPr lang="en-AU" dirty="0"/>
              <a:t>the ‘rude’ client</a:t>
            </a:r>
          </a:p>
        </p:txBody>
      </p:sp>
      <p:sp>
        <p:nvSpPr>
          <p:cNvPr id="10" name="Rectangle: Rounded Corners 9">
            <a:extLst>
              <a:ext uri="{FF2B5EF4-FFF2-40B4-BE49-F238E27FC236}">
                <a16:creationId xmlns:a16="http://schemas.microsoft.com/office/drawing/2014/main" id="{7F4B0B46-F82C-C5A6-F141-51720004FF95}"/>
              </a:ext>
            </a:extLst>
          </p:cNvPr>
          <p:cNvSpPr/>
          <p:nvPr/>
        </p:nvSpPr>
        <p:spPr>
          <a:xfrm>
            <a:off x="6281928" y="2769952"/>
            <a:ext cx="4187952" cy="877824"/>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AU" b="1" dirty="0"/>
              <a:t>Flight: </a:t>
            </a:r>
            <a:r>
              <a:rPr lang="en-AU" dirty="0"/>
              <a:t>the ‘unresponsive’ client</a:t>
            </a:r>
          </a:p>
        </p:txBody>
      </p:sp>
      <p:sp>
        <p:nvSpPr>
          <p:cNvPr id="11" name="Rectangle: Rounded Corners 10">
            <a:extLst>
              <a:ext uri="{FF2B5EF4-FFF2-40B4-BE49-F238E27FC236}">
                <a16:creationId xmlns:a16="http://schemas.microsoft.com/office/drawing/2014/main" id="{CD67DE50-06DF-CCA9-A70D-9B87F0D1C39B}"/>
              </a:ext>
            </a:extLst>
          </p:cNvPr>
          <p:cNvSpPr/>
          <p:nvPr/>
        </p:nvSpPr>
        <p:spPr>
          <a:xfrm>
            <a:off x="6281928" y="3950072"/>
            <a:ext cx="4187952" cy="877824"/>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AU" b="1" dirty="0"/>
              <a:t>Freeze: </a:t>
            </a:r>
            <a:r>
              <a:rPr lang="en-AU" dirty="0"/>
              <a:t>the ‘undecisive’ client</a:t>
            </a:r>
          </a:p>
        </p:txBody>
      </p:sp>
      <p:sp>
        <p:nvSpPr>
          <p:cNvPr id="12" name="Rectangle: Rounded Corners 11">
            <a:extLst>
              <a:ext uri="{FF2B5EF4-FFF2-40B4-BE49-F238E27FC236}">
                <a16:creationId xmlns:a16="http://schemas.microsoft.com/office/drawing/2014/main" id="{CA5DC1DA-573E-65AD-7144-119C7EDE7190}"/>
              </a:ext>
            </a:extLst>
          </p:cNvPr>
          <p:cNvSpPr/>
          <p:nvPr/>
        </p:nvSpPr>
        <p:spPr>
          <a:xfrm>
            <a:off x="6281928" y="5130192"/>
            <a:ext cx="4187952" cy="877824"/>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AU" b="1" dirty="0"/>
              <a:t>Fawn: </a:t>
            </a:r>
            <a:r>
              <a:rPr lang="en-AU" dirty="0"/>
              <a:t>the ‘adoring’ client</a:t>
            </a:r>
          </a:p>
        </p:txBody>
      </p:sp>
    </p:spTree>
    <p:extLst>
      <p:ext uri="{BB962C8B-B14F-4D97-AF65-F5344CB8AC3E}">
        <p14:creationId xmlns:p14="http://schemas.microsoft.com/office/powerpoint/2010/main" val="3038172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658782"/>
            <a:ext cx="8458276" cy="648000"/>
          </a:xfrm>
        </p:spPr>
        <p:txBody>
          <a:bodyPr/>
          <a:lstStyle/>
          <a:p>
            <a:r>
              <a:rPr lang="en-AU" dirty="0"/>
              <a:t>Effects</a:t>
            </a:r>
          </a:p>
        </p:txBody>
      </p:sp>
      <p:sp>
        <p:nvSpPr>
          <p:cNvPr id="3" name="Content Placeholder 2">
            <a:extLst>
              <a:ext uri="{FF2B5EF4-FFF2-40B4-BE49-F238E27FC236}">
                <a16:creationId xmlns:a16="http://schemas.microsoft.com/office/drawing/2014/main" id="{8A321C9C-8B5E-3642-84FB-111BE7C447AC}"/>
              </a:ext>
            </a:extLst>
          </p:cNvPr>
          <p:cNvSpPr>
            <a:spLocks noGrp="1"/>
          </p:cNvSpPr>
          <p:nvPr>
            <p:ph idx="1"/>
          </p:nvPr>
        </p:nvSpPr>
        <p:spPr>
          <a:xfrm>
            <a:off x="1466876" y="1495558"/>
            <a:ext cx="4964784" cy="4329280"/>
          </a:xfrm>
        </p:spPr>
        <p:txBody>
          <a:bodyPr>
            <a:normAutofit/>
          </a:bodyPr>
          <a:lstStyle/>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marL="285750" lvl="0" indent="-285750">
              <a:buSzPts val="1000"/>
              <a:buFont typeface="Wingdings" panose="05000000000000000000" pitchFamily="2" charset="2"/>
              <a:buChar char="v"/>
              <a:tabLst>
                <a:tab pos="914400" algn="l"/>
              </a:tabLst>
            </a:pPr>
            <a:r>
              <a:rPr lang="en-AU" kern="0" dirty="0">
                <a:latin typeface="Arial" panose="020B0604020202020204" pitchFamily="34" charset="0"/>
                <a:cs typeface="Arial" panose="020B0604020202020204" pitchFamily="34" charset="0"/>
              </a:rPr>
              <a:t>Rude or aggressive</a:t>
            </a:r>
          </a:p>
          <a:p>
            <a:pPr marL="285750" lvl="0" indent="-285750">
              <a:buSzPts val="1000"/>
              <a:buFont typeface="Wingdings" panose="05000000000000000000" pitchFamily="2" charset="2"/>
              <a:buChar char="v"/>
              <a:tabLst>
                <a:tab pos="914400" algn="l"/>
              </a:tabLst>
            </a:pPr>
            <a:r>
              <a:rPr lang="en-AU" kern="0" dirty="0">
                <a:latin typeface="Arial" panose="020B0604020202020204" pitchFamily="34" charset="0"/>
                <a:cs typeface="Arial" panose="020B0604020202020204" pitchFamily="34" charset="0"/>
              </a:rPr>
              <a:t>Evasive/dissociation (‘apathy’)</a:t>
            </a:r>
          </a:p>
          <a:p>
            <a:pPr marL="285750" lvl="0" indent="-285750">
              <a:buSzPts val="1000"/>
              <a:buFont typeface="Wingdings" panose="05000000000000000000" pitchFamily="2" charset="2"/>
              <a:buChar char="v"/>
              <a:tabLst>
                <a:tab pos="914400" algn="l"/>
              </a:tabLst>
            </a:pPr>
            <a:r>
              <a:rPr lang="en-AU" kern="0" dirty="0">
                <a:latin typeface="Arial" panose="020B0604020202020204" pitchFamily="34" charset="0"/>
                <a:cs typeface="Arial" panose="020B0604020202020204" pitchFamily="34" charset="0"/>
              </a:rPr>
              <a:t>Inactive/uncooperative </a:t>
            </a:r>
          </a:p>
          <a:p>
            <a:pPr marL="285750" lvl="0" indent="-285750">
              <a:buSzPts val="1000"/>
              <a:buFont typeface="Wingdings" panose="05000000000000000000" pitchFamily="2" charset="2"/>
              <a:buChar char="v"/>
              <a:tabLst>
                <a:tab pos="914400" algn="l"/>
              </a:tabLst>
            </a:pPr>
            <a:r>
              <a:rPr lang="en-AU" kern="0" dirty="0">
                <a:latin typeface="Arial" panose="020B0604020202020204" pitchFamily="34" charset="0"/>
                <a:cs typeface="Arial" panose="020B0604020202020204" pitchFamily="34" charset="0"/>
              </a:rPr>
              <a:t>Submissive</a:t>
            </a:r>
          </a:p>
          <a:p>
            <a:pPr lvl="0" indent="-342900">
              <a:buSzPts val="1000"/>
              <a:tabLst>
                <a:tab pos="914400" algn="l"/>
              </a:tabLst>
            </a:pPr>
            <a:endParaRPr lang="en-AU" kern="0" dirty="0">
              <a:latin typeface="Arial" panose="020B0604020202020204" pitchFamily="34" charset="0"/>
              <a:cs typeface="Arial" panose="020B0604020202020204" pitchFamily="34" charset="0"/>
            </a:endParaRPr>
          </a:p>
          <a:p>
            <a:pPr marL="285750" lvl="0" indent="-285750">
              <a:buSzPts val="1000"/>
              <a:buFont typeface="Wingdings" panose="05000000000000000000" pitchFamily="2" charset="2"/>
              <a:buChar char="Ø"/>
              <a:tabLst>
                <a:tab pos="914400" algn="l"/>
              </a:tabLst>
            </a:pPr>
            <a:r>
              <a:rPr lang="en-AU" kern="0" dirty="0">
                <a:latin typeface="Arial" panose="020B0604020202020204" pitchFamily="34" charset="0"/>
                <a:cs typeface="Arial" panose="020B0604020202020204" pitchFamily="34" charset="0"/>
              </a:rPr>
              <a:t>Effects on recall, memory and chronology</a:t>
            </a:r>
          </a:p>
          <a:p>
            <a:pPr marL="285750" lvl="0" indent="-285750">
              <a:buSzPts val="1000"/>
              <a:buFont typeface="Wingdings" panose="05000000000000000000" pitchFamily="2" charset="2"/>
              <a:buChar char="Ø"/>
              <a:tabLst>
                <a:tab pos="914400" algn="l"/>
              </a:tabLst>
            </a:pPr>
            <a:r>
              <a:rPr lang="en-AU" kern="0" dirty="0">
                <a:latin typeface="Arial" panose="020B0604020202020204" pitchFamily="34" charset="0"/>
                <a:cs typeface="Arial" panose="020B0604020202020204" pitchFamily="34" charset="0"/>
              </a:rPr>
              <a:t>Unwillingness to share (can’t get facts)</a:t>
            </a:r>
          </a:p>
          <a:p>
            <a:pPr marL="285750" lvl="0" indent="-285750">
              <a:buSzPts val="1000"/>
              <a:buFont typeface="Wingdings" panose="05000000000000000000" pitchFamily="2" charset="2"/>
              <a:buChar char="Ø"/>
              <a:tabLst>
                <a:tab pos="914400" algn="l"/>
              </a:tabLst>
            </a:pPr>
            <a:r>
              <a:rPr lang="en-AU" kern="0" dirty="0">
                <a:latin typeface="Arial" panose="020B0604020202020204" pitchFamily="34" charset="0"/>
                <a:cs typeface="Arial" panose="020B0604020202020204" pitchFamily="34" charset="0"/>
              </a:rPr>
              <a:t>Oversharing (too many facts)</a:t>
            </a:r>
          </a:p>
          <a:p>
            <a:pPr marL="285750" lvl="0" indent="-285750">
              <a:buSzPts val="1000"/>
              <a:buFont typeface="Wingdings" panose="05000000000000000000" pitchFamily="2" charset="2"/>
              <a:buChar char="Ø"/>
              <a:tabLst>
                <a:tab pos="914400" algn="l"/>
              </a:tabLst>
            </a:pPr>
            <a:r>
              <a:rPr lang="en-AU" kern="0" dirty="0">
                <a:latin typeface="Arial" panose="020B0604020202020204" pitchFamily="34" charset="0"/>
                <a:cs typeface="Arial" panose="020B0604020202020204" pitchFamily="34" charset="0"/>
              </a:rPr>
              <a:t>“Disingenuous” (incoherent)</a:t>
            </a:r>
          </a:p>
          <a:p>
            <a:pPr lvl="0" indent="-342900">
              <a:buSzPts val="1000"/>
              <a:tabLst>
                <a:tab pos="914400" algn="l"/>
              </a:tabLst>
            </a:pPr>
            <a:endParaRPr lang="en-AU" kern="0" dirty="0">
              <a:latin typeface="Arial" panose="020B0604020202020204" pitchFamily="34" charset="0"/>
              <a:cs typeface="Arial" panose="020B0604020202020204" pitchFamily="34" charset="0"/>
            </a:endParaRPr>
          </a:p>
          <a:p>
            <a:pPr marL="285750" lvl="0" indent="-285750">
              <a:buSzPts val="1000"/>
              <a:buFont typeface="Wingdings" panose="05000000000000000000" pitchFamily="2" charset="2"/>
              <a:buChar char="q"/>
              <a:tabLst>
                <a:tab pos="914400" algn="l"/>
              </a:tabLst>
            </a:pPr>
            <a:r>
              <a:rPr lang="en-AU" kern="0" dirty="0">
                <a:latin typeface="Arial" panose="020B0604020202020204" pitchFamily="34" charset="0"/>
                <a:cs typeface="Arial" panose="020B0604020202020204" pitchFamily="34" charset="0"/>
              </a:rPr>
              <a:t>Emphasis on non-legal issues</a:t>
            </a:r>
          </a:p>
          <a:p>
            <a:pPr marL="285750" lvl="0" indent="-285750">
              <a:buSzPts val="1000"/>
              <a:buFont typeface="Wingdings" panose="05000000000000000000" pitchFamily="2" charset="2"/>
              <a:buChar char="q"/>
              <a:tabLst>
                <a:tab pos="914400" algn="l"/>
              </a:tabLst>
            </a:pPr>
            <a:r>
              <a:rPr lang="en-AU" kern="0" dirty="0">
                <a:latin typeface="Arial" panose="020B0604020202020204" pitchFamily="34" charset="0"/>
                <a:cs typeface="Arial" panose="020B0604020202020204" pitchFamily="34" charset="0"/>
              </a:rPr>
              <a:t>Apparent irrationality</a:t>
            </a: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a:p>
            <a:pPr lvl="0" indent="-342900">
              <a:buSzPts val="1000"/>
              <a:tabLst>
                <a:tab pos="914400" algn="l"/>
              </a:tabLst>
            </a:pPr>
            <a:endParaRPr lang="en-AU" sz="1600" kern="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9" name="Flowchart: Connector 8">
            <a:extLst>
              <a:ext uri="{FF2B5EF4-FFF2-40B4-BE49-F238E27FC236}">
                <a16:creationId xmlns:a16="http://schemas.microsoft.com/office/drawing/2014/main" id="{5A684309-C3EF-9606-8B77-8D99C7A0EC44}"/>
              </a:ext>
            </a:extLst>
          </p:cNvPr>
          <p:cNvSpPr/>
          <p:nvPr/>
        </p:nvSpPr>
        <p:spPr>
          <a:xfrm>
            <a:off x="7283956" y="1809000"/>
            <a:ext cx="3240000" cy="3240000"/>
          </a:xfrm>
          <a:prstGeom prst="flowChartConnector">
            <a:avLst/>
          </a:prstGeom>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Arial"/>
                <a:ea typeface="+mn-ea"/>
                <a:cs typeface="+mn-cs"/>
              </a:rPr>
              <a:t>Trauma literally re-wires the brain! (Changes in neurological pathways)</a:t>
            </a:r>
          </a:p>
        </p:txBody>
      </p:sp>
      <p:sp>
        <p:nvSpPr>
          <p:cNvPr id="6" name="TextBox 5">
            <a:extLst>
              <a:ext uri="{FF2B5EF4-FFF2-40B4-BE49-F238E27FC236}">
                <a16:creationId xmlns:a16="http://schemas.microsoft.com/office/drawing/2014/main" id="{70253C23-1839-0536-BEB8-F2522BD04FFD}"/>
              </a:ext>
            </a:extLst>
          </p:cNvPr>
          <p:cNvSpPr txBox="1"/>
          <p:nvPr/>
        </p:nvSpPr>
        <p:spPr>
          <a:xfrm>
            <a:off x="10076688" y="5624783"/>
            <a:ext cx="1505712" cy="400110"/>
          </a:xfrm>
          <a:prstGeom prst="rect">
            <a:avLst/>
          </a:prstGeom>
          <a:noFill/>
        </p:spPr>
        <p:txBody>
          <a:bodyPr wrap="square" rtlCol="0">
            <a:spAutoFit/>
          </a:bodyPr>
          <a:lstStyle/>
          <a:p>
            <a:r>
              <a:rPr lang="en-AU" sz="1000" dirty="0"/>
              <a:t>See Randell &amp; Haskell, 2013; Imad, 2022</a:t>
            </a:r>
          </a:p>
        </p:txBody>
      </p:sp>
    </p:spTree>
    <p:extLst>
      <p:ext uri="{BB962C8B-B14F-4D97-AF65-F5344CB8AC3E}">
        <p14:creationId xmlns:p14="http://schemas.microsoft.com/office/powerpoint/2010/main" val="2072886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84F59-25F6-ACB3-724D-06C40FC8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348AB-65DE-E60B-E09B-0E4304F33F1D}"/>
              </a:ext>
            </a:extLst>
          </p:cNvPr>
          <p:cNvSpPr>
            <a:spLocks noGrp="1"/>
          </p:cNvSpPr>
          <p:nvPr>
            <p:ph type="title"/>
          </p:nvPr>
        </p:nvSpPr>
        <p:spPr>
          <a:xfrm>
            <a:off x="720000" y="679312"/>
            <a:ext cx="8458276" cy="648000"/>
          </a:xfrm>
        </p:spPr>
        <p:txBody>
          <a:bodyPr/>
          <a:lstStyle/>
          <a:p>
            <a:r>
              <a:rPr lang="en-AU" dirty="0"/>
              <a:t>Effects</a:t>
            </a:r>
          </a:p>
        </p:txBody>
      </p:sp>
      <p:sp>
        <p:nvSpPr>
          <p:cNvPr id="3" name="Content Placeholder 2">
            <a:extLst>
              <a:ext uri="{FF2B5EF4-FFF2-40B4-BE49-F238E27FC236}">
                <a16:creationId xmlns:a16="http://schemas.microsoft.com/office/drawing/2014/main" id="{CC8F5A9E-7F2B-E404-3AAC-540DDE5617BA}"/>
              </a:ext>
            </a:extLst>
          </p:cNvPr>
          <p:cNvSpPr>
            <a:spLocks noGrp="1"/>
          </p:cNvSpPr>
          <p:nvPr>
            <p:ph idx="1"/>
          </p:nvPr>
        </p:nvSpPr>
        <p:spPr>
          <a:xfrm>
            <a:off x="982244" y="1559803"/>
            <a:ext cx="4787620" cy="4329280"/>
          </a:xfrm>
        </p:spPr>
        <p:txBody>
          <a:bodyPr>
            <a:normAutofit lnSpcReduction="10000"/>
          </a:bodyPr>
          <a:lstStyle/>
          <a:p>
            <a:pPr lvl="0">
              <a:buSzPts val="1000"/>
              <a:tabLst>
                <a:tab pos="914400" algn="l"/>
              </a:tabLst>
            </a:pPr>
            <a:endParaRPr lang="en-AU" kern="0" dirty="0">
              <a:cs typeface="Arial" panose="020B0604020202020204" pitchFamily="34" charset="0"/>
            </a:endParaRPr>
          </a:p>
          <a:p>
            <a:pPr>
              <a:buSzPts val="1000"/>
              <a:tabLst>
                <a:tab pos="914400" algn="l"/>
              </a:tabLst>
            </a:pPr>
            <a:r>
              <a:rPr lang="en-AU" sz="1800" kern="0" dirty="0">
                <a:cs typeface="Arial" panose="020B0604020202020204" pitchFamily="34" charset="0"/>
              </a:rPr>
              <a:t>    Shame is hugely relevant to legal practice –  </a:t>
            </a:r>
          </a:p>
          <a:p>
            <a:pPr>
              <a:buSzPts val="1000"/>
              <a:tabLst>
                <a:tab pos="914400" algn="l"/>
              </a:tabLst>
            </a:pPr>
            <a:r>
              <a:rPr lang="en-AU" kern="0" dirty="0">
                <a:cs typeface="Arial" panose="020B0604020202020204" pitchFamily="34" charset="0"/>
              </a:rPr>
              <a:t>    </a:t>
            </a:r>
            <a:r>
              <a:rPr lang="en-AU" sz="1800" kern="0" dirty="0">
                <a:cs typeface="Arial" panose="020B0604020202020204" pitchFamily="34" charset="0"/>
              </a:rPr>
              <a:t>people hide things they are ashamed of</a:t>
            </a:r>
            <a:endParaRPr lang="en-AU" kern="0" dirty="0">
              <a:cs typeface="Arial" panose="020B0604020202020204" pitchFamily="34" charset="0"/>
            </a:endParaRPr>
          </a:p>
          <a:p>
            <a:pPr lvl="0">
              <a:buSzPts val="1000"/>
              <a:tabLst>
                <a:tab pos="914400" algn="l"/>
              </a:tabLst>
            </a:pPr>
            <a:endParaRPr lang="en-AU" kern="0" dirty="0">
              <a:cs typeface="Arial" panose="020B0604020202020204" pitchFamily="34" charset="0"/>
            </a:endParaRPr>
          </a:p>
          <a:p>
            <a:pPr lvl="0">
              <a:buSzPts val="1000"/>
              <a:tabLst>
                <a:tab pos="914400" algn="l"/>
              </a:tabLst>
            </a:pPr>
            <a:r>
              <a:rPr lang="en-AU" kern="0" dirty="0">
                <a:cs typeface="Arial" panose="020B0604020202020204" pitchFamily="34" charset="0"/>
              </a:rPr>
              <a:t>Dolezal and Gibson (2022) point out the importance of shame associated with trauma:</a:t>
            </a:r>
          </a:p>
          <a:p>
            <a:pPr marL="285750" lvl="0" indent="-285750">
              <a:buSzPts val="1000"/>
              <a:buFont typeface="Wingdings" panose="05000000000000000000" pitchFamily="2" charset="2"/>
              <a:buChar char="Ø"/>
              <a:tabLst>
                <a:tab pos="914400" algn="l"/>
              </a:tabLst>
            </a:pPr>
            <a:r>
              <a:rPr lang="en-AU" sz="1800" kern="0" dirty="0">
                <a:cs typeface="Arial" panose="020B0604020202020204" pitchFamily="34" charset="0"/>
              </a:rPr>
              <a:t>‘Shame is commonly characterised as a negative self-conscious emotion; it is an experience that arises when we are concerned about how we are seen and judged by others. …flawed in some crucial way, or… inadequate, inappropriate or immoral’</a:t>
            </a:r>
          </a:p>
          <a:p>
            <a:pPr marL="285750" lvl="0" indent="-285750">
              <a:buSzPts val="1000"/>
              <a:buFont typeface="Wingdings" panose="05000000000000000000" pitchFamily="2" charset="2"/>
              <a:buChar char="Ø"/>
              <a:tabLst>
                <a:tab pos="914400" algn="l"/>
              </a:tabLst>
            </a:pPr>
            <a:r>
              <a:rPr lang="en-AU" sz="1800" kern="0" dirty="0">
                <a:cs typeface="Arial" panose="020B0604020202020204" pitchFamily="34" charset="0"/>
              </a:rPr>
              <a:t>Separate from trauma or part of a comprehensive trauma-informed response?</a:t>
            </a:r>
          </a:p>
        </p:txBody>
      </p:sp>
      <p:sp>
        <p:nvSpPr>
          <p:cNvPr id="4" name="Footer Placeholder 3">
            <a:extLst>
              <a:ext uri="{FF2B5EF4-FFF2-40B4-BE49-F238E27FC236}">
                <a16:creationId xmlns:a16="http://schemas.microsoft.com/office/drawing/2014/main" id="{11A701C9-EF04-2CD6-AA03-BBED1482C3E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5E526631-7EE3-9F4D-CEA6-B99A04CB1B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1818299F-DE7E-5AD8-2CCA-A2155A061F90}"/>
              </a:ext>
            </a:extLst>
          </p:cNvPr>
          <p:cNvSpPr/>
          <p:nvPr/>
        </p:nvSpPr>
        <p:spPr>
          <a:xfrm>
            <a:off x="6327648" y="1559803"/>
            <a:ext cx="5010912" cy="4329280"/>
          </a:xfrm>
          <a:prstGeom prst="roundRect">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r>
              <a:rPr lang="en-AU" dirty="0">
                <a:solidFill>
                  <a:schemeClr val="tx1"/>
                </a:solidFill>
              </a:rPr>
              <a:t>Shame can come from (ibid):</a:t>
            </a:r>
          </a:p>
          <a:p>
            <a:pPr marL="285750" indent="-285750" algn="ctr">
              <a:buFont typeface="Arial" panose="020B0604020202020204" pitchFamily="34" charset="0"/>
              <a:buChar char="•"/>
            </a:pPr>
            <a:r>
              <a:rPr lang="en-AU" dirty="0">
                <a:solidFill>
                  <a:schemeClr val="tx1"/>
                </a:solidFill>
              </a:rPr>
              <a:t>Traumatic experience itself</a:t>
            </a:r>
          </a:p>
          <a:p>
            <a:pPr marL="285750" indent="-285750" algn="ctr">
              <a:buFont typeface="Arial" panose="020B0604020202020204" pitchFamily="34" charset="0"/>
              <a:buChar char="•"/>
            </a:pPr>
            <a:r>
              <a:rPr lang="en-AU" dirty="0">
                <a:solidFill>
                  <a:schemeClr val="tx1"/>
                </a:solidFill>
              </a:rPr>
              <a:t>Inaccurate feelings of blame or responsibility </a:t>
            </a:r>
          </a:p>
          <a:p>
            <a:pPr marL="285750" indent="-285750" algn="ctr">
              <a:buFont typeface="Arial" panose="020B0604020202020204" pitchFamily="34" charset="0"/>
              <a:buChar char="•"/>
            </a:pPr>
            <a:r>
              <a:rPr lang="en-AU" dirty="0">
                <a:solidFill>
                  <a:schemeClr val="tx1"/>
                </a:solidFill>
              </a:rPr>
              <a:t>Rumination about behaviours, actions and reactions during event</a:t>
            </a:r>
          </a:p>
          <a:p>
            <a:pPr marL="285750" indent="-285750" algn="ctr">
              <a:buFont typeface="Arial" panose="020B0604020202020204" pitchFamily="34" charset="0"/>
              <a:buChar char="•"/>
            </a:pPr>
            <a:r>
              <a:rPr lang="en-AU" dirty="0">
                <a:solidFill>
                  <a:schemeClr val="tx1"/>
                </a:solidFill>
              </a:rPr>
              <a:t>Feeling unpure, unlovable or damaged </a:t>
            </a:r>
          </a:p>
          <a:p>
            <a:pPr marL="285750" indent="-285750" algn="ctr">
              <a:buFont typeface="Arial" panose="020B0604020202020204" pitchFamily="34" charset="0"/>
              <a:buChar char="•"/>
            </a:pPr>
            <a:r>
              <a:rPr lang="en-AU" dirty="0">
                <a:solidFill>
                  <a:schemeClr val="tx1"/>
                </a:solidFill>
              </a:rPr>
              <a:t>Labels attached due to trauma and its outcomes</a:t>
            </a:r>
          </a:p>
          <a:p>
            <a:pPr marL="285750" indent="-285750" algn="ctr">
              <a:buFont typeface="Arial" panose="020B0604020202020204" pitchFamily="34" charset="0"/>
              <a:buChar char="•"/>
            </a:pPr>
            <a:r>
              <a:rPr lang="en-AU" dirty="0">
                <a:solidFill>
                  <a:schemeClr val="tx1"/>
                </a:solidFill>
              </a:rPr>
              <a:t>Mental illness due to trauma</a:t>
            </a:r>
          </a:p>
          <a:p>
            <a:pPr marL="285750" indent="-285750" algn="ctr">
              <a:buFont typeface="Arial" panose="020B0604020202020204" pitchFamily="34" charset="0"/>
              <a:buChar char="•"/>
            </a:pPr>
            <a:r>
              <a:rPr lang="en-AU" dirty="0">
                <a:solidFill>
                  <a:schemeClr val="tx1"/>
                </a:solidFill>
              </a:rPr>
              <a:t>Fear of judgment upon discovery</a:t>
            </a:r>
          </a:p>
          <a:p>
            <a:pPr marL="285750" indent="-285750" algn="ctr">
              <a:buFont typeface="Arial" panose="020B0604020202020204" pitchFamily="34" charset="0"/>
              <a:buChar char="•"/>
            </a:pPr>
            <a:r>
              <a:rPr lang="en-AU" dirty="0">
                <a:solidFill>
                  <a:schemeClr val="tx1"/>
                </a:solidFill>
              </a:rPr>
              <a:t>The coping mechanisms employed</a:t>
            </a:r>
          </a:p>
          <a:p>
            <a:pPr marL="285750" indent="-285750" algn="ctr">
              <a:buFont typeface="Arial" panose="020B0604020202020204" pitchFamily="34" charset="0"/>
              <a:buChar char="•"/>
            </a:pPr>
            <a:r>
              <a:rPr lang="en-AU" dirty="0">
                <a:solidFill>
                  <a:schemeClr val="tx1"/>
                </a:solidFill>
              </a:rPr>
              <a:t>Taboos related to the trauma and shame</a:t>
            </a:r>
          </a:p>
          <a:p>
            <a:pPr marL="285750" indent="-285750" algn="ctr">
              <a:buFont typeface="Arial" panose="020B0604020202020204" pitchFamily="34" charset="0"/>
              <a:buChar char="•"/>
            </a:pPr>
            <a:r>
              <a:rPr lang="en-AU" dirty="0">
                <a:solidFill>
                  <a:schemeClr val="tx1"/>
                </a:solidFill>
              </a:rPr>
              <a:t>Falling short of one’s own ideals</a:t>
            </a:r>
          </a:p>
        </p:txBody>
      </p:sp>
      <p:pic>
        <p:nvPicPr>
          <p:cNvPr id="10" name="Graphic 9" descr="Exclamation mark with solid fill">
            <a:extLst>
              <a:ext uri="{FF2B5EF4-FFF2-40B4-BE49-F238E27FC236}">
                <a16:creationId xmlns:a16="http://schemas.microsoft.com/office/drawing/2014/main" id="{D5291F02-4CCF-3A51-5CF1-F3B908D350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000" y="1815061"/>
            <a:ext cx="648000" cy="648000"/>
          </a:xfrm>
          <a:prstGeom prst="rect">
            <a:avLst/>
          </a:prstGeom>
        </p:spPr>
      </p:pic>
    </p:spTree>
    <p:extLst>
      <p:ext uri="{BB962C8B-B14F-4D97-AF65-F5344CB8AC3E}">
        <p14:creationId xmlns:p14="http://schemas.microsoft.com/office/powerpoint/2010/main" val="19202624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89E73-0D7A-7D58-5A30-3C572C8963DF}"/>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03FA8D1-B9D7-3B59-68D7-D351C8E275E2}"/>
              </a:ext>
            </a:extLst>
          </p:cNvPr>
          <p:cNvSpPr>
            <a:spLocks noGrp="1"/>
          </p:cNvSpPr>
          <p:nvPr>
            <p:ph type="body" sz="quarter" idx="15"/>
          </p:nvPr>
        </p:nvSpPr>
        <p:spPr>
          <a:xfrm>
            <a:off x="6319267" y="2925763"/>
            <a:ext cx="5666316" cy="503237"/>
          </a:xfrm>
        </p:spPr>
        <p:txBody>
          <a:bodyPr>
            <a:normAutofit/>
          </a:bodyPr>
          <a:lstStyle/>
          <a:p>
            <a:r>
              <a:rPr lang="en-AU" sz="2400" dirty="0"/>
              <a:t>Rules</a:t>
            </a:r>
          </a:p>
        </p:txBody>
      </p:sp>
    </p:spTree>
    <p:extLst>
      <p:ext uri="{BB962C8B-B14F-4D97-AF65-F5344CB8AC3E}">
        <p14:creationId xmlns:p14="http://schemas.microsoft.com/office/powerpoint/2010/main" val="1543331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603822"/>
            <a:ext cx="8458276" cy="648000"/>
          </a:xfrm>
        </p:spPr>
        <p:txBody>
          <a:bodyPr/>
          <a:lstStyle/>
          <a:p>
            <a:r>
              <a:rPr lang="en-AU" dirty="0"/>
              <a:t>Legal Rules</a:t>
            </a:r>
          </a:p>
        </p:txBody>
      </p:sp>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9" name="Rectangle 8">
            <a:extLst>
              <a:ext uri="{FF2B5EF4-FFF2-40B4-BE49-F238E27FC236}">
                <a16:creationId xmlns:a16="http://schemas.microsoft.com/office/drawing/2014/main" id="{97A47514-D06B-E285-CA7E-A6C83FC654E6}"/>
              </a:ext>
            </a:extLst>
          </p:cNvPr>
          <p:cNvSpPr/>
          <p:nvPr/>
        </p:nvSpPr>
        <p:spPr>
          <a:xfrm>
            <a:off x="1175418" y="1649692"/>
            <a:ext cx="9841163" cy="4091232"/>
          </a:xfrm>
          <a:prstGeom prst="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ASCR</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4</a:t>
            </a:r>
            <a:r>
              <a:rPr kumimoji="0" lang="en-US" altLang="en-US" sz="16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   </a:t>
            </a:r>
            <a:r>
              <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Other fundamental ethical duties</a:t>
            </a:r>
            <a:endParaRPr kumimoji="0" lang="en-US" altLang="en-US" sz="16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4.1.1  act in the </a:t>
            </a:r>
            <a:r>
              <a:rPr kumimoji="0" lang="en-US" altLang="en-US" sz="1600" b="1" i="0" u="none" strike="noStrike" kern="1200" cap="none" spc="0" normalizeH="0" baseline="0" noProof="0" dirty="0">
                <a:ln>
                  <a:noFill/>
                </a:ln>
                <a:solidFill>
                  <a:srgbClr val="80225F"/>
                </a:solidFill>
                <a:effectLst/>
                <a:uLnTx/>
                <a:uFillTx/>
                <a:latin typeface="Arial"/>
                <a:ea typeface="+mn-ea"/>
                <a:cs typeface="+mn-cs"/>
              </a:rPr>
              <a:t>best interests of a client </a:t>
            </a: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in any matter in which the solicitor represents the client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[And be honest, courteous, competent, diligent, prompt without compromising integrity and independence]</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Arial"/>
                <a:ea typeface="+mn-ea"/>
                <a:cs typeface="+mn-cs"/>
              </a:rPr>
              <a:t>5 Standard of conduct – dishonest or disreputable conduct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5.1 A solicitor must not engage in conduct, in the course of legal practice or otherwise, which</a:t>
            </a:r>
            <a:r>
              <a:rPr kumimoji="0" lang="en-AU" sz="1600" b="0" i="0" u="none" strike="noStrike" kern="0" cap="none" spc="0" normalizeH="0" baseline="0" noProof="0" dirty="0">
                <a:ln>
                  <a:noFill/>
                </a:ln>
                <a:solidFill>
                  <a:srgbClr val="000000"/>
                </a:solidFill>
                <a:effectLst/>
                <a:highlight>
                  <a:srgbClr val="FFFFFF"/>
                </a:highlight>
                <a:uLnTx/>
                <a:uFillTx/>
                <a:latin typeface="Arial"/>
                <a:ea typeface="Times New Roman" panose="02020603050405020304" pitchFamily="18" charset="0"/>
                <a:cs typeface="Times New Roman" panose="02020603050405020304" pitchFamily="18" charset="0"/>
              </a:rPr>
              <a:t>—</a:t>
            </a:r>
            <a:endParaRPr kumimoji="0" lang="en-AU" sz="1600" b="0" i="0" u="none" strike="noStrike" kern="100" cap="none" spc="0" normalizeH="0" baseline="0" noProof="0" dirty="0">
              <a:ln>
                <a:noFill/>
              </a:ln>
              <a:solidFill>
                <a:prstClr val="black"/>
              </a:solidFill>
              <a:effectLst/>
              <a:highlight>
                <a:srgbClr val="FFFFFF"/>
              </a:highlight>
              <a:uLnTx/>
              <a:uFillTx/>
              <a:latin typeface="Arial"/>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   5.1.2 is likely to a material degree to</a:t>
            </a:r>
            <a:r>
              <a:rPr kumimoji="0" lang="en-AU" sz="1600" b="0" i="0" u="none" strike="noStrike" kern="0" cap="none" spc="0" normalizeH="0" baseline="0" noProof="0" dirty="0">
                <a:ln>
                  <a:noFill/>
                </a:ln>
                <a:solidFill>
                  <a:srgbClr val="000000"/>
                </a:solidFill>
                <a:effectLst/>
                <a:highlight>
                  <a:srgbClr val="FFFFFF"/>
                </a:highlight>
                <a:uLnTx/>
                <a:uFillTx/>
                <a:latin typeface="Arial"/>
                <a:ea typeface="Times New Roman" panose="02020603050405020304" pitchFamily="18" charset="0"/>
                <a:cs typeface="Times New Roman" panose="02020603050405020304" pitchFamily="18" charset="0"/>
              </a:rPr>
              <a:t>—</a:t>
            </a:r>
            <a:endParaRPr kumimoji="0" lang="en-AU" sz="1600" b="0" i="0" u="none" strike="noStrike" kern="100" cap="none" spc="0" normalizeH="0" baseline="0" noProof="0" dirty="0">
              <a:ln>
                <a:noFill/>
              </a:ln>
              <a:solidFill>
                <a:prstClr val="black"/>
              </a:solidFill>
              <a:effectLst/>
              <a:highlight>
                <a:srgbClr val="FFFFFF"/>
              </a:highlight>
              <a:uLnTx/>
              <a:uFillTx/>
              <a:latin typeface="Arial"/>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Arial"/>
                <a:ea typeface="+mn-ea"/>
                <a:cs typeface="+mn-cs"/>
              </a:rPr>
              <a:t>i</a:t>
            </a: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 Be prejudicial to, or </a:t>
            </a:r>
            <a:r>
              <a:rPr kumimoji="0" lang="en-US" altLang="en-US" sz="1600" b="1" i="0" u="none" strike="noStrike" kern="1200" cap="none" spc="0" normalizeH="0" baseline="0" noProof="0" dirty="0">
                <a:ln>
                  <a:noFill/>
                </a:ln>
                <a:solidFill>
                  <a:srgbClr val="80225F"/>
                </a:solidFill>
                <a:effectLst/>
                <a:uLnTx/>
                <a:uFillTx/>
                <a:latin typeface="Arial"/>
                <a:ea typeface="+mn-ea"/>
                <a:cs typeface="+mn-cs"/>
              </a:rPr>
              <a:t>diminish the public confidence in, the administration of justice</a:t>
            </a: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7</a:t>
            </a:r>
            <a:r>
              <a:rPr kumimoji="0" lang="en-US" altLang="en-US" sz="16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   </a:t>
            </a:r>
            <a:r>
              <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Communication of advice</a:t>
            </a:r>
            <a:endParaRPr kumimoji="0" lang="en-US" altLang="en-US" sz="16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7.1  A solicitor must provide clear and timely advice to </a:t>
            </a:r>
            <a:r>
              <a:rPr kumimoji="0" lang="en-US" altLang="en-US" sz="1600" b="1" i="0" u="none" strike="noStrike" kern="1200" cap="none" spc="0" normalizeH="0" baseline="0" noProof="0" dirty="0">
                <a:ln>
                  <a:noFill/>
                </a:ln>
                <a:solidFill>
                  <a:srgbClr val="80225F"/>
                </a:solidFill>
                <a:effectLst/>
                <a:uLnTx/>
                <a:uFillTx/>
                <a:latin typeface="Arial"/>
                <a:ea typeface="+mn-ea"/>
                <a:cs typeface="+mn-cs"/>
              </a:rPr>
              <a:t>assist a client to understand relevant legal issues and to make informed choices</a:t>
            </a:r>
            <a:r>
              <a:rPr kumimoji="0" lang="en-US" altLang="en-US" sz="1600" b="0" i="0" u="none" strike="noStrike" kern="1200" cap="none" spc="0" normalizeH="0" baseline="0" noProof="0" dirty="0">
                <a:ln>
                  <a:noFill/>
                </a:ln>
                <a:solidFill>
                  <a:prstClr val="black"/>
                </a:solidFill>
                <a:effectLst/>
                <a:uLnTx/>
                <a:uFillTx/>
                <a:latin typeface="Arial"/>
                <a:ea typeface="+mn-ea"/>
                <a:cs typeface="+mn-cs"/>
              </a:rPr>
              <a:t> about action to be taken during the course of a matter, consistent with the terms of the engagement.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466963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1C11C-558F-E321-5FFF-5E485896FE78}"/>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3AEB43EE-CF5E-506C-04E4-D9DD24FFBC80}"/>
              </a:ext>
            </a:extLst>
          </p:cNvPr>
          <p:cNvSpPr>
            <a:spLocks noGrp="1"/>
          </p:cNvSpPr>
          <p:nvPr>
            <p:ph type="body" sz="quarter" idx="15"/>
          </p:nvPr>
        </p:nvSpPr>
        <p:spPr>
          <a:xfrm>
            <a:off x="6319267" y="2925763"/>
            <a:ext cx="5666316" cy="503237"/>
          </a:xfrm>
        </p:spPr>
        <p:txBody>
          <a:bodyPr>
            <a:normAutofit/>
          </a:bodyPr>
          <a:lstStyle/>
          <a:p>
            <a:r>
              <a:rPr lang="en-AU" sz="2400" dirty="0"/>
              <a:t>Frameworks</a:t>
            </a:r>
          </a:p>
        </p:txBody>
      </p:sp>
    </p:spTree>
    <p:extLst>
      <p:ext uri="{BB962C8B-B14F-4D97-AF65-F5344CB8AC3E}">
        <p14:creationId xmlns:p14="http://schemas.microsoft.com/office/powerpoint/2010/main" val="1853429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586962"/>
            <a:ext cx="8458276" cy="648000"/>
          </a:xfrm>
        </p:spPr>
        <p:txBody>
          <a:bodyPr/>
          <a:lstStyle/>
          <a:p>
            <a:r>
              <a:rPr lang="en-AU" dirty="0"/>
              <a:t>Framework</a:t>
            </a:r>
          </a:p>
        </p:txBody>
      </p:sp>
      <p:graphicFrame>
        <p:nvGraphicFramePr>
          <p:cNvPr id="6" name="Content Placeholder 5">
            <a:extLst>
              <a:ext uri="{FF2B5EF4-FFF2-40B4-BE49-F238E27FC236}">
                <a16:creationId xmlns:a16="http://schemas.microsoft.com/office/drawing/2014/main" id="{5B479F29-ED75-DC56-E562-3B139523B15E}"/>
              </a:ext>
            </a:extLst>
          </p:cNvPr>
          <p:cNvGraphicFramePr>
            <a:graphicFrameLocks noGrp="1"/>
          </p:cNvGraphicFramePr>
          <p:nvPr>
            <p:ph idx="1"/>
          </p:nvPr>
        </p:nvGraphicFramePr>
        <p:xfrm>
          <a:off x="2338525" y="2479250"/>
          <a:ext cx="8854233" cy="3467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643A7B95-EADC-FA6A-294C-8E4E6A986C3C}"/>
              </a:ext>
            </a:extLst>
          </p:cNvPr>
          <p:cNvSpPr/>
          <p:nvPr/>
        </p:nvSpPr>
        <p:spPr>
          <a:xfrm>
            <a:off x="999242" y="1791093"/>
            <a:ext cx="6730738" cy="1093509"/>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‘Becoming trauma informed means understanding how trauma occurs and its consequences, as well as being educated about the political context in which it has arisen’ (Smith et al, 2021)</a:t>
            </a:r>
          </a:p>
        </p:txBody>
      </p:sp>
      <p:sp>
        <p:nvSpPr>
          <p:cNvPr id="8" name="TextBox 7">
            <a:extLst>
              <a:ext uri="{FF2B5EF4-FFF2-40B4-BE49-F238E27FC236}">
                <a16:creationId xmlns:a16="http://schemas.microsoft.com/office/drawing/2014/main" id="{C2D41F80-D39F-0FB3-71CE-7D35224AC562}"/>
              </a:ext>
            </a:extLst>
          </p:cNvPr>
          <p:cNvSpPr txBox="1"/>
          <p:nvPr/>
        </p:nvSpPr>
        <p:spPr>
          <a:xfrm>
            <a:off x="10567447" y="5495827"/>
            <a:ext cx="101495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rial"/>
                <a:ea typeface="+mn-ea"/>
                <a:cs typeface="+mn-cs"/>
              </a:rPr>
              <a:t>McLachlan, 2022</a:t>
            </a:r>
          </a:p>
        </p:txBody>
      </p:sp>
    </p:spTree>
    <p:extLst>
      <p:ext uri="{BB962C8B-B14F-4D97-AF65-F5344CB8AC3E}">
        <p14:creationId xmlns:p14="http://schemas.microsoft.com/office/powerpoint/2010/main" val="412076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613694"/>
            <a:ext cx="8458276" cy="648000"/>
          </a:xfrm>
        </p:spPr>
        <p:txBody>
          <a:bodyPr/>
          <a:lstStyle/>
          <a:p>
            <a:r>
              <a:rPr lang="en-AU" dirty="0"/>
              <a:t>Framework</a:t>
            </a:r>
          </a:p>
        </p:txBody>
      </p:sp>
      <p:sp>
        <p:nvSpPr>
          <p:cNvPr id="3" name="Content Placeholder 2">
            <a:extLst>
              <a:ext uri="{FF2B5EF4-FFF2-40B4-BE49-F238E27FC236}">
                <a16:creationId xmlns:a16="http://schemas.microsoft.com/office/drawing/2014/main" id="{8A321C9C-8B5E-3642-84FB-111BE7C447AC}"/>
              </a:ext>
            </a:extLst>
          </p:cNvPr>
          <p:cNvSpPr>
            <a:spLocks noGrp="1"/>
          </p:cNvSpPr>
          <p:nvPr>
            <p:ph idx="1"/>
          </p:nvPr>
        </p:nvSpPr>
        <p:spPr>
          <a:xfrm>
            <a:off x="1063438" y="1607877"/>
            <a:ext cx="6251762" cy="4140414"/>
          </a:xfrm>
        </p:spPr>
        <p:txBody>
          <a:bodyPr>
            <a:noAutofit/>
          </a:bodyPr>
          <a:lstStyle/>
          <a:p>
            <a:pPr marL="0" indent="0">
              <a:buNone/>
            </a:pPr>
            <a:r>
              <a:rPr lang="en-AU" dirty="0"/>
              <a:t>Principles (</a:t>
            </a:r>
            <a:r>
              <a:rPr lang="en-AU" dirty="0" err="1"/>
              <a:t>Kezelman</a:t>
            </a:r>
            <a:r>
              <a:rPr lang="en-AU" dirty="0"/>
              <a:t> and Stavropoulos, 2016):</a:t>
            </a:r>
          </a:p>
          <a:p>
            <a:pPr marL="342900" indent="-342900">
              <a:lnSpc>
                <a:spcPct val="110000"/>
              </a:lnSpc>
              <a:buAutoNum type="arabicParenBoth"/>
            </a:pPr>
            <a:r>
              <a:rPr lang="en-AU" dirty="0"/>
              <a:t>Knowledge impacts stress on brain and body</a:t>
            </a:r>
          </a:p>
          <a:p>
            <a:pPr marL="342900" indent="-342900">
              <a:lnSpc>
                <a:spcPct val="110000"/>
              </a:lnSpc>
              <a:buAutoNum type="arabicParenBoth"/>
            </a:pPr>
            <a:r>
              <a:rPr lang="en-AU" dirty="0"/>
              <a:t>Consistent emphasis on key principles (doing </a:t>
            </a:r>
            <a:r>
              <a:rPr lang="en-AU" i="1" dirty="0"/>
              <a:t>with</a:t>
            </a:r>
            <a:r>
              <a:rPr lang="en-AU" dirty="0"/>
              <a:t> rather than </a:t>
            </a:r>
            <a:r>
              <a:rPr lang="en-AU" i="1" dirty="0"/>
              <a:t>for</a:t>
            </a:r>
            <a:r>
              <a:rPr lang="en-AU" dirty="0"/>
              <a:t> or </a:t>
            </a:r>
            <a:r>
              <a:rPr lang="en-AU" i="1" dirty="0"/>
              <a:t>to</a:t>
            </a:r>
            <a:r>
              <a:rPr lang="en-AU" dirty="0"/>
              <a:t>)</a:t>
            </a:r>
          </a:p>
          <a:p>
            <a:pPr marL="1143000" lvl="1">
              <a:lnSpc>
                <a:spcPct val="110000"/>
              </a:lnSpc>
              <a:buFont typeface="Wingdings" panose="05000000000000000000" pitchFamily="2" charset="2"/>
              <a:buChar char="ü"/>
            </a:pPr>
            <a:r>
              <a:rPr lang="en-AU" sz="1800" dirty="0"/>
              <a:t>Safety, trustworthiness, choice, collaboration, empowerment</a:t>
            </a:r>
          </a:p>
          <a:p>
            <a:pPr marL="342900" indent="-342900">
              <a:lnSpc>
                <a:spcPct val="110000"/>
              </a:lnSpc>
              <a:buAutoNum type="arabicParenBoth"/>
            </a:pPr>
            <a:r>
              <a:rPr lang="en-AU" dirty="0"/>
              <a:t>Explain the way in which service is provided (`how’ as much as `what’)</a:t>
            </a:r>
          </a:p>
          <a:p>
            <a:pPr marL="342900" indent="-342900">
              <a:lnSpc>
                <a:spcPct val="110000"/>
              </a:lnSpc>
              <a:buAutoNum type="arabicParenBoth"/>
            </a:pPr>
            <a:r>
              <a:rPr lang="en-AU" dirty="0"/>
              <a:t>‘What happened to you?’ instead of ‘what is wrong with you?’ </a:t>
            </a:r>
          </a:p>
          <a:p>
            <a:pPr marL="342900" indent="-342900">
              <a:lnSpc>
                <a:spcPct val="110000"/>
              </a:lnSpc>
              <a:buAutoNum type="arabicParenBoth"/>
            </a:pPr>
            <a:r>
              <a:rPr lang="en-AU" dirty="0"/>
              <a:t>Recognise `difficult’ behaviour/`symptoms’ may be coping mechanisms and attempted self-protection</a:t>
            </a:r>
          </a:p>
          <a:p>
            <a:pPr marL="342900" indent="-342900">
              <a:lnSpc>
                <a:spcPct val="110000"/>
              </a:lnSpc>
              <a:buAutoNum type="arabicParenBoth"/>
            </a:pPr>
            <a:r>
              <a:rPr lang="en-AU" dirty="0"/>
              <a:t>Use `strengths-based’ approach</a:t>
            </a:r>
          </a:p>
        </p:txBody>
      </p:sp>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rPr>
              <a:t>Laws1100 | </a:t>
            </a:r>
            <a:r>
              <a:rPr kumimoji="0" lang="en-AU" sz="1050" b="0" i="0" u="none" strike="noStrike" kern="1200" cap="none" spc="0" normalizeH="0" baseline="0" noProof="0" dirty="0" err="1">
                <a:ln>
                  <a:noFill/>
                </a:ln>
                <a:solidFill>
                  <a:prstClr val="black">
                    <a:tint val="75000"/>
                  </a:prstClr>
                </a:solidFill>
                <a:effectLst/>
                <a:uLnTx/>
                <a:uFillTx/>
                <a:latin typeface="Arial"/>
                <a:ea typeface="+mn-ea"/>
                <a:cs typeface="+mn-cs"/>
              </a:rPr>
              <a:t>FoA</a:t>
            </a:r>
            <a:r>
              <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rPr>
              <a:t>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AU" sz="105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10" name="Thought Bubble: Cloud 9">
            <a:extLst>
              <a:ext uri="{FF2B5EF4-FFF2-40B4-BE49-F238E27FC236}">
                <a16:creationId xmlns:a16="http://schemas.microsoft.com/office/drawing/2014/main" id="{8B91901E-BD96-F029-4144-0A8281188E57}"/>
              </a:ext>
            </a:extLst>
          </p:cNvPr>
          <p:cNvSpPr/>
          <p:nvPr/>
        </p:nvSpPr>
        <p:spPr>
          <a:xfrm>
            <a:off x="7781544" y="1812042"/>
            <a:ext cx="3730752" cy="2942901"/>
          </a:xfrm>
          <a:prstGeom prst="cloudCallout">
            <a:avLst>
              <a:gd name="adj1" fmla="val -38493"/>
              <a:gd name="adj2" fmla="val 55724"/>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rial"/>
                <a:ea typeface="+mn-ea"/>
                <a:cs typeface="+mn-cs"/>
              </a:rPr>
              <a:t>Emphasis on communication and co-decision-making</a:t>
            </a:r>
          </a:p>
        </p:txBody>
      </p:sp>
      <p:sp>
        <p:nvSpPr>
          <p:cNvPr id="11" name="TextBox 10">
            <a:extLst>
              <a:ext uri="{FF2B5EF4-FFF2-40B4-BE49-F238E27FC236}">
                <a16:creationId xmlns:a16="http://schemas.microsoft.com/office/drawing/2014/main" id="{B98462F4-9D4C-0441-5ED9-434919C92C08}"/>
              </a:ext>
            </a:extLst>
          </p:cNvPr>
          <p:cNvSpPr txBox="1"/>
          <p:nvPr/>
        </p:nvSpPr>
        <p:spPr>
          <a:xfrm>
            <a:off x="10275216" y="5425126"/>
            <a:ext cx="169368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rial"/>
                <a:ea typeface="+mn-ea"/>
                <a:cs typeface="+mn-cs"/>
              </a:rPr>
              <a:t>See also ‘With You’ Toolkit (2023); Pike &amp; Rebar (2024)</a:t>
            </a:r>
          </a:p>
        </p:txBody>
      </p:sp>
    </p:spTree>
    <p:extLst>
      <p:ext uri="{BB962C8B-B14F-4D97-AF65-F5344CB8AC3E}">
        <p14:creationId xmlns:p14="http://schemas.microsoft.com/office/powerpoint/2010/main" val="177061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B76C-C830-34CE-C8BB-F3549B0A4DE1}"/>
              </a:ext>
            </a:extLst>
          </p:cNvPr>
          <p:cNvSpPr>
            <a:spLocks noGrp="1"/>
          </p:cNvSpPr>
          <p:nvPr>
            <p:ph type="title"/>
          </p:nvPr>
        </p:nvSpPr>
        <p:spPr>
          <a:xfrm>
            <a:off x="720000" y="539814"/>
            <a:ext cx="8458276" cy="648000"/>
          </a:xfrm>
        </p:spPr>
        <p:txBody>
          <a:bodyPr/>
          <a:lstStyle/>
          <a:p>
            <a:r>
              <a:rPr lang="en-AU" dirty="0"/>
              <a:t>Framework</a:t>
            </a:r>
          </a:p>
        </p:txBody>
      </p:sp>
      <p:sp>
        <p:nvSpPr>
          <p:cNvPr id="4" name="Footer Placeholder 3">
            <a:extLst>
              <a:ext uri="{FF2B5EF4-FFF2-40B4-BE49-F238E27FC236}">
                <a16:creationId xmlns:a16="http://schemas.microsoft.com/office/drawing/2014/main" id="{9EC76A2C-0FE1-AA2F-25F0-485836DF6F9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a:ln>
                  <a:noFill/>
                </a:ln>
                <a:solidFill>
                  <a:prstClr val="black">
                    <a:tint val="75000"/>
                  </a:prstClr>
                </a:solidFill>
                <a:effectLst/>
                <a:uLnTx/>
                <a:uFillTx/>
                <a:latin typeface="Arial"/>
                <a:ea typeface="+mn-ea"/>
                <a:cs typeface="+mn-cs"/>
              </a:rPr>
              <a:t>Laws1100 | FoA | Macquarie Law School</a:t>
            </a:r>
          </a:p>
        </p:txBody>
      </p:sp>
      <p:sp>
        <p:nvSpPr>
          <p:cNvPr id="5" name="Slide Number Placeholder 4">
            <a:extLst>
              <a:ext uri="{FF2B5EF4-FFF2-40B4-BE49-F238E27FC236}">
                <a16:creationId xmlns:a16="http://schemas.microsoft.com/office/drawing/2014/main" id="{7251917E-52D8-C240-9571-69DDA19D4E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C42BCC-44E8-4F98-A8FE-EAF16D8C1E6E}" type="slidenum">
              <a:rPr kumimoji="0" lang="en-AU" sz="105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AU" sz="105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9" name="Rectangle: Rounded Corners 8">
            <a:extLst>
              <a:ext uri="{FF2B5EF4-FFF2-40B4-BE49-F238E27FC236}">
                <a16:creationId xmlns:a16="http://schemas.microsoft.com/office/drawing/2014/main" id="{78375B85-C9F7-E9F5-A5EE-98EAB3B1F133}"/>
              </a:ext>
            </a:extLst>
          </p:cNvPr>
          <p:cNvSpPr/>
          <p:nvPr/>
        </p:nvSpPr>
        <p:spPr>
          <a:xfrm>
            <a:off x="1462726" y="2596896"/>
            <a:ext cx="9266548" cy="2148840"/>
          </a:xfrm>
          <a:prstGeom prst="roundRect">
            <a:avLst/>
          </a:prstGeom>
          <a:ln w="57150"/>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dirty="0"/>
              <a:t>Trauma-Informed Practice happens in context, and also requires ‘Responsiveness to cultural, historical, racial, ethnic, gender and other needs and inequalities of court participants, eschewing reliance on stereotypes, biases, myths and misconceptions’</a:t>
            </a:r>
            <a:r>
              <a:rPr lang="en-AU" dirty="0">
                <a:solidFill>
                  <a:prstClr val="black"/>
                </a:solidFill>
                <a:latin typeface="Arial"/>
              </a:rPr>
              <a:t> (Kendall, 2024)</a:t>
            </a:r>
            <a:endParaRPr lang="en-AU" dirty="0"/>
          </a:p>
        </p:txBody>
      </p:sp>
    </p:spTree>
    <p:extLst>
      <p:ext uri="{BB962C8B-B14F-4D97-AF65-F5344CB8AC3E}">
        <p14:creationId xmlns:p14="http://schemas.microsoft.com/office/powerpoint/2010/main" val="39450684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A1675-E32A-5C85-411E-FBD9E196005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C5F6245-DABE-BB8F-B282-6A26588CCF58}"/>
              </a:ext>
            </a:extLst>
          </p:cNvPr>
          <p:cNvSpPr>
            <a:spLocks noGrp="1"/>
          </p:cNvSpPr>
          <p:nvPr>
            <p:ph type="body" sz="quarter" idx="15"/>
          </p:nvPr>
        </p:nvSpPr>
        <p:spPr>
          <a:xfrm>
            <a:off x="1824566" y="1706154"/>
            <a:ext cx="8542867" cy="503238"/>
          </a:xfrm>
        </p:spPr>
        <p:txBody>
          <a:bodyPr>
            <a:normAutofit/>
          </a:bodyPr>
          <a:lstStyle/>
          <a:p>
            <a:pPr algn="ctr"/>
            <a:r>
              <a:rPr lang="en-US" sz="2400" b="1" dirty="0"/>
              <a:t>-end-</a:t>
            </a:r>
          </a:p>
        </p:txBody>
      </p:sp>
    </p:spTree>
    <p:extLst>
      <p:ext uri="{BB962C8B-B14F-4D97-AF65-F5344CB8AC3E}">
        <p14:creationId xmlns:p14="http://schemas.microsoft.com/office/powerpoint/2010/main" val="736092448"/>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1100 tutorial 8" id="{481FCB26-78D4-5341-8126-C91A77397CDE}" vid="{F5BBEEA7-0D8D-6248-A8F4-C30C89600CF5}"/>
    </a:ext>
  </a:extLst>
</a:theme>
</file>

<file path=ppt/theme/theme2.xml><?xml version="1.0" encoding="utf-8"?>
<a:theme xmlns:a="http://schemas.openxmlformats.org/drawingml/2006/main" name="1_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3BA232C6-A5C1-47B9-8A28-464167D16A10}" vid="{FDACC145-6D33-49F9-BAB5-402643AB0C21}"/>
    </a:ext>
  </a:extLst>
</a:theme>
</file>

<file path=ppt/theme/theme3.xml><?xml version="1.0" encoding="utf-8"?>
<a:theme xmlns:a="http://schemas.openxmlformats.org/drawingml/2006/main" name="2_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Q template" id="{2C9AD21B-7A6A-7F42-8D5D-C9F6524B36BC}" vid="{CF2E094A-A555-B34F-82BE-428EC7D8F8A5}"/>
    </a:ext>
  </a:extLst>
</a:theme>
</file>

<file path=ppt/theme/theme4.xml><?xml version="1.0" encoding="utf-8"?>
<a:theme xmlns:a="http://schemas.openxmlformats.org/drawingml/2006/main" name="3_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2" id="{89F34899-5AB1-3E4C-80E6-90385AB38B69}" vid="{3D4014BA-2F34-F647-9D40-0B641625A08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otalTime>502</TotalTime>
  <Words>3658</Words>
  <Application>Microsoft Macintosh PowerPoint</Application>
  <PresentationFormat>Widescreen</PresentationFormat>
  <Paragraphs>569</Paragraphs>
  <Slides>54</Slides>
  <Notes>27</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54</vt:i4>
      </vt:variant>
    </vt:vector>
  </HeadingPairs>
  <TitlesOfParts>
    <vt:vector size="65" baseType="lpstr">
      <vt:lpstr>MS Mincho</vt:lpstr>
      <vt:lpstr>Aptos</vt:lpstr>
      <vt:lpstr>Arial</vt:lpstr>
      <vt:lpstr>Calibri</vt:lpstr>
      <vt:lpstr>Georgia</vt:lpstr>
      <vt:lpstr>Times New Roman</vt:lpstr>
      <vt:lpstr>Wingdings</vt:lpstr>
      <vt:lpstr>MAC UNI BASIC_Round 1 Draft for feedback</vt:lpstr>
      <vt:lpstr>1_MAC UNI BASIC_Round 1 Draft for feedback</vt:lpstr>
      <vt:lpstr>2_MAC UNI BASIC_Round 1 Draft for feedback</vt:lpstr>
      <vt:lpstr>3_MAC UNI BASIC_Round 1 Draft for feedback</vt:lpstr>
      <vt:lpstr>Communication and Trauma-Informed Practice</vt:lpstr>
      <vt:lpstr>Overview</vt:lpstr>
      <vt:lpstr>PowerPoint Presentation</vt:lpstr>
      <vt:lpstr>Communication</vt:lpstr>
      <vt:lpstr>PowerPoint Presentation</vt:lpstr>
      <vt:lpstr>Client Interview</vt:lpstr>
      <vt:lpstr>Client Interview</vt:lpstr>
      <vt:lpstr>Client Interview</vt:lpstr>
      <vt:lpstr>PowerPoint Presentation</vt:lpstr>
      <vt:lpstr>Rules</vt:lpstr>
      <vt:lpstr>Rules</vt:lpstr>
      <vt:lpstr>Rules</vt:lpstr>
      <vt:lpstr>PowerPoint Presentation</vt:lpstr>
      <vt:lpstr>Client-Focused Interviewing</vt:lpstr>
      <vt:lpstr>Client-Focused Interviewing</vt:lpstr>
      <vt:lpstr>Client-Focused Interviewing</vt:lpstr>
      <vt:lpstr>Client-Focused Interviewing</vt:lpstr>
      <vt:lpstr>PowerPoint Presentation</vt:lpstr>
      <vt:lpstr>Rapport</vt:lpstr>
      <vt:lpstr>Rapport</vt:lpstr>
      <vt:lpstr>Rapport</vt:lpstr>
      <vt:lpstr>Rapport</vt:lpstr>
      <vt:lpstr>Rapport</vt:lpstr>
      <vt:lpstr>PowerPoint Presentation</vt:lpstr>
      <vt:lpstr>Listening</vt:lpstr>
      <vt:lpstr>Listening</vt:lpstr>
      <vt:lpstr>Listening</vt:lpstr>
      <vt:lpstr>Listening</vt:lpstr>
      <vt:lpstr>PowerPoint Presentation</vt:lpstr>
      <vt:lpstr>Questioning</vt:lpstr>
      <vt:lpstr>Questioning</vt:lpstr>
      <vt:lpstr>Questioning</vt:lpstr>
      <vt:lpstr>Questioning</vt:lpstr>
      <vt:lpstr>Questioning</vt:lpstr>
      <vt:lpstr>Questioning</vt:lpstr>
      <vt:lpstr>Questioning</vt:lpstr>
      <vt:lpstr>PowerPoint Presentation</vt:lpstr>
      <vt:lpstr>PowerPoint Presentation</vt:lpstr>
      <vt:lpstr>Trauma-Informed Practice</vt:lpstr>
      <vt:lpstr>PowerPoint Presentation</vt:lpstr>
      <vt:lpstr>Trauma</vt:lpstr>
      <vt:lpstr>Trauma</vt:lpstr>
      <vt:lpstr>Trauma</vt:lpstr>
      <vt:lpstr>PowerPoint Presentation</vt:lpstr>
      <vt:lpstr>Effects</vt:lpstr>
      <vt:lpstr>Effects</vt:lpstr>
      <vt:lpstr>Effects</vt:lpstr>
      <vt:lpstr>PowerPoint Presentation</vt:lpstr>
      <vt:lpstr>Legal Rules</vt:lpstr>
      <vt:lpstr>PowerPoint Presentation</vt:lpstr>
      <vt:lpstr>Framework</vt:lpstr>
      <vt:lpstr>Framework</vt:lpstr>
      <vt:lpstr>Framework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Esther Erlings</dc:creator>
  <cp:lastModifiedBy>Amanda Head</cp:lastModifiedBy>
  <cp:revision>2</cp:revision>
  <dcterms:created xsi:type="dcterms:W3CDTF">2025-03-27T05:16:27Z</dcterms:created>
  <dcterms:modified xsi:type="dcterms:W3CDTF">2025-10-20T03:28:27Z</dcterms:modified>
</cp:coreProperties>
</file>