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638" r:id="rId1"/>
  </p:sldMasterIdLst>
  <p:notesMasterIdLst>
    <p:notesMasterId r:id="rId26"/>
  </p:notesMasterIdLst>
  <p:handoutMasterIdLst>
    <p:handoutMasterId r:id="rId27"/>
  </p:handoutMasterIdLst>
  <p:sldIdLst>
    <p:sldId id="303" r:id="rId2"/>
    <p:sldId id="340" r:id="rId3"/>
    <p:sldId id="339" r:id="rId4"/>
    <p:sldId id="359" r:id="rId5"/>
    <p:sldId id="365" r:id="rId6"/>
    <p:sldId id="366" r:id="rId7"/>
    <p:sldId id="367" r:id="rId8"/>
    <p:sldId id="368" r:id="rId9"/>
    <p:sldId id="361" r:id="rId10"/>
    <p:sldId id="364" r:id="rId11"/>
    <p:sldId id="360" r:id="rId12"/>
    <p:sldId id="363" r:id="rId13"/>
    <p:sldId id="362" r:id="rId14"/>
    <p:sldId id="376" r:id="rId15"/>
    <p:sldId id="377" r:id="rId16"/>
    <p:sldId id="341" r:id="rId17"/>
    <p:sldId id="369" r:id="rId18"/>
    <p:sldId id="342" r:id="rId19"/>
    <p:sldId id="370" r:id="rId20"/>
    <p:sldId id="375" r:id="rId21"/>
    <p:sldId id="371" r:id="rId22"/>
    <p:sldId id="373" r:id="rId23"/>
    <p:sldId id="372" r:id="rId24"/>
    <p:sldId id="3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Harris" initials="HH" lastIdx="8" clrIdx="0">
    <p:extLst>
      <p:ext uri="{19B8F6BF-5375-455C-9EA6-DF929625EA0E}">
        <p15:presenceInfo xmlns:p15="http://schemas.microsoft.com/office/powerpoint/2012/main" userId="S::hannah.harris@mq.edu.au::6810d1df-3b5d-4428-9867-3b286e5d46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CDF760-471F-4022-ADB2-7B0BB477086F}" v="2" dt="2024-07-05T11:30:31.3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121" autoAdjust="0"/>
    <p:restoredTop sz="79772" autoAdjust="0"/>
  </p:normalViewPr>
  <p:slideViewPr>
    <p:cSldViewPr snapToGrid="0" snapToObjects="1">
      <p:cViewPr>
        <p:scale>
          <a:sx n="110" d="100"/>
          <a:sy n="110" d="100"/>
        </p:scale>
        <p:origin x="-200" y="552"/>
      </p:cViewPr>
      <p:guideLst/>
    </p:cSldViewPr>
  </p:slideViewPr>
  <p:outlineViewPr>
    <p:cViewPr>
      <p:scale>
        <a:sx n="33" d="100"/>
        <a:sy n="33" d="100"/>
      </p:scale>
      <p:origin x="0" y="-10756"/>
    </p:cViewPr>
  </p:outlineViewPr>
  <p:notesTextViewPr>
    <p:cViewPr>
      <p:scale>
        <a:sx n="1" d="1"/>
        <a:sy n="1" d="1"/>
      </p:scale>
      <p:origin x="0" y="0"/>
    </p:cViewPr>
  </p:notesTextViewPr>
  <p:sorterViewPr>
    <p:cViewPr>
      <p:scale>
        <a:sx n="200" d="100"/>
        <a:sy n="200" d="100"/>
      </p:scale>
      <p:origin x="0" y="0"/>
    </p:cViewPr>
  </p:sorterViewPr>
  <p:notesViewPr>
    <p:cSldViewPr snapToGrid="0" snapToObjects="1">
      <p:cViewPr>
        <p:scale>
          <a:sx n="120" d="100"/>
          <a:sy n="120" d="100"/>
        </p:scale>
        <p:origin x="2544" y="-19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Deva" userId="7fc89188-b279-4464-aad4-6bcc30702912" providerId="ADAL" clId="{3FCDF760-471F-4022-ADB2-7B0BB477086F}"/>
    <pc:docChg chg="custSel modSld">
      <pc:chgData name="Surya Deva" userId="7fc89188-b279-4464-aad4-6bcc30702912" providerId="ADAL" clId="{3FCDF760-471F-4022-ADB2-7B0BB477086F}" dt="2024-07-05T11:40:42.309" v="120" actId="6549"/>
      <pc:docMkLst>
        <pc:docMk/>
      </pc:docMkLst>
      <pc:sldChg chg="delSp modSp mod">
        <pc:chgData name="Surya Deva" userId="7fc89188-b279-4464-aad4-6bcc30702912" providerId="ADAL" clId="{3FCDF760-471F-4022-ADB2-7B0BB477086F}" dt="2024-07-05T11:27:31.748" v="21" actId="1076"/>
        <pc:sldMkLst>
          <pc:docMk/>
          <pc:sldMk cId="2551680515" sldId="333"/>
        </pc:sldMkLst>
        <pc:spChg chg="mod">
          <ac:chgData name="Surya Deva" userId="7fc89188-b279-4464-aad4-6bcc30702912" providerId="ADAL" clId="{3FCDF760-471F-4022-ADB2-7B0BB477086F}" dt="2024-07-05T11:27:23.698" v="18" actId="20577"/>
          <ac:spMkLst>
            <pc:docMk/>
            <pc:sldMk cId="2551680515" sldId="333"/>
            <ac:spMk id="3" creationId="{EEA464B0-4368-47D8-802B-4FB5B5FAD6E7}"/>
          </ac:spMkLst>
        </pc:spChg>
        <pc:picChg chg="mod">
          <ac:chgData name="Surya Deva" userId="7fc89188-b279-4464-aad4-6bcc30702912" providerId="ADAL" clId="{3FCDF760-471F-4022-ADB2-7B0BB477086F}" dt="2024-07-05T11:27:31.748" v="21" actId="1076"/>
          <ac:picMkLst>
            <pc:docMk/>
            <pc:sldMk cId="2551680515" sldId="333"/>
            <ac:picMk id="5" creationId="{7FCE7B89-C15A-434A-FEE6-5616A49A0F95}"/>
          </ac:picMkLst>
        </pc:picChg>
        <pc:picChg chg="del">
          <ac:chgData name="Surya Deva" userId="7fc89188-b279-4464-aad4-6bcc30702912" providerId="ADAL" clId="{3FCDF760-471F-4022-ADB2-7B0BB477086F}" dt="2024-07-05T11:26:54.903" v="3" actId="478"/>
          <ac:picMkLst>
            <pc:docMk/>
            <pc:sldMk cId="2551680515" sldId="333"/>
            <ac:picMk id="7" creationId="{C0BA4ACA-3B9D-FF37-0460-502A54E2A6E9}"/>
          </ac:picMkLst>
        </pc:picChg>
        <pc:picChg chg="del">
          <ac:chgData name="Surya Deva" userId="7fc89188-b279-4464-aad4-6bcc30702912" providerId="ADAL" clId="{3FCDF760-471F-4022-ADB2-7B0BB477086F}" dt="2024-07-05T11:26:53.863" v="2" actId="478"/>
          <ac:picMkLst>
            <pc:docMk/>
            <pc:sldMk cId="2551680515" sldId="333"/>
            <ac:picMk id="9" creationId="{60F24A82-981D-FD19-7DBC-29DE4B43E356}"/>
          </ac:picMkLst>
        </pc:picChg>
        <pc:picChg chg="del">
          <ac:chgData name="Surya Deva" userId="7fc89188-b279-4464-aad4-6bcc30702912" providerId="ADAL" clId="{3FCDF760-471F-4022-ADB2-7B0BB477086F}" dt="2024-07-05T11:26:52.870" v="1" actId="478"/>
          <ac:picMkLst>
            <pc:docMk/>
            <pc:sldMk cId="2551680515" sldId="333"/>
            <ac:picMk id="11" creationId="{87636B9C-C799-1B04-7DE5-D4F9C3D564D0}"/>
          </ac:picMkLst>
        </pc:picChg>
        <pc:picChg chg="del">
          <ac:chgData name="Surya Deva" userId="7fc89188-b279-4464-aad4-6bcc30702912" providerId="ADAL" clId="{3FCDF760-471F-4022-ADB2-7B0BB477086F}" dt="2024-07-05T11:26:51.829" v="0" actId="478"/>
          <ac:picMkLst>
            <pc:docMk/>
            <pc:sldMk cId="2551680515" sldId="333"/>
            <ac:picMk id="13" creationId="{83F8B905-7664-D601-58B7-941543D6FD81}"/>
          </ac:picMkLst>
        </pc:picChg>
        <pc:picChg chg="mod">
          <ac:chgData name="Surya Deva" userId="7fc89188-b279-4464-aad4-6bcc30702912" providerId="ADAL" clId="{3FCDF760-471F-4022-ADB2-7B0BB477086F}" dt="2024-07-05T11:27:29.906" v="20" actId="1076"/>
          <ac:picMkLst>
            <pc:docMk/>
            <pc:sldMk cId="2551680515" sldId="333"/>
            <ac:picMk id="15" creationId="{04F75F71-3528-68AD-5504-8C7DC0F911E3}"/>
          </ac:picMkLst>
        </pc:picChg>
        <pc:picChg chg="mod">
          <ac:chgData name="Surya Deva" userId="7fc89188-b279-4464-aad4-6bcc30702912" providerId="ADAL" clId="{3FCDF760-471F-4022-ADB2-7B0BB477086F}" dt="2024-07-05T11:27:27.244" v="19" actId="1076"/>
          <ac:picMkLst>
            <pc:docMk/>
            <pc:sldMk cId="2551680515" sldId="333"/>
            <ac:picMk id="17" creationId="{AD42613D-F7E2-84AD-03C9-4897ED2640D8}"/>
          </ac:picMkLst>
        </pc:picChg>
      </pc:sldChg>
      <pc:sldChg chg="modSp mod">
        <pc:chgData name="Surya Deva" userId="7fc89188-b279-4464-aad4-6bcc30702912" providerId="ADAL" clId="{3FCDF760-471F-4022-ADB2-7B0BB477086F}" dt="2024-07-05T11:32:33.171" v="117" actId="6549"/>
        <pc:sldMkLst>
          <pc:docMk/>
          <pc:sldMk cId="833004857" sldId="346"/>
        </pc:sldMkLst>
        <pc:spChg chg="mod">
          <ac:chgData name="Surya Deva" userId="7fc89188-b279-4464-aad4-6bcc30702912" providerId="ADAL" clId="{3FCDF760-471F-4022-ADB2-7B0BB477086F}" dt="2024-07-05T11:32:33.171" v="117" actId="6549"/>
          <ac:spMkLst>
            <pc:docMk/>
            <pc:sldMk cId="833004857" sldId="346"/>
            <ac:spMk id="3" creationId="{EEA464B0-4368-47D8-802B-4FB5B5FAD6E7}"/>
          </ac:spMkLst>
        </pc:spChg>
        <pc:spChg chg="mod">
          <ac:chgData name="Surya Deva" userId="7fc89188-b279-4464-aad4-6bcc30702912" providerId="ADAL" clId="{3FCDF760-471F-4022-ADB2-7B0BB477086F}" dt="2024-07-05T11:29:27.645" v="88" actId="1076"/>
          <ac:spMkLst>
            <pc:docMk/>
            <pc:sldMk cId="833004857" sldId="346"/>
            <ac:spMk id="4" creationId="{0131D9C0-3A10-1E87-F3D2-E6D141432287}"/>
          </ac:spMkLst>
        </pc:spChg>
      </pc:sldChg>
      <pc:sldChg chg="modSp mod">
        <pc:chgData name="Surya Deva" userId="7fc89188-b279-4464-aad4-6bcc30702912" providerId="ADAL" clId="{3FCDF760-471F-4022-ADB2-7B0BB477086F}" dt="2024-07-05T11:39:30.251" v="119" actId="20577"/>
        <pc:sldMkLst>
          <pc:docMk/>
          <pc:sldMk cId="3178559589" sldId="352"/>
        </pc:sldMkLst>
        <pc:spChg chg="mod">
          <ac:chgData name="Surya Deva" userId="7fc89188-b279-4464-aad4-6bcc30702912" providerId="ADAL" clId="{3FCDF760-471F-4022-ADB2-7B0BB477086F}" dt="2024-07-05T11:39:30.251" v="119" actId="20577"/>
          <ac:spMkLst>
            <pc:docMk/>
            <pc:sldMk cId="3178559589" sldId="352"/>
            <ac:spMk id="3" creationId="{EEA464B0-4368-47D8-802B-4FB5B5FAD6E7}"/>
          </ac:spMkLst>
        </pc:spChg>
      </pc:sldChg>
      <pc:sldChg chg="modSp mod">
        <pc:chgData name="Surya Deva" userId="7fc89188-b279-4464-aad4-6bcc30702912" providerId="ADAL" clId="{3FCDF760-471F-4022-ADB2-7B0BB477086F}" dt="2024-07-05T11:40:42.309" v="120" actId="6549"/>
        <pc:sldMkLst>
          <pc:docMk/>
          <pc:sldMk cId="1854430047" sldId="354"/>
        </pc:sldMkLst>
        <pc:graphicFrameChg chg="modGraphic">
          <ac:chgData name="Surya Deva" userId="7fc89188-b279-4464-aad4-6bcc30702912" providerId="ADAL" clId="{3FCDF760-471F-4022-ADB2-7B0BB477086F}" dt="2024-07-05T11:40:42.309" v="120" actId="6549"/>
          <ac:graphicFrameMkLst>
            <pc:docMk/>
            <pc:sldMk cId="1854430047" sldId="354"/>
            <ac:graphicFrameMk id="4" creationId="{E5517F74-F218-ADCB-BA50-82E796CEA978}"/>
          </ac:graphicFrameMkLst>
        </pc:graphicFrameChg>
      </pc:sldChg>
      <pc:sldChg chg="modSp mod">
        <pc:chgData name="Surya Deva" userId="7fc89188-b279-4464-aad4-6bcc30702912" providerId="ADAL" clId="{3FCDF760-471F-4022-ADB2-7B0BB477086F}" dt="2024-07-05T11:28:30.269" v="39" actId="20577"/>
        <pc:sldMkLst>
          <pc:docMk/>
          <pc:sldMk cId="1118010551" sldId="376"/>
        </pc:sldMkLst>
        <pc:spChg chg="mod">
          <ac:chgData name="Surya Deva" userId="7fc89188-b279-4464-aad4-6bcc30702912" providerId="ADAL" clId="{3FCDF760-471F-4022-ADB2-7B0BB477086F}" dt="2024-07-05T11:28:30.269" v="39" actId="20577"/>
          <ac:spMkLst>
            <pc:docMk/>
            <pc:sldMk cId="1118010551" sldId="376"/>
            <ac:spMk id="3" creationId="{EEA464B0-4368-47D8-802B-4FB5B5FAD6E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61F64-24A3-47F5-8A3C-C1A55F2765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CCF9FD7-5F19-4302-897E-687657C26A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EFBBB-0FE0-4C79-99F2-94106FE31639}" type="datetimeFigureOut">
              <a:rPr lang="en-AU" smtClean="0"/>
              <a:t>30/7/2026</a:t>
            </a:fld>
            <a:endParaRPr lang="en-AU"/>
          </a:p>
        </p:txBody>
      </p:sp>
      <p:sp>
        <p:nvSpPr>
          <p:cNvPr id="4" name="Footer Placeholder 3">
            <a:extLst>
              <a:ext uri="{FF2B5EF4-FFF2-40B4-BE49-F238E27FC236}">
                <a16:creationId xmlns:a16="http://schemas.microsoft.com/office/drawing/2014/main" id="{96209924-3CCC-4429-B913-306C3F0A09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81EEA83F-F2DC-46D7-B696-662122F59A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8C4DC0-EA1F-4BE8-BE5B-D0247039CF28}" type="slidenum">
              <a:rPr lang="en-AU" smtClean="0"/>
              <a:t>‹#›</a:t>
            </a:fld>
            <a:endParaRPr lang="en-AU"/>
          </a:p>
        </p:txBody>
      </p:sp>
    </p:spTree>
    <p:extLst>
      <p:ext uri="{BB962C8B-B14F-4D97-AF65-F5344CB8AC3E}">
        <p14:creationId xmlns:p14="http://schemas.microsoft.com/office/powerpoint/2010/main" val="2698410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C296-011A-4286-8D88-FBCD11477F2B}" type="datetimeFigureOut">
              <a:rPr lang="en-AU" smtClean="0"/>
              <a:t>30/7/2026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142E5-A706-4C60-B43E-D82CA518B040}" type="slidenum">
              <a:rPr lang="en-AU" smtClean="0"/>
              <a:t>‹#›</a:t>
            </a:fld>
            <a:endParaRPr lang="en-AU"/>
          </a:p>
        </p:txBody>
      </p:sp>
    </p:spTree>
    <p:extLst>
      <p:ext uri="{BB962C8B-B14F-4D97-AF65-F5344CB8AC3E}">
        <p14:creationId xmlns:p14="http://schemas.microsoft.com/office/powerpoint/2010/main" val="508740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780AC98-8E30-490D-A639-38DF0F70C274}" type="slidenum">
              <a:rPr lang="en-AU" smtClean="0"/>
              <a:t>1</a:t>
            </a:fld>
            <a:endParaRPr lang="en-AU"/>
          </a:p>
        </p:txBody>
      </p:sp>
    </p:spTree>
    <p:extLst>
      <p:ext uri="{BB962C8B-B14F-4D97-AF65-F5344CB8AC3E}">
        <p14:creationId xmlns:p14="http://schemas.microsoft.com/office/powerpoint/2010/main" val="273890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a:t>
            </a:fld>
            <a:endParaRPr lang="en-AU"/>
          </a:p>
        </p:txBody>
      </p:sp>
    </p:spTree>
    <p:extLst>
      <p:ext uri="{BB962C8B-B14F-4D97-AF65-F5344CB8AC3E}">
        <p14:creationId xmlns:p14="http://schemas.microsoft.com/office/powerpoint/2010/main" val="2732789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a:t>
            </a:fld>
            <a:endParaRPr lang="en-AU"/>
          </a:p>
        </p:txBody>
      </p:sp>
    </p:spTree>
    <p:extLst>
      <p:ext uri="{BB962C8B-B14F-4D97-AF65-F5344CB8AC3E}">
        <p14:creationId xmlns:p14="http://schemas.microsoft.com/office/powerpoint/2010/main" val="2559494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4</a:t>
            </a:fld>
            <a:endParaRPr lang="en-AU"/>
          </a:p>
        </p:txBody>
      </p:sp>
    </p:spTree>
    <p:extLst>
      <p:ext uri="{BB962C8B-B14F-4D97-AF65-F5344CB8AC3E}">
        <p14:creationId xmlns:p14="http://schemas.microsoft.com/office/powerpoint/2010/main" val="3893950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5</a:t>
            </a:fld>
            <a:endParaRPr lang="en-AU"/>
          </a:p>
        </p:txBody>
      </p:sp>
    </p:spTree>
    <p:extLst>
      <p:ext uri="{BB962C8B-B14F-4D97-AF65-F5344CB8AC3E}">
        <p14:creationId xmlns:p14="http://schemas.microsoft.com/office/powerpoint/2010/main" val="1916126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6</a:t>
            </a:fld>
            <a:endParaRPr lang="en-AU"/>
          </a:p>
        </p:txBody>
      </p:sp>
    </p:spTree>
    <p:extLst>
      <p:ext uri="{BB962C8B-B14F-4D97-AF65-F5344CB8AC3E}">
        <p14:creationId xmlns:p14="http://schemas.microsoft.com/office/powerpoint/2010/main" val="3790248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7</a:t>
            </a:fld>
            <a:endParaRPr lang="en-AU"/>
          </a:p>
        </p:txBody>
      </p:sp>
    </p:spTree>
    <p:extLst>
      <p:ext uri="{BB962C8B-B14F-4D97-AF65-F5344CB8AC3E}">
        <p14:creationId xmlns:p14="http://schemas.microsoft.com/office/powerpoint/2010/main" val="1757337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8</a:t>
            </a:fld>
            <a:endParaRPr lang="en-AU"/>
          </a:p>
        </p:txBody>
      </p:sp>
    </p:spTree>
    <p:extLst>
      <p:ext uri="{BB962C8B-B14F-4D97-AF65-F5344CB8AC3E}">
        <p14:creationId xmlns:p14="http://schemas.microsoft.com/office/powerpoint/2010/main" val="749216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9</a:t>
            </a:fld>
            <a:endParaRPr lang="en-AU"/>
          </a:p>
        </p:txBody>
      </p:sp>
    </p:spTree>
    <p:extLst>
      <p:ext uri="{BB962C8B-B14F-4D97-AF65-F5344CB8AC3E}">
        <p14:creationId xmlns:p14="http://schemas.microsoft.com/office/powerpoint/2010/main" val="1999159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10</a:t>
            </a:fld>
            <a:endParaRPr lang="en-AU"/>
          </a:p>
        </p:txBody>
      </p:sp>
    </p:spTree>
    <p:extLst>
      <p:ext uri="{BB962C8B-B14F-4D97-AF65-F5344CB8AC3E}">
        <p14:creationId xmlns:p14="http://schemas.microsoft.com/office/powerpoint/2010/main" val="1452651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11</a:t>
            </a:fld>
            <a:endParaRPr lang="en-AU"/>
          </a:p>
        </p:txBody>
      </p:sp>
    </p:spTree>
    <p:extLst>
      <p:ext uri="{BB962C8B-B14F-4D97-AF65-F5344CB8AC3E}">
        <p14:creationId xmlns:p14="http://schemas.microsoft.com/office/powerpoint/2010/main" val="2484089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12</a:t>
            </a:fld>
            <a:endParaRPr lang="en-AU"/>
          </a:p>
        </p:txBody>
      </p:sp>
    </p:spTree>
    <p:extLst>
      <p:ext uri="{BB962C8B-B14F-4D97-AF65-F5344CB8AC3E}">
        <p14:creationId xmlns:p14="http://schemas.microsoft.com/office/powerpoint/2010/main" val="3165712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13</a:t>
            </a:fld>
            <a:endParaRPr lang="en-AU"/>
          </a:p>
        </p:txBody>
      </p:sp>
    </p:spTree>
    <p:extLst>
      <p:ext uri="{BB962C8B-B14F-4D97-AF65-F5344CB8AC3E}">
        <p14:creationId xmlns:p14="http://schemas.microsoft.com/office/powerpoint/2010/main" val="2721647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0F3A7-B2D0-E244-0164-94073750E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03645-C3A1-8769-6CEC-862746900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1C433-CA0E-2502-3075-DC60456EF7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54D13335-1E90-2799-2ED3-ED2D553DAF46}"/>
              </a:ext>
            </a:extLst>
          </p:cNvPr>
          <p:cNvSpPr>
            <a:spLocks noGrp="1"/>
          </p:cNvSpPr>
          <p:nvPr>
            <p:ph type="sldNum" sz="quarter" idx="5"/>
          </p:nvPr>
        </p:nvSpPr>
        <p:spPr/>
        <p:txBody>
          <a:bodyPr/>
          <a:lstStyle/>
          <a:p>
            <a:fld id="{639142E5-A706-4C60-B43E-D82CA518B040}" type="slidenum">
              <a:rPr lang="en-AU" smtClean="0"/>
              <a:t>14</a:t>
            </a:fld>
            <a:endParaRPr lang="en-AU"/>
          </a:p>
        </p:txBody>
      </p:sp>
    </p:spTree>
    <p:extLst>
      <p:ext uri="{BB962C8B-B14F-4D97-AF65-F5344CB8AC3E}">
        <p14:creationId xmlns:p14="http://schemas.microsoft.com/office/powerpoint/2010/main" val="4088785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81295-F074-97E2-F2C0-B15824F14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C6774-A041-AF3B-0BE2-369666E0C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22684-8995-99A3-4D1B-DE0D65A29B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C7AE3D32-FE0B-E12C-5D23-54BE8506FBFF}"/>
              </a:ext>
            </a:extLst>
          </p:cNvPr>
          <p:cNvSpPr>
            <a:spLocks noGrp="1"/>
          </p:cNvSpPr>
          <p:nvPr>
            <p:ph type="sldNum" sz="quarter" idx="5"/>
          </p:nvPr>
        </p:nvSpPr>
        <p:spPr/>
        <p:txBody>
          <a:bodyPr/>
          <a:lstStyle/>
          <a:p>
            <a:fld id="{639142E5-A706-4C60-B43E-D82CA518B040}" type="slidenum">
              <a:rPr lang="en-AU" smtClean="0"/>
              <a:t>15</a:t>
            </a:fld>
            <a:endParaRPr lang="en-AU"/>
          </a:p>
        </p:txBody>
      </p:sp>
    </p:spTree>
    <p:extLst>
      <p:ext uri="{BB962C8B-B14F-4D97-AF65-F5344CB8AC3E}">
        <p14:creationId xmlns:p14="http://schemas.microsoft.com/office/powerpoint/2010/main" val="20319475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16</a:t>
            </a:fld>
            <a:endParaRPr lang="en-AU"/>
          </a:p>
        </p:txBody>
      </p:sp>
    </p:spTree>
    <p:extLst>
      <p:ext uri="{BB962C8B-B14F-4D97-AF65-F5344CB8AC3E}">
        <p14:creationId xmlns:p14="http://schemas.microsoft.com/office/powerpoint/2010/main" val="1560858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17</a:t>
            </a:fld>
            <a:endParaRPr lang="en-AU"/>
          </a:p>
        </p:txBody>
      </p:sp>
    </p:spTree>
    <p:extLst>
      <p:ext uri="{BB962C8B-B14F-4D97-AF65-F5344CB8AC3E}">
        <p14:creationId xmlns:p14="http://schemas.microsoft.com/office/powerpoint/2010/main" val="1923510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18</a:t>
            </a:fld>
            <a:endParaRPr lang="en-AU"/>
          </a:p>
        </p:txBody>
      </p:sp>
    </p:spTree>
    <p:extLst>
      <p:ext uri="{BB962C8B-B14F-4D97-AF65-F5344CB8AC3E}">
        <p14:creationId xmlns:p14="http://schemas.microsoft.com/office/powerpoint/2010/main" val="17142359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19</a:t>
            </a:fld>
            <a:endParaRPr lang="en-AU"/>
          </a:p>
        </p:txBody>
      </p:sp>
    </p:spTree>
    <p:extLst>
      <p:ext uri="{BB962C8B-B14F-4D97-AF65-F5344CB8AC3E}">
        <p14:creationId xmlns:p14="http://schemas.microsoft.com/office/powerpoint/2010/main" val="36297621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20</a:t>
            </a:fld>
            <a:endParaRPr lang="en-AU"/>
          </a:p>
        </p:txBody>
      </p:sp>
    </p:spTree>
    <p:extLst>
      <p:ext uri="{BB962C8B-B14F-4D97-AF65-F5344CB8AC3E}">
        <p14:creationId xmlns:p14="http://schemas.microsoft.com/office/powerpoint/2010/main" val="19875282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21</a:t>
            </a:fld>
            <a:endParaRPr lang="en-AU"/>
          </a:p>
        </p:txBody>
      </p:sp>
    </p:spTree>
    <p:extLst>
      <p:ext uri="{BB962C8B-B14F-4D97-AF65-F5344CB8AC3E}">
        <p14:creationId xmlns:p14="http://schemas.microsoft.com/office/powerpoint/2010/main" val="521652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22</a:t>
            </a:fld>
            <a:endParaRPr lang="en-AU"/>
          </a:p>
        </p:txBody>
      </p:sp>
    </p:spTree>
    <p:extLst>
      <p:ext uri="{BB962C8B-B14F-4D97-AF65-F5344CB8AC3E}">
        <p14:creationId xmlns:p14="http://schemas.microsoft.com/office/powerpoint/2010/main" val="3450769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23</a:t>
            </a:fld>
            <a:endParaRPr lang="en-AU"/>
          </a:p>
        </p:txBody>
      </p:sp>
    </p:spTree>
    <p:extLst>
      <p:ext uri="{BB962C8B-B14F-4D97-AF65-F5344CB8AC3E}">
        <p14:creationId xmlns:p14="http://schemas.microsoft.com/office/powerpoint/2010/main" val="34655227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423C9-FE07-88D5-10AF-6832A77A8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8F820-D16D-27BA-F9BB-80577310B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C0A015-9762-9C82-6FB1-C6707E07BD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111F37F1-F81F-77EC-CBA5-67CFA6684DF8}"/>
              </a:ext>
            </a:extLst>
          </p:cNvPr>
          <p:cNvSpPr>
            <a:spLocks noGrp="1"/>
          </p:cNvSpPr>
          <p:nvPr>
            <p:ph type="sldNum" sz="quarter" idx="5"/>
          </p:nvPr>
        </p:nvSpPr>
        <p:spPr/>
        <p:txBody>
          <a:bodyPr/>
          <a:lstStyle/>
          <a:p>
            <a:fld id="{639142E5-A706-4C60-B43E-D82CA518B040}" type="slidenum">
              <a:rPr lang="en-AU" smtClean="0"/>
              <a:t>24</a:t>
            </a:fld>
            <a:endParaRPr lang="en-AU"/>
          </a:p>
        </p:txBody>
      </p:sp>
    </p:spTree>
    <p:extLst>
      <p:ext uri="{BB962C8B-B14F-4D97-AF65-F5344CB8AC3E}">
        <p14:creationId xmlns:p14="http://schemas.microsoft.com/office/powerpoint/2010/main" val="8761958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35463"/>
          <a:stretch/>
        </p:blipFill>
        <p:spPr>
          <a:xfrm>
            <a:off x="241904" y="3067670"/>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6188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2" name="Rectangle 1"/>
          <p:cNvSpPr/>
          <p:nvPr/>
        </p:nvSpPr>
        <p:spPr>
          <a:xfrm>
            <a:off x="241904" y="3062172"/>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p:nvPicPr>
        <p:blipFill rotWithShape="1">
          <a:blip r:embed="rId2">
            <a:extLst>
              <a:ext uri="{28A0092B-C50C-407E-A947-70E740481C1C}">
                <a14:useLocalDpi xmlns:a14="http://schemas.microsoft.com/office/drawing/2010/main" val="0"/>
              </a:ext>
            </a:extLst>
          </a:blip>
          <a:srcRect l="11403" t="15468" r="100" b="1049"/>
          <a:stretch/>
        </p:blipFill>
        <p:spPr>
          <a:xfrm>
            <a:off x="4964875" y="3062172"/>
            <a:ext cx="6987287" cy="36324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959" y="3448840"/>
            <a:ext cx="1943987" cy="3239978"/>
          </a:xfrm>
          <a:prstGeom prst="rect">
            <a:avLst/>
          </a:prstGeom>
        </p:spPr>
      </p:pic>
      <p:sp>
        <p:nvSpPr>
          <p:cNvPr id="11" name="TextBox 10"/>
          <p:cNvSpPr txBox="1"/>
          <p:nvPr/>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900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9" name="Picture Placeholder 9" descr="Section_Image.jpg"/>
          <p:cNvPicPr>
            <a:picLocks noChangeAspect="1"/>
          </p:cNvPicPr>
          <p:nvPr/>
        </p:nvPicPr>
        <p:blipFill rotWithShape="1">
          <a:blip r:embed="rId2">
            <a:extLst>
              <a:ext uri="{28A0092B-C50C-407E-A947-70E740481C1C}">
                <a14:useLocalDpi xmlns:a14="http://schemas.microsoft.com/office/drawing/2010/main" val="0"/>
              </a:ext>
            </a:extLst>
          </a:blip>
          <a:srcRect l="561" t="15597" r="462" b="1605"/>
          <a:stretch/>
        </p:blipFill>
        <p:spPr>
          <a:xfrm>
            <a:off x="251429" y="1257301"/>
            <a:ext cx="11706850" cy="5419724"/>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83457" y="3502203"/>
            <a:ext cx="3174822" cy="3174822"/>
          </a:xfrm>
          <a:prstGeom prst="rect">
            <a:avLst/>
          </a:prstGeom>
        </p:spPr>
      </p:pic>
      <p:pic>
        <p:nvPicPr>
          <p:cNvPr id="16" name="Picture 15">
            <a:extLst>
              <a:ext uri="{FF2B5EF4-FFF2-40B4-BE49-F238E27FC236}">
                <a16:creationId xmlns:a16="http://schemas.microsoft.com/office/drawing/2014/main" id="{8C9B8C79-07FC-2444-B397-BBCDB3F9F22B}"/>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228020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4" name="Rectangle 13"/>
          <p:cNvSpPr/>
          <p:nvPr/>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9" name="Text Placeholder 2"/>
          <p:cNvSpPr>
            <a:spLocks noGrp="1"/>
          </p:cNvSpPr>
          <p:nvPr>
            <p:ph type="body" idx="14" hasCustomPrompt="1"/>
          </p:nvPr>
        </p:nvSpPr>
        <p:spPr>
          <a:xfrm>
            <a:off x="5608410"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9" name="Picture 8" descr="MAC21_190.5x254_PowerPoint_Images_Cov v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50542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10800001" cy="4525963"/>
          </a:xfrm>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31625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0"/>
            <a:ext cx="10776675" cy="45243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759075"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2898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264008"/>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 </a:t>
            </a:r>
          </a:p>
        </p:txBody>
      </p:sp>
      <p:sp>
        <p:nvSpPr>
          <p:cNvPr id="9" name="Text Placeholder 8"/>
          <p:cNvSpPr>
            <a:spLocks noGrp="1"/>
          </p:cNvSpPr>
          <p:nvPr>
            <p:ph type="body" sz="quarter" idx="17"/>
          </p:nvPr>
        </p:nvSpPr>
        <p:spPr>
          <a:xfrm>
            <a:off x="7200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8"/>
          <p:cNvSpPr>
            <a:spLocks noGrp="1"/>
          </p:cNvSpPr>
          <p:nvPr>
            <p:ph type="body" sz="quarter" idx="18"/>
          </p:nvPr>
        </p:nvSpPr>
        <p:spPr>
          <a:xfrm>
            <a:off x="63624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629029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6012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20000" y="1620000"/>
            <a:ext cx="10752000" cy="4525200"/>
          </a:xfrm>
        </p:spPr>
        <p:txBody>
          <a:bodyPr/>
          <a:lstStyle/>
          <a:p>
            <a:r>
              <a:rPr lang="en-US"/>
              <a:t>Click icon to add picture</a:t>
            </a:r>
            <a:endParaRPr lang="en-AU" dirty="0"/>
          </a:p>
        </p:txBody>
      </p:sp>
    </p:spTree>
    <p:extLst>
      <p:ext uri="{BB962C8B-B14F-4D97-AF65-F5344CB8AC3E}">
        <p14:creationId xmlns:p14="http://schemas.microsoft.com/office/powerpoint/2010/main" val="18599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endParaRPr lang="en-US"/>
          </a:p>
        </p:txBody>
      </p:sp>
      <p:sp>
        <p:nvSpPr>
          <p:cNvPr id="4" name="Slide Number Placeholder 3"/>
          <p:cNvSpPr>
            <a:spLocks noGrp="1"/>
          </p:cNvSpPr>
          <p:nvPr>
            <p:ph type="sldNum" sz="quarter" idx="12"/>
          </p:nvPr>
        </p:nvSpPr>
        <p:spPr>
          <a:xfrm>
            <a:off x="8737600" y="6309321"/>
            <a:ext cx="2844800" cy="365125"/>
          </a:xfrm>
        </p:spPr>
        <p:txBody>
          <a:bodyPr/>
          <a:lstStyle/>
          <a:p>
            <a:fld id="{A7E59BBE-8B91-6A4A-80E8-2EE021604ECB}" type="slidenum">
              <a:rPr lang="en-US" smtClean="0"/>
              <a:t>‹#›</a:t>
            </a:fld>
            <a:endParaRPr lang="en-US"/>
          </a:p>
        </p:txBody>
      </p:sp>
    </p:spTree>
    <p:extLst>
      <p:ext uri="{BB962C8B-B14F-4D97-AF65-F5344CB8AC3E}">
        <p14:creationId xmlns:p14="http://schemas.microsoft.com/office/powerpoint/2010/main" val="2091377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2186930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A7E59BBE-8B91-6A4A-80E8-2EE021604ECB}" type="slidenum">
              <a:rPr lang="en-US" smtClean="0"/>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490720"/>
          </a:xfrm>
        </p:spPr>
        <p:txBody>
          <a:bodyPr>
            <a:noAutofit/>
          </a:bodyPr>
          <a:lstStyle>
            <a:lvl7pPr>
              <a:buNone/>
              <a:defRPr/>
            </a:lvl7pPr>
            <a:lvl8pPr>
              <a:buNone/>
              <a:defRPr/>
            </a:lvl8pPr>
          </a:lstStyle>
          <a:p>
            <a:r>
              <a:rPr lang="en-US" b="1" dirty="0">
                <a:solidFill>
                  <a:srgbClr val="6D0020"/>
                </a:solidFill>
              </a:rPr>
              <a:t>HEADER INFO</a:t>
            </a:r>
          </a:p>
          <a:p>
            <a:r>
              <a:rPr lang="en-US" dirty="0" err="1">
                <a:latin typeface="Georgia"/>
                <a:cs typeface="Georgia"/>
              </a:rPr>
              <a:t>Consectetur</a:t>
            </a:r>
            <a:r>
              <a:rPr lang="en-US" dirty="0">
                <a:latin typeface="Georgia"/>
                <a:cs typeface="Georgia"/>
              </a:rPr>
              <a:t>  met </a:t>
            </a:r>
            <a:r>
              <a:rPr lang="en-US" dirty="0" err="1">
                <a:latin typeface="Georgia"/>
                <a:cs typeface="Georgia"/>
              </a:rPr>
              <a:t>adipiscing</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Aenean</a:t>
            </a:r>
            <a:r>
              <a:rPr lang="en-US" dirty="0">
                <a:latin typeface="Georgia"/>
                <a:cs typeface="Georgia"/>
              </a:rPr>
              <a:t> ac </a:t>
            </a:r>
            <a:r>
              <a:rPr lang="en-US" dirty="0" err="1">
                <a:latin typeface="Georgia"/>
                <a:cs typeface="Georgia"/>
              </a:rPr>
              <a:t>elit</a:t>
            </a:r>
            <a:r>
              <a:rPr lang="en-US" dirty="0">
                <a:latin typeface="Georgia"/>
                <a:cs typeface="Georgia"/>
              </a:rPr>
              <a:t> a </a:t>
            </a:r>
            <a:r>
              <a:rPr lang="en-US" dirty="0" err="1">
                <a:latin typeface="Georgia"/>
                <a:cs typeface="Georgia"/>
              </a:rPr>
              <a:t>felis</a:t>
            </a:r>
            <a:r>
              <a:rPr lang="en-US" dirty="0">
                <a:latin typeface="Georgia"/>
                <a:cs typeface="Georgia"/>
              </a:rPr>
              <a:t> </a:t>
            </a:r>
            <a:r>
              <a:rPr lang="en-US" dirty="0" err="1">
                <a:latin typeface="Georgia"/>
                <a:cs typeface="Georgia"/>
              </a:rPr>
              <a:t>pharetra</a:t>
            </a:r>
            <a:r>
              <a:rPr lang="en-US" dirty="0">
                <a:latin typeface="Georgia"/>
                <a:cs typeface="Georgia"/>
              </a:rPr>
              <a:t> </a:t>
            </a:r>
            <a:br>
              <a:rPr lang="en-US" dirty="0">
                <a:latin typeface="Georgia"/>
                <a:cs typeface="Georgia"/>
              </a:rPr>
            </a:br>
            <a:r>
              <a:rPr lang="en-US" dirty="0" err="1">
                <a:latin typeface="Georgia"/>
                <a:cs typeface="Georgia"/>
              </a:rPr>
              <a:t>vel</a:t>
            </a:r>
            <a:r>
              <a:rPr lang="en-US" dirty="0">
                <a:latin typeface="Georgia"/>
                <a:cs typeface="Georgia"/>
              </a:rPr>
              <a:t> </a:t>
            </a:r>
            <a:r>
              <a:rPr lang="en-US" dirty="0" err="1">
                <a:latin typeface="Georgia"/>
                <a:cs typeface="Georgia"/>
              </a:rPr>
              <a:t>Fringilla</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Duis</a:t>
            </a:r>
            <a:r>
              <a:rPr lang="en-US" dirty="0">
                <a:latin typeface="Georgia"/>
                <a:cs typeface="Georgia"/>
              </a:rPr>
              <a:t> dui </a:t>
            </a:r>
            <a:r>
              <a:rPr lang="en-US" dirty="0" err="1">
                <a:latin typeface="Georgia"/>
                <a:cs typeface="Georgia"/>
              </a:rPr>
              <a:t>arcu</a:t>
            </a:r>
            <a:r>
              <a:rPr lang="en-US" dirty="0">
                <a:latin typeface="Georgia"/>
                <a:cs typeface="Georgia"/>
              </a:rPr>
              <a:t>, </a:t>
            </a:r>
            <a:r>
              <a:rPr lang="en-US" dirty="0" err="1">
                <a:latin typeface="Georgia"/>
                <a:cs typeface="Georgia"/>
              </a:rPr>
              <a:t>amet</a:t>
            </a:r>
            <a:r>
              <a:rPr lang="en-US" dirty="0">
                <a:latin typeface="Georgia"/>
                <a:cs typeface="Georgia"/>
              </a:rPr>
              <a:t> </a:t>
            </a:r>
            <a:r>
              <a:rPr lang="en-US" dirty="0" err="1">
                <a:latin typeface="Georgia"/>
                <a:cs typeface="Georgia"/>
              </a:rPr>
              <a:t>scelerisque</a:t>
            </a:r>
            <a:r>
              <a:rPr lang="en-US" dirty="0">
                <a:latin typeface="Georgia"/>
                <a:cs typeface="Georgia"/>
              </a:rPr>
              <a:t> </a:t>
            </a:r>
            <a:r>
              <a:rPr lang="en-US" dirty="0" err="1">
                <a:latin typeface="Georgia"/>
                <a:cs typeface="Georgia"/>
              </a:rPr>
              <a:t>nec</a:t>
            </a:r>
            <a:r>
              <a:rPr lang="en-US" dirty="0">
                <a:latin typeface="Georgia"/>
                <a:cs typeface="Georgia"/>
              </a:rPr>
              <a:t> dictum </a:t>
            </a:r>
            <a:br>
              <a:rPr lang="en-US" dirty="0">
                <a:latin typeface="Georgia"/>
                <a:cs typeface="Georgia"/>
              </a:rPr>
            </a:br>
            <a:r>
              <a:rPr lang="en-US" dirty="0">
                <a:latin typeface="Georgia"/>
                <a:cs typeface="Georgia"/>
              </a:rPr>
              <a:t>ac </a:t>
            </a:r>
            <a:r>
              <a:rPr lang="en-US" dirty="0" err="1">
                <a:latin typeface="Georgia"/>
                <a:cs typeface="Georgia"/>
              </a:rPr>
              <a:t>conse</a:t>
            </a:r>
            <a:r>
              <a:rPr lang="en-US" dirty="0">
                <a:latin typeface="Georgia"/>
                <a:cs typeface="Georgia"/>
              </a:rPr>
              <a:t> </a:t>
            </a:r>
            <a:r>
              <a:rPr lang="en-US" dirty="0" err="1">
                <a:latin typeface="Georgia"/>
                <a:cs typeface="Georgia"/>
              </a:rPr>
              <a:t>eu</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Donec</a:t>
            </a:r>
            <a:r>
              <a:rPr lang="en-US" dirty="0">
                <a:latin typeface="Georgia"/>
                <a:cs typeface="Georgia"/>
              </a:rPr>
              <a:t> </a:t>
            </a:r>
            <a:r>
              <a:rPr lang="en-US" dirty="0" err="1">
                <a:latin typeface="Georgia"/>
                <a:cs typeface="Georgia"/>
              </a:rPr>
              <a:t>tincid</a:t>
            </a:r>
            <a:r>
              <a:rPr lang="en-US" dirty="0">
                <a:latin typeface="Georgia"/>
                <a:cs typeface="Georgia"/>
              </a:rPr>
              <a:t> </a:t>
            </a:r>
            <a:r>
              <a:rPr lang="en-US" dirty="0" err="1">
                <a:latin typeface="Georgia"/>
                <a:cs typeface="Georgia"/>
              </a:rPr>
              <a:t>unt</a:t>
            </a:r>
            <a:r>
              <a:rPr lang="en-US" dirty="0">
                <a:latin typeface="Georgia"/>
                <a:cs typeface="Georgia"/>
              </a:rPr>
              <a:t> </a:t>
            </a:r>
            <a:r>
              <a:rPr lang="en-US" dirty="0" err="1">
                <a:latin typeface="Georgia"/>
                <a:cs typeface="Georgia"/>
              </a:rPr>
              <a:t>enim</a:t>
            </a:r>
            <a:r>
              <a:rPr lang="en-US" dirty="0">
                <a:latin typeface="Georgia"/>
                <a:cs typeface="Georgia"/>
              </a:rPr>
              <a:t> sit </a:t>
            </a:r>
            <a:r>
              <a:rPr lang="en-US" dirty="0" err="1">
                <a:latin typeface="Georgia"/>
                <a:cs typeface="Georgia"/>
              </a:rPr>
              <a:t>amet</a:t>
            </a:r>
            <a:r>
              <a:rPr lang="en-US" dirty="0">
                <a:latin typeface="Georgia"/>
                <a:cs typeface="Georgia"/>
              </a:rPr>
              <a:t> </a:t>
            </a:r>
            <a:r>
              <a:rPr lang="en-US" dirty="0" err="1">
                <a:latin typeface="Georgia"/>
                <a:cs typeface="Georgia"/>
              </a:rPr>
              <a:t>consequat</a:t>
            </a:r>
            <a:r>
              <a:rPr lang="en-US" dirty="0">
                <a:latin typeface="Georgia"/>
                <a:cs typeface="Georgia"/>
              </a:rPr>
              <a:t>.</a:t>
            </a:r>
          </a:p>
          <a:p>
            <a:pPr>
              <a:buFont typeface="Arial"/>
              <a:buChar char="•"/>
            </a:pPr>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7"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pPr marL="342900" lvl="7" indent="0"/>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6"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endParaRPr lang="en-US" dirty="0">
              <a:latin typeface="Georgia"/>
              <a:cs typeface="Georgia"/>
            </a:endParaRPr>
          </a:p>
          <a:p>
            <a:endParaRPr lang="en-US" dirty="0"/>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905079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p:nvPicPr>
        <p:blipFill>
          <a:blip r:embed="rId15"/>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A7E59BBE-8B91-6A4A-80E8-2EE021604ECB}" type="slidenum">
              <a:rPr lang="en-US" smtClean="0"/>
              <a:t>‹#›</a:t>
            </a:fld>
            <a:endParaRPr lang="en-US"/>
          </a:p>
        </p:txBody>
      </p:sp>
      <p:pic>
        <p:nvPicPr>
          <p:cNvPr id="1026" name="Picture 2"/>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000947"/>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Lst>
  <p:hf hdr="0" ft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20000" y="836784"/>
            <a:ext cx="8544000" cy="648000"/>
          </a:xfrm>
        </p:spPr>
        <p:txBody>
          <a:bodyPr>
            <a:normAutofit fontScale="90000"/>
          </a:bodyPr>
          <a:lstStyle/>
          <a:p>
            <a:pPr algn="ctr"/>
            <a:r>
              <a:rPr lang="en-AU" sz="4000" b="1" dirty="0">
                <a:latin typeface="Times New Roman" panose="02020603050405020304" pitchFamily="18" charset="0"/>
                <a:cs typeface="Times New Roman" panose="02020603050405020304" pitchFamily="18" charset="0"/>
              </a:rPr>
              <a:t>LAWS2400 / LAWS8040 – Torts</a:t>
            </a:r>
            <a:br>
              <a:rPr lang="en-AU" sz="3600" b="1" dirty="0">
                <a:latin typeface="Times New Roman" panose="02020603050405020304" pitchFamily="18" charset="0"/>
                <a:cs typeface="Times New Roman" panose="02020603050405020304" pitchFamily="18" charset="0"/>
              </a:rPr>
            </a:br>
            <a:br>
              <a:rPr lang="en-AU" sz="3600" b="1" dirty="0">
                <a:latin typeface="Times New Roman" panose="02020603050405020304" pitchFamily="18" charset="0"/>
                <a:cs typeface="Times New Roman" panose="02020603050405020304" pitchFamily="18" charset="0"/>
              </a:rPr>
            </a:br>
            <a:r>
              <a:rPr lang="en-AU" sz="3100" b="1" dirty="0">
                <a:latin typeface="Times New Roman" panose="02020603050405020304" pitchFamily="18" charset="0"/>
                <a:cs typeface="Times New Roman" panose="02020603050405020304" pitchFamily="18" charset="0"/>
              </a:rPr>
              <a:t>Week 1 – Part 2</a:t>
            </a:r>
            <a:br>
              <a:rPr lang="en-AU" sz="3100" b="1" dirty="0">
                <a:latin typeface="Times New Roman" panose="02020603050405020304" pitchFamily="18" charset="0"/>
                <a:cs typeface="Times New Roman" panose="02020603050405020304" pitchFamily="18" charset="0"/>
              </a:rPr>
            </a:br>
            <a:r>
              <a:rPr lang="en-AU" sz="3100" b="1" i="1" dirty="0">
                <a:latin typeface="Times New Roman" panose="02020603050405020304" pitchFamily="18" charset="0"/>
                <a:cs typeface="Times New Roman" panose="02020603050405020304" pitchFamily="18" charset="0"/>
              </a:rPr>
              <a:t>Introduction to Torts and Intentional Torts</a:t>
            </a:r>
            <a:br>
              <a:rPr lang="en-AU" sz="2900"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4. Theories about the role of tort law in society</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Scholars in their writings (and judges in their pronouncements) have invoked various theoretical justifications about the role of tort law in society </a:t>
            </a:r>
          </a:p>
          <a:p>
            <a:pPr marL="0" indent="0">
              <a:buNone/>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These theoretical justifications may be descriptive or normative in nature – </a:t>
            </a:r>
            <a:r>
              <a:rPr lang="en-US" sz="2800" i="1" dirty="0">
                <a:latin typeface="Times New Roman" panose="02020603050405020304" pitchFamily="18" charset="0"/>
                <a:cs typeface="Times New Roman" panose="02020603050405020304" pitchFamily="18" charset="0"/>
              </a:rPr>
              <a:t>the role that tort law plays or ought to play in society  </a:t>
            </a:r>
          </a:p>
          <a:p>
            <a:pPr marL="0" indent="0">
              <a:buNone/>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These theories also provide a framework to critically </a:t>
            </a:r>
            <a:r>
              <a:rPr lang="en-US" sz="2800" dirty="0" err="1">
                <a:latin typeface="Times New Roman" panose="02020603050405020304" pitchFamily="18" charset="0"/>
                <a:cs typeface="Times New Roman" panose="02020603050405020304" pitchFamily="18" charset="0"/>
              </a:rPr>
              <a:t>analyse</a:t>
            </a:r>
            <a:r>
              <a:rPr lang="en-US" sz="2800" dirty="0">
                <a:latin typeface="Times New Roman" panose="02020603050405020304" pitchFamily="18" charset="0"/>
                <a:cs typeface="Times New Roman" panose="02020603050405020304" pitchFamily="18" charset="0"/>
              </a:rPr>
              <a:t> judicial decisions </a:t>
            </a:r>
          </a:p>
        </p:txBody>
      </p:sp>
    </p:spTree>
    <p:extLst>
      <p:ext uri="{BB962C8B-B14F-4D97-AF65-F5344CB8AC3E}">
        <p14:creationId xmlns:p14="http://schemas.microsoft.com/office/powerpoint/2010/main" val="1643290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Compensatory function  </a:t>
            </a:r>
            <a:r>
              <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 </a:t>
            </a:r>
          </a:p>
          <a:p>
            <a:pPr marL="0" indent="0">
              <a:buNone/>
            </a:pPr>
            <a:endParaRPr lang="en-HK" sz="10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Under this theory, tort law is seen as a framework to provide compensation to people who are injured by a wrong </a:t>
            </a:r>
          </a:p>
          <a:p>
            <a:pPr marL="0" indent="0">
              <a:buNone/>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The object of awarding compensation (damages) is to put back the victim into the position – so far as money can achieve that – she would have been in had the accident not happened </a:t>
            </a:r>
          </a:p>
        </p:txBody>
      </p:sp>
    </p:spTree>
    <p:extLst>
      <p:ext uri="{BB962C8B-B14F-4D97-AF65-F5344CB8AC3E}">
        <p14:creationId xmlns:p14="http://schemas.microsoft.com/office/powerpoint/2010/main" val="751150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The compensatory function, however, faces challenges in practice – e.g., miscalculations in computing loss of future earnings, high legal fees, problems with lump sum payment</a:t>
            </a:r>
          </a:p>
          <a:p>
            <a:pPr marL="0" indent="0">
              <a:buNone/>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Hence, other purposes of tort law are proposed </a:t>
            </a:r>
          </a:p>
        </p:txBody>
      </p:sp>
    </p:spTree>
    <p:extLst>
      <p:ext uri="{BB962C8B-B14F-4D97-AF65-F5344CB8AC3E}">
        <p14:creationId xmlns:p14="http://schemas.microsoft.com/office/powerpoint/2010/main" val="623244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Deterrence function  </a:t>
            </a:r>
            <a:r>
              <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 </a:t>
            </a:r>
          </a:p>
          <a:p>
            <a:pPr marL="0" indent="0">
              <a:buNone/>
            </a:pPr>
            <a:endParaRPr lang="en-HK" sz="10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The deterrence theory postulates that if employers are made to pay for an accident at work, they will try to avoid such accidents in future </a:t>
            </a:r>
          </a:p>
          <a:p>
            <a:pPr>
              <a:buFont typeface="Courier New" panose="02070309020205020404" pitchFamily="49" charset="0"/>
              <a:buChar char="o"/>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The same logic applies to negligent manufacturing of products </a:t>
            </a:r>
          </a:p>
        </p:txBody>
      </p:sp>
    </p:spTree>
    <p:extLst>
      <p:ext uri="{BB962C8B-B14F-4D97-AF65-F5344CB8AC3E}">
        <p14:creationId xmlns:p14="http://schemas.microsoft.com/office/powerpoint/2010/main" val="4176070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However, it is far from certain whether tort law achieves such deterrence in practice, especially for individuals </a:t>
            </a:r>
          </a:p>
          <a:p>
            <a:pPr>
              <a:buFont typeface="Courier New" panose="02070309020205020404" pitchFamily="49" charset="0"/>
              <a:buChar char="o"/>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solidFill>
                  <a:srgbClr val="3333FF"/>
                </a:solidFill>
                <a:latin typeface="Times New Roman" panose="02020603050405020304" pitchFamily="18" charset="0"/>
                <a:cs typeface="Times New Roman" panose="02020603050405020304" pitchFamily="18" charset="0"/>
              </a:rPr>
              <a:t>For example, what is most likely to deter drink driving:</a:t>
            </a:r>
          </a:p>
          <a:p>
            <a:pPr marL="0" indent="0">
              <a:buNone/>
            </a:pPr>
            <a:endParaRPr lang="en-HK" sz="1000" dirty="0">
              <a:solidFill>
                <a:srgbClr val="3333FF"/>
              </a:solidFill>
              <a:latin typeface="Times New Roman" panose="02020603050405020304" pitchFamily="18" charset="0"/>
              <a:cs typeface="Times New Roman" panose="02020603050405020304" pitchFamily="18" charset="0"/>
            </a:endParaRPr>
          </a:p>
          <a:p>
            <a:pPr lvl="2">
              <a:buFont typeface="Wingdings" panose="05000000000000000000" pitchFamily="2" charset="2"/>
              <a:buChar char="q"/>
            </a:pPr>
            <a:r>
              <a:rPr lang="en-HK" sz="2800" dirty="0">
                <a:solidFill>
                  <a:srgbClr val="3333FF"/>
                </a:solidFill>
                <a:latin typeface="Times New Roman" panose="02020603050405020304" pitchFamily="18" charset="0"/>
                <a:cs typeface="Times New Roman" panose="02020603050405020304" pitchFamily="18" charset="0"/>
              </a:rPr>
              <a:t> License cancellation </a:t>
            </a:r>
          </a:p>
          <a:p>
            <a:pPr lvl="2">
              <a:buFont typeface="Wingdings" panose="05000000000000000000" pitchFamily="2" charset="2"/>
              <a:buChar char="q"/>
            </a:pPr>
            <a:r>
              <a:rPr lang="en-HK" sz="2800" dirty="0">
                <a:solidFill>
                  <a:srgbClr val="3333FF"/>
                </a:solidFill>
                <a:latin typeface="Times New Roman" panose="02020603050405020304" pitchFamily="18" charset="0"/>
                <a:cs typeface="Times New Roman" panose="02020603050405020304" pitchFamily="18" charset="0"/>
              </a:rPr>
              <a:t> Fine and imprisonment </a:t>
            </a:r>
          </a:p>
          <a:p>
            <a:pPr lvl="2">
              <a:buFont typeface="Wingdings" panose="05000000000000000000" pitchFamily="2" charset="2"/>
              <a:buChar char="q"/>
            </a:pPr>
            <a:r>
              <a:rPr lang="en-HK" sz="2800" dirty="0">
                <a:solidFill>
                  <a:srgbClr val="3333FF"/>
                </a:solidFill>
                <a:latin typeface="Times New Roman" panose="02020603050405020304" pitchFamily="18" charset="0"/>
                <a:cs typeface="Times New Roman" panose="02020603050405020304" pitchFamily="18" charset="0"/>
              </a:rPr>
              <a:t> Payment of compensation </a:t>
            </a:r>
          </a:p>
          <a:p>
            <a:pPr lvl="2">
              <a:buFont typeface="Wingdings" panose="05000000000000000000" pitchFamily="2" charset="2"/>
              <a:buChar char="q"/>
            </a:pPr>
            <a:r>
              <a:rPr lang="en-HK" sz="2800" dirty="0">
                <a:solidFill>
                  <a:srgbClr val="3333FF"/>
                </a:solidFill>
                <a:latin typeface="Times New Roman" panose="02020603050405020304" pitchFamily="18" charset="0"/>
                <a:cs typeface="Times New Roman" panose="02020603050405020304" pitchFamily="18" charset="0"/>
              </a:rPr>
              <a:t> Loss of human life </a:t>
            </a:r>
          </a:p>
          <a:p>
            <a:pPr marL="0" indent="0">
              <a:buNone/>
            </a:pPr>
            <a:r>
              <a:rPr lang="en-HK" sz="2800" dirty="0">
                <a:latin typeface="Times New Roman" panose="02020603050405020304" pitchFamily="18" charset="0"/>
                <a:cs typeface="Times New Roman" panose="02020603050405020304" pitchFamily="18" charset="0"/>
              </a:rPr>
              <a:t> </a:t>
            </a:r>
          </a:p>
        </p:txBody>
      </p:sp>
      <p:pic>
        <p:nvPicPr>
          <p:cNvPr id="5" name="Picture 4" descr="A person sitting in a car&#10;&#10;Description automatically generated with low confidence">
            <a:extLst>
              <a:ext uri="{FF2B5EF4-FFF2-40B4-BE49-F238E27FC236}">
                <a16:creationId xmlns:a16="http://schemas.microsoft.com/office/drawing/2014/main" id="{DA3FC992-0A77-62C2-19B2-A412590946F6}"/>
              </a:ext>
            </a:extLst>
          </p:cNvPr>
          <p:cNvPicPr>
            <a:picLocks noChangeAspect="1"/>
          </p:cNvPicPr>
          <p:nvPr/>
        </p:nvPicPr>
        <p:blipFill>
          <a:blip r:embed="rId3"/>
          <a:stretch>
            <a:fillRect/>
          </a:stretch>
        </p:blipFill>
        <p:spPr>
          <a:xfrm>
            <a:off x="7442791" y="4045894"/>
            <a:ext cx="3912782" cy="2260434"/>
          </a:xfrm>
          <a:prstGeom prst="rect">
            <a:avLst/>
          </a:prstGeom>
        </p:spPr>
      </p:pic>
    </p:spTree>
    <p:extLst>
      <p:ext uri="{BB962C8B-B14F-4D97-AF65-F5344CB8AC3E}">
        <p14:creationId xmlns:p14="http://schemas.microsoft.com/office/powerpoint/2010/main" val="2912505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The deterrence logic is also applied systemically: </a:t>
            </a:r>
            <a:r>
              <a:rPr lang="en-HK" sz="2800" i="1" dirty="0">
                <a:latin typeface="Times New Roman" panose="02020603050405020304" pitchFamily="18" charset="0"/>
                <a:cs typeface="Times New Roman" panose="02020603050405020304" pitchFamily="18" charset="0"/>
              </a:rPr>
              <a:t>if </a:t>
            </a:r>
            <a:r>
              <a:rPr lang="en-HK" sz="2800" b="1" i="1" dirty="0">
                <a:latin typeface="Times New Roman" panose="02020603050405020304" pitchFamily="18" charset="0"/>
                <a:cs typeface="Times New Roman" panose="02020603050405020304" pitchFamily="18" charset="0"/>
              </a:rPr>
              <a:t>X</a:t>
            </a:r>
            <a:r>
              <a:rPr lang="en-HK" sz="2800" i="1" dirty="0">
                <a:latin typeface="Times New Roman" panose="02020603050405020304" pitchFamily="18" charset="0"/>
                <a:cs typeface="Times New Roman" panose="02020603050405020304" pitchFamily="18" charset="0"/>
              </a:rPr>
              <a:t> is held liable to pay compensation for a tort, not only X but </a:t>
            </a:r>
            <a:r>
              <a:rPr lang="en-HK" sz="2800" b="1" i="1" dirty="0">
                <a:latin typeface="Times New Roman" panose="02020603050405020304" pitchFamily="18" charset="0"/>
                <a:cs typeface="Times New Roman" panose="02020603050405020304" pitchFamily="18" charset="0"/>
              </a:rPr>
              <a:t>others</a:t>
            </a:r>
            <a:r>
              <a:rPr lang="en-HK" sz="2800" i="1" dirty="0">
                <a:latin typeface="Times New Roman" panose="02020603050405020304" pitchFamily="18" charset="0"/>
                <a:cs typeface="Times New Roman" panose="02020603050405020304" pitchFamily="18" charset="0"/>
              </a:rPr>
              <a:t> will also try to avoid committing that tort  </a:t>
            </a:r>
          </a:p>
          <a:p>
            <a:pPr marL="0" indent="0">
              <a:buNone/>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Law and economics scholars like </a:t>
            </a:r>
            <a:r>
              <a:rPr lang="en-HK" sz="2800" dirty="0" err="1">
                <a:latin typeface="Times New Roman" panose="02020603050405020304" pitchFamily="18" charset="0"/>
                <a:cs typeface="Times New Roman" panose="02020603050405020304" pitchFamily="18" charset="0"/>
              </a:rPr>
              <a:t>Calabresi</a:t>
            </a:r>
            <a:r>
              <a:rPr lang="en-HK" sz="2800" dirty="0">
                <a:latin typeface="Times New Roman" panose="02020603050405020304" pitchFamily="18" charset="0"/>
                <a:cs typeface="Times New Roman" panose="02020603050405020304" pitchFamily="18" charset="0"/>
              </a:rPr>
              <a:t> and Posner are key proponents of this view  </a:t>
            </a:r>
          </a:p>
          <a:p>
            <a:pPr>
              <a:buFont typeface="Courier New" panose="02070309020205020404" pitchFamily="49" charset="0"/>
              <a:buChar char="o"/>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Posner, for example, argues that an economic structure (e.g., cost and benefit) underpins tort law. The idea is that tort law aims to produce the most efficient outcome for society and the parties by allocating costs of accidents/injuries </a:t>
            </a:r>
          </a:p>
        </p:txBody>
      </p:sp>
    </p:spTree>
    <p:extLst>
      <p:ext uri="{BB962C8B-B14F-4D97-AF65-F5344CB8AC3E}">
        <p14:creationId xmlns:p14="http://schemas.microsoft.com/office/powerpoint/2010/main" val="3862003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Insurance is related to both deterrence and economics</a:t>
            </a:r>
          </a:p>
          <a:p>
            <a:pPr>
              <a:buFont typeface="Courier New" panose="02070309020205020404" pitchFamily="49" charset="0"/>
              <a:buChar char="o"/>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Insurances such as life or house insurance, or car insurance, or professional indemnity insurance all relate to tort claims</a:t>
            </a:r>
          </a:p>
          <a:p>
            <a:pPr>
              <a:buFont typeface="Courier New" panose="02070309020205020404" pitchFamily="49" charset="0"/>
              <a:buChar char="o"/>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solidFill>
                <a:srgbClr val="3333FF"/>
              </a:solidFill>
              <a:latin typeface="Times New Roman" panose="02020603050405020304" pitchFamily="18" charset="0"/>
              <a:cs typeface="Times New Roman" panose="02020603050405020304" pitchFamily="18" charset="0"/>
            </a:endParaRPr>
          </a:p>
          <a:p>
            <a:pPr marL="0" indent="0">
              <a:buNone/>
            </a:pPr>
            <a:r>
              <a:rPr lang="en-HK" sz="2800" dirty="0">
                <a:solidFill>
                  <a:srgbClr val="3333FF"/>
                </a:solidFill>
                <a:latin typeface="Times New Roman" panose="02020603050405020304" pitchFamily="18" charset="0"/>
                <a:cs typeface="Times New Roman" panose="02020603050405020304" pitchFamily="18" charset="0"/>
              </a:rPr>
              <a:t>But does insurance reduce the impact of the deterrence value of tort law? </a:t>
            </a:r>
          </a:p>
        </p:txBody>
      </p:sp>
    </p:spTree>
    <p:extLst>
      <p:ext uri="{BB962C8B-B14F-4D97-AF65-F5344CB8AC3E}">
        <p14:creationId xmlns:p14="http://schemas.microsoft.com/office/powerpoint/2010/main" val="3947523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lvl="0" indent="0">
              <a:buNone/>
              <a:defRPr/>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Corrective justice </a:t>
            </a:r>
            <a:endPar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10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Scholars like </a:t>
            </a:r>
            <a:r>
              <a:rPr lang="en-HK" sz="2800" dirty="0" err="1">
                <a:latin typeface="Times New Roman" panose="02020603050405020304" pitchFamily="18" charset="0"/>
                <a:cs typeface="Times New Roman" panose="02020603050405020304" pitchFamily="18" charset="0"/>
              </a:rPr>
              <a:t>Weinrib</a:t>
            </a:r>
            <a:r>
              <a:rPr lang="en-HK" sz="2800" dirty="0">
                <a:latin typeface="Times New Roman" panose="02020603050405020304" pitchFamily="18" charset="0"/>
                <a:cs typeface="Times New Roman" panose="02020603050405020304" pitchFamily="18" charset="0"/>
              </a:rPr>
              <a:t> argue that tort law is concerned with the allocation of responsibility for the harm caused  </a:t>
            </a:r>
          </a:p>
          <a:p>
            <a:pPr>
              <a:buFont typeface="Courier New" panose="02070309020205020404" pitchFamily="49" charset="0"/>
              <a:buChar char="o"/>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Individuals who breach moral rights of others should correct the wrong by paying compensation </a:t>
            </a:r>
          </a:p>
          <a:p>
            <a:pPr marL="0" indent="0">
              <a:buNone/>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Implicit here is the idea that free human agency underlies responsibility </a:t>
            </a:r>
          </a:p>
        </p:txBody>
      </p:sp>
    </p:spTree>
    <p:extLst>
      <p:ext uri="{BB962C8B-B14F-4D97-AF65-F5344CB8AC3E}">
        <p14:creationId xmlns:p14="http://schemas.microsoft.com/office/powerpoint/2010/main" val="3278202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However, the emphasis on individuals and individual responsibility ignores the relevance of other factors in any tort case:</a:t>
            </a:r>
          </a:p>
          <a:p>
            <a:pPr marL="0" indent="0">
              <a:buNone/>
            </a:pPr>
            <a:endParaRPr lang="en-HK" sz="1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a medical negligence case is not merely about the relation between two individuals (the doctor and the patient) – there could be many other factors and systems involved in the incident </a:t>
            </a:r>
          </a:p>
          <a:p>
            <a:pPr marL="914400" lvl="2" indent="0">
              <a:buNone/>
            </a:pPr>
            <a:endParaRPr lang="en-HK" sz="2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the relevance of collective responsibility and risk sharing might be overlooked by this theory        </a:t>
            </a:r>
          </a:p>
        </p:txBody>
      </p:sp>
    </p:spTree>
    <p:extLst>
      <p:ext uri="{BB962C8B-B14F-4D97-AF65-F5344CB8AC3E}">
        <p14:creationId xmlns:p14="http://schemas.microsoft.com/office/powerpoint/2010/main" val="2154633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lvl="0" indent="0">
              <a:buNone/>
              <a:defRPr/>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Distributive justice </a:t>
            </a:r>
            <a:r>
              <a:rPr lang="en-US" sz="2800" u="sng" dirty="0">
                <a:solidFill>
                  <a:srgbClr val="008000"/>
                </a:solidFill>
                <a:latin typeface="Times New Roman" panose="02020603050405020304" pitchFamily="18" charset="0"/>
                <a:cs typeface="Times New Roman" panose="02020603050405020304" pitchFamily="18" charset="0"/>
              </a:rPr>
              <a:t>and risk allocation</a:t>
            </a:r>
            <a:endPar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10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One can see tort law as a system to distribute risks and loses in society </a:t>
            </a:r>
          </a:p>
          <a:p>
            <a:pPr marL="0" indent="0">
              <a:buNone/>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A no-fault liability mechanism (e.g., for road accidents) – which requires proof of causation rather than proof of fault – allows the distribution of risks and losses through insurance </a:t>
            </a:r>
          </a:p>
          <a:p>
            <a:pPr>
              <a:buFont typeface="Courier New" panose="02070309020205020404" pitchFamily="49" charset="0"/>
              <a:buChar char="o"/>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Losses may also be allocated to a public authority and in turn to the taxpayers </a:t>
            </a:r>
          </a:p>
        </p:txBody>
      </p:sp>
    </p:spTree>
    <p:extLst>
      <p:ext uri="{BB962C8B-B14F-4D97-AF65-F5344CB8AC3E}">
        <p14:creationId xmlns:p14="http://schemas.microsoft.com/office/powerpoint/2010/main" val="1179978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lvl="0" indent="0">
              <a:buNone/>
              <a:defRPr/>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Feminist theory of law</a:t>
            </a:r>
            <a:endPar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10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Feminist theorists ask: does tort law take into account the experiences of women? </a:t>
            </a:r>
          </a:p>
          <a:p>
            <a:pPr marL="0" indent="0">
              <a:buNone/>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feminist scholars challenge </a:t>
            </a:r>
            <a:r>
              <a:rPr lang="en-HK" sz="2800" i="1" dirty="0">
                <a:latin typeface="Times New Roman" panose="02020603050405020304" pitchFamily="18" charset="0"/>
                <a:cs typeface="Times New Roman" panose="02020603050405020304" pitchFamily="18" charset="0"/>
              </a:rPr>
              <a:t>the perceived objectiveness of law</a:t>
            </a:r>
            <a:r>
              <a:rPr lang="en-HK" sz="2800" dirty="0">
                <a:latin typeface="Times New Roman" panose="02020603050405020304" pitchFamily="18" charset="0"/>
                <a:cs typeface="Times New Roman" panose="02020603050405020304" pitchFamily="18" charset="0"/>
              </a:rPr>
              <a:t> – they have shown how law is used to achieve male domination and promote patriarchal values  </a:t>
            </a:r>
          </a:p>
        </p:txBody>
      </p:sp>
    </p:spTree>
    <p:extLst>
      <p:ext uri="{BB962C8B-B14F-4D97-AF65-F5344CB8AC3E}">
        <p14:creationId xmlns:p14="http://schemas.microsoft.com/office/powerpoint/2010/main" val="409101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For example, in the context of tort law, the feminist critique has focused on:</a:t>
            </a:r>
          </a:p>
          <a:p>
            <a:pPr marL="0" indent="0">
              <a:buNone/>
            </a:pPr>
            <a:endParaRPr lang="en-HK" sz="1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the concept of the reasonable person </a:t>
            </a:r>
          </a:p>
          <a:p>
            <a:pPr marL="914400" lvl="2" indent="0">
              <a:buNone/>
            </a:pPr>
            <a:endParaRPr lang="en-HK" sz="16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the valuation of women’s work for calculating damages </a:t>
            </a:r>
          </a:p>
          <a:p>
            <a:pPr marL="914400" lvl="2" indent="0">
              <a:buNone/>
            </a:pPr>
            <a:endParaRPr lang="en-HK" sz="16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the recognised types of harm </a:t>
            </a:r>
          </a:p>
          <a:p>
            <a:pPr marL="0" indent="0">
              <a:buNone/>
            </a:pPr>
            <a:endParaRPr lang="en-HK"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In other words, (tort) law should be sensitive to diverse experiences of people in order to protect their rights adequately </a:t>
            </a:r>
          </a:p>
        </p:txBody>
      </p:sp>
    </p:spTree>
    <p:extLst>
      <p:ext uri="{BB962C8B-B14F-4D97-AF65-F5344CB8AC3E}">
        <p14:creationId xmlns:p14="http://schemas.microsoft.com/office/powerpoint/2010/main" val="318160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63472-91E4-AFC4-8E04-35BBDC31F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4B3CBF-1B01-B9C8-11F3-DBD9EC452070}"/>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59D2E7-F4AA-38DC-426D-9EBC73EEDA2F}"/>
              </a:ext>
            </a:extLst>
          </p:cNvPr>
          <p:cNvSpPr>
            <a:spLocks noGrp="1"/>
          </p:cNvSpPr>
          <p:nvPr>
            <p:ph idx="1"/>
          </p:nvPr>
        </p:nvSpPr>
        <p:spPr>
          <a:xfrm>
            <a:off x="720000" y="1508426"/>
            <a:ext cx="10800001" cy="5074936"/>
          </a:xfrm>
        </p:spPr>
        <p:txBody>
          <a:bodyPr>
            <a:noAutofit/>
          </a:bodyPr>
          <a:lstStyle/>
          <a:p>
            <a:pPr marL="0" lvl="0" indent="0">
              <a:buNone/>
              <a:defRPr/>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Introducing vicarious liability </a:t>
            </a:r>
            <a:endPar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10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Briefly we will introduce here the concept of vicarious liability </a:t>
            </a: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This relates to one person/entity having liability for the conduct of others </a:t>
            </a: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The typical case of vicarious liability is an employer’s liability for a tort committed by an employee within the course of employment </a:t>
            </a: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There are legal tests to apply to prove vicarious liability – we will learn these in topic 12</a:t>
            </a: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But we introduce the concept now as it will come up throughout the semester so we want you to be aware of it now </a:t>
            </a:r>
          </a:p>
          <a:p>
            <a:pPr>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Also it ties into our current discussion of role of tort in society…. </a:t>
            </a:r>
          </a:p>
        </p:txBody>
      </p:sp>
    </p:spTree>
    <p:extLst>
      <p:ext uri="{BB962C8B-B14F-4D97-AF65-F5344CB8AC3E}">
        <p14:creationId xmlns:p14="http://schemas.microsoft.com/office/powerpoint/2010/main" val="3500492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E8FCA-8F5A-D719-FCDD-521F3EAE1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66EB4-F750-58EA-9FCE-BA6E37DDCA04}"/>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Theories about the role of tort law in society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308635-F356-D861-1FAF-E7B628D45712}"/>
              </a:ext>
            </a:extLst>
          </p:cNvPr>
          <p:cNvSpPr>
            <a:spLocks noGrp="1"/>
          </p:cNvSpPr>
          <p:nvPr>
            <p:ph idx="1"/>
          </p:nvPr>
        </p:nvSpPr>
        <p:spPr>
          <a:xfrm>
            <a:off x="720000" y="1508426"/>
            <a:ext cx="10800001" cy="5074936"/>
          </a:xfrm>
        </p:spPr>
        <p:txBody>
          <a:bodyPr>
            <a:noAutofit/>
          </a:bodyPr>
          <a:lstStyle/>
          <a:p>
            <a:pPr marL="0" lvl="0" indent="0">
              <a:buNone/>
              <a:defRPr/>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What are the policy reasons behind vicarious liability? </a:t>
            </a:r>
            <a:endPar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10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AU" sz="2000" dirty="0"/>
              <a:t>From [13.45] of the </a:t>
            </a:r>
            <a:r>
              <a:rPr lang="en-AU" sz="2000" dirty="0" err="1"/>
              <a:t>Sappideen</a:t>
            </a:r>
            <a:r>
              <a:rPr lang="en-AU" sz="2000" dirty="0"/>
              <a:t> text…. </a:t>
            </a:r>
          </a:p>
          <a:p>
            <a:pPr>
              <a:buFont typeface="Courier New" panose="02070309020205020404" pitchFamily="49" charset="0"/>
              <a:buChar char="o"/>
            </a:pPr>
            <a:r>
              <a:rPr lang="en-AU" sz="2000" dirty="0"/>
              <a:t>Professor Fleming summarises the policy reasons for the existence of vicarious liability as follows: </a:t>
            </a:r>
          </a:p>
          <a:p>
            <a:pPr lvl="1">
              <a:buFont typeface="Courier New" panose="02070309020205020404" pitchFamily="49" charset="0"/>
              <a:buChar char="o"/>
            </a:pPr>
            <a:r>
              <a:rPr lang="en-AU" sz="1800" dirty="0"/>
              <a:t>‘a person who employs others to advance the employer’s own economic interest should, in fairness, be placed under a corresponding liability for losses incurred in the course of the enterprise; that the master is a more promising source of recompense than his servant, who is apt to be a man of straw without insurance; and that the rule promotes wide distribution of tort losses, the employer being a most suitable channel for passing them on through liability insurance and higher prices. </a:t>
            </a:r>
          </a:p>
          <a:p>
            <a:pPr lvl="1">
              <a:buFont typeface="Courier New" panose="02070309020205020404" pitchFamily="49" charset="0"/>
              <a:buChar char="o"/>
            </a:pPr>
            <a:r>
              <a:rPr lang="en-AU" sz="1800" dirty="0"/>
              <a:t>The principle gains additional support for its admonitory value in accident prevention. In the first place, deterrent pressures are most effectively brought to bear on larger units like employers, who are in a strategic position to reduce accidents by efficient organisation and supervision of their staff. Secondly, the fact that employees are, as a rule, not worth suing because they are rarely financially responsible removes from them the spectre of tort liability as a deterrent of wrongful conduct. By holding the master liable, the law furnishes an incentive to discipline servants guilty of wrongdoing.’</a:t>
            </a:r>
          </a:p>
          <a:p>
            <a:pPr>
              <a:buFont typeface="Courier New" panose="02070309020205020404" pitchFamily="49" charset="0"/>
              <a:buChar char="o"/>
            </a:pPr>
            <a:endParaRPr lang="en-HK"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137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5. Elements of intentional torts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What is now known as “intentional torts” involve two sets of causes of action that developed historically: </a:t>
            </a:r>
          </a:p>
          <a:p>
            <a:pPr marL="0" indent="0">
              <a:buNone/>
            </a:pPr>
            <a:endParaRPr lang="en-US" sz="1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 Trespass </a:t>
            </a:r>
            <a:r>
              <a:rPr lang="en-US" sz="2800" dirty="0">
                <a:latin typeface="Times New Roman" panose="02020603050405020304" pitchFamily="18" charset="0"/>
                <a:cs typeface="Times New Roman" panose="02020603050405020304" pitchFamily="18" charset="0"/>
              </a:rPr>
              <a:t>– a direct interference with the person, property or goods</a:t>
            </a:r>
          </a:p>
          <a:p>
            <a:pPr marL="914400" lvl="2" indent="0">
              <a:buNone/>
            </a:pPr>
            <a:endParaRPr lang="en-US" sz="2800" b="1"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 Action on the case </a:t>
            </a:r>
            <a:r>
              <a:rPr lang="en-US" sz="2800" dirty="0">
                <a:latin typeface="Times New Roman" panose="02020603050405020304" pitchFamily="18" charset="0"/>
                <a:cs typeface="Times New Roman" panose="02020603050405020304" pitchFamily="18" charset="0"/>
              </a:rPr>
              <a:t>– involves indirect and consequential damage </a:t>
            </a:r>
          </a:p>
        </p:txBody>
      </p:sp>
    </p:spTree>
    <p:extLst>
      <p:ext uri="{BB962C8B-B14F-4D97-AF65-F5344CB8AC3E}">
        <p14:creationId xmlns:p14="http://schemas.microsoft.com/office/powerpoint/2010/main" val="473225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Elements of intentional torts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b="1" dirty="0">
                <a:latin typeface="Times New Roman" panose="02020603050405020304" pitchFamily="18" charset="0"/>
                <a:cs typeface="Times New Roman" panose="02020603050405020304" pitchFamily="18" charset="0"/>
              </a:rPr>
              <a:t>Intentional torts</a:t>
            </a:r>
            <a:r>
              <a:rPr lang="en-HK" sz="2800" dirty="0">
                <a:latin typeface="Times New Roman" panose="02020603050405020304" pitchFamily="18" charset="0"/>
                <a:cs typeface="Times New Roman" panose="02020603050405020304" pitchFamily="18" charset="0"/>
              </a:rPr>
              <a:t> include:</a:t>
            </a:r>
          </a:p>
          <a:p>
            <a:pPr marL="0" indent="0">
              <a:buNone/>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r>
              <a:rPr lang="en-HK" sz="2800" b="1" dirty="0">
                <a:latin typeface="Times New Roman" panose="02020603050405020304" pitchFamily="18" charset="0"/>
                <a:cs typeface="Times New Roman" panose="02020603050405020304" pitchFamily="18" charset="0"/>
              </a:rPr>
              <a:t>Beyond intentional torts</a:t>
            </a:r>
            <a:r>
              <a:rPr lang="en-HK" sz="2800" dirty="0">
                <a:latin typeface="Times New Roman" panose="02020603050405020304" pitchFamily="18" charset="0"/>
                <a:cs typeface="Times New Roman" panose="02020603050405020304" pitchFamily="18" charset="0"/>
              </a:rPr>
              <a:t>, there are other important actions on the case such as negligence, nuisance, misfeasance in public office and deceit </a:t>
            </a:r>
          </a:p>
        </p:txBody>
      </p:sp>
      <p:graphicFrame>
        <p:nvGraphicFramePr>
          <p:cNvPr id="4" name="Table 4">
            <a:extLst>
              <a:ext uri="{FF2B5EF4-FFF2-40B4-BE49-F238E27FC236}">
                <a16:creationId xmlns:a16="http://schemas.microsoft.com/office/drawing/2014/main" id="{850EB88D-782E-4CAE-3554-524F628A3C5C}"/>
              </a:ext>
            </a:extLst>
          </p:cNvPr>
          <p:cNvGraphicFramePr>
            <a:graphicFrameLocks noGrp="1"/>
          </p:cNvGraphicFramePr>
          <p:nvPr>
            <p:extLst>
              <p:ext uri="{D42A27DB-BD31-4B8C-83A1-F6EECF244321}">
                <p14:modId xmlns:p14="http://schemas.microsoft.com/office/powerpoint/2010/main" val="4183243462"/>
              </p:ext>
            </p:extLst>
          </p:nvPr>
        </p:nvGraphicFramePr>
        <p:xfrm>
          <a:off x="1169581" y="2196153"/>
          <a:ext cx="10164726" cy="3139440"/>
        </p:xfrm>
        <a:graphic>
          <a:graphicData uri="http://schemas.openxmlformats.org/drawingml/2006/table">
            <a:tbl>
              <a:tblPr firstRow="1" bandRow="1">
                <a:tableStyleId>{5C22544A-7EE6-4342-B048-85BDC9FD1C3A}</a:tableStyleId>
              </a:tblPr>
              <a:tblGrid>
                <a:gridCol w="5082363">
                  <a:extLst>
                    <a:ext uri="{9D8B030D-6E8A-4147-A177-3AD203B41FA5}">
                      <a16:colId xmlns:a16="http://schemas.microsoft.com/office/drawing/2014/main" val="1969003801"/>
                    </a:ext>
                  </a:extLst>
                </a:gridCol>
                <a:gridCol w="5082363">
                  <a:extLst>
                    <a:ext uri="{9D8B030D-6E8A-4147-A177-3AD203B41FA5}">
                      <a16:colId xmlns:a16="http://schemas.microsoft.com/office/drawing/2014/main" val="2328550265"/>
                    </a:ext>
                  </a:extLst>
                </a:gridCol>
              </a:tblGrid>
              <a:tr h="370840">
                <a:tc>
                  <a:txBody>
                    <a:bodyPr/>
                    <a:lstStyle/>
                    <a:p>
                      <a:pPr algn="ctr"/>
                      <a:r>
                        <a:rPr lang="en-HK" sz="2600" dirty="0">
                          <a:latin typeface="Times New Roman" panose="02020603050405020304" pitchFamily="18" charset="0"/>
                          <a:cs typeface="Times New Roman" panose="02020603050405020304" pitchFamily="18" charset="0"/>
                        </a:rPr>
                        <a:t>Trespass </a:t>
                      </a:r>
                    </a:p>
                  </a:txBody>
                  <a:tcPr/>
                </a:tc>
                <a:tc>
                  <a:txBody>
                    <a:bodyPr/>
                    <a:lstStyle/>
                    <a:p>
                      <a:pPr algn="ctr"/>
                      <a:r>
                        <a:rPr lang="en-HK" sz="2600" dirty="0">
                          <a:latin typeface="Times New Roman" panose="02020603050405020304" pitchFamily="18" charset="0"/>
                          <a:cs typeface="Times New Roman" panose="02020603050405020304" pitchFamily="18" charset="0"/>
                        </a:rPr>
                        <a:t>Action on the case</a:t>
                      </a:r>
                    </a:p>
                  </a:txBody>
                  <a:tcPr/>
                </a:tc>
                <a:extLst>
                  <a:ext uri="{0D108BD9-81ED-4DB2-BD59-A6C34878D82A}">
                    <a16:rowId xmlns:a16="http://schemas.microsoft.com/office/drawing/2014/main" val="496118838"/>
                  </a:ext>
                </a:extLst>
              </a:tr>
              <a:tr h="370840">
                <a:tc>
                  <a:txBody>
                    <a:bodyPr/>
                    <a:lstStyle/>
                    <a:p>
                      <a:r>
                        <a:rPr lang="en-HK" sz="2400" dirty="0">
                          <a:latin typeface="Times New Roman" panose="02020603050405020304" pitchFamily="18" charset="0"/>
                          <a:cs typeface="Times New Roman" panose="02020603050405020304" pitchFamily="18" charset="0"/>
                        </a:rPr>
                        <a:t>Trespass to the person (assault, battery and false imprisonment) </a:t>
                      </a:r>
                    </a:p>
                  </a:txBody>
                  <a:tcPr/>
                </a:tc>
                <a:tc>
                  <a:txBody>
                    <a:bodyPr/>
                    <a:lstStyle/>
                    <a:p>
                      <a:r>
                        <a:rPr lang="en-HK" sz="2400" dirty="0">
                          <a:latin typeface="Times New Roman" panose="02020603050405020304" pitchFamily="18" charset="0"/>
                          <a:cs typeface="Times New Roman" panose="02020603050405020304" pitchFamily="18" charset="0"/>
                        </a:rPr>
                        <a:t>Intentional interference with the person (</a:t>
                      </a:r>
                      <a:r>
                        <a:rPr lang="en-HK" sz="2400" i="1" dirty="0">
                          <a:latin typeface="Times New Roman" panose="02020603050405020304" pitchFamily="18" charset="0"/>
                          <a:cs typeface="Times New Roman" panose="02020603050405020304" pitchFamily="18" charset="0"/>
                        </a:rPr>
                        <a:t>Wilkinson v Downton</a:t>
                      </a:r>
                      <a:r>
                        <a:rPr lang="en-HK" sz="2400" dirty="0">
                          <a:latin typeface="Times New Roman" panose="02020603050405020304" pitchFamily="18" charset="0"/>
                          <a:cs typeface="Times New Roman" panose="02020603050405020304" pitchFamily="18" charset="0"/>
                        </a:rPr>
                        <a:t>) </a:t>
                      </a:r>
                    </a:p>
                  </a:txBody>
                  <a:tcPr/>
                </a:tc>
                <a:extLst>
                  <a:ext uri="{0D108BD9-81ED-4DB2-BD59-A6C34878D82A}">
                    <a16:rowId xmlns:a16="http://schemas.microsoft.com/office/drawing/2014/main" val="2287494521"/>
                  </a:ext>
                </a:extLst>
              </a:tr>
              <a:tr h="370840">
                <a:tc>
                  <a:txBody>
                    <a:bodyPr/>
                    <a:lstStyle/>
                    <a:p>
                      <a:r>
                        <a:rPr lang="en-HK" sz="2400" dirty="0">
                          <a:latin typeface="Times New Roman" panose="02020603050405020304" pitchFamily="18" charset="0"/>
                          <a:cs typeface="Times New Roman" panose="02020603050405020304" pitchFamily="18" charset="0"/>
                        </a:rPr>
                        <a:t>Trespass to land </a:t>
                      </a:r>
                    </a:p>
                  </a:txBody>
                  <a:tcPr/>
                </a:tc>
                <a:tc>
                  <a:txBody>
                    <a:bodyPr/>
                    <a:lstStyle/>
                    <a:p>
                      <a:r>
                        <a:rPr lang="en-HK" sz="2400" dirty="0">
                          <a:latin typeface="Times New Roman" panose="02020603050405020304" pitchFamily="18" charset="0"/>
                          <a:cs typeface="Times New Roman" panose="02020603050405020304" pitchFamily="18" charset="0"/>
                        </a:rPr>
                        <a:t>Malicious prosecution </a:t>
                      </a:r>
                    </a:p>
                  </a:txBody>
                  <a:tcPr/>
                </a:tc>
                <a:extLst>
                  <a:ext uri="{0D108BD9-81ED-4DB2-BD59-A6C34878D82A}">
                    <a16:rowId xmlns:a16="http://schemas.microsoft.com/office/drawing/2014/main" val="3336303282"/>
                  </a:ext>
                </a:extLst>
              </a:tr>
              <a:tr h="370840">
                <a:tc>
                  <a:txBody>
                    <a:bodyPr/>
                    <a:lstStyle/>
                    <a:p>
                      <a:r>
                        <a:rPr lang="en-HK" sz="2400" dirty="0">
                          <a:latin typeface="Times New Roman" panose="02020603050405020304" pitchFamily="18" charset="0"/>
                          <a:cs typeface="Times New Roman" panose="02020603050405020304" pitchFamily="18" charset="0"/>
                        </a:rPr>
                        <a:t>Trespass to chattels / goods </a:t>
                      </a:r>
                    </a:p>
                  </a:txBody>
                  <a:tcPr/>
                </a:tc>
                <a:tc>
                  <a:txBody>
                    <a:bodyPr/>
                    <a:lstStyle/>
                    <a:p>
                      <a:endParaRPr lang="en-HK"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9507311"/>
                  </a:ext>
                </a:extLst>
              </a:tr>
              <a:tr h="370840">
                <a:tc>
                  <a:txBody>
                    <a:bodyPr/>
                    <a:lstStyle/>
                    <a:p>
                      <a:r>
                        <a:rPr lang="en-HK" sz="2400" dirty="0">
                          <a:latin typeface="Times New Roman" panose="02020603050405020304" pitchFamily="18" charset="0"/>
                          <a:cs typeface="Times New Roman" panose="02020603050405020304" pitchFamily="18" charset="0"/>
                        </a:rPr>
                        <a:t>Conversion </a:t>
                      </a:r>
                    </a:p>
                  </a:txBody>
                  <a:tcPr/>
                </a:tc>
                <a:tc>
                  <a:txBody>
                    <a:bodyPr/>
                    <a:lstStyle/>
                    <a:p>
                      <a:endParaRPr lang="en-HK"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3538956"/>
                  </a:ext>
                </a:extLst>
              </a:tr>
              <a:tr h="370840">
                <a:tc>
                  <a:txBody>
                    <a:bodyPr/>
                    <a:lstStyle/>
                    <a:p>
                      <a:r>
                        <a:rPr lang="en-HK" sz="2400" dirty="0">
                          <a:latin typeface="Times New Roman" panose="02020603050405020304" pitchFamily="18" charset="0"/>
                          <a:cs typeface="Times New Roman" panose="02020603050405020304" pitchFamily="18" charset="0"/>
                        </a:rPr>
                        <a:t>Detinue </a:t>
                      </a:r>
                    </a:p>
                  </a:txBody>
                  <a:tcPr/>
                </a:tc>
                <a:tc>
                  <a:txBody>
                    <a:bodyPr/>
                    <a:lstStyle/>
                    <a:p>
                      <a:endParaRPr lang="en-HK"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76842489"/>
                  </a:ext>
                </a:extLst>
              </a:tr>
            </a:tbl>
          </a:graphicData>
        </a:graphic>
      </p:graphicFrame>
    </p:spTree>
    <p:extLst>
      <p:ext uri="{BB962C8B-B14F-4D97-AF65-F5344CB8AC3E}">
        <p14:creationId xmlns:p14="http://schemas.microsoft.com/office/powerpoint/2010/main" val="2440430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Elements of intentional torts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Why is it critical to make a distinction between trespass and action on the case? </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The exact form of action has been crucial </a:t>
            </a:r>
            <a:r>
              <a:rPr lang="en-HK" sz="2800" u="sng" dirty="0">
                <a:latin typeface="Times New Roman" panose="02020603050405020304" pitchFamily="18" charset="0"/>
                <a:cs typeface="Times New Roman" panose="02020603050405020304" pitchFamily="18" charset="0"/>
              </a:rPr>
              <a:t>historically</a:t>
            </a:r>
            <a:r>
              <a:rPr lang="en-HK" sz="2800" dirty="0">
                <a:latin typeface="Times New Roman" panose="02020603050405020304" pitchFamily="18" charset="0"/>
                <a:cs typeface="Times New Roman" panose="02020603050405020304" pitchFamily="18" charset="0"/>
              </a:rPr>
              <a:t> because this determined which court to approach and what form of pleading to follow</a:t>
            </a:r>
          </a:p>
          <a:p>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The distinction between trespass and case remains critical in Australia even </a:t>
            </a:r>
            <a:r>
              <a:rPr lang="en-HK" sz="2800" u="sng" dirty="0">
                <a:latin typeface="Times New Roman" panose="02020603050405020304" pitchFamily="18" charset="0"/>
                <a:cs typeface="Times New Roman" panose="02020603050405020304" pitchFamily="18" charset="0"/>
              </a:rPr>
              <a:t>today</a:t>
            </a:r>
            <a:r>
              <a:rPr lang="en-HK" sz="2800" dirty="0">
                <a:latin typeface="Times New Roman" panose="02020603050405020304" pitchFamily="18" charset="0"/>
                <a:cs typeface="Times New Roman" panose="02020603050405020304" pitchFamily="18" charset="0"/>
              </a:rPr>
              <a:t> because </a:t>
            </a:r>
            <a:r>
              <a:rPr lang="en-HK" sz="2800" i="1" dirty="0">
                <a:latin typeface="Times New Roman" panose="02020603050405020304" pitchFamily="18" charset="0"/>
                <a:cs typeface="Times New Roman" panose="02020603050405020304" pitchFamily="18" charset="0"/>
              </a:rPr>
              <a:t>different elements</a:t>
            </a:r>
            <a:r>
              <a:rPr lang="en-HK" sz="2800" dirty="0">
                <a:latin typeface="Times New Roman" panose="02020603050405020304" pitchFamily="18" charset="0"/>
                <a:cs typeface="Times New Roman" panose="02020603050405020304" pitchFamily="18" charset="0"/>
              </a:rPr>
              <a:t> are required to be proved for these two categories   </a:t>
            </a:r>
          </a:p>
        </p:txBody>
      </p:sp>
    </p:spTree>
    <p:extLst>
      <p:ext uri="{BB962C8B-B14F-4D97-AF65-F5344CB8AC3E}">
        <p14:creationId xmlns:p14="http://schemas.microsoft.com/office/powerpoint/2010/main" val="2981064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Elements of intentional torts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HK" sz="2800" dirty="0">
                <a:latin typeface="Times New Roman" panose="02020603050405020304" pitchFamily="18" charset="0"/>
                <a:cs typeface="Times New Roman" panose="02020603050405020304" pitchFamily="18" charset="0"/>
              </a:rPr>
              <a:t>Let us consider the following elements which all forms of trespass have in common – and where relevant we will consider how these elements are different to </a:t>
            </a:r>
            <a:r>
              <a:rPr lang="en-HK" sz="2800" dirty="0">
                <a:solidFill>
                  <a:srgbClr val="C00000"/>
                </a:solidFill>
                <a:latin typeface="Times New Roman" panose="02020603050405020304" pitchFamily="18" charset="0"/>
                <a:cs typeface="Times New Roman" panose="02020603050405020304" pitchFamily="18" charset="0"/>
              </a:rPr>
              <a:t>actions on the case</a:t>
            </a:r>
            <a:r>
              <a:rPr lang="en-HK" sz="2800" dirty="0">
                <a:latin typeface="Times New Roman" panose="02020603050405020304" pitchFamily="18" charset="0"/>
                <a:cs typeface="Times New Roman" panose="02020603050405020304" pitchFamily="18" charset="0"/>
              </a:rPr>
              <a:t>: </a:t>
            </a:r>
          </a:p>
          <a:p>
            <a:pPr marL="0" indent="0">
              <a:buNone/>
            </a:pPr>
            <a:endParaRPr lang="en-HK" sz="10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 voluntary act </a:t>
            </a:r>
          </a:p>
          <a:p>
            <a:pPr lvl="2">
              <a:lnSpc>
                <a:spcPct val="150000"/>
              </a:lnSpc>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directness/direct interference </a:t>
            </a:r>
          </a:p>
          <a:p>
            <a:pPr lvl="2">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 </a:t>
            </a:r>
            <a:r>
              <a:rPr lang="en-HK" sz="2800" i="1" dirty="0">
                <a:latin typeface="Times New Roman" panose="02020603050405020304" pitchFamily="18" charset="0"/>
                <a:cs typeface="Times New Roman" panose="02020603050405020304" pitchFamily="18" charset="0"/>
              </a:rPr>
              <a:t>actionable per se </a:t>
            </a:r>
            <a:r>
              <a:rPr lang="en-HK" sz="2800" dirty="0">
                <a:latin typeface="Times New Roman" panose="02020603050405020304" pitchFamily="18" charset="0"/>
                <a:cs typeface="Times New Roman" panose="02020603050405020304" pitchFamily="18" charset="0"/>
              </a:rPr>
              <a:t>i.e. plaintiff does not need to prove any harm or damage </a:t>
            </a:r>
          </a:p>
          <a:p>
            <a:pPr lvl="2">
              <a:lnSpc>
                <a:spcPct val="150000"/>
              </a:lnSpc>
              <a:buFont typeface="Wingdings" panose="05000000000000000000" pitchFamily="2" charset="2"/>
              <a:buChar char="ü"/>
            </a:pPr>
            <a:r>
              <a:rPr lang="en-HK" sz="2800" dirty="0">
                <a:latin typeface="Times New Roman" panose="02020603050405020304" pitchFamily="18" charset="0"/>
                <a:cs typeface="Times New Roman" panose="02020603050405020304" pitchFamily="18" charset="0"/>
              </a:rPr>
              <a:t>fault </a:t>
            </a:r>
          </a:p>
          <a:p>
            <a:pPr marL="914400" lvl="2" indent="0">
              <a:lnSpc>
                <a:spcPct val="150000"/>
              </a:lnSpc>
              <a:buNone/>
            </a:pPr>
            <a:r>
              <a:rPr lang="en-HK"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20756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Elements of intentional torts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dirty="0">
                <a:solidFill>
                  <a:srgbClr val="008000"/>
                </a:solidFill>
                <a:latin typeface="Times New Roman" panose="02020603050405020304" pitchFamily="18" charset="0"/>
                <a:cs typeface="Times New Roman" panose="02020603050405020304" pitchFamily="18" charset="0"/>
              </a:rPr>
              <a:t>Voluntary Act </a:t>
            </a:r>
            <a:endParaRPr lang="en-US" sz="2800" dirty="0">
              <a:solidFill>
                <a:srgbClr val="008000"/>
              </a:solidFill>
              <a:latin typeface="Times New Roman" panose="02020603050405020304" pitchFamily="18" charset="0"/>
              <a:cs typeface="Times New Roman" panose="02020603050405020304" pitchFamily="18" charset="0"/>
            </a:endParaRPr>
          </a:p>
          <a:p>
            <a:pPr marL="0" indent="0">
              <a:buNone/>
            </a:pPr>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In trespass claims, the act must be a “positive act” – a mere passive act will not suffice  </a:t>
            </a:r>
          </a:p>
          <a:p>
            <a:r>
              <a:rPr lang="en-HK" sz="2800" dirty="0">
                <a:latin typeface="Times New Roman" panose="02020603050405020304" pitchFamily="18" charset="0"/>
                <a:cs typeface="Times New Roman" panose="02020603050405020304" pitchFamily="18" charset="0"/>
              </a:rPr>
              <a:t>Eg see page 45 of text for examples: </a:t>
            </a:r>
          </a:p>
          <a:p>
            <a:pPr lvl="1"/>
            <a:r>
              <a:rPr lang="en-HK" sz="2600" dirty="0">
                <a:latin typeface="Times New Roman" panose="02020603050405020304" pitchFamily="18" charset="0"/>
                <a:cs typeface="Times New Roman" panose="02020603050405020304" pitchFamily="18" charset="0"/>
              </a:rPr>
              <a:t>Epileptic fit not considered positive act </a:t>
            </a:r>
          </a:p>
          <a:p>
            <a:pPr lvl="1"/>
            <a:r>
              <a:rPr lang="en-HK" sz="2600" dirty="0">
                <a:latin typeface="Times New Roman" panose="02020603050405020304" pitchFamily="18" charset="0"/>
                <a:cs typeface="Times New Roman" panose="02020603050405020304" pitchFamily="18" charset="0"/>
              </a:rPr>
              <a:t>Act caused by the force of a third party not considered positive act </a:t>
            </a:r>
          </a:p>
          <a:p>
            <a:pPr lvl="1"/>
            <a:r>
              <a:rPr lang="en-HK" sz="2600" dirty="0">
                <a:latin typeface="Times New Roman" panose="02020603050405020304" pitchFamily="18" charset="0"/>
                <a:cs typeface="Times New Roman" panose="02020603050405020304" pitchFamily="18" charset="0"/>
              </a:rPr>
              <a:t>An omission to act is not considered a positive act </a:t>
            </a:r>
          </a:p>
          <a:p>
            <a:pPr lvl="1"/>
            <a:endParaRPr lang="en-HK"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3462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Elements of intentional torts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4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Directness</a:t>
            </a:r>
            <a:endParaRPr kumimoji="0" lang="en-US" sz="24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900" dirty="0">
              <a:latin typeface="Times New Roman" panose="02020603050405020304" pitchFamily="18" charset="0"/>
              <a:cs typeface="Times New Roman" panose="02020603050405020304" pitchFamily="18" charset="0"/>
            </a:endParaRPr>
          </a:p>
          <a:p>
            <a:r>
              <a:rPr lang="en-HK" sz="2400" dirty="0">
                <a:latin typeface="Times New Roman" panose="02020603050405020304" pitchFamily="18" charset="0"/>
                <a:cs typeface="Times New Roman" panose="02020603050405020304" pitchFamily="18" charset="0"/>
              </a:rPr>
              <a:t>Trespass requires a direct act or interference, </a:t>
            </a:r>
            <a:r>
              <a:rPr lang="en-HK" sz="2400" dirty="0">
                <a:solidFill>
                  <a:srgbClr val="C00000"/>
                </a:solidFill>
                <a:latin typeface="Times New Roman" panose="02020603050405020304" pitchFamily="18" charset="0"/>
                <a:cs typeface="Times New Roman" panose="02020603050405020304" pitchFamily="18" charset="0"/>
              </a:rPr>
              <a:t>whereas an indirect / consequential act will suffice for an action on the case</a:t>
            </a:r>
            <a:r>
              <a:rPr lang="en-HK" sz="2400" dirty="0">
                <a:latin typeface="Times New Roman" panose="02020603050405020304" pitchFamily="18" charset="0"/>
                <a:cs typeface="Times New Roman" panose="02020603050405020304" pitchFamily="18" charset="0"/>
              </a:rPr>
              <a:t>  </a:t>
            </a:r>
          </a:p>
          <a:p>
            <a:pPr marL="0" indent="0">
              <a:buNone/>
            </a:pPr>
            <a:endParaRPr lang="en-HK" dirty="0">
              <a:latin typeface="Times New Roman" panose="02020603050405020304" pitchFamily="18" charset="0"/>
              <a:cs typeface="Times New Roman" panose="02020603050405020304" pitchFamily="18" charset="0"/>
            </a:endParaRPr>
          </a:p>
          <a:p>
            <a:pPr>
              <a:buClr>
                <a:schemeClr val="tx1"/>
              </a:buClr>
            </a:pPr>
            <a:r>
              <a:rPr lang="en-HK" sz="2400" i="1" dirty="0">
                <a:solidFill>
                  <a:srgbClr val="0070C0"/>
                </a:solidFill>
                <a:latin typeface="Times New Roman" panose="02020603050405020304" pitchFamily="18" charset="0"/>
                <a:cs typeface="Times New Roman" panose="02020603050405020304" pitchFamily="18" charset="0"/>
              </a:rPr>
              <a:t>Hutchins v Maughan </a:t>
            </a:r>
            <a:r>
              <a:rPr lang="en-HK" sz="2400" dirty="0">
                <a:solidFill>
                  <a:srgbClr val="0070C0"/>
                </a:solidFill>
                <a:latin typeface="Times New Roman" panose="02020603050405020304" pitchFamily="18" charset="0"/>
                <a:cs typeface="Times New Roman" panose="02020603050405020304" pitchFamily="18" charset="0"/>
              </a:rPr>
              <a:t>[1947] </a:t>
            </a:r>
            <a:r>
              <a:rPr lang="en-HK" sz="2400" dirty="0" err="1">
                <a:solidFill>
                  <a:srgbClr val="0070C0"/>
                </a:solidFill>
                <a:latin typeface="Times New Roman" panose="02020603050405020304" pitchFamily="18" charset="0"/>
                <a:cs typeface="Times New Roman" panose="02020603050405020304" pitchFamily="18" charset="0"/>
              </a:rPr>
              <a:t>VLR</a:t>
            </a:r>
            <a:r>
              <a:rPr lang="en-HK" sz="2400" dirty="0">
                <a:solidFill>
                  <a:srgbClr val="0070C0"/>
                </a:solidFill>
                <a:latin typeface="Times New Roman" panose="02020603050405020304" pitchFamily="18" charset="0"/>
                <a:cs typeface="Times New Roman" panose="02020603050405020304" pitchFamily="18" charset="0"/>
              </a:rPr>
              <a:t> 131 </a:t>
            </a:r>
            <a:r>
              <a:rPr lang="en-HK" sz="2400" dirty="0">
                <a:latin typeface="Times New Roman" panose="02020603050405020304" pitchFamily="18" charset="0"/>
                <a:cs typeface="Times New Roman" panose="02020603050405020304" pitchFamily="18" charset="0"/>
              </a:rPr>
              <a:t>is instructive on the issue of directness </a:t>
            </a:r>
            <a:r>
              <a:rPr lang="en-HK" sz="2400" dirty="0">
                <a:solidFill>
                  <a:srgbClr val="7030A0"/>
                </a:solidFill>
                <a:latin typeface="Times New Roman" panose="02020603050405020304" pitchFamily="18" charset="0"/>
                <a:cs typeface="Times New Roman" panose="02020603050405020304" pitchFamily="18" charset="0"/>
              </a:rPr>
              <a:t>(</a:t>
            </a:r>
            <a:r>
              <a:rPr lang="en-US" sz="2400" dirty="0">
                <a:solidFill>
                  <a:srgbClr val="7030A0"/>
                </a:solidFill>
                <a:latin typeface="Times New Roman" panose="02020603050405020304" pitchFamily="18" charset="0"/>
                <a:cs typeface="Times New Roman" panose="02020603050405020304" pitchFamily="18" charset="0"/>
              </a:rPr>
              <a:t>the death of dogs caused by some baits laid on the ground a few days prior</a:t>
            </a:r>
            <a:r>
              <a:rPr lang="en-HK" sz="2400" dirty="0">
                <a:solidFill>
                  <a:srgbClr val="7030A0"/>
                </a:solidFill>
                <a:latin typeface="Times New Roman" panose="02020603050405020304" pitchFamily="18" charset="0"/>
                <a:cs typeface="Times New Roman" panose="02020603050405020304" pitchFamily="18" charset="0"/>
              </a:rPr>
              <a:t>)</a:t>
            </a:r>
            <a:r>
              <a:rPr lang="en-HK" sz="2400" dirty="0">
                <a:latin typeface="Times New Roman" panose="02020603050405020304" pitchFamily="18" charset="0"/>
                <a:cs typeface="Times New Roman" panose="02020603050405020304" pitchFamily="18" charset="0"/>
              </a:rPr>
              <a:t> </a:t>
            </a:r>
          </a:p>
          <a:p>
            <a:pPr marL="0" indent="0">
              <a:buClr>
                <a:schemeClr val="tx1"/>
              </a:buClr>
              <a:buNone/>
            </a:pPr>
            <a:endParaRPr lang="en-HK" dirty="0">
              <a:latin typeface="Times New Roman" panose="02020603050405020304" pitchFamily="18" charset="0"/>
              <a:cs typeface="Times New Roman" panose="02020603050405020304" pitchFamily="18" charset="0"/>
            </a:endParaRPr>
          </a:p>
          <a:p>
            <a:pPr>
              <a:buClr>
                <a:schemeClr val="tx1"/>
              </a:buClr>
            </a:pPr>
            <a:r>
              <a:rPr lang="en-HK" sz="2400" dirty="0">
                <a:latin typeface="Times New Roman" panose="02020603050405020304" pitchFamily="18" charset="0"/>
                <a:cs typeface="Times New Roman" panose="02020603050405020304" pitchFamily="18" charset="0"/>
              </a:rPr>
              <a:t>The court held that </a:t>
            </a:r>
            <a:r>
              <a:rPr lang="en-HK" sz="2400" u="sng" dirty="0">
                <a:latin typeface="Times New Roman" panose="02020603050405020304" pitchFamily="18" charset="0"/>
                <a:cs typeface="Times New Roman" panose="02020603050405020304" pitchFamily="18" charset="0"/>
              </a:rPr>
              <a:t>no trespass</a:t>
            </a:r>
            <a:r>
              <a:rPr lang="en-HK" sz="2400" dirty="0">
                <a:latin typeface="Times New Roman" panose="02020603050405020304" pitchFamily="18" charset="0"/>
                <a:cs typeface="Times New Roman" panose="02020603050405020304" pitchFamily="18" charset="0"/>
              </a:rPr>
              <a:t> was made out, because the baits were laid before the complainant arrived on the said land; no injury would have occurred had he not taken his dogs there  </a:t>
            </a:r>
          </a:p>
          <a:p>
            <a:pPr>
              <a:buClr>
                <a:schemeClr val="tx1"/>
              </a:buClr>
            </a:pPr>
            <a:r>
              <a:rPr lang="en-HK" sz="2400" dirty="0">
                <a:latin typeface="Times New Roman" panose="02020603050405020304" pitchFamily="18" charset="0"/>
                <a:cs typeface="Times New Roman" panose="02020603050405020304" pitchFamily="18" charset="0"/>
              </a:rPr>
              <a:t>Directness is often an “issue of time” – had the defendant thrown the baits at dogs in </a:t>
            </a:r>
            <a:r>
              <a:rPr lang="en-HK" sz="2400" i="1" dirty="0">
                <a:solidFill>
                  <a:srgbClr val="0070C0"/>
                </a:solidFill>
                <a:latin typeface="Times New Roman" panose="02020603050405020304" pitchFamily="18" charset="0"/>
                <a:cs typeface="Times New Roman" panose="02020603050405020304" pitchFamily="18" charset="0"/>
              </a:rPr>
              <a:t>Hutchins</a:t>
            </a:r>
            <a:r>
              <a:rPr lang="en-HK" sz="2400" dirty="0">
                <a:latin typeface="Times New Roman" panose="02020603050405020304" pitchFamily="18" charset="0"/>
                <a:cs typeface="Times New Roman" panose="02020603050405020304" pitchFamily="18" charset="0"/>
              </a:rPr>
              <a:t>, trespass would have been made out </a:t>
            </a:r>
          </a:p>
          <a:p>
            <a:pPr>
              <a:buClr>
                <a:schemeClr val="tx1"/>
              </a:buClr>
            </a:pPr>
            <a:endParaRPr lang="en-HK"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3656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Elements of intentional torts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Damage </a:t>
            </a:r>
            <a:endPar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10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Trespass is actionable per se, that is, </a:t>
            </a:r>
            <a:r>
              <a:rPr lang="en-HK" sz="2800" b="1" dirty="0">
                <a:latin typeface="Times New Roman" panose="02020603050405020304" pitchFamily="18" charset="0"/>
                <a:cs typeface="Times New Roman" panose="02020603050405020304" pitchFamily="18" charset="0"/>
              </a:rPr>
              <a:t>no proof of damage</a:t>
            </a:r>
            <a:r>
              <a:rPr lang="en-HK" sz="2800" dirty="0">
                <a:latin typeface="Times New Roman" panose="02020603050405020304" pitchFamily="18" charset="0"/>
                <a:cs typeface="Times New Roman" panose="02020603050405020304" pitchFamily="18" charset="0"/>
              </a:rPr>
              <a:t> is required</a:t>
            </a:r>
            <a:endParaRPr lang="en-HK" sz="2600" dirty="0">
              <a:latin typeface="Times New Roman" panose="02020603050405020304" pitchFamily="18" charset="0"/>
              <a:cs typeface="Times New Roman" panose="02020603050405020304" pitchFamily="18" charset="0"/>
            </a:endParaRPr>
          </a:p>
          <a:p>
            <a:pPr marL="0" indent="0">
              <a:buNone/>
            </a:pPr>
            <a:r>
              <a:rPr lang="en-HK" sz="2800" dirty="0">
                <a:latin typeface="Times New Roman" panose="02020603050405020304" pitchFamily="18" charset="0"/>
                <a:cs typeface="Times New Roman" panose="02020603050405020304" pitchFamily="18" charset="0"/>
              </a:rPr>
              <a:t>		</a:t>
            </a:r>
          </a:p>
          <a:p>
            <a:pPr marL="0" indent="0">
              <a:buNone/>
            </a:pPr>
            <a:r>
              <a:rPr lang="en-HK" sz="2800" dirty="0">
                <a:latin typeface="Times New Roman" panose="02020603050405020304" pitchFamily="18" charset="0"/>
                <a:cs typeface="Times New Roman" panose="02020603050405020304" pitchFamily="18" charset="0"/>
              </a:rPr>
              <a:t>		</a:t>
            </a:r>
            <a:r>
              <a:rPr lang="en-HK" sz="2800" dirty="0">
                <a:solidFill>
                  <a:srgbClr val="3333FF"/>
                </a:solidFill>
                <a:latin typeface="Times New Roman" panose="02020603050405020304" pitchFamily="18" charset="0"/>
                <a:cs typeface="Times New Roman" panose="02020603050405020304" pitchFamily="18" charset="0"/>
              </a:rPr>
              <a:t>The rationale behind this principle lies in protecting one’s 		bodily integrity, liberty and property </a:t>
            </a:r>
          </a:p>
          <a:p>
            <a:pPr marL="0" indent="0">
              <a:buNone/>
            </a:pPr>
            <a:endParaRPr lang="en-HK" sz="2800" dirty="0">
              <a:latin typeface="Times New Roman" panose="02020603050405020304" pitchFamily="18" charset="0"/>
              <a:cs typeface="Times New Roman" panose="02020603050405020304" pitchFamily="18" charset="0"/>
            </a:endParaRPr>
          </a:p>
          <a:p>
            <a:r>
              <a:rPr lang="en-HK" sz="2800" dirty="0">
                <a:latin typeface="Times New Roman" panose="02020603050405020304" pitchFamily="18" charset="0"/>
                <a:cs typeface="Times New Roman" panose="02020603050405020304" pitchFamily="18" charset="0"/>
              </a:rPr>
              <a:t>On the other hand, </a:t>
            </a:r>
            <a:r>
              <a:rPr lang="en-HK" sz="2800" dirty="0">
                <a:solidFill>
                  <a:srgbClr val="C00000"/>
                </a:solidFill>
                <a:latin typeface="Times New Roman" panose="02020603050405020304" pitchFamily="18" charset="0"/>
                <a:cs typeface="Times New Roman" panose="02020603050405020304" pitchFamily="18" charset="0"/>
              </a:rPr>
              <a:t>for an action on the case, the plaintiff must establish that she suffered damage </a:t>
            </a:r>
          </a:p>
        </p:txBody>
      </p:sp>
    </p:spTree>
    <p:extLst>
      <p:ext uri="{BB962C8B-B14F-4D97-AF65-F5344CB8AC3E}">
        <p14:creationId xmlns:p14="http://schemas.microsoft.com/office/powerpoint/2010/main" val="92680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Elements of intentional torts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Fault </a:t>
            </a:r>
            <a:r>
              <a:rPr kumimoji="0" lang="en-US" sz="2000" b="0" i="0" u="sng" strike="noStrike" kern="1200" cap="none" spc="0" normalizeH="0" baseline="0" noProof="0" dirty="0" err="1">
                <a:ln>
                  <a:noFill/>
                </a:ln>
                <a:solidFill>
                  <a:srgbClr val="008000"/>
                </a:solidFill>
                <a:effectLst/>
                <a:uLnTx/>
                <a:uFillTx/>
                <a:latin typeface="Times New Roman" panose="02020603050405020304" pitchFamily="18" charset="0"/>
                <a:ea typeface="+mn-ea"/>
                <a:cs typeface="Times New Roman" panose="02020603050405020304" pitchFamily="18" charset="0"/>
              </a:rPr>
              <a:t>ie</a:t>
            </a:r>
            <a:r>
              <a:rPr kumimoji="0" lang="en-US" sz="20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 mental state </a:t>
            </a:r>
            <a:endParaRPr kumimoji="0" lang="en-US" sz="20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800" dirty="0">
              <a:latin typeface="Times New Roman" panose="02020603050405020304" pitchFamily="18" charset="0"/>
              <a:cs typeface="Times New Roman" panose="02020603050405020304" pitchFamily="18" charset="0"/>
            </a:endParaRPr>
          </a:p>
          <a:p>
            <a:r>
              <a:rPr lang="en-HK" sz="2000" b="1" dirty="0">
                <a:latin typeface="Times New Roman" panose="02020603050405020304" pitchFamily="18" charset="0"/>
                <a:cs typeface="Times New Roman" panose="02020603050405020304" pitchFamily="18" charset="0"/>
              </a:rPr>
              <a:t>Trespass</a:t>
            </a:r>
            <a:r>
              <a:rPr lang="en-HK" sz="2000" dirty="0">
                <a:latin typeface="Times New Roman" panose="02020603050405020304" pitchFamily="18" charset="0"/>
                <a:cs typeface="Times New Roman" panose="02020603050405020304" pitchFamily="18" charset="0"/>
              </a:rPr>
              <a:t> </a:t>
            </a:r>
            <a:r>
              <a:rPr lang="en-HK" sz="2000" b="1" dirty="0">
                <a:latin typeface="Times New Roman" panose="02020603050405020304" pitchFamily="18" charset="0"/>
                <a:cs typeface="Times New Roman" panose="02020603050405020304" pitchFamily="18" charset="0"/>
              </a:rPr>
              <a:t>requires fault</a:t>
            </a:r>
            <a:r>
              <a:rPr lang="en-HK" sz="2000" dirty="0">
                <a:latin typeface="Times New Roman" panose="02020603050405020304" pitchFamily="18" charset="0"/>
                <a:cs typeface="Times New Roman" panose="02020603050405020304" pitchFamily="18" charset="0"/>
              </a:rPr>
              <a:t> – the direct interference of the defendant must be accompanied by a particular </a:t>
            </a:r>
            <a:r>
              <a:rPr lang="en-HK" sz="2000" b="1" dirty="0">
                <a:latin typeface="Times New Roman" panose="02020603050405020304" pitchFamily="18" charset="0"/>
                <a:cs typeface="Times New Roman" panose="02020603050405020304" pitchFamily="18" charset="0"/>
              </a:rPr>
              <a:t>mental state </a:t>
            </a:r>
            <a:r>
              <a:rPr lang="en-HK" sz="2000" dirty="0" err="1">
                <a:latin typeface="Times New Roman" panose="02020603050405020304" pitchFamily="18" charset="0"/>
                <a:cs typeface="Times New Roman" panose="02020603050405020304" pitchFamily="18" charset="0"/>
              </a:rPr>
              <a:t>ie</a:t>
            </a:r>
            <a:r>
              <a:rPr lang="en-HK" sz="2000" dirty="0">
                <a:latin typeface="Times New Roman" panose="02020603050405020304" pitchFamily="18" charset="0"/>
                <a:cs typeface="Times New Roman" panose="02020603050405020304" pitchFamily="18" charset="0"/>
              </a:rPr>
              <a:t> the defendant must have acted with either intention, recklessness or negligence </a:t>
            </a:r>
          </a:p>
          <a:p>
            <a:r>
              <a:rPr lang="en-HK" sz="2000" dirty="0">
                <a:latin typeface="Times New Roman" panose="02020603050405020304" pitchFamily="18" charset="0"/>
                <a:cs typeface="Times New Roman" panose="02020603050405020304" pitchFamily="18" charset="0"/>
              </a:rPr>
              <a:t>Intention or recklessness are </a:t>
            </a:r>
            <a:r>
              <a:rPr lang="en-HK" sz="2000" b="1" dirty="0">
                <a:latin typeface="Times New Roman" panose="02020603050405020304" pitchFamily="18" charset="0"/>
                <a:cs typeface="Times New Roman" panose="02020603050405020304" pitchFamily="18" charset="0"/>
              </a:rPr>
              <a:t>subjective</a:t>
            </a:r>
            <a:r>
              <a:rPr lang="en-HK" sz="2000" dirty="0">
                <a:latin typeface="Times New Roman" panose="02020603050405020304" pitchFamily="18" charset="0"/>
                <a:cs typeface="Times New Roman" panose="02020603050405020304" pitchFamily="18" charset="0"/>
              </a:rPr>
              <a:t> states of mind </a:t>
            </a:r>
            <a:r>
              <a:rPr lang="en-HK" sz="2000" dirty="0" err="1">
                <a:latin typeface="Times New Roman" panose="02020603050405020304" pitchFamily="18" charset="0"/>
                <a:cs typeface="Times New Roman" panose="02020603050405020304" pitchFamily="18" charset="0"/>
              </a:rPr>
              <a:t>ie</a:t>
            </a:r>
            <a:r>
              <a:rPr lang="en-HK" sz="2000" dirty="0">
                <a:latin typeface="Times New Roman" panose="02020603050405020304" pitchFamily="18" charset="0"/>
                <a:cs typeface="Times New Roman" panose="02020603050405020304" pitchFamily="18" charset="0"/>
              </a:rPr>
              <a:t> consider defendant’s own mental state </a:t>
            </a:r>
          </a:p>
          <a:p>
            <a:r>
              <a:rPr lang="en-HK" sz="2000" dirty="0">
                <a:latin typeface="Times New Roman" panose="02020603050405020304" pitchFamily="18" charset="0"/>
                <a:cs typeface="Times New Roman" panose="02020603050405020304" pitchFamily="18" charset="0"/>
              </a:rPr>
              <a:t>Intention required </a:t>
            </a:r>
            <a:r>
              <a:rPr lang="en-HK" sz="2000" i="1" dirty="0">
                <a:latin typeface="Times New Roman" panose="02020603050405020304" pitchFamily="18" charset="0"/>
                <a:cs typeface="Times New Roman" panose="02020603050405020304" pitchFamily="18" charset="0"/>
              </a:rPr>
              <a:t>only</a:t>
            </a:r>
            <a:r>
              <a:rPr lang="en-HK" sz="2000" dirty="0">
                <a:latin typeface="Times New Roman" panose="02020603050405020304" pitchFamily="18" charset="0"/>
                <a:cs typeface="Times New Roman" panose="02020603050405020304" pitchFamily="18" charset="0"/>
              </a:rPr>
              <a:t> regarding the intention to create the interference (aka perform the act) </a:t>
            </a:r>
            <a:r>
              <a:rPr lang="en-HK" sz="2000" dirty="0" err="1">
                <a:latin typeface="Times New Roman" panose="02020603050405020304" pitchFamily="18" charset="0"/>
                <a:cs typeface="Times New Roman" panose="02020603050405020304" pitchFamily="18" charset="0"/>
              </a:rPr>
              <a:t>eg</a:t>
            </a:r>
            <a:r>
              <a:rPr lang="en-HK" sz="2000" dirty="0">
                <a:latin typeface="Times New Roman" panose="02020603050405020304" pitchFamily="18" charset="0"/>
                <a:cs typeface="Times New Roman" panose="02020603050405020304" pitchFamily="18" charset="0"/>
              </a:rPr>
              <a:t> if the defendant touches another mistakenly thinking it is their partner, that will suffice as the defendant intended the act (their mistake is not a defence). See </a:t>
            </a:r>
            <a:r>
              <a:rPr lang="en-HK" sz="2000" dirty="0" err="1">
                <a:latin typeface="Times New Roman" panose="02020603050405020304" pitchFamily="18" charset="0"/>
                <a:cs typeface="Times New Roman" panose="02020603050405020304" pitchFamily="18" charset="0"/>
              </a:rPr>
              <a:t>pg</a:t>
            </a:r>
            <a:r>
              <a:rPr lang="en-HK" sz="2000" dirty="0">
                <a:latin typeface="Times New Roman" panose="02020603050405020304" pitchFamily="18" charset="0"/>
                <a:cs typeface="Times New Roman" panose="02020603050405020304" pitchFamily="18" charset="0"/>
              </a:rPr>
              <a:t> 46 for more on this</a:t>
            </a:r>
          </a:p>
          <a:p>
            <a:r>
              <a:rPr lang="en-HK" sz="2000" dirty="0">
                <a:latin typeface="Times New Roman" panose="02020603050405020304" pitchFamily="18" charset="0"/>
                <a:cs typeface="Times New Roman" panose="02020603050405020304" pitchFamily="18" charset="0"/>
              </a:rPr>
              <a:t>Recklessness arises when the consequences are so likely that the defendant is taken to have foreseen them. Generally rare – most cases of trespass fall under intentional conduct. </a:t>
            </a:r>
          </a:p>
          <a:p>
            <a:r>
              <a:rPr lang="en-HK" sz="2000" dirty="0">
                <a:latin typeface="Times New Roman" panose="02020603050405020304" pitchFamily="18" charset="0"/>
                <a:cs typeface="Times New Roman" panose="02020603050405020304" pitchFamily="18" charset="0"/>
              </a:rPr>
              <a:t>In </a:t>
            </a:r>
            <a:r>
              <a:rPr lang="en-HK" sz="2000" u="sng" dirty="0">
                <a:latin typeface="Times New Roman" panose="02020603050405020304" pitchFamily="18" charset="0"/>
                <a:cs typeface="Times New Roman" panose="02020603050405020304" pitchFamily="18" charset="0"/>
              </a:rPr>
              <a:t>negligent trespass</a:t>
            </a:r>
            <a:r>
              <a:rPr lang="en-HK" sz="2000" dirty="0">
                <a:latin typeface="Times New Roman" panose="02020603050405020304" pitchFamily="18" charset="0"/>
                <a:cs typeface="Times New Roman" panose="02020603050405020304" pitchFamily="18" charset="0"/>
              </a:rPr>
              <a:t>, failure to exercise reasonable care resulting in interference will suffice – however note this cause of action is rare as these cases are now mostly considered under negligence. Negligence is an </a:t>
            </a:r>
            <a:r>
              <a:rPr lang="en-HK" sz="2000" b="1" dirty="0">
                <a:latin typeface="Times New Roman" panose="02020603050405020304" pitchFamily="18" charset="0"/>
                <a:cs typeface="Times New Roman" panose="02020603050405020304" pitchFamily="18" charset="0"/>
              </a:rPr>
              <a:t>objective</a:t>
            </a:r>
            <a:r>
              <a:rPr lang="en-HK" sz="2000" dirty="0">
                <a:latin typeface="Times New Roman" panose="02020603050405020304" pitchFamily="18" charset="0"/>
                <a:cs typeface="Times New Roman" panose="02020603050405020304" pitchFamily="18" charset="0"/>
              </a:rPr>
              <a:t> state of mind, determined by the standard of a reasonable person in the defendant’s position. </a:t>
            </a:r>
          </a:p>
        </p:txBody>
      </p:sp>
    </p:spTree>
    <p:extLst>
      <p:ext uri="{BB962C8B-B14F-4D97-AF65-F5344CB8AC3E}">
        <p14:creationId xmlns:p14="http://schemas.microsoft.com/office/powerpoint/2010/main" val="1244020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353A4-6898-289F-1D6C-C280C0A51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7E856-ED1D-24B0-3893-ADD27BA00A73}"/>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Elements of intentional torts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CAD09F-D312-4646-A1F0-BDF811A2CE75}"/>
              </a:ext>
            </a:extLst>
          </p:cNvPr>
          <p:cNvSpPr>
            <a:spLocks noGrp="1"/>
          </p:cNvSpPr>
          <p:nvPr>
            <p:ph idx="1"/>
          </p:nvPr>
        </p:nvSpPr>
        <p:spPr>
          <a:xfrm>
            <a:off x="720000" y="1508426"/>
            <a:ext cx="10800001" cy="5074936"/>
          </a:xfrm>
        </p:spPr>
        <p:txBody>
          <a:bodyPr>
            <a:no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Fault - Onus of proof </a:t>
            </a:r>
            <a:endParaRPr kumimoji="0" lang="en-US" sz="20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a:p>
            <a:pPr marL="0" indent="0">
              <a:buNone/>
            </a:pPr>
            <a:endParaRPr lang="en-HK" sz="800" dirty="0">
              <a:latin typeface="Times New Roman" panose="02020603050405020304" pitchFamily="18" charset="0"/>
              <a:cs typeface="Times New Roman" panose="02020603050405020304" pitchFamily="18" charset="0"/>
            </a:endParaRPr>
          </a:p>
          <a:p>
            <a:r>
              <a:rPr lang="en-HK" sz="2000" dirty="0">
                <a:latin typeface="Times New Roman" panose="02020603050405020304" pitchFamily="18" charset="0"/>
                <a:cs typeface="Times New Roman" panose="02020603050405020304" pitchFamily="18" charset="0"/>
              </a:rPr>
              <a:t>In trespass – the plaintiff must prove only the direct interference occurred. Then the onus of proving fault shifts to the defendant to disprove fault </a:t>
            </a:r>
            <a:r>
              <a:rPr lang="en-HK" sz="2000" dirty="0" err="1">
                <a:latin typeface="Times New Roman" panose="02020603050405020304" pitchFamily="18" charset="0"/>
                <a:cs typeface="Times New Roman" panose="02020603050405020304" pitchFamily="18" charset="0"/>
              </a:rPr>
              <a:t>ie</a:t>
            </a:r>
            <a:r>
              <a:rPr lang="en-HK" sz="2000" dirty="0">
                <a:latin typeface="Times New Roman" panose="02020603050405020304" pitchFamily="18" charset="0"/>
                <a:cs typeface="Times New Roman" panose="02020603050405020304" pitchFamily="18" charset="0"/>
              </a:rPr>
              <a:t> disprove that they had the intentional mental state (defendant would do this by proving the interference was ‘so called inevitable accident’)</a:t>
            </a:r>
          </a:p>
          <a:p>
            <a:pPr lvl="1"/>
            <a:r>
              <a:rPr lang="en-HK" sz="1800" dirty="0">
                <a:latin typeface="Times New Roman" panose="02020603050405020304" pitchFamily="18" charset="0"/>
                <a:cs typeface="Times New Roman" panose="02020603050405020304" pitchFamily="18" charset="0"/>
              </a:rPr>
              <a:t>An </a:t>
            </a:r>
            <a:r>
              <a:rPr lang="en-HK" sz="1800" b="1" dirty="0">
                <a:latin typeface="Times New Roman" panose="02020603050405020304" pitchFamily="18" charset="0"/>
                <a:cs typeface="Times New Roman" panose="02020603050405020304" pitchFamily="18" charset="0"/>
              </a:rPr>
              <a:t>exception</a:t>
            </a:r>
            <a:r>
              <a:rPr lang="en-HK" sz="1800" dirty="0">
                <a:latin typeface="Times New Roman" panose="02020603050405020304" pitchFamily="18" charset="0"/>
                <a:cs typeface="Times New Roman" panose="02020603050405020304" pitchFamily="18" charset="0"/>
              </a:rPr>
              <a:t> to the above rule lies in trespass cases where the harm resulted out of the use of the highway (i.e., injury on the highway or damage to the property adjoining the highway) – in such cases, the </a:t>
            </a:r>
            <a:r>
              <a:rPr lang="en-HK" sz="1800" b="1" dirty="0">
                <a:latin typeface="Times New Roman" panose="02020603050405020304" pitchFamily="18" charset="0"/>
                <a:cs typeface="Times New Roman" panose="02020603050405020304" pitchFamily="18" charset="0"/>
              </a:rPr>
              <a:t>plaintiff should prove fault </a:t>
            </a:r>
            <a:r>
              <a:rPr lang="en-HK" sz="1800" dirty="0">
                <a:latin typeface="Times New Roman" panose="02020603050405020304" pitchFamily="18" charset="0"/>
                <a:cs typeface="Times New Roman" panose="02020603050405020304" pitchFamily="18" charset="0"/>
              </a:rPr>
              <a:t>on the part of defendant  (see p43: One of the reasons for this historical difference is based upon public interest. That is, the public has a right to use the highway but in doing so they and any person who has property adjoining the highway must accept a risk and therefore should bear the onus of proof.)</a:t>
            </a:r>
          </a:p>
          <a:p>
            <a:r>
              <a:rPr lang="en-HK" sz="2000" dirty="0">
                <a:latin typeface="Times New Roman" panose="02020603050405020304" pitchFamily="18" charset="0"/>
                <a:cs typeface="Times New Roman" panose="02020603050405020304" pitchFamily="18" charset="0"/>
              </a:rPr>
              <a:t>However in </a:t>
            </a:r>
            <a:r>
              <a:rPr lang="en-HK" sz="2000" dirty="0">
                <a:solidFill>
                  <a:srgbClr val="C00000"/>
                </a:solidFill>
                <a:latin typeface="Times New Roman" panose="02020603050405020304" pitchFamily="18" charset="0"/>
                <a:cs typeface="Times New Roman" panose="02020603050405020304" pitchFamily="18" charset="0"/>
              </a:rPr>
              <a:t>action on the case, the plaintiff must prove fault</a:t>
            </a:r>
          </a:p>
          <a:p>
            <a:endParaRPr lang="en-HK" sz="2000" dirty="0">
              <a:latin typeface="Times New Roman" panose="02020603050405020304" pitchFamily="18" charset="0"/>
              <a:cs typeface="Times New Roman" panose="02020603050405020304" pitchFamily="18" charset="0"/>
            </a:endParaRPr>
          </a:p>
          <a:p>
            <a:endParaRPr lang="en-HK"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6954502"/>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U-INT 16x9 Template _2016" id="{260B2EA1-E29E-8F43-8CD0-19C5943E9B3E}" vid="{17EFAF55-AA0F-074F-B88C-D92FD2EB11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14631</TotalTime>
  <Words>2084</Words>
  <Application>Microsoft Macintosh PowerPoint</Application>
  <PresentationFormat>Widescreen</PresentationFormat>
  <Paragraphs>271</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Courier New</vt:lpstr>
      <vt:lpstr>Georgia</vt:lpstr>
      <vt:lpstr>Times New Roman</vt:lpstr>
      <vt:lpstr>Wingdings</vt:lpstr>
      <vt:lpstr>MAC UNI BASIC_Round 1 Draft for feedback</vt:lpstr>
      <vt:lpstr>LAWS2400 / LAWS8040 – Torts  Week 1 – Part 2 Introduction to Torts and Intentional Torts  </vt:lpstr>
      <vt:lpstr>4. Theories about the role of tort law in society</vt:lpstr>
      <vt:lpstr>Theories about the role of tort law in society Contd.</vt:lpstr>
      <vt:lpstr>Theories about the role of tort law in society Contd.</vt:lpstr>
      <vt:lpstr>Theories about the role of tort law in society Contd.</vt:lpstr>
      <vt:lpstr>Theories about the role of tort law in society Contd.</vt:lpstr>
      <vt:lpstr>Theories about the role of tort law in society Contd.</vt:lpstr>
      <vt:lpstr>Theories about the role of tort law in society Contd.</vt:lpstr>
      <vt:lpstr>Theories about the role of tort law in society Contd.</vt:lpstr>
      <vt:lpstr>Theories about the role of tort law in society Contd.</vt:lpstr>
      <vt:lpstr>Theories about the role of tort law in society Contd.</vt:lpstr>
      <vt:lpstr>Theories about the role of tort law in society Contd.</vt:lpstr>
      <vt:lpstr>Theories about the role of tort law in society Contd.</vt:lpstr>
      <vt:lpstr>Theories about the role of tort law in society Contd.</vt:lpstr>
      <vt:lpstr>Theories about the role of tort law in society Contd.</vt:lpstr>
      <vt:lpstr>5. Elements of intentional torts </vt:lpstr>
      <vt:lpstr>Elements of intentional torts Contd.</vt:lpstr>
      <vt:lpstr>Elements of intentional torts Contd.</vt:lpstr>
      <vt:lpstr>Elements of intentional torts Contd.</vt:lpstr>
      <vt:lpstr>Elements of intentional torts Contd.</vt:lpstr>
      <vt:lpstr>Elements of intentional torts Contd.</vt:lpstr>
      <vt:lpstr>Elements of intentional torts Contd.</vt:lpstr>
      <vt:lpstr>Elements of intentional torts Contd.</vt:lpstr>
      <vt:lpstr>Elements of intentional torts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Ebony Birchall</cp:lastModifiedBy>
  <cp:revision>665</cp:revision>
  <dcterms:created xsi:type="dcterms:W3CDTF">2019-01-24T02:12:19Z</dcterms:created>
  <dcterms:modified xsi:type="dcterms:W3CDTF">2026-07-30T08:36:11Z</dcterms:modified>
</cp:coreProperties>
</file>