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638" r:id="rId1"/>
  </p:sldMasterIdLst>
  <p:notesMasterIdLst>
    <p:notesMasterId r:id="rId25"/>
  </p:notesMasterIdLst>
  <p:handoutMasterIdLst>
    <p:handoutMasterId r:id="rId26"/>
  </p:handoutMasterIdLst>
  <p:sldIdLst>
    <p:sldId id="303" r:id="rId2"/>
    <p:sldId id="258" r:id="rId3"/>
    <p:sldId id="334" r:id="rId4"/>
    <p:sldId id="379" r:id="rId5"/>
    <p:sldId id="377" r:id="rId6"/>
    <p:sldId id="376" r:id="rId7"/>
    <p:sldId id="345" r:id="rId8"/>
    <p:sldId id="346" r:id="rId9"/>
    <p:sldId id="347" r:id="rId10"/>
    <p:sldId id="350" r:id="rId11"/>
    <p:sldId id="336" r:id="rId12"/>
    <p:sldId id="335" r:id="rId13"/>
    <p:sldId id="381" r:id="rId14"/>
    <p:sldId id="348" r:id="rId15"/>
    <p:sldId id="351" r:id="rId16"/>
    <p:sldId id="352" r:id="rId17"/>
    <p:sldId id="337" r:id="rId18"/>
    <p:sldId id="353" r:id="rId19"/>
    <p:sldId id="354" r:id="rId20"/>
    <p:sldId id="355" r:id="rId21"/>
    <p:sldId id="357" r:id="rId22"/>
    <p:sldId id="356" r:id="rId23"/>
    <p:sldId id="35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nah Harris" initials="HH" lastIdx="8" clrIdx="0">
    <p:extLst>
      <p:ext uri="{19B8F6BF-5375-455C-9EA6-DF929625EA0E}">
        <p15:presenceInfo xmlns:p15="http://schemas.microsoft.com/office/powerpoint/2012/main" userId="S::hannah.harris@mq.edu.au::6810d1df-3b5d-4428-9867-3b286e5d46c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34A40E-FD79-1A4B-8792-406B3B863B98}" v="5" dt="2026-07-29T04:11:21.272"/>
    <p1510:client id="{D24D78D9-A52B-FD41-89ED-319BA160E89C}" v="453" dt="2026-07-30T04:02:43.5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601" autoAdjust="0"/>
    <p:restoredTop sz="79772" autoAdjust="0"/>
  </p:normalViewPr>
  <p:slideViewPr>
    <p:cSldViewPr snapToGrid="0" snapToObjects="1">
      <p:cViewPr varScale="1">
        <p:scale>
          <a:sx n="118" d="100"/>
          <a:sy n="118" d="100"/>
        </p:scale>
        <p:origin x="224" y="400"/>
      </p:cViewPr>
      <p:guideLst/>
    </p:cSldViewPr>
  </p:slideViewPr>
  <p:outlineViewPr>
    <p:cViewPr>
      <p:scale>
        <a:sx n="33" d="100"/>
        <a:sy n="33" d="100"/>
      </p:scale>
      <p:origin x="0" y="-107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120" d="100"/>
          <a:sy n="120" d="100"/>
        </p:scale>
        <p:origin x="2544" y="-19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Head" userId="3622ac83-72fb-4480-aaff-0580f4ad655a" providerId="ADAL" clId="{6BBF4A71-3A44-5905-A51C-0BDCE69EAF34}"/>
    <pc:docChg chg="custSel modSld">
      <pc:chgData name="Amanda Head" userId="3622ac83-72fb-4480-aaff-0580f4ad655a" providerId="ADAL" clId="{6BBF4A71-3A44-5905-A51C-0BDCE69EAF34}" dt="2026-07-30T04:39:09.660" v="452" actId="20577"/>
      <pc:docMkLst>
        <pc:docMk/>
      </pc:docMkLst>
      <pc:sldChg chg="modSp mod">
        <pc:chgData name="Amanda Head" userId="3622ac83-72fb-4480-aaff-0580f4ad655a" providerId="ADAL" clId="{6BBF4A71-3A44-5905-A51C-0BDCE69EAF34}" dt="2026-07-30T03:25:58.831" v="233" actId="20577"/>
        <pc:sldMkLst>
          <pc:docMk/>
          <pc:sldMk cId="2015004224" sldId="345"/>
        </pc:sldMkLst>
        <pc:spChg chg="mod">
          <ac:chgData name="Amanda Head" userId="3622ac83-72fb-4480-aaff-0580f4ad655a" providerId="ADAL" clId="{6BBF4A71-3A44-5905-A51C-0BDCE69EAF34}" dt="2026-07-30T03:25:58.831" v="233" actId="20577"/>
          <ac:spMkLst>
            <pc:docMk/>
            <pc:sldMk cId="2015004224" sldId="345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6BBF4A71-3A44-5905-A51C-0BDCE69EAF34}" dt="2026-07-30T03:28:16.255" v="283" actId="20577"/>
        <pc:sldMkLst>
          <pc:docMk/>
          <pc:sldMk cId="833004857" sldId="346"/>
        </pc:sldMkLst>
        <pc:spChg chg="mod">
          <ac:chgData name="Amanda Head" userId="3622ac83-72fb-4480-aaff-0580f4ad655a" providerId="ADAL" clId="{6BBF4A71-3A44-5905-A51C-0BDCE69EAF34}" dt="2026-07-30T03:28:16.255" v="283" actId="20577"/>
          <ac:spMkLst>
            <pc:docMk/>
            <pc:sldMk cId="833004857" sldId="346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6BBF4A71-3A44-5905-A51C-0BDCE69EAF34}" dt="2026-07-30T02:58:17.231" v="3" actId="20577"/>
        <pc:sldMkLst>
          <pc:docMk/>
          <pc:sldMk cId="1615851915" sldId="348"/>
        </pc:sldMkLst>
        <pc:spChg chg="mod">
          <ac:chgData name="Amanda Head" userId="3622ac83-72fb-4480-aaff-0580f4ad655a" providerId="ADAL" clId="{6BBF4A71-3A44-5905-A51C-0BDCE69EAF34}" dt="2026-07-30T02:58:17.231" v="3" actId="20577"/>
          <ac:spMkLst>
            <pc:docMk/>
            <pc:sldMk cId="1615851915" sldId="348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6BBF4A71-3A44-5905-A51C-0BDCE69EAF34}" dt="2026-07-30T03:34:49.581" v="379" actId="20577"/>
        <pc:sldMkLst>
          <pc:docMk/>
          <pc:sldMk cId="3178559589" sldId="352"/>
        </pc:sldMkLst>
        <pc:spChg chg="mod">
          <ac:chgData name="Amanda Head" userId="3622ac83-72fb-4480-aaff-0580f4ad655a" providerId="ADAL" clId="{6BBF4A71-3A44-5905-A51C-0BDCE69EAF34}" dt="2026-07-30T03:34:49.581" v="379" actId="20577"/>
          <ac:spMkLst>
            <pc:docMk/>
            <pc:sldMk cId="3178559589" sldId="352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6BBF4A71-3A44-5905-A51C-0BDCE69EAF34}" dt="2026-07-30T04:39:09.660" v="452" actId="20577"/>
        <pc:sldMkLst>
          <pc:docMk/>
          <pc:sldMk cId="1315225398" sldId="353"/>
        </pc:sldMkLst>
        <pc:spChg chg="mod">
          <ac:chgData name="Amanda Head" userId="3622ac83-72fb-4480-aaff-0580f4ad655a" providerId="ADAL" clId="{6BBF4A71-3A44-5905-A51C-0BDCE69EAF34}" dt="2026-07-30T04:39:09.660" v="452" actId="20577"/>
          <ac:spMkLst>
            <pc:docMk/>
            <pc:sldMk cId="1315225398" sldId="353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6BBF4A71-3A44-5905-A51C-0BDCE69EAF34}" dt="2026-07-30T03:55:51.820" v="449" actId="20577"/>
        <pc:sldMkLst>
          <pc:docMk/>
          <pc:sldMk cId="3232241005" sldId="356"/>
        </pc:sldMkLst>
        <pc:spChg chg="mod">
          <ac:chgData name="Amanda Head" userId="3622ac83-72fb-4480-aaff-0580f4ad655a" providerId="ADAL" clId="{6BBF4A71-3A44-5905-A51C-0BDCE69EAF34}" dt="2026-07-30T03:55:51.820" v="449" actId="20577"/>
          <ac:spMkLst>
            <pc:docMk/>
            <pc:sldMk cId="3232241005" sldId="356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6BBF4A71-3A44-5905-A51C-0BDCE69EAF34}" dt="2026-07-30T03:52:20.039" v="448" actId="20577"/>
        <pc:sldMkLst>
          <pc:docMk/>
          <pc:sldMk cId="495421839" sldId="357"/>
        </pc:sldMkLst>
        <pc:graphicFrameChg chg="mod modGraphic">
          <ac:chgData name="Amanda Head" userId="3622ac83-72fb-4480-aaff-0580f4ad655a" providerId="ADAL" clId="{6BBF4A71-3A44-5905-A51C-0BDCE69EAF34}" dt="2026-07-30T03:52:20.039" v="448" actId="20577"/>
          <ac:graphicFrameMkLst>
            <pc:docMk/>
            <pc:sldMk cId="495421839" sldId="357"/>
            <ac:graphicFrameMk id="4" creationId="{E5517F74-F218-ADCB-BA50-82E796CEA978}"/>
          </ac:graphicFrameMkLst>
        </pc:graphicFrameChg>
      </pc:sldChg>
      <pc:sldChg chg="modSp mod">
        <pc:chgData name="Amanda Head" userId="3622ac83-72fb-4480-aaff-0580f4ad655a" providerId="ADAL" clId="{6BBF4A71-3A44-5905-A51C-0BDCE69EAF34}" dt="2026-07-30T04:02:43.568" v="451" actId="20577"/>
        <pc:sldMkLst>
          <pc:docMk/>
          <pc:sldMk cId="2528213470" sldId="358"/>
        </pc:sldMkLst>
        <pc:spChg chg="mod">
          <ac:chgData name="Amanda Head" userId="3622ac83-72fb-4480-aaff-0580f4ad655a" providerId="ADAL" clId="{6BBF4A71-3A44-5905-A51C-0BDCE69EAF34}" dt="2026-07-30T04:02:43.568" v="451" actId="20577"/>
          <ac:spMkLst>
            <pc:docMk/>
            <pc:sldMk cId="2528213470" sldId="358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6BBF4A71-3A44-5905-A51C-0BDCE69EAF34}" dt="2026-07-30T03:02:48.604" v="232" actId="20577"/>
        <pc:sldMkLst>
          <pc:docMk/>
          <pc:sldMk cId="2028590371" sldId="377"/>
        </pc:sldMkLst>
        <pc:spChg chg="mod">
          <ac:chgData name="Amanda Head" userId="3622ac83-72fb-4480-aaff-0580f4ad655a" providerId="ADAL" clId="{6BBF4A71-3A44-5905-A51C-0BDCE69EAF34}" dt="2026-07-30T02:58:53.730" v="9" actId="20577"/>
          <ac:spMkLst>
            <pc:docMk/>
            <pc:sldMk cId="2028590371" sldId="377"/>
            <ac:spMk id="2" creationId="{7C633885-878C-41C4-041C-71C45D70410B}"/>
          </ac:spMkLst>
        </pc:spChg>
        <pc:spChg chg="mod">
          <ac:chgData name="Amanda Head" userId="3622ac83-72fb-4480-aaff-0580f4ad655a" providerId="ADAL" clId="{6BBF4A71-3A44-5905-A51C-0BDCE69EAF34}" dt="2026-07-30T03:02:48.604" v="232" actId="20577"/>
          <ac:spMkLst>
            <pc:docMk/>
            <pc:sldMk cId="2028590371" sldId="377"/>
            <ac:spMk id="3" creationId="{6BE910D6-180F-8733-2B28-1F229B6068B8}"/>
          </ac:spMkLst>
        </pc:spChg>
      </pc:sldChg>
      <pc:sldChg chg="addSp modSp mod">
        <pc:chgData name="Amanda Head" userId="3622ac83-72fb-4480-aaff-0580f4ad655a" providerId="ADAL" clId="{6BBF4A71-3A44-5905-A51C-0BDCE69EAF34}" dt="2026-07-30T03:32:10.397" v="358" actId="20577"/>
        <pc:sldMkLst>
          <pc:docMk/>
          <pc:sldMk cId="1944401085" sldId="379"/>
        </pc:sldMkLst>
        <pc:spChg chg="add mod">
          <ac:chgData name="Amanda Head" userId="3622ac83-72fb-4480-aaff-0580f4ad655a" providerId="ADAL" clId="{6BBF4A71-3A44-5905-A51C-0BDCE69EAF34}" dt="2026-07-30T03:32:10.397" v="358" actId="20577"/>
          <ac:spMkLst>
            <pc:docMk/>
            <pc:sldMk cId="1944401085" sldId="379"/>
            <ac:spMk id="4" creationId="{CE7222C2-B666-719F-8D0E-3C762A806F7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597FAC-50BD-4CED-A669-9849B93CE6C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HK"/>
        </a:p>
      </dgm:t>
    </dgm:pt>
    <dgm:pt modelId="{75D79056-FACF-45D2-98CF-26597A14953A}">
      <dgm:prSet phldrT="[Text]" custT="1"/>
      <dgm:spPr/>
      <dgm:t>
        <a:bodyPr/>
        <a:lstStyle/>
        <a:p>
          <a:r>
            <a:rPr lang="en-HK" sz="3200" dirty="0">
              <a:latin typeface="+mn-lt"/>
              <a:cs typeface="Times New Roman" panose="02020603050405020304" pitchFamily="18" charset="0"/>
            </a:rPr>
            <a:t>Trespass</a:t>
          </a:r>
        </a:p>
      </dgm:t>
    </dgm:pt>
    <dgm:pt modelId="{283EC6BF-9533-4019-8C78-AFBE55408F6D}" type="parTrans" cxnId="{17562405-1114-48E0-9778-371FDDE4A8FC}">
      <dgm:prSet/>
      <dgm:spPr/>
      <dgm:t>
        <a:bodyPr/>
        <a:lstStyle/>
        <a:p>
          <a:endParaRPr lang="en-HK"/>
        </a:p>
      </dgm:t>
    </dgm:pt>
    <dgm:pt modelId="{2FE292B3-6BD6-473C-9D01-CD0D1DC0AB2D}" type="sibTrans" cxnId="{17562405-1114-48E0-9778-371FDDE4A8FC}">
      <dgm:prSet/>
      <dgm:spPr/>
      <dgm:t>
        <a:bodyPr/>
        <a:lstStyle/>
        <a:p>
          <a:endParaRPr lang="en-HK"/>
        </a:p>
      </dgm:t>
    </dgm:pt>
    <dgm:pt modelId="{C4F9357C-14D6-4266-8A3C-AD4B42921B97}">
      <dgm:prSet phldrT="[Text]" custT="1"/>
      <dgm:spPr>
        <a:solidFill>
          <a:srgbClr val="7030A0"/>
        </a:solidFill>
      </dgm:spPr>
      <dgm:t>
        <a:bodyPr/>
        <a:lstStyle/>
        <a:p>
          <a:r>
            <a:rPr lang="en-HK" sz="3200" dirty="0">
              <a:latin typeface="+mn-lt"/>
              <a:cs typeface="Times New Roman" panose="02020603050405020304" pitchFamily="18" charset="0"/>
            </a:rPr>
            <a:t>Negligence</a:t>
          </a:r>
          <a:r>
            <a:rPr lang="en-HK" sz="2800" dirty="0">
              <a:latin typeface="+mn-lt"/>
              <a:cs typeface="Times New Roman" panose="02020603050405020304" pitchFamily="18" charset="0"/>
            </a:rPr>
            <a:t> </a:t>
          </a:r>
        </a:p>
      </dgm:t>
    </dgm:pt>
    <dgm:pt modelId="{8FDA7DF5-CFED-474E-A260-47BF39AB5D1F}" type="parTrans" cxnId="{3110019C-17A2-4455-89E2-903D94A96877}">
      <dgm:prSet/>
      <dgm:spPr/>
      <dgm:t>
        <a:bodyPr/>
        <a:lstStyle/>
        <a:p>
          <a:endParaRPr lang="en-HK"/>
        </a:p>
      </dgm:t>
    </dgm:pt>
    <dgm:pt modelId="{973E4245-5E23-4489-BECB-9F2A128DDB9E}" type="sibTrans" cxnId="{3110019C-17A2-4455-89E2-903D94A96877}">
      <dgm:prSet/>
      <dgm:spPr/>
      <dgm:t>
        <a:bodyPr/>
        <a:lstStyle/>
        <a:p>
          <a:endParaRPr lang="en-HK"/>
        </a:p>
      </dgm:t>
    </dgm:pt>
    <dgm:pt modelId="{17FB2524-2879-4C4F-B67A-E85CED14117A}">
      <dgm:prSet phldrT="[Text]" custT="1"/>
      <dgm:spPr>
        <a:solidFill>
          <a:srgbClr val="00B050"/>
        </a:solidFill>
      </dgm:spPr>
      <dgm:t>
        <a:bodyPr/>
        <a:lstStyle/>
        <a:p>
          <a:r>
            <a:rPr lang="en-HK" sz="3200" dirty="0">
              <a:latin typeface="+mn-lt"/>
              <a:cs typeface="Times New Roman" panose="02020603050405020304" pitchFamily="18" charset="0"/>
            </a:rPr>
            <a:t>Defamation</a:t>
          </a:r>
        </a:p>
      </dgm:t>
    </dgm:pt>
    <dgm:pt modelId="{79AFF01A-839A-4DE9-B07C-3AD2074216A5}" type="parTrans" cxnId="{EF0143EB-17E0-4425-82A2-A24631486554}">
      <dgm:prSet/>
      <dgm:spPr/>
      <dgm:t>
        <a:bodyPr/>
        <a:lstStyle/>
        <a:p>
          <a:endParaRPr lang="en-HK"/>
        </a:p>
      </dgm:t>
    </dgm:pt>
    <dgm:pt modelId="{FECA2991-A6B3-4834-8204-F94CF76E4AB1}" type="sibTrans" cxnId="{EF0143EB-17E0-4425-82A2-A24631486554}">
      <dgm:prSet/>
      <dgm:spPr/>
      <dgm:t>
        <a:bodyPr/>
        <a:lstStyle/>
        <a:p>
          <a:endParaRPr lang="en-HK"/>
        </a:p>
      </dgm:t>
    </dgm:pt>
    <dgm:pt modelId="{F4F81847-233B-44E8-90DD-71B171624504}">
      <dgm:prSet phldrT="[Text]" custT="1"/>
      <dgm:spPr>
        <a:solidFill>
          <a:srgbClr val="00B0F0"/>
        </a:solidFill>
      </dgm:spPr>
      <dgm:t>
        <a:bodyPr/>
        <a:lstStyle/>
        <a:p>
          <a:r>
            <a:rPr lang="en-HK" sz="3200" dirty="0">
              <a:latin typeface="+mn-lt"/>
              <a:cs typeface="Times New Roman" panose="02020603050405020304" pitchFamily="18" charset="0"/>
            </a:rPr>
            <a:t>Strict liability</a:t>
          </a:r>
        </a:p>
      </dgm:t>
    </dgm:pt>
    <dgm:pt modelId="{CFD7BD8B-35F4-4B28-8EBE-3A59378A5011}" type="parTrans" cxnId="{662FBD7D-5763-4C04-BE6D-12FCCA129BF2}">
      <dgm:prSet/>
      <dgm:spPr/>
      <dgm:t>
        <a:bodyPr/>
        <a:lstStyle/>
        <a:p>
          <a:endParaRPr lang="en-HK"/>
        </a:p>
      </dgm:t>
    </dgm:pt>
    <dgm:pt modelId="{3869DF63-68B4-4A36-A70A-D4CF2D2DDE40}" type="sibTrans" cxnId="{662FBD7D-5763-4C04-BE6D-12FCCA129BF2}">
      <dgm:prSet/>
      <dgm:spPr/>
      <dgm:t>
        <a:bodyPr/>
        <a:lstStyle/>
        <a:p>
          <a:endParaRPr lang="en-HK"/>
        </a:p>
      </dgm:t>
    </dgm:pt>
    <dgm:pt modelId="{1FE3A89A-A25E-442C-97C3-FB2DD65BCB69}">
      <dgm:prSet phldrT="[Text]" custT="1"/>
      <dgm:spPr>
        <a:solidFill>
          <a:srgbClr val="FFC000"/>
        </a:solidFill>
      </dgm:spPr>
      <dgm:t>
        <a:bodyPr/>
        <a:lstStyle/>
        <a:p>
          <a:r>
            <a:rPr lang="en-HK" sz="3200" dirty="0">
              <a:latin typeface="+mn-lt"/>
              <a:cs typeface="Times New Roman" panose="02020603050405020304" pitchFamily="18" charset="0"/>
            </a:rPr>
            <a:t>Nuisance </a:t>
          </a:r>
        </a:p>
      </dgm:t>
    </dgm:pt>
    <dgm:pt modelId="{72BD112B-548D-4B5C-AB8B-9C68710FF6C8}" type="sibTrans" cxnId="{709A7A5F-BC98-4AE6-B6DB-AED1FCE18DBA}">
      <dgm:prSet/>
      <dgm:spPr/>
      <dgm:t>
        <a:bodyPr/>
        <a:lstStyle/>
        <a:p>
          <a:endParaRPr lang="en-HK"/>
        </a:p>
      </dgm:t>
    </dgm:pt>
    <dgm:pt modelId="{B254F39F-7981-4F3C-8DE1-EE2A4A5BCCBD}" type="parTrans" cxnId="{709A7A5F-BC98-4AE6-B6DB-AED1FCE18DBA}">
      <dgm:prSet/>
      <dgm:spPr/>
      <dgm:t>
        <a:bodyPr/>
        <a:lstStyle/>
        <a:p>
          <a:endParaRPr lang="en-HK"/>
        </a:p>
      </dgm:t>
    </dgm:pt>
    <dgm:pt modelId="{9D0321BA-27B4-435A-94D8-F9C538CB4173}" type="pres">
      <dgm:prSet presAssocID="{11597FAC-50BD-4CED-A669-9849B93CE6CD}" presName="diagram" presStyleCnt="0">
        <dgm:presLayoutVars>
          <dgm:dir/>
          <dgm:resizeHandles val="exact"/>
        </dgm:presLayoutVars>
      </dgm:prSet>
      <dgm:spPr/>
    </dgm:pt>
    <dgm:pt modelId="{D9DDAF64-023F-4079-8E7E-6F453D4054D5}" type="pres">
      <dgm:prSet presAssocID="{75D79056-FACF-45D2-98CF-26597A14953A}" presName="node" presStyleLbl="node1" presStyleIdx="0" presStyleCnt="5">
        <dgm:presLayoutVars>
          <dgm:bulletEnabled val="1"/>
        </dgm:presLayoutVars>
      </dgm:prSet>
      <dgm:spPr/>
    </dgm:pt>
    <dgm:pt modelId="{1CDFA18E-2142-43A8-BC22-09E7D299445E}" type="pres">
      <dgm:prSet presAssocID="{2FE292B3-6BD6-473C-9D01-CD0D1DC0AB2D}" presName="sibTrans" presStyleCnt="0"/>
      <dgm:spPr/>
    </dgm:pt>
    <dgm:pt modelId="{E7D06C34-A31E-408C-96EA-4AE0CB113C0A}" type="pres">
      <dgm:prSet presAssocID="{C4F9357C-14D6-4266-8A3C-AD4B42921B97}" presName="node" presStyleLbl="node1" presStyleIdx="1" presStyleCnt="5">
        <dgm:presLayoutVars>
          <dgm:bulletEnabled val="1"/>
        </dgm:presLayoutVars>
      </dgm:prSet>
      <dgm:spPr/>
    </dgm:pt>
    <dgm:pt modelId="{3CB4FC21-A89F-4561-90B5-252238E4D935}" type="pres">
      <dgm:prSet presAssocID="{973E4245-5E23-4489-BECB-9F2A128DDB9E}" presName="sibTrans" presStyleCnt="0"/>
      <dgm:spPr/>
    </dgm:pt>
    <dgm:pt modelId="{ED2D563B-D017-479C-A553-232648B784E3}" type="pres">
      <dgm:prSet presAssocID="{17FB2524-2879-4C4F-B67A-E85CED14117A}" presName="node" presStyleLbl="node1" presStyleIdx="2" presStyleCnt="5">
        <dgm:presLayoutVars>
          <dgm:bulletEnabled val="1"/>
        </dgm:presLayoutVars>
      </dgm:prSet>
      <dgm:spPr/>
    </dgm:pt>
    <dgm:pt modelId="{FB94CF10-8387-4688-AD68-7F095A1A63E3}" type="pres">
      <dgm:prSet presAssocID="{FECA2991-A6B3-4834-8204-F94CF76E4AB1}" presName="sibTrans" presStyleCnt="0"/>
      <dgm:spPr/>
    </dgm:pt>
    <dgm:pt modelId="{3F9A281C-9E91-43E5-8810-01618FD99976}" type="pres">
      <dgm:prSet presAssocID="{F4F81847-233B-44E8-90DD-71B171624504}" presName="node" presStyleLbl="node1" presStyleIdx="3" presStyleCnt="5">
        <dgm:presLayoutVars>
          <dgm:bulletEnabled val="1"/>
        </dgm:presLayoutVars>
      </dgm:prSet>
      <dgm:spPr/>
    </dgm:pt>
    <dgm:pt modelId="{11A8A120-037D-4AAE-9670-240AF91C72AB}" type="pres">
      <dgm:prSet presAssocID="{3869DF63-68B4-4A36-A70A-D4CF2D2DDE40}" presName="sibTrans" presStyleCnt="0"/>
      <dgm:spPr/>
    </dgm:pt>
    <dgm:pt modelId="{F5179711-0F7A-4884-A921-087580D42390}" type="pres">
      <dgm:prSet presAssocID="{1FE3A89A-A25E-442C-97C3-FB2DD65BCB69}" presName="node" presStyleLbl="node1" presStyleIdx="4" presStyleCnt="5">
        <dgm:presLayoutVars>
          <dgm:bulletEnabled val="1"/>
        </dgm:presLayoutVars>
      </dgm:prSet>
      <dgm:spPr/>
    </dgm:pt>
  </dgm:ptLst>
  <dgm:cxnLst>
    <dgm:cxn modelId="{17562405-1114-48E0-9778-371FDDE4A8FC}" srcId="{11597FAC-50BD-4CED-A669-9849B93CE6CD}" destId="{75D79056-FACF-45D2-98CF-26597A14953A}" srcOrd="0" destOrd="0" parTransId="{283EC6BF-9533-4019-8C78-AFBE55408F6D}" sibTransId="{2FE292B3-6BD6-473C-9D01-CD0D1DC0AB2D}"/>
    <dgm:cxn modelId="{25FF4522-FEFC-4D0D-AA26-8FFC4A26014E}" type="presOf" srcId="{75D79056-FACF-45D2-98CF-26597A14953A}" destId="{D9DDAF64-023F-4079-8E7E-6F453D4054D5}" srcOrd="0" destOrd="0" presId="urn:microsoft.com/office/officeart/2005/8/layout/default"/>
    <dgm:cxn modelId="{E8C01933-6A4C-4055-975E-21EEFE34E663}" type="presOf" srcId="{11597FAC-50BD-4CED-A669-9849B93CE6CD}" destId="{9D0321BA-27B4-435A-94D8-F9C538CB4173}" srcOrd="0" destOrd="0" presId="urn:microsoft.com/office/officeart/2005/8/layout/default"/>
    <dgm:cxn modelId="{2021A64D-D97A-450C-8707-4BFB31E29A0F}" type="presOf" srcId="{17FB2524-2879-4C4F-B67A-E85CED14117A}" destId="{ED2D563B-D017-479C-A553-232648B784E3}" srcOrd="0" destOrd="0" presId="urn:microsoft.com/office/officeart/2005/8/layout/default"/>
    <dgm:cxn modelId="{709A7A5F-BC98-4AE6-B6DB-AED1FCE18DBA}" srcId="{11597FAC-50BD-4CED-A669-9849B93CE6CD}" destId="{1FE3A89A-A25E-442C-97C3-FB2DD65BCB69}" srcOrd="4" destOrd="0" parTransId="{B254F39F-7981-4F3C-8DE1-EE2A4A5BCCBD}" sibTransId="{72BD112B-548D-4B5C-AB8B-9C68710FF6C8}"/>
    <dgm:cxn modelId="{662FBD7D-5763-4C04-BE6D-12FCCA129BF2}" srcId="{11597FAC-50BD-4CED-A669-9849B93CE6CD}" destId="{F4F81847-233B-44E8-90DD-71B171624504}" srcOrd="3" destOrd="0" parTransId="{CFD7BD8B-35F4-4B28-8EBE-3A59378A5011}" sibTransId="{3869DF63-68B4-4A36-A70A-D4CF2D2DDE40}"/>
    <dgm:cxn modelId="{C13B2984-4B07-4163-99A4-95FE31AB7DD6}" type="presOf" srcId="{F4F81847-233B-44E8-90DD-71B171624504}" destId="{3F9A281C-9E91-43E5-8810-01618FD99976}" srcOrd="0" destOrd="0" presId="urn:microsoft.com/office/officeart/2005/8/layout/default"/>
    <dgm:cxn modelId="{30C52E98-6456-4E25-B206-CB01F97C9BAC}" type="presOf" srcId="{1FE3A89A-A25E-442C-97C3-FB2DD65BCB69}" destId="{F5179711-0F7A-4884-A921-087580D42390}" srcOrd="0" destOrd="0" presId="urn:microsoft.com/office/officeart/2005/8/layout/default"/>
    <dgm:cxn modelId="{3110019C-17A2-4455-89E2-903D94A96877}" srcId="{11597FAC-50BD-4CED-A669-9849B93CE6CD}" destId="{C4F9357C-14D6-4266-8A3C-AD4B42921B97}" srcOrd="1" destOrd="0" parTransId="{8FDA7DF5-CFED-474E-A260-47BF39AB5D1F}" sibTransId="{973E4245-5E23-4489-BECB-9F2A128DDB9E}"/>
    <dgm:cxn modelId="{A74FD2AE-77A5-4ECC-8520-18344013C22F}" type="presOf" srcId="{C4F9357C-14D6-4266-8A3C-AD4B42921B97}" destId="{E7D06C34-A31E-408C-96EA-4AE0CB113C0A}" srcOrd="0" destOrd="0" presId="urn:microsoft.com/office/officeart/2005/8/layout/default"/>
    <dgm:cxn modelId="{EF0143EB-17E0-4425-82A2-A24631486554}" srcId="{11597FAC-50BD-4CED-A669-9849B93CE6CD}" destId="{17FB2524-2879-4C4F-B67A-E85CED14117A}" srcOrd="2" destOrd="0" parTransId="{79AFF01A-839A-4DE9-B07C-3AD2074216A5}" sibTransId="{FECA2991-A6B3-4834-8204-F94CF76E4AB1}"/>
    <dgm:cxn modelId="{D35FE37A-60C1-4C8A-B08F-4E8283FFF520}" type="presParOf" srcId="{9D0321BA-27B4-435A-94D8-F9C538CB4173}" destId="{D9DDAF64-023F-4079-8E7E-6F453D4054D5}" srcOrd="0" destOrd="0" presId="urn:microsoft.com/office/officeart/2005/8/layout/default"/>
    <dgm:cxn modelId="{D48B0584-652D-4CF2-879B-A017B2A55F4B}" type="presParOf" srcId="{9D0321BA-27B4-435A-94D8-F9C538CB4173}" destId="{1CDFA18E-2142-43A8-BC22-09E7D299445E}" srcOrd="1" destOrd="0" presId="urn:microsoft.com/office/officeart/2005/8/layout/default"/>
    <dgm:cxn modelId="{433BA007-8310-490E-A3AA-C6E5814E6BA7}" type="presParOf" srcId="{9D0321BA-27B4-435A-94D8-F9C538CB4173}" destId="{E7D06C34-A31E-408C-96EA-4AE0CB113C0A}" srcOrd="2" destOrd="0" presId="urn:microsoft.com/office/officeart/2005/8/layout/default"/>
    <dgm:cxn modelId="{BCE97D86-E2A7-49E9-B336-4C44C90745C9}" type="presParOf" srcId="{9D0321BA-27B4-435A-94D8-F9C538CB4173}" destId="{3CB4FC21-A89F-4561-90B5-252238E4D935}" srcOrd="3" destOrd="0" presId="urn:microsoft.com/office/officeart/2005/8/layout/default"/>
    <dgm:cxn modelId="{B804C4A5-FC42-4428-850B-DFCF277D6B7D}" type="presParOf" srcId="{9D0321BA-27B4-435A-94D8-F9C538CB4173}" destId="{ED2D563B-D017-479C-A553-232648B784E3}" srcOrd="4" destOrd="0" presId="urn:microsoft.com/office/officeart/2005/8/layout/default"/>
    <dgm:cxn modelId="{CA7EC53B-9CAC-49CA-87D8-0FED9F1FF2DC}" type="presParOf" srcId="{9D0321BA-27B4-435A-94D8-F9C538CB4173}" destId="{FB94CF10-8387-4688-AD68-7F095A1A63E3}" srcOrd="5" destOrd="0" presId="urn:microsoft.com/office/officeart/2005/8/layout/default"/>
    <dgm:cxn modelId="{B152F5F3-4CB8-4AE0-9035-43A2C7A905F1}" type="presParOf" srcId="{9D0321BA-27B4-435A-94D8-F9C538CB4173}" destId="{3F9A281C-9E91-43E5-8810-01618FD99976}" srcOrd="6" destOrd="0" presId="urn:microsoft.com/office/officeart/2005/8/layout/default"/>
    <dgm:cxn modelId="{788A4C02-7733-4D82-9FFA-44BA6387ADE0}" type="presParOf" srcId="{9D0321BA-27B4-435A-94D8-F9C538CB4173}" destId="{11A8A120-037D-4AAE-9670-240AF91C72AB}" srcOrd="7" destOrd="0" presId="urn:microsoft.com/office/officeart/2005/8/layout/default"/>
    <dgm:cxn modelId="{B9C3E153-AD08-463D-BC04-B1A30295D447}" type="presParOf" srcId="{9D0321BA-27B4-435A-94D8-F9C538CB4173}" destId="{F5179711-0F7A-4884-A921-087580D42390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DDAF64-023F-4079-8E7E-6F453D4054D5}">
      <dsp:nvSpPr>
        <dsp:cNvPr id="0" name=""/>
        <dsp:cNvSpPr/>
      </dsp:nvSpPr>
      <dsp:spPr>
        <a:xfrm>
          <a:off x="0" y="193886"/>
          <a:ext cx="2539999" cy="152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3200" kern="1200" dirty="0">
              <a:latin typeface="+mn-lt"/>
              <a:cs typeface="Times New Roman" panose="02020603050405020304" pitchFamily="18" charset="0"/>
            </a:rPr>
            <a:t>Trespass</a:t>
          </a:r>
        </a:p>
      </dsp:txBody>
      <dsp:txXfrm>
        <a:off x="0" y="193886"/>
        <a:ext cx="2539999" cy="1524000"/>
      </dsp:txXfrm>
    </dsp:sp>
    <dsp:sp modelId="{E7D06C34-A31E-408C-96EA-4AE0CB113C0A}">
      <dsp:nvSpPr>
        <dsp:cNvPr id="0" name=""/>
        <dsp:cNvSpPr/>
      </dsp:nvSpPr>
      <dsp:spPr>
        <a:xfrm>
          <a:off x="2794000" y="193886"/>
          <a:ext cx="2539999" cy="1524000"/>
        </a:xfrm>
        <a:prstGeom prst="rect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3200" kern="1200" dirty="0">
              <a:latin typeface="+mn-lt"/>
              <a:cs typeface="Times New Roman" panose="02020603050405020304" pitchFamily="18" charset="0"/>
            </a:rPr>
            <a:t>Negligence</a:t>
          </a:r>
          <a:r>
            <a:rPr lang="en-HK" sz="2800" kern="1200" dirty="0">
              <a:latin typeface="+mn-lt"/>
              <a:cs typeface="Times New Roman" panose="02020603050405020304" pitchFamily="18" charset="0"/>
            </a:rPr>
            <a:t> </a:t>
          </a:r>
        </a:p>
      </dsp:txBody>
      <dsp:txXfrm>
        <a:off x="2794000" y="193886"/>
        <a:ext cx="2539999" cy="1524000"/>
      </dsp:txXfrm>
    </dsp:sp>
    <dsp:sp modelId="{ED2D563B-D017-479C-A553-232648B784E3}">
      <dsp:nvSpPr>
        <dsp:cNvPr id="0" name=""/>
        <dsp:cNvSpPr/>
      </dsp:nvSpPr>
      <dsp:spPr>
        <a:xfrm>
          <a:off x="5587999" y="193886"/>
          <a:ext cx="2539999" cy="1524000"/>
        </a:xfrm>
        <a:prstGeom prst="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3200" kern="1200" dirty="0">
              <a:latin typeface="+mn-lt"/>
              <a:cs typeface="Times New Roman" panose="02020603050405020304" pitchFamily="18" charset="0"/>
            </a:rPr>
            <a:t>Defamation</a:t>
          </a:r>
        </a:p>
      </dsp:txBody>
      <dsp:txXfrm>
        <a:off x="5587999" y="193886"/>
        <a:ext cx="2539999" cy="1524000"/>
      </dsp:txXfrm>
    </dsp:sp>
    <dsp:sp modelId="{3F9A281C-9E91-43E5-8810-01618FD99976}">
      <dsp:nvSpPr>
        <dsp:cNvPr id="0" name=""/>
        <dsp:cNvSpPr/>
      </dsp:nvSpPr>
      <dsp:spPr>
        <a:xfrm>
          <a:off x="1397000" y="1971886"/>
          <a:ext cx="2539999" cy="1524000"/>
        </a:xfrm>
        <a:prstGeom prst="rect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3200" kern="1200" dirty="0">
              <a:latin typeface="+mn-lt"/>
              <a:cs typeface="Times New Roman" panose="02020603050405020304" pitchFamily="18" charset="0"/>
            </a:rPr>
            <a:t>Strict liability</a:t>
          </a:r>
        </a:p>
      </dsp:txBody>
      <dsp:txXfrm>
        <a:off x="1397000" y="1971886"/>
        <a:ext cx="2539999" cy="1524000"/>
      </dsp:txXfrm>
    </dsp:sp>
    <dsp:sp modelId="{F5179711-0F7A-4884-A921-087580D42390}">
      <dsp:nvSpPr>
        <dsp:cNvPr id="0" name=""/>
        <dsp:cNvSpPr/>
      </dsp:nvSpPr>
      <dsp:spPr>
        <a:xfrm>
          <a:off x="4191000" y="1971886"/>
          <a:ext cx="2539999" cy="1524000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3200" kern="1200" dirty="0">
              <a:latin typeface="+mn-lt"/>
              <a:cs typeface="Times New Roman" panose="02020603050405020304" pitchFamily="18" charset="0"/>
            </a:rPr>
            <a:t>Nuisance </a:t>
          </a:r>
        </a:p>
      </dsp:txBody>
      <dsp:txXfrm>
        <a:off x="4191000" y="1971886"/>
        <a:ext cx="2539999" cy="1524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761F64-24A3-47F5-8A3C-C1A55F2765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CF9FD7-5F19-4302-897E-687657C26A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EFBBB-0FE0-4C79-99F2-94106FE31639}" type="datetimeFigureOut">
              <a:rPr lang="en-AU" smtClean="0"/>
              <a:t>30/7/2026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09924-3CCC-4429-B913-306C3F0A09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EA83F-F2DC-46D7-B696-662122F59A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C4DC0-EA1F-4BE8-BE5B-D0247039CF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8410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BC296-011A-4286-8D88-FBCD11477F2B}" type="datetimeFigureOut">
              <a:rPr lang="en-AU" smtClean="0"/>
              <a:t>30/7/2026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142E5-A706-4C60-B43E-D82CA518B0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8740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0AC98-8E30-490D-A639-38DF0F70C274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8902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5394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7472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6757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1184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9872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25960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0143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2796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4084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21576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213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4812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31713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529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24429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4854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65247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7940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8188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63"/>
          <a:stretch/>
        </p:blipFill>
        <p:spPr>
          <a:xfrm>
            <a:off x="241904" y="3067670"/>
            <a:ext cx="11710747" cy="3611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F52CFF-C49E-FB47-9FC2-54AD48C78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88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2" name="Rectangle 1"/>
          <p:cNvSpPr/>
          <p:nvPr/>
        </p:nvSpPr>
        <p:spPr>
          <a:xfrm>
            <a:off x="241904" y="3062172"/>
            <a:ext cx="4722971" cy="36330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Picture Placeholder 9" descr="Section_Image.jpg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03" t="15468" r="100" b="1049"/>
          <a:stretch/>
        </p:blipFill>
        <p:spPr>
          <a:xfrm>
            <a:off x="4964875" y="3062172"/>
            <a:ext cx="6987287" cy="3632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959" y="3448840"/>
            <a:ext cx="1943987" cy="32399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96" y="5910035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A9269F-011F-4649-845C-08AE05BE9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6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1428" y="181429"/>
            <a:ext cx="1170333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pic>
        <p:nvPicPr>
          <p:cNvPr id="9" name="Picture Placeholder 9" descr="Section_Image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 t="15597" r="462" b="1605"/>
          <a:stretch/>
        </p:blipFill>
        <p:spPr>
          <a:xfrm>
            <a:off x="251429" y="1257301"/>
            <a:ext cx="11706850" cy="5419724"/>
          </a:xfrm>
          <a:prstGeom prst="rect">
            <a:avLst/>
          </a:prstGeom>
          <a:ln>
            <a:noFill/>
          </a:ln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20000" y="2863019"/>
            <a:ext cx="8045752" cy="608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3485114"/>
            <a:ext cx="6407150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05" y="5842000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457" y="3502203"/>
            <a:ext cx="3174822" cy="31748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9B8C79-07FC-2444-B397-BBCDB3F9F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0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41904" y="181429"/>
            <a:ext cx="11710800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608410" y="6183276"/>
            <a:ext cx="577266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 hasCustomPrompt="1"/>
          </p:nvPr>
        </p:nvSpPr>
        <p:spPr>
          <a:xfrm>
            <a:off x="5639120" y="2708920"/>
            <a:ext cx="5665556" cy="64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AU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5638360" y="3357564"/>
            <a:ext cx="5666316" cy="503237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9" name="Picture 8" descr="MAC21_190.5x254_PowerPoint_Images_Cov v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5" y="0"/>
            <a:ext cx="4383024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F0B494-A7A4-6F4C-8E15-141F578E0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27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10800001" cy="45259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04664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914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16253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720000" y="1620000"/>
            <a:ext cx="10776675" cy="452437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3392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759075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38668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28980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 lIns="0" tIns="0" rIns="0" bIns="0"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25430"/>
          </a:xfrm>
        </p:spPr>
        <p:txBody>
          <a:bodyPr lIns="0" tIns="0" rIns="0" bIns="0"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2484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</p:spTree>
    <p:extLst>
      <p:ext uri="{BB962C8B-B14F-4D97-AF65-F5344CB8AC3E}">
        <p14:creationId xmlns:p14="http://schemas.microsoft.com/office/powerpoint/2010/main" val="264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7200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3624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9029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012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151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20000" y="1620000"/>
            <a:ext cx="10752000" cy="4525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998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3392" y="6309321"/>
            <a:ext cx="54726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09321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77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01277" y="571501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2186930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720000" y="1620000"/>
            <a:ext cx="8507963" cy="4490720"/>
          </a:xfrm>
        </p:spPr>
        <p:txBody>
          <a:bodyPr>
            <a:noAutofit/>
          </a:bodyPr>
          <a:lstStyle>
            <a:lvl7pPr>
              <a:buNone/>
              <a:defRPr/>
            </a:lvl7pPr>
            <a:lvl8pPr>
              <a:buNone/>
              <a:defRPr/>
            </a:lvl8pPr>
          </a:lstStyle>
          <a:p>
            <a:r>
              <a:rPr lang="en-US" b="1" dirty="0">
                <a:solidFill>
                  <a:srgbClr val="6D0020"/>
                </a:solidFill>
              </a:rPr>
              <a:t>HEADER INFO</a:t>
            </a:r>
          </a:p>
          <a:p>
            <a:r>
              <a:rPr lang="en-US" dirty="0" err="1">
                <a:latin typeface="Georgia"/>
                <a:cs typeface="Georgia"/>
              </a:rPr>
              <a:t>Consectetur</a:t>
            </a:r>
            <a:r>
              <a:rPr lang="en-US" dirty="0">
                <a:latin typeface="Georgia"/>
                <a:cs typeface="Georgia"/>
              </a:rPr>
              <a:t>  met </a:t>
            </a:r>
            <a:r>
              <a:rPr lang="en-US" dirty="0" err="1">
                <a:latin typeface="Georgia"/>
                <a:cs typeface="Georgia"/>
              </a:rPr>
              <a:t>adipiscing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. </a:t>
            </a:r>
            <a:r>
              <a:rPr lang="en-US" dirty="0" err="1">
                <a:latin typeface="Georgia"/>
                <a:cs typeface="Georgia"/>
              </a:rPr>
              <a:t>Aenean</a:t>
            </a:r>
            <a:r>
              <a:rPr lang="en-US" dirty="0">
                <a:latin typeface="Georgia"/>
                <a:cs typeface="Georgia"/>
              </a:rPr>
              <a:t> ac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a </a:t>
            </a:r>
            <a:r>
              <a:rPr lang="en-US" dirty="0" err="1">
                <a:latin typeface="Georgia"/>
                <a:cs typeface="Georgia"/>
              </a:rPr>
              <a:t>felis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pharetra</a:t>
            </a:r>
            <a:r>
              <a:rPr lang="en-US" dirty="0">
                <a:latin typeface="Georgia"/>
                <a:cs typeface="Georgia"/>
              </a:rPr>
              <a:t>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 err="1">
                <a:latin typeface="Georgia"/>
                <a:cs typeface="Georgia"/>
              </a:rPr>
              <a:t>vel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Fringilla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Duis</a:t>
            </a:r>
            <a:r>
              <a:rPr lang="en-US" dirty="0">
                <a:latin typeface="Georgia"/>
                <a:cs typeface="Georgia"/>
              </a:rPr>
              <a:t> dui </a:t>
            </a:r>
            <a:r>
              <a:rPr lang="en-US" dirty="0" err="1">
                <a:latin typeface="Georgia"/>
                <a:cs typeface="Georgia"/>
              </a:rPr>
              <a:t>arcu</a:t>
            </a:r>
            <a:r>
              <a:rPr lang="en-US" dirty="0">
                <a:latin typeface="Georgia"/>
                <a:cs typeface="Georgia"/>
              </a:rPr>
              <a:t>,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scelerisque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nec</a:t>
            </a:r>
            <a:r>
              <a:rPr lang="en-US" dirty="0">
                <a:latin typeface="Georgia"/>
                <a:cs typeface="Georgia"/>
              </a:rPr>
              <a:t> dictum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>
                <a:latin typeface="Georgia"/>
                <a:cs typeface="Georgia"/>
              </a:rPr>
              <a:t>ac </a:t>
            </a:r>
            <a:r>
              <a:rPr lang="en-US" dirty="0" err="1">
                <a:latin typeface="Georgia"/>
                <a:cs typeface="Georgia"/>
              </a:rPr>
              <a:t>conse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eu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Donec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tincid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unt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enim</a:t>
            </a:r>
            <a:r>
              <a:rPr lang="en-US" dirty="0">
                <a:latin typeface="Georgia"/>
                <a:cs typeface="Georgia"/>
              </a:rPr>
              <a:t> sit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consequat</a:t>
            </a:r>
            <a:r>
              <a:rPr lang="en-US" dirty="0">
                <a:latin typeface="Georgia"/>
                <a:cs typeface="Georgia"/>
              </a:rPr>
              <a:t>.</a:t>
            </a:r>
          </a:p>
          <a:p>
            <a:pPr>
              <a:buFont typeface="Arial"/>
              <a:buChar char="•"/>
            </a:pPr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7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pPr marL="342900" lvl="7" indent="0"/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6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endParaRPr lang="en-US" dirty="0">
              <a:latin typeface="Georgia"/>
              <a:cs typeface="Georgia"/>
            </a:endParaRPr>
          </a:p>
          <a:p>
            <a:endParaRPr 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458276" cy="434305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0507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29F5C7-1EDD-4D4F-B3EB-31F227D9F42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620000"/>
            <a:ext cx="10800001" cy="45259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0000" y="6309321"/>
            <a:ext cx="540067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51875" y="6309321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/>
          <p:cNvPicPr preferRelativeResize="0"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368000"/>
            <a:ext cx="10800000" cy="12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600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9" r:id="rId1"/>
    <p:sldLayoutId id="2147484640" r:id="rId2"/>
    <p:sldLayoutId id="2147484641" r:id="rId3"/>
    <p:sldLayoutId id="2147484642" r:id="rId4"/>
    <p:sldLayoutId id="2147484643" r:id="rId5"/>
    <p:sldLayoutId id="2147484644" r:id="rId6"/>
    <p:sldLayoutId id="2147484645" r:id="rId7"/>
    <p:sldLayoutId id="2147484646" r:id="rId8"/>
    <p:sldLayoutId id="2147484647" r:id="rId9"/>
    <p:sldLayoutId id="2147484648" r:id="rId10"/>
    <p:sldLayoutId id="2147484649" r:id="rId11"/>
    <p:sldLayoutId id="2147484650" r:id="rId12"/>
    <p:sldLayoutId id="2147484651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4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mcourts.gov.au/file/Federal/P/VID1479/2025/actions" TargetMode="Externa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836784"/>
            <a:ext cx="8544000" cy="648000"/>
          </a:xfrm>
        </p:spPr>
        <p:txBody>
          <a:bodyPr>
            <a:noAutofit/>
          </a:bodyPr>
          <a:lstStyle/>
          <a:p>
            <a:r>
              <a:rPr lang="en-AU" b="1" dirty="0">
                <a:latin typeface="+mn-lt"/>
                <a:cs typeface="Times New Roman" panose="02020603050405020304" pitchFamily="18" charset="0"/>
              </a:rPr>
              <a:t>LAWS2400 / LAWS8040 – Torts</a:t>
            </a:r>
            <a:br>
              <a:rPr lang="en-AU" b="1" dirty="0">
                <a:latin typeface="+mn-lt"/>
                <a:cs typeface="Times New Roman" panose="02020603050405020304" pitchFamily="18" charset="0"/>
              </a:rPr>
            </a:br>
            <a:br>
              <a:rPr lang="en-AU" b="1" dirty="0">
                <a:latin typeface="+mn-lt"/>
                <a:cs typeface="Times New Roman" panose="02020603050405020304" pitchFamily="18" charset="0"/>
              </a:rPr>
            </a:br>
            <a:r>
              <a:rPr lang="en-AU" dirty="0">
                <a:latin typeface="+mn-lt"/>
                <a:cs typeface="Times New Roman" panose="02020603050405020304" pitchFamily="18" charset="0"/>
              </a:rPr>
              <a:t>Topic 1 Lecture 1</a:t>
            </a:r>
            <a:br>
              <a:rPr lang="en-AU" b="1" dirty="0">
                <a:latin typeface="+mn-lt"/>
                <a:cs typeface="Times New Roman" panose="02020603050405020304" pitchFamily="18" charset="0"/>
              </a:rPr>
            </a:br>
            <a:r>
              <a:rPr lang="en-AU" b="1" i="1" dirty="0">
                <a:latin typeface="+mn-lt"/>
                <a:cs typeface="Times New Roman" panose="02020603050405020304" pitchFamily="18" charset="0"/>
              </a:rPr>
              <a:t>Introduction to Torts</a:t>
            </a:r>
            <a:br>
              <a:rPr lang="en-AU" b="1" dirty="0">
                <a:latin typeface="+mn-lt"/>
                <a:cs typeface="Times New Roman" panose="02020603050405020304" pitchFamily="18" charset="0"/>
              </a:rPr>
            </a:br>
            <a:br>
              <a:rPr lang="en-AU" b="1" dirty="0">
                <a:latin typeface="+mn-lt"/>
                <a:cs typeface="Times New Roman" panose="02020603050405020304" pitchFamily="18" charset="0"/>
              </a:rPr>
            </a:br>
            <a:endParaRPr lang="en-AU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476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E700-BEAF-3248-A54C-F5BEBA340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4637"/>
            <a:ext cx="8458276" cy="89494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Outline: Topic 1 Lecture 1</a:t>
            </a:r>
            <a:endParaRPr lang="en-US" dirty="0">
              <a:solidFill>
                <a:srgbClr val="C0000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C9E6F-2A4A-EC4A-903A-6B54DA7E0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669311"/>
            <a:ext cx="11116400" cy="4822929"/>
          </a:xfrm>
        </p:spPr>
        <p:txBody>
          <a:bodyPr>
            <a:noAutofit/>
          </a:bodyPr>
          <a:lstStyle/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HK" sz="2400" b="1" dirty="0">
                <a:cs typeface="Times New Roman" panose="02020603050405020304" pitchFamily="18" charset="0"/>
              </a:rPr>
              <a:t>Learning logistics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HK" sz="2400" b="1" dirty="0">
                <a:cs typeface="Times New Roman" panose="02020603050405020304" pitchFamily="18" charset="0"/>
              </a:rPr>
              <a:t>Defining tort law 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HK" sz="2400" b="1" dirty="0">
                <a:cs typeface="Times New Roman" panose="02020603050405020304" pitchFamily="18" charset="0"/>
              </a:rPr>
              <a:t>Tort law and other laws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HK" sz="2400" b="1" dirty="0">
                <a:cs typeface="Times New Roman" panose="02020603050405020304" pitchFamily="18" charset="0"/>
              </a:rPr>
              <a:t>Theories about the role of tort law in society</a:t>
            </a:r>
          </a:p>
          <a:p>
            <a:pPr marL="971550" lvl="1" indent="-514350">
              <a:buFont typeface="+mj-lt"/>
              <a:buAutoNum type="arabicPeriod"/>
            </a:pPr>
            <a:endParaRPr lang="en-H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458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Learning logistics </a:t>
            </a:r>
            <a:r>
              <a:rPr lang="en-US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1045280" cy="50749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u="sng" dirty="0">
                <a:solidFill>
                  <a:srgbClr val="008000"/>
                </a:solidFill>
                <a:cs typeface="Times New Roman" panose="02020603050405020304" pitchFamily="18" charset="0"/>
              </a:rPr>
              <a:t>Pedagogy 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cs typeface="Times New Roman" panose="02020603050405020304" pitchFamily="18" charset="0"/>
              </a:rPr>
              <a:t>Teaching tort law </a:t>
            </a:r>
            <a:r>
              <a:rPr lang="en-US" sz="2400" i="1" dirty="0">
                <a:cs typeface="Times New Roman" panose="02020603050405020304" pitchFamily="18" charset="0"/>
              </a:rPr>
              <a:t>in context</a:t>
            </a:r>
            <a:r>
              <a:rPr lang="en-US" sz="2400" dirty="0">
                <a:cs typeface="Times New Roman" panose="02020603050405020304" pitchFamily="18" charset="0"/>
              </a:rPr>
              <a:t>:</a:t>
            </a:r>
            <a:r>
              <a:rPr lang="en-US" sz="2400" i="1" dirty="0"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cs typeface="Times New Roman" panose="02020603050405020304" pitchFamily="18" charset="0"/>
              </a:rPr>
              <a:t>How do tort principles relate to what is happening around you / us?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cs typeface="Times New Roman" panose="02020603050405020304" pitchFamily="18" charset="0"/>
              </a:rPr>
              <a:t>Can current societal challenges be resolved by applying tort principles?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cs typeface="Times New Roman" panose="02020603050405020304" pitchFamily="18" charset="0"/>
              </a:rPr>
              <a:t>How does tort law relate to other branches of law?  </a:t>
            </a:r>
          </a:p>
        </p:txBody>
      </p:sp>
    </p:spTree>
    <p:extLst>
      <p:ext uri="{BB962C8B-B14F-4D97-AF65-F5344CB8AC3E}">
        <p14:creationId xmlns:p14="http://schemas.microsoft.com/office/powerpoint/2010/main" val="2192181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C36A1-0C8D-51A7-42C3-28E8FF7C7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>
                <a:solidFill>
                  <a:schemeClr val="accent3"/>
                </a:solidFill>
              </a:rPr>
              <a:t>Question 1 – Contemporary Issues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9EF42C6-88ED-C6B7-BB99-4BF3CCC12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7625" y="1619250"/>
            <a:ext cx="4525963" cy="45259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7222C2-B666-719F-8D0E-3C762A806F7A}"/>
              </a:ext>
            </a:extLst>
          </p:cNvPr>
          <p:cNvSpPr txBox="1"/>
          <p:nvPr/>
        </p:nvSpPr>
        <p:spPr>
          <a:xfrm>
            <a:off x="720000" y="1829192"/>
            <a:ext cx="21102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 dirty="0"/>
              <a:t>What are some of the major challenges facing society at the moment?</a:t>
            </a:r>
          </a:p>
        </p:txBody>
      </p:sp>
    </p:spTree>
    <p:extLst>
      <p:ext uri="{BB962C8B-B14F-4D97-AF65-F5344CB8AC3E}">
        <p14:creationId xmlns:p14="http://schemas.microsoft.com/office/powerpoint/2010/main" val="1944401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33885-878C-41C4-041C-71C45D704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3"/>
                </a:solidFill>
              </a:rPr>
              <a:t>Contemporary Issues – Tort law’s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910D6-180F-8733-2B28-1F229B606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429" y="1652657"/>
            <a:ext cx="10800001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2400" i="1" dirty="0" err="1"/>
              <a:t>Pabai</a:t>
            </a:r>
            <a:r>
              <a:rPr lang="en-AU" sz="2400" i="1" dirty="0"/>
              <a:t> v Commonwealth of Australia </a:t>
            </a:r>
            <a:r>
              <a:rPr lang="en-AU" sz="2400" dirty="0"/>
              <a:t>(No 2) [2025] FCA 796 (July 2025)</a:t>
            </a:r>
          </a:p>
          <a:p>
            <a:pPr>
              <a:lnSpc>
                <a:spcPct val="150000"/>
              </a:lnSpc>
            </a:pPr>
            <a:r>
              <a:rPr lang="en-AU" sz="2400" dirty="0"/>
              <a:t>Torres Strait Islanders sued the Australian government, claiming its inadequate climate policies caused rising sea levels that damaged their islands and destroyed their traditional way of life. </a:t>
            </a:r>
          </a:p>
          <a:p>
            <a:pPr>
              <a:lnSpc>
                <a:spcPct val="150000"/>
              </a:lnSpc>
            </a:pPr>
            <a:r>
              <a:rPr lang="en-AU" sz="2400" dirty="0"/>
              <a:t>Unsuccessful at first instance</a:t>
            </a:r>
          </a:p>
          <a:p>
            <a:pPr>
              <a:lnSpc>
                <a:spcPct val="150000"/>
              </a:lnSpc>
            </a:pPr>
            <a:endParaRPr lang="en-AU" sz="24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AU" sz="2400" dirty="0"/>
              <a:t>Appeal lodged late 2025 and it is currently being heard before the Full Court of the Federal Court (Mortimer CJ and Colvin and Owens JJ) – hearing on 28 August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AU" sz="2400" dirty="0"/>
              <a:t>VID1479/2025: </a:t>
            </a:r>
            <a:r>
              <a:rPr lang="en-AU" sz="2400" dirty="0">
                <a:hlinkClick r:id="rId2"/>
              </a:rPr>
              <a:t>https://www.comcourts.gov.au/file/Federal/P/VID1479/2025/actions</a:t>
            </a:r>
            <a:endParaRPr lang="en-AU" sz="24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AU" sz="24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AU" sz="2400" dirty="0"/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AU" sz="24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8590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Learning logistics </a:t>
            </a:r>
            <a:r>
              <a:rPr lang="en-US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1045280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cs typeface="Times New Roman" panose="02020603050405020304" pitchFamily="18" charset="0"/>
              </a:rPr>
              <a:t>Active and interactive learning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cs typeface="Times New Roman" panose="02020603050405020304" pitchFamily="18" charset="0"/>
              </a:rPr>
              <a:t>Combine </a:t>
            </a:r>
            <a:r>
              <a:rPr lang="en-US" sz="2400" i="1" dirty="0">
                <a:cs typeface="Times New Roman" panose="02020603050405020304" pitchFamily="18" charset="0"/>
              </a:rPr>
              <a:t>court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i="1" dirty="0">
                <a:cs typeface="Times New Roman" panose="02020603050405020304" pitchFamily="18" charset="0"/>
              </a:rPr>
              <a:t>cases</a:t>
            </a:r>
            <a:r>
              <a:rPr lang="en-US" sz="2400" dirty="0"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cs typeface="Times New Roman" panose="02020603050405020304" pitchFamily="18" charset="0"/>
              </a:rPr>
              <a:t>statutes</a:t>
            </a:r>
            <a:r>
              <a:rPr lang="en-US" sz="2400" dirty="0">
                <a:cs typeface="Times New Roman" panose="02020603050405020304" pitchFamily="18" charset="0"/>
              </a:rPr>
              <a:t> and </a:t>
            </a:r>
            <a:r>
              <a:rPr lang="en-US" sz="2400" i="1" dirty="0">
                <a:cs typeface="Times New Roman" panose="02020603050405020304" pitchFamily="18" charset="0"/>
              </a:rPr>
              <a:t>scholarly writings 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cs typeface="Times New Roman" panose="02020603050405020304" pitchFamily="18" charset="0"/>
              </a:rPr>
              <a:t>Use of practical examples and newspaper reports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cs typeface="Times New Roman" panose="02020603050405020304" pitchFamily="18" charset="0"/>
              </a:rPr>
              <a:t>Mutually reinforcing role of </a:t>
            </a:r>
            <a:r>
              <a:rPr lang="en-US" sz="2400" b="1" dirty="0">
                <a:cs typeface="Times New Roman" panose="02020603050405020304" pitchFamily="18" charset="0"/>
              </a:rPr>
              <a:t>lectures</a:t>
            </a:r>
            <a:r>
              <a:rPr lang="en-US" sz="2400" dirty="0"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cs typeface="Times New Roman" panose="02020603050405020304" pitchFamily="18" charset="0"/>
              </a:rPr>
              <a:t>tutorials 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cs typeface="Times New Roman" panose="02020603050405020304" pitchFamily="18" charset="0"/>
              </a:rPr>
              <a:t>iLearn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b="1" dirty="0">
                <a:cs typeface="Times New Roman" panose="02020603050405020304" pitchFamily="18" charset="0"/>
              </a:rPr>
              <a:t>discussion forum for torts in news </a:t>
            </a:r>
          </a:p>
        </p:txBody>
      </p:sp>
      <p:sp>
        <p:nvSpPr>
          <p:cNvPr id="4" name="Double Brace 3">
            <a:extLst>
              <a:ext uri="{FF2B5EF4-FFF2-40B4-BE49-F238E27FC236}">
                <a16:creationId xmlns:a16="http://schemas.microsoft.com/office/drawing/2014/main" id="{383FAFE0-5CEB-18B1-4433-8AC7A53C76A5}"/>
              </a:ext>
            </a:extLst>
          </p:cNvPr>
          <p:cNvSpPr/>
          <p:nvPr/>
        </p:nvSpPr>
        <p:spPr>
          <a:xfrm>
            <a:off x="9728790" y="4029740"/>
            <a:ext cx="1743210" cy="1828800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HK" sz="20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Lectures:</a:t>
            </a:r>
          </a:p>
          <a:p>
            <a:pPr algn="ctr"/>
            <a:r>
              <a:rPr lang="en-HK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hr F2F</a:t>
            </a:r>
          </a:p>
          <a:p>
            <a:pPr algn="ctr"/>
            <a:r>
              <a:rPr lang="en-HK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algn="ctr"/>
            <a:r>
              <a:rPr lang="en-HK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hr pre-recorded</a:t>
            </a:r>
          </a:p>
        </p:txBody>
      </p:sp>
    </p:spTree>
    <p:extLst>
      <p:ext uri="{BB962C8B-B14F-4D97-AF65-F5344CB8AC3E}">
        <p14:creationId xmlns:p14="http://schemas.microsoft.com/office/powerpoint/2010/main" val="1118010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Learning logistics </a:t>
            </a:r>
            <a:r>
              <a:rPr lang="en-US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1045280" cy="5074936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u="sng" dirty="0">
                <a:solidFill>
                  <a:srgbClr val="008000"/>
                </a:solidFill>
                <a:cs typeface="Times New Roman" panose="02020603050405020304" pitchFamily="18" charset="0"/>
              </a:rPr>
              <a:t>Resources </a:t>
            </a: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 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cs typeface="Times New Roman" panose="02020603050405020304" pitchFamily="18" charset="0"/>
              </a:rPr>
              <a:t>Textbook: </a:t>
            </a:r>
            <a:r>
              <a:rPr lang="en-US" sz="2400" dirty="0">
                <a:cs typeface="Times New Roman" panose="02020603050405020304" pitchFamily="18" charset="0"/>
              </a:rPr>
              <a:t>Anna Bunn, Martin Allcock, Simon Allison, Mandy </a:t>
            </a:r>
            <a:r>
              <a:rPr lang="en-US" sz="2400" dirty="0" err="1">
                <a:cs typeface="Times New Roman" panose="02020603050405020304" pitchFamily="18" charset="0"/>
              </a:rPr>
              <a:t>Shircore</a:t>
            </a:r>
            <a:r>
              <a:rPr lang="en-US" sz="2400" dirty="0">
                <a:cs typeface="Times New Roman" panose="02020603050405020304" pitchFamily="18" charset="0"/>
              </a:rPr>
              <a:t>, Tort Law Principles, (Thomson Reuters, 3rd ed, 2025).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cs typeface="Times New Roman" panose="02020603050405020304" pitchFamily="18" charset="0"/>
              </a:rPr>
              <a:t>Casebook: </a:t>
            </a:r>
            <a:r>
              <a:rPr lang="en-US" sz="2400" dirty="0">
                <a:cs typeface="Times New Roman" panose="02020603050405020304" pitchFamily="18" charset="0"/>
              </a:rPr>
              <a:t>See separate block on </a:t>
            </a:r>
            <a:r>
              <a:rPr lang="en-US" sz="2400" dirty="0" err="1">
                <a:cs typeface="Times New Roman" panose="02020603050405020304" pitchFamily="18" charset="0"/>
              </a:rPr>
              <a:t>iLearn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cs typeface="Times New Roman" panose="02020603050405020304" pitchFamily="18" charset="0"/>
              </a:rPr>
              <a:t>Additional readings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cs typeface="Times New Roman" panose="02020603050405020304" pitchFamily="18" charset="0"/>
              </a:rPr>
              <a:t>Carolyn </a:t>
            </a:r>
            <a:r>
              <a:rPr lang="en-US" sz="2200" dirty="0" err="1">
                <a:cs typeface="Times New Roman" panose="02020603050405020304" pitchFamily="18" charset="0"/>
              </a:rPr>
              <a:t>Sappideen</a:t>
            </a:r>
            <a:r>
              <a:rPr lang="en-US" sz="2200" dirty="0">
                <a:cs typeface="Times New Roman" panose="02020603050405020304" pitchFamily="18" charset="0"/>
              </a:rPr>
              <a:t>, Prue Vines and John Eldridge, </a:t>
            </a:r>
            <a:r>
              <a:rPr lang="en-US" sz="2200" i="1" dirty="0">
                <a:cs typeface="Times New Roman" panose="02020603050405020304" pitchFamily="18" charset="0"/>
              </a:rPr>
              <a:t>Torts: Commentary and Materials</a:t>
            </a:r>
            <a:r>
              <a:rPr lang="en-US" sz="2200" dirty="0">
                <a:cs typeface="Times New Roman" panose="02020603050405020304" pitchFamily="18" charset="0"/>
              </a:rPr>
              <a:t> (Thomson Reuters, 13th ed, 2021)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cs typeface="Times New Roman" panose="02020603050405020304" pitchFamily="18" charset="0"/>
              </a:rPr>
              <a:t>check out </a:t>
            </a:r>
            <a:r>
              <a:rPr lang="en-US" sz="2400" dirty="0" err="1">
                <a:cs typeface="Times New Roman" panose="02020603050405020304" pitchFamily="18" charset="0"/>
              </a:rPr>
              <a:t>iLearn</a:t>
            </a:r>
            <a:r>
              <a:rPr lang="en-US" sz="2400" dirty="0">
                <a:cs typeface="Times New Roman" panose="02020603050405020304" pitchFamily="18" charset="0"/>
              </a:rPr>
              <a:t> and access via Leganto </a:t>
            </a:r>
            <a:endParaRPr lang="en-US" sz="24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004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Learning logistics </a:t>
            </a:r>
            <a:r>
              <a:rPr lang="en-US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1045280" cy="5074936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Assessment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r>
              <a:rPr lang="en-US" sz="2400" b="1" dirty="0">
                <a:cs typeface="Times New Roman" panose="02020603050405020304" pitchFamily="18" charset="0"/>
              </a:rPr>
              <a:t>Professional Skills </a:t>
            </a:r>
          </a:p>
          <a:p>
            <a:pPr lvl="1"/>
            <a:r>
              <a:rPr lang="en-US" sz="2200" dirty="0">
                <a:cs typeface="Times New Roman" panose="02020603050405020304" pitchFamily="18" charset="0"/>
              </a:rPr>
              <a:t>20% (ongoing – tutorials during Weeks 2-13) </a:t>
            </a:r>
          </a:p>
          <a:p>
            <a:pPr lvl="1"/>
            <a:r>
              <a:rPr lang="en-US" sz="2200" dirty="0">
                <a:cs typeface="Times New Roman" panose="02020603050405020304" pitchFamily="18" charset="0"/>
              </a:rPr>
              <a:t>See missed tutorial procedure</a:t>
            </a:r>
            <a:endParaRPr lang="en-US" sz="2400" b="1" dirty="0">
              <a:cs typeface="Times New Roman" panose="02020603050405020304" pitchFamily="18" charset="0"/>
            </a:endParaRPr>
          </a:p>
          <a:p>
            <a:r>
              <a:rPr lang="en-US" sz="2400" b="1" dirty="0">
                <a:cs typeface="Times New Roman" panose="02020603050405020304" pitchFamily="18" charset="0"/>
              </a:rPr>
              <a:t>Practice Based Task</a:t>
            </a:r>
          </a:p>
          <a:p>
            <a:pPr lvl="1"/>
            <a:r>
              <a:rPr lang="en-US" sz="2200" dirty="0">
                <a:cs typeface="Times New Roman" panose="02020603050405020304" pitchFamily="18" charset="0"/>
              </a:rPr>
              <a:t> 30% (9 Sep 2026) </a:t>
            </a:r>
          </a:p>
          <a:p>
            <a:pPr lvl="1"/>
            <a:r>
              <a:rPr lang="en-US" sz="2200" dirty="0">
                <a:cs typeface="Times New Roman" panose="02020603050405020304" pitchFamily="18" charset="0"/>
              </a:rPr>
              <a:t>Released about 4 weeks prior</a:t>
            </a:r>
            <a:endParaRPr lang="en-US" sz="2400" dirty="0">
              <a:cs typeface="Times New Roman" panose="02020603050405020304" pitchFamily="18" charset="0"/>
            </a:endParaRPr>
          </a:p>
          <a:p>
            <a:r>
              <a:rPr lang="en-US" sz="2400" b="1" dirty="0">
                <a:cs typeface="Times New Roman" panose="02020603050405020304" pitchFamily="18" charset="0"/>
              </a:rPr>
              <a:t>Invigilated exam</a:t>
            </a:r>
          </a:p>
          <a:p>
            <a:pPr lvl="1"/>
            <a:r>
              <a:rPr lang="en-US" sz="2200" dirty="0">
                <a:cs typeface="Times New Roman" panose="02020603050405020304" pitchFamily="18" charset="0"/>
              </a:rPr>
              <a:t>50% (during formal exam period)</a:t>
            </a:r>
          </a:p>
          <a:p>
            <a:pPr lvl="1"/>
            <a:r>
              <a:rPr lang="en-US" sz="2200" dirty="0">
                <a:cs typeface="Times New Roman" panose="02020603050405020304" pitchFamily="18" charset="0"/>
              </a:rPr>
              <a:t>Visit exam FAQs (when available) for further information</a:t>
            </a:r>
            <a:endParaRPr lang="en-US" sz="2600" dirty="0"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004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Learning logistics </a:t>
            </a:r>
            <a:r>
              <a:rPr lang="en-US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1045280" cy="5074936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Expectations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r>
              <a:rPr lang="en-US" sz="2400" b="1" dirty="0">
                <a:cs typeface="Times New Roman" panose="02020603050405020304" pitchFamily="18" charset="0"/>
              </a:rPr>
              <a:t>Read beforehand</a:t>
            </a:r>
            <a:r>
              <a:rPr lang="en-US" sz="2400" dirty="0">
                <a:cs typeface="Times New Roman" panose="02020603050405020304" pitchFamily="18" charset="0"/>
              </a:rPr>
              <a:t> the prescribed materials 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r>
              <a:rPr lang="en-US" sz="2400" b="1" dirty="0">
                <a:cs typeface="Times New Roman" panose="02020603050405020304" pitchFamily="18" charset="0"/>
              </a:rPr>
              <a:t>Engage constructively</a:t>
            </a:r>
            <a:r>
              <a:rPr lang="en-US" sz="2400" dirty="0">
                <a:cs typeface="Times New Roman" panose="02020603050405020304" pitchFamily="18" charset="0"/>
              </a:rPr>
              <a:t> with the teaching team and peers </a:t>
            </a:r>
          </a:p>
        </p:txBody>
      </p:sp>
    </p:spTree>
    <p:extLst>
      <p:ext uri="{BB962C8B-B14F-4D97-AF65-F5344CB8AC3E}">
        <p14:creationId xmlns:p14="http://schemas.microsoft.com/office/powerpoint/2010/main" val="936694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Learning logistics </a:t>
            </a:r>
            <a:r>
              <a:rPr lang="en-US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1472000" cy="5074936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sng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Feedback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 </a:t>
            </a:r>
            <a:endParaRPr lang="en-US" sz="22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cs typeface="Times New Roman" panose="02020603050405020304" pitchFamily="18" charset="0"/>
              </a:rPr>
              <a:t>For any questions, please contact the Unit Convenors and/or your tutor in class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cs typeface="Times New Roman" panose="02020603050405020304" pitchFamily="18" charset="0"/>
              </a:rPr>
              <a:t>Communication channels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cs typeface="Times New Roman" panose="02020603050405020304" pitchFamily="18" charset="0"/>
              </a:rPr>
              <a:t>Questions on unit content:</a:t>
            </a:r>
          </a:p>
          <a:p>
            <a:pPr lvl="2">
              <a:lnSpc>
                <a:spcPct val="150000"/>
              </a:lnSpc>
            </a:pPr>
            <a:r>
              <a:rPr lang="en-US" sz="2200" dirty="0">
                <a:cs typeface="Times New Roman" panose="02020603050405020304" pitchFamily="18" charset="0"/>
              </a:rPr>
              <a:t>In class with your tutor</a:t>
            </a:r>
          </a:p>
          <a:p>
            <a:pPr lvl="2">
              <a:lnSpc>
                <a:spcPct val="150000"/>
              </a:lnSpc>
            </a:pPr>
            <a:r>
              <a:rPr lang="en-US" sz="2200" dirty="0">
                <a:cs typeface="Times New Roman" panose="02020603050405020304" pitchFamily="18" charset="0"/>
              </a:rPr>
              <a:t>In the discussion forum</a:t>
            </a:r>
          </a:p>
          <a:p>
            <a:pPr lvl="2">
              <a:lnSpc>
                <a:spcPct val="150000"/>
              </a:lnSpc>
            </a:pPr>
            <a:r>
              <a:rPr lang="en-US" sz="2200" dirty="0">
                <a:cs typeface="Times New Roman" panose="02020603050405020304" pitchFamily="18" charset="0"/>
              </a:rPr>
              <a:t>In person consultation (see </a:t>
            </a:r>
            <a:r>
              <a:rPr lang="en-US" sz="2200" dirty="0" err="1">
                <a:cs typeface="Times New Roman" panose="02020603050405020304" pitchFamily="18" charset="0"/>
              </a:rPr>
              <a:t>ilearn</a:t>
            </a:r>
            <a:r>
              <a:rPr lang="en-US" sz="2200" dirty="0"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cs typeface="Times New Roman" panose="02020603050405020304" pitchFamily="18" charset="0"/>
              </a:rPr>
              <a:t>Private communication is for communications that relate to your personal circumstances. All correspondence is to be directed to Dr Amanda Head.</a:t>
            </a:r>
          </a:p>
        </p:txBody>
      </p:sp>
    </p:spTree>
    <p:extLst>
      <p:ext uri="{BB962C8B-B14F-4D97-AF65-F5344CB8AC3E}">
        <p14:creationId xmlns:p14="http://schemas.microsoft.com/office/powerpoint/2010/main" val="1071279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2. Defining tort law</a:t>
            </a:r>
            <a:endParaRPr lang="en-AU" dirty="0">
              <a:solidFill>
                <a:schemeClr val="accent3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Tort is derived from a Latin term “</a:t>
            </a:r>
            <a:r>
              <a:rPr lang="en-US" sz="2400" i="1" dirty="0" err="1">
                <a:cs typeface="Times New Roman" panose="02020603050405020304" pitchFamily="18" charset="0"/>
              </a:rPr>
              <a:t>tortum</a:t>
            </a:r>
            <a:r>
              <a:rPr lang="en-US" sz="2400" dirty="0">
                <a:cs typeface="Times New Roman" panose="02020603050405020304" pitchFamily="18" charset="0"/>
              </a:rPr>
              <a:t>” which means “something twisted, wrong or crooked”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Tort law deals with </a:t>
            </a:r>
            <a:r>
              <a:rPr lang="en-US" sz="2400" b="1" i="1" dirty="0">
                <a:cs typeface="Times New Roman" panose="02020603050405020304" pitchFamily="18" charset="0"/>
              </a:rPr>
              <a:t>civil </a:t>
            </a:r>
            <a:r>
              <a:rPr lang="en-US" sz="2400" b="1" dirty="0">
                <a:cs typeface="Times New Roman" panose="02020603050405020304" pitchFamily="18" charset="0"/>
              </a:rPr>
              <a:t>wrongs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It lays down rules and principles as to </a:t>
            </a:r>
            <a:r>
              <a:rPr lang="en-US" sz="2400" i="1" dirty="0">
                <a:solidFill>
                  <a:srgbClr val="3333FF"/>
                </a:solidFill>
                <a:cs typeface="Times New Roman" panose="02020603050405020304" pitchFamily="18" charset="0"/>
              </a:rPr>
              <a:t>how one should behave about others</a:t>
            </a:r>
            <a:r>
              <a:rPr lang="en-US" sz="2400" dirty="0">
                <a:cs typeface="Times New Roman" panose="02020603050405020304" pitchFamily="18" charset="0"/>
              </a:rPr>
              <a:t>: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cs typeface="Times New Roman" panose="02020603050405020304" pitchFamily="18" charset="0"/>
              </a:rPr>
              <a:t> avoid causing harm to others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cs typeface="Times New Roman" panose="02020603050405020304" pitchFamily="18" charset="0"/>
              </a:rPr>
              <a:t> otherwise remedy the harm (e.g., provide compensation) </a:t>
            </a:r>
          </a:p>
        </p:txBody>
      </p:sp>
    </p:spTree>
    <p:extLst>
      <p:ext uri="{BB962C8B-B14F-4D97-AF65-F5344CB8AC3E}">
        <p14:creationId xmlns:p14="http://schemas.microsoft.com/office/powerpoint/2010/main" val="865280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Defining tort law </a:t>
            </a:r>
            <a:r>
              <a:rPr lang="en-US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There are several prominent torts such as:  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CC251D2-E886-6F60-315E-156008BF4F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0849799"/>
              </p:ext>
            </p:extLst>
          </p:nvPr>
        </p:nvGraphicFramePr>
        <p:xfrm>
          <a:off x="2032000" y="2448560"/>
          <a:ext cx="8128000" cy="3689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47857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C7E81-2069-99F8-385F-ADC8C4DEE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1" y="388787"/>
            <a:ext cx="8458276" cy="648000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Question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59BC44-30FB-EE02-5560-3EAE6040E4B4}"/>
              </a:ext>
            </a:extLst>
          </p:cNvPr>
          <p:cNvSpPr txBox="1"/>
          <p:nvPr/>
        </p:nvSpPr>
        <p:spPr>
          <a:xfrm>
            <a:off x="720001" y="1828799"/>
            <a:ext cx="248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Which torts have you heard of prior to today?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305B71E-F0DC-9949-C55D-3159EF598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7625" y="1619250"/>
            <a:ext cx="4525963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118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Defining tort law </a:t>
            </a:r>
            <a:r>
              <a:rPr lang="en-US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This then raises a hotly debated question: is it law of </a:t>
            </a:r>
            <a:r>
              <a:rPr lang="en-US" sz="2400" b="1" dirty="0">
                <a:cs typeface="Times New Roman" panose="02020603050405020304" pitchFamily="18" charset="0"/>
              </a:rPr>
              <a:t>tort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u="sng" dirty="0">
                <a:cs typeface="Times New Roman" panose="02020603050405020304" pitchFamily="18" charset="0"/>
              </a:rPr>
              <a:t>or</a:t>
            </a:r>
            <a:r>
              <a:rPr lang="en-US" sz="2400" dirty="0">
                <a:cs typeface="Times New Roman" panose="02020603050405020304" pitchFamily="18" charset="0"/>
              </a:rPr>
              <a:t> law of </a:t>
            </a:r>
            <a:r>
              <a:rPr lang="en-US" sz="2400" b="1" dirty="0">
                <a:cs typeface="Times New Roman" panose="02020603050405020304" pitchFamily="18" charset="0"/>
              </a:rPr>
              <a:t>torts</a:t>
            </a:r>
            <a:r>
              <a:rPr lang="en-US" sz="2400" dirty="0">
                <a:cs typeface="Times New Roman" panose="02020603050405020304" pitchFamily="18" charset="0"/>
              </a:rPr>
              <a:t>?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u="sng" dirty="0">
                <a:cs typeface="Times New Roman" panose="02020603050405020304" pitchFamily="18" charset="0"/>
              </a:rPr>
              <a:t>John Salmond</a:t>
            </a:r>
            <a:r>
              <a:rPr lang="en-US" sz="2400" dirty="0">
                <a:cs typeface="Times New Roman" panose="02020603050405020304" pitchFamily="18" charset="0"/>
              </a:rPr>
              <a:t> held the view that law of torts is merely a collection of miscellaneous causes of action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On the other hand, </a:t>
            </a:r>
            <a:r>
              <a:rPr lang="en-US" sz="2400" u="sng" dirty="0">
                <a:cs typeface="Times New Roman" panose="02020603050405020304" pitchFamily="18" charset="0"/>
              </a:rPr>
              <a:t>Pollock</a:t>
            </a:r>
            <a:r>
              <a:rPr lang="en-US" sz="2400" dirty="0">
                <a:cs typeface="Times New Roman" panose="02020603050405020304" pitchFamily="18" charset="0"/>
              </a:rPr>
              <a:t> and </a:t>
            </a:r>
            <a:r>
              <a:rPr lang="en-US" sz="2400" u="sng" dirty="0">
                <a:cs typeface="Times New Roman" panose="02020603050405020304" pitchFamily="18" charset="0"/>
              </a:rPr>
              <a:t>Winfield</a:t>
            </a:r>
            <a:r>
              <a:rPr lang="en-US" sz="2400" dirty="0">
                <a:cs typeface="Times New Roman" panose="02020603050405020304" pitchFamily="18" charset="0"/>
              </a:rPr>
              <a:t> argued that there are a set of fundamental principles that underpin the law of tort – e.g., duties imposed by law owed to all </a:t>
            </a:r>
          </a:p>
        </p:txBody>
      </p:sp>
    </p:spTree>
    <p:extLst>
      <p:ext uri="{BB962C8B-B14F-4D97-AF65-F5344CB8AC3E}">
        <p14:creationId xmlns:p14="http://schemas.microsoft.com/office/powerpoint/2010/main" val="1615851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Defining tort law </a:t>
            </a:r>
            <a:r>
              <a:rPr lang="en-US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In common law countries, tort law is mostly judge-made law – so </a:t>
            </a:r>
            <a:r>
              <a:rPr lang="en-US" sz="2400" b="1" dirty="0">
                <a:cs typeface="Times New Roman" panose="02020603050405020304" pitchFamily="18" charset="0"/>
              </a:rPr>
              <a:t>cases </a:t>
            </a:r>
            <a:r>
              <a:rPr lang="en-US" sz="2400" dirty="0">
                <a:cs typeface="Times New Roman" panose="02020603050405020304" pitchFamily="18" charset="0"/>
              </a:rPr>
              <a:t>are critical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However, </a:t>
            </a:r>
            <a:r>
              <a:rPr lang="en-US" sz="2400" b="1" dirty="0">
                <a:cs typeface="Times New Roman" panose="02020603050405020304" pitchFamily="18" charset="0"/>
              </a:rPr>
              <a:t>statutes </a:t>
            </a:r>
            <a:r>
              <a:rPr lang="en-US" sz="2400" dirty="0">
                <a:cs typeface="Times New Roman" panose="02020603050405020304" pitchFamily="18" charset="0"/>
              </a:rPr>
              <a:t>have increasingly become important for various reasons, e.g., responding to a societal challenge about the price and availability of insurance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The </a:t>
            </a:r>
            <a:r>
              <a:rPr lang="en-US" sz="2400" i="1" dirty="0">
                <a:cs typeface="Times New Roman" panose="02020603050405020304" pitchFamily="18" charset="0"/>
              </a:rPr>
              <a:t>Civil Liability Act 2002 </a:t>
            </a:r>
            <a:r>
              <a:rPr lang="en-US" sz="2400" dirty="0">
                <a:cs typeface="Times New Roman" panose="02020603050405020304" pitchFamily="18" charset="0"/>
              </a:rPr>
              <a:t>(NSW) is a case in point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114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Defining tort law </a:t>
            </a:r>
            <a:r>
              <a:rPr lang="en-US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Although statutes have not completely replaced or codified the common law, they have: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cs typeface="Times New Roman" panose="02020603050405020304" pitchFamily="18" charset="0"/>
              </a:rPr>
              <a:t>modified or abolished (some) of the common law 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cs typeface="Times New Roman" panose="02020603050405020304" pitchFamily="18" charset="0"/>
              </a:rPr>
              <a:t>created new causes of action </a:t>
            </a:r>
            <a:endParaRPr lang="en-US" sz="2400" u="sng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u="sng" dirty="0">
                <a:cs typeface="Times New Roman" panose="02020603050405020304" pitchFamily="18" charset="0"/>
              </a:rPr>
              <a:t>Co-existence</a:t>
            </a:r>
            <a:r>
              <a:rPr lang="en-US" sz="2400" dirty="0">
                <a:cs typeface="Times New Roman" panose="02020603050405020304" pitchFamily="18" charset="0"/>
              </a:rPr>
              <a:t> of cases and statutes is the current life of tort law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559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3. Tort law and other laws </a:t>
            </a:r>
            <a:endParaRPr lang="en-AU" dirty="0">
              <a:solidFill>
                <a:schemeClr val="accent3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One way to define tort law is to differentiate it with other laws!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Yet, we should </a:t>
            </a:r>
            <a:r>
              <a:rPr lang="en-US" sz="2400" u="sng" dirty="0">
                <a:cs typeface="Times New Roman" panose="02020603050405020304" pitchFamily="18" charset="0"/>
              </a:rPr>
              <a:t>not</a:t>
            </a:r>
            <a:r>
              <a:rPr lang="en-US" sz="2400" dirty="0">
                <a:cs typeface="Times New Roman" panose="02020603050405020304" pitchFamily="18" charset="0"/>
              </a:rPr>
              <a:t> see tort law as a watertight compartment – rather, it is part of a governance ecosystem to regulate human </a:t>
            </a:r>
            <a:r>
              <a:rPr lang="en-US" sz="2400" dirty="0" err="1">
                <a:cs typeface="Times New Roman" panose="02020603050405020304" pitchFamily="18" charset="0"/>
              </a:rPr>
              <a:t>behaviour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Like other branches of law, it seeks to protect certain rights and interests </a:t>
            </a:r>
            <a:endParaRPr lang="en-US" sz="24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723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Tort law and other laws </a:t>
            </a:r>
            <a:r>
              <a:rPr lang="en-US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Tort law and criminal law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 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While civil wrongs are the focus of tort law, criminal law deals with public wrongs (offences)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Yet, the distinction between the two is not always very sharp: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cs typeface="Times New Roman" panose="02020603050405020304" pitchFamily="18" charset="0"/>
              </a:rPr>
              <a:t>A certain wrong may amount to both tort and crime (e.g., assault)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cs typeface="Times New Roman" panose="02020603050405020304" pitchFamily="18" charset="0"/>
              </a:rPr>
              <a:t>Compensation may be obtained for injuries </a:t>
            </a:r>
            <a:r>
              <a:rPr lang="en-US" sz="2400">
                <a:cs typeface="Times New Roman" panose="02020603050405020304" pitchFamily="18" charset="0"/>
              </a:rPr>
              <a:t>from crimes</a:t>
            </a:r>
            <a:endParaRPr 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225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Tort law and other laws </a:t>
            </a:r>
            <a:r>
              <a:rPr lang="en-US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974080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At the same time, certain broad distinctions can be made between these two branches of law: 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5517F74-F218-ADCB-BA50-82E796CEA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910584"/>
              </p:ext>
            </p:extLst>
          </p:nvPr>
        </p:nvGraphicFramePr>
        <p:xfrm>
          <a:off x="894080" y="2804160"/>
          <a:ext cx="10800000" cy="3971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632270117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110854473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588199552"/>
                    </a:ext>
                  </a:extLst>
                </a:gridCol>
              </a:tblGrid>
              <a:tr h="677259">
                <a:tc>
                  <a:txBody>
                    <a:bodyPr/>
                    <a:lstStyle/>
                    <a:p>
                      <a:endParaRPr lang="en-HK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Tort 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Criminal Law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077718"/>
                  </a:ext>
                </a:extLst>
              </a:tr>
              <a:tr h="549332">
                <a:tc>
                  <a:txBody>
                    <a:bodyPr/>
                    <a:lstStyle/>
                    <a:p>
                      <a:r>
                        <a:rPr lang="en-HK" sz="2400" b="1" i="1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Nature of wrong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Private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Public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191205"/>
                  </a:ext>
                </a:extLst>
              </a:tr>
              <a:tr h="549332">
                <a:tc>
                  <a:txBody>
                    <a:bodyPr/>
                    <a:lstStyle/>
                    <a:p>
                      <a:r>
                        <a:rPr lang="en-HK" sz="2400" b="1" i="1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Main purpose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Compensation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Punishment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034184"/>
                  </a:ext>
                </a:extLst>
              </a:tr>
              <a:tr h="549332">
                <a:tc>
                  <a:txBody>
                    <a:bodyPr/>
                    <a:lstStyle/>
                    <a:p>
                      <a:r>
                        <a:rPr lang="en-HK" sz="2400" b="1" i="1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Primary principle of justice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Redress / correction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Retribution / deterrence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270776"/>
                  </a:ext>
                </a:extLst>
              </a:tr>
              <a:tr h="549332">
                <a:tc>
                  <a:txBody>
                    <a:bodyPr/>
                    <a:lstStyle/>
                    <a:p>
                      <a:r>
                        <a:rPr lang="en-HK" sz="2400" b="1" i="1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Action initiated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Individual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State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477849"/>
                  </a:ext>
                </a:extLst>
              </a:tr>
              <a:tr h="5493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i="1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Standard of proof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Balance of probabilities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Beyond reasonable doubt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042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430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Tort law and other laws </a:t>
            </a:r>
            <a:r>
              <a:rPr lang="en-US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Tort law and contract law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 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Both tort law and contract law deal with civil wrongs – certain wrongs may create a cause of action under both (e.g., product liability, contracts for services)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Yet, there are some key differences between the two branches of law </a:t>
            </a:r>
          </a:p>
        </p:txBody>
      </p:sp>
    </p:spTree>
    <p:extLst>
      <p:ext uri="{BB962C8B-B14F-4D97-AF65-F5344CB8AC3E}">
        <p14:creationId xmlns:p14="http://schemas.microsoft.com/office/powerpoint/2010/main" val="2499807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Tort law and other laws </a:t>
            </a:r>
            <a:r>
              <a:rPr lang="en-US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974080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We can note the following main distinctions between tort law and contract law: 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5517F74-F218-ADCB-BA50-82E796CEA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229296"/>
              </p:ext>
            </p:extLst>
          </p:nvPr>
        </p:nvGraphicFramePr>
        <p:xfrm>
          <a:off x="894080" y="2333934"/>
          <a:ext cx="10800000" cy="3697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632270117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110854473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588199552"/>
                    </a:ext>
                  </a:extLst>
                </a:gridCol>
              </a:tblGrid>
              <a:tr h="677259">
                <a:tc>
                  <a:txBody>
                    <a:bodyPr/>
                    <a:lstStyle/>
                    <a:p>
                      <a:endParaRPr lang="en-HK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Tort 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Contract Law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077718"/>
                  </a:ext>
                </a:extLst>
              </a:tr>
              <a:tr h="549332">
                <a:tc>
                  <a:txBody>
                    <a:bodyPr/>
                    <a:lstStyle/>
                    <a:p>
                      <a:r>
                        <a:rPr lang="en-HK" sz="2400" b="1" i="1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Source of duties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Law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 Parties, Law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191205"/>
                  </a:ext>
                </a:extLst>
              </a:tr>
              <a:tr h="549332">
                <a:tc>
                  <a:txBody>
                    <a:bodyPr/>
                    <a:lstStyle/>
                    <a:p>
                      <a:r>
                        <a:rPr lang="en-HK" sz="2400" b="1" i="1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Scope of duties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General (neighbour principle)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Only on specific parties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034184"/>
                  </a:ext>
                </a:extLst>
              </a:tr>
              <a:tr h="549332">
                <a:tc>
                  <a:txBody>
                    <a:bodyPr/>
                    <a:lstStyle/>
                    <a:p>
                      <a:r>
                        <a:rPr lang="en-HK" sz="2400" b="1" i="1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Relevance of motive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Yes (in some cases)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270776"/>
                  </a:ext>
                </a:extLst>
              </a:tr>
              <a:tr h="549332">
                <a:tc>
                  <a:txBody>
                    <a:bodyPr/>
                    <a:lstStyle/>
                    <a:p>
                      <a:r>
                        <a:rPr lang="en-HK" sz="2400" b="1" i="1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Nature of damages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dirty="0" err="1">
                          <a:latin typeface="+mn-lt"/>
                          <a:cs typeface="Times New Roman" panose="02020603050405020304" pitchFamily="18" charset="0"/>
                        </a:rPr>
                        <a:t>Unlliquidated</a:t>
                      </a:r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Liquidated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477849"/>
                  </a:ext>
                </a:extLst>
              </a:tr>
              <a:tr h="5493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i="1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Privity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Not relevant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dirty="0">
                          <a:latin typeface="+mn-lt"/>
                          <a:cs typeface="Times New Roman" panose="02020603050405020304" pitchFamily="18" charset="0"/>
                        </a:rPr>
                        <a:t>Generally required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042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421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Tort law and other laws </a:t>
            </a:r>
            <a:r>
              <a:rPr lang="en-US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Tort law and human rights law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 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Tort law aims to protect the individual’s bodily integrity, reputation and property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This is similar to the purpose of human rights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2410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Tort law and other laws </a:t>
            </a:r>
            <a:r>
              <a:rPr lang="en-US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In most liberal democracies, there is a Bill of Rights protecting human rights.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Such a Bill of Rights may influence interpretation of existing tort law or contribute to the creation of new tortious actions.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However, there is no comprehensive human rights law in Australia at the federal level (a human rights law exits in ACT, Victoria and Queensland)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Hence, there has been a limited use of tort law to protect human rights 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213470"/>
      </p:ext>
    </p:extLst>
  </p:cSld>
  <p:clrMapOvr>
    <a:masterClrMapping/>
  </p:clrMapOvr>
</p:sld>
</file>

<file path=ppt/theme/theme1.xml><?xml version="1.0" encoding="utf-8"?>
<a:theme xmlns:a="http://schemas.openxmlformats.org/drawingml/2006/main" name="MAC UNI BASIC_Round 1 Draft for feedback">
  <a:themeElements>
    <a:clrScheme name="MQU Colours">
      <a:dk1>
        <a:sysClr val="windowText" lastClr="000000"/>
      </a:dk1>
      <a:lt1>
        <a:sysClr val="window" lastClr="FFFFFF"/>
      </a:lt1>
      <a:dk2>
        <a:srgbClr val="D6D2C4"/>
      </a:dk2>
      <a:lt2>
        <a:srgbClr val="E6E4DC"/>
      </a:lt2>
      <a:accent1>
        <a:srgbClr val="A6192E"/>
      </a:accent1>
      <a:accent2>
        <a:srgbClr val="76232F"/>
      </a:accent2>
      <a:accent3>
        <a:srgbClr val="D6001C"/>
      </a:accent3>
      <a:accent4>
        <a:srgbClr val="C6007E"/>
      </a:accent4>
      <a:accent5>
        <a:srgbClr val="80225F"/>
      </a:accent5>
      <a:accent6>
        <a:srgbClr val="373A36"/>
      </a:accent6>
      <a:hlink>
        <a:srgbClr val="A6192E"/>
      </a:hlink>
      <a:folHlink>
        <a:srgbClr val="954F72"/>
      </a:folHlink>
    </a:clrScheme>
    <a:fontScheme name="MQ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U-INT 16x9 Template _2016" id="{260B2EA1-E29E-8F43-8CD0-19C5943E9B3E}" vid="{17EFAF55-AA0F-074F-B88C-D92FD2EB11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2c514c1-a717-4087-be06-d40d2070ad52}" enabled="0" method="" siteId="{82c514c1-a717-4087-be06-d40d2070ad5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14216</TotalTime>
  <Words>1213</Words>
  <Application>Microsoft Macintosh PowerPoint</Application>
  <PresentationFormat>Widescreen</PresentationFormat>
  <Paragraphs>232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Courier New</vt:lpstr>
      <vt:lpstr>Georgia</vt:lpstr>
      <vt:lpstr>Times New Roman</vt:lpstr>
      <vt:lpstr>Wingdings</vt:lpstr>
      <vt:lpstr>MAC UNI BASIC_Round 1 Draft for feedback</vt:lpstr>
      <vt:lpstr>LAWS2400 / LAWS8040 – Torts  Topic 1 Lecture 1 Introduction to Torts  </vt:lpstr>
      <vt:lpstr>Outline: Topic 1 Lecture 1</vt:lpstr>
      <vt:lpstr>Learning logistics Contd.</vt:lpstr>
      <vt:lpstr>Question 1 – Contemporary Issues</vt:lpstr>
      <vt:lpstr>Contemporary Issues – Tort law’s response</vt:lpstr>
      <vt:lpstr>Learning logistics Contd.</vt:lpstr>
      <vt:lpstr>Learning logistics Contd.</vt:lpstr>
      <vt:lpstr>Learning logistics Contd.</vt:lpstr>
      <vt:lpstr>Learning logistics Contd.</vt:lpstr>
      <vt:lpstr>Learning logistics Contd.</vt:lpstr>
      <vt:lpstr>2. Defining tort law</vt:lpstr>
      <vt:lpstr>Defining tort law Contd.</vt:lpstr>
      <vt:lpstr>Question 2</vt:lpstr>
      <vt:lpstr>Defining tort law Contd.</vt:lpstr>
      <vt:lpstr>Defining tort law Contd.</vt:lpstr>
      <vt:lpstr>Defining tort law Contd.</vt:lpstr>
      <vt:lpstr>3. Tort law and other laws </vt:lpstr>
      <vt:lpstr>Tort law and other laws Contd.</vt:lpstr>
      <vt:lpstr>Tort law and other laws Contd.</vt:lpstr>
      <vt:lpstr>Tort law and other laws Contd.</vt:lpstr>
      <vt:lpstr>Tort law and other laws Contd.</vt:lpstr>
      <vt:lpstr>Tort law and other laws Contd.</vt:lpstr>
      <vt:lpstr>Tort law and other laws Contd.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Amanda Head</cp:lastModifiedBy>
  <cp:revision>664</cp:revision>
  <cp:lastPrinted>2026-07-30T04:09:22Z</cp:lastPrinted>
  <dcterms:created xsi:type="dcterms:W3CDTF">2019-01-24T02:12:19Z</dcterms:created>
  <dcterms:modified xsi:type="dcterms:W3CDTF">2026-07-30T04:39:12Z</dcterms:modified>
</cp:coreProperties>
</file>