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23"/>
  </p:notesMasterIdLst>
  <p:handoutMasterIdLst>
    <p:handoutMasterId r:id="rId24"/>
  </p:handoutMasterIdLst>
  <p:sldIdLst>
    <p:sldId id="303" r:id="rId2"/>
    <p:sldId id="341" r:id="rId3"/>
    <p:sldId id="369" r:id="rId4"/>
    <p:sldId id="394" r:id="rId5"/>
    <p:sldId id="395" r:id="rId6"/>
    <p:sldId id="391" r:id="rId7"/>
    <p:sldId id="396" r:id="rId8"/>
    <p:sldId id="397" r:id="rId9"/>
    <p:sldId id="398" r:id="rId10"/>
    <p:sldId id="399" r:id="rId11"/>
    <p:sldId id="400" r:id="rId12"/>
    <p:sldId id="392" r:id="rId13"/>
    <p:sldId id="401" r:id="rId14"/>
    <p:sldId id="403" r:id="rId15"/>
    <p:sldId id="404" r:id="rId16"/>
    <p:sldId id="405" r:id="rId17"/>
    <p:sldId id="406" r:id="rId18"/>
    <p:sldId id="409" r:id="rId19"/>
    <p:sldId id="393" r:id="rId20"/>
    <p:sldId id="407" r:id="rId21"/>
    <p:sldId id="40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19" autoAdjust="0"/>
    <p:restoredTop sz="93447" autoAdjust="0"/>
  </p:normalViewPr>
  <p:slideViewPr>
    <p:cSldViewPr snapToGrid="0" snapToObjects="1">
      <p:cViewPr varScale="1">
        <p:scale>
          <a:sx n="101" d="100"/>
          <a:sy n="101" d="100"/>
        </p:scale>
        <p:origin x="232" y="480"/>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Deva" userId="7fc89188-b279-4464-aad4-6bcc30702912" providerId="ADAL" clId="{A84B2F8B-1170-4E56-8C19-787265A103B1}"/>
    <pc:docChg chg="modSld">
      <pc:chgData name="Surya Deva" userId="7fc89188-b279-4464-aad4-6bcc30702912" providerId="ADAL" clId="{A84B2F8B-1170-4E56-8C19-787265A103B1}" dt="2024-07-06T02:04:27.230" v="4" actId="790"/>
      <pc:docMkLst>
        <pc:docMk/>
      </pc:docMkLst>
      <pc:sldChg chg="modSp mod">
        <pc:chgData name="Surya Deva" userId="7fc89188-b279-4464-aad4-6bcc30702912" providerId="ADAL" clId="{A84B2F8B-1170-4E56-8C19-787265A103B1}" dt="2024-07-06T02:02:21.612" v="1" actId="115"/>
        <pc:sldMkLst>
          <pc:docMk/>
          <pc:sldMk cId="1203842501" sldId="376"/>
        </pc:sldMkLst>
        <pc:spChg chg="mod">
          <ac:chgData name="Surya Deva" userId="7fc89188-b279-4464-aad4-6bcc30702912" providerId="ADAL" clId="{A84B2F8B-1170-4E56-8C19-787265A103B1}" dt="2024-07-06T02:02:21.612" v="1" actId="115"/>
          <ac:spMkLst>
            <pc:docMk/>
            <pc:sldMk cId="1203842501" sldId="376"/>
            <ac:spMk id="3" creationId="{EEA464B0-4368-47D8-802B-4FB5B5FAD6E7}"/>
          </ac:spMkLst>
        </pc:spChg>
      </pc:sldChg>
      <pc:sldChg chg="modSp mod">
        <pc:chgData name="Surya Deva" userId="7fc89188-b279-4464-aad4-6bcc30702912" providerId="ADAL" clId="{A84B2F8B-1170-4E56-8C19-787265A103B1}" dt="2024-07-06T02:04:27.230" v="4" actId="790"/>
        <pc:sldMkLst>
          <pc:docMk/>
          <pc:sldMk cId="3383237083" sldId="382"/>
        </pc:sldMkLst>
        <pc:spChg chg="mod">
          <ac:chgData name="Surya Deva" userId="7fc89188-b279-4464-aad4-6bcc30702912" providerId="ADAL" clId="{A84B2F8B-1170-4E56-8C19-787265A103B1}" dt="2024-07-06T02:04:27.230" v="4" actId="790"/>
          <ac:spMkLst>
            <pc:docMk/>
            <pc:sldMk cId="3383237083" sldId="382"/>
            <ac:spMk id="3" creationId="{EEA464B0-4368-47D8-802B-4FB5B5FAD6E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8A3693-539A-4528-BDD4-0C816ECF6DB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HK"/>
        </a:p>
      </dgm:t>
    </dgm:pt>
    <dgm:pt modelId="{10501490-220B-414E-844A-3334C923525B}">
      <dgm:prSet phldrT="[Text]" custT="1"/>
      <dgm:spPr>
        <a:solidFill>
          <a:srgbClr val="3333FF"/>
        </a:solidFill>
      </dgm:spPr>
      <dgm:t>
        <a:bodyPr/>
        <a:lstStyle/>
        <a:p>
          <a:r>
            <a:rPr lang="en-HK" sz="3200" dirty="0">
              <a:latin typeface="Times New Roman" panose="02020603050405020304" pitchFamily="18" charset="0"/>
              <a:cs typeface="Times New Roman" panose="02020603050405020304" pitchFamily="18" charset="0"/>
            </a:rPr>
            <a:t>Trespass to chattels </a:t>
          </a:r>
        </a:p>
      </dgm:t>
    </dgm:pt>
    <dgm:pt modelId="{8B206696-2D7F-4E50-BDA4-98E6F2EEE03E}" type="parTrans" cxnId="{651F9382-4D13-49F4-AD81-132B70A934CC}">
      <dgm:prSet/>
      <dgm:spPr/>
      <dgm:t>
        <a:bodyPr/>
        <a:lstStyle/>
        <a:p>
          <a:endParaRPr lang="en-HK"/>
        </a:p>
      </dgm:t>
    </dgm:pt>
    <dgm:pt modelId="{D903821B-131F-41F8-9E89-EA3908CCB6BD}" type="sibTrans" cxnId="{651F9382-4D13-49F4-AD81-132B70A934CC}">
      <dgm:prSet/>
      <dgm:spPr/>
      <dgm:t>
        <a:bodyPr/>
        <a:lstStyle/>
        <a:p>
          <a:endParaRPr lang="en-HK"/>
        </a:p>
      </dgm:t>
    </dgm:pt>
    <dgm:pt modelId="{4E3FBA25-CD59-4ABE-AEB5-92A7E4516B52}">
      <dgm:prSet phldrT="[Text]" custT="1"/>
      <dgm:spPr/>
      <dgm:t>
        <a:bodyPr/>
        <a:lstStyle/>
        <a:p>
          <a:r>
            <a:rPr lang="en-HK" sz="3200" dirty="0">
              <a:latin typeface="Times New Roman" panose="02020603050405020304" pitchFamily="18" charset="0"/>
              <a:cs typeface="Times New Roman" panose="02020603050405020304" pitchFamily="18" charset="0"/>
            </a:rPr>
            <a:t>Conversion </a:t>
          </a:r>
        </a:p>
      </dgm:t>
    </dgm:pt>
    <dgm:pt modelId="{F6025636-2333-41E8-9361-1558460B4E1A}" type="parTrans" cxnId="{9F13919E-1654-415A-91A4-462FA1B870B6}">
      <dgm:prSet/>
      <dgm:spPr/>
      <dgm:t>
        <a:bodyPr/>
        <a:lstStyle/>
        <a:p>
          <a:endParaRPr lang="en-HK"/>
        </a:p>
      </dgm:t>
    </dgm:pt>
    <dgm:pt modelId="{53EE4326-B0E3-41CE-AC8C-13D94DA0950E}" type="sibTrans" cxnId="{9F13919E-1654-415A-91A4-462FA1B870B6}">
      <dgm:prSet/>
      <dgm:spPr/>
      <dgm:t>
        <a:bodyPr/>
        <a:lstStyle/>
        <a:p>
          <a:endParaRPr lang="en-HK"/>
        </a:p>
      </dgm:t>
    </dgm:pt>
    <dgm:pt modelId="{D69D666B-DE98-4193-BBF1-9D4957650B23}">
      <dgm:prSet phldrT="[Text]" custT="1"/>
      <dgm:spPr>
        <a:solidFill>
          <a:schemeClr val="tx1"/>
        </a:solidFill>
      </dgm:spPr>
      <dgm:t>
        <a:bodyPr/>
        <a:lstStyle/>
        <a:p>
          <a:r>
            <a:rPr lang="en-HK" sz="3200" dirty="0">
              <a:latin typeface="Times New Roman" panose="02020603050405020304" pitchFamily="18" charset="0"/>
              <a:cs typeface="Times New Roman" panose="02020603050405020304" pitchFamily="18" charset="0"/>
            </a:rPr>
            <a:t>Detinue</a:t>
          </a:r>
          <a:r>
            <a:rPr lang="en-HK" sz="4100" dirty="0"/>
            <a:t> </a:t>
          </a:r>
        </a:p>
      </dgm:t>
    </dgm:pt>
    <dgm:pt modelId="{16F2831F-4A73-4701-87FB-5EC085A2B440}" type="parTrans" cxnId="{967B0757-7E7C-4297-AF02-EBA5E93FBF2C}">
      <dgm:prSet/>
      <dgm:spPr/>
      <dgm:t>
        <a:bodyPr/>
        <a:lstStyle/>
        <a:p>
          <a:endParaRPr lang="en-HK"/>
        </a:p>
      </dgm:t>
    </dgm:pt>
    <dgm:pt modelId="{971E8CDD-1A0C-40AF-95FC-6CF0E8985E89}" type="sibTrans" cxnId="{967B0757-7E7C-4297-AF02-EBA5E93FBF2C}">
      <dgm:prSet/>
      <dgm:spPr/>
      <dgm:t>
        <a:bodyPr/>
        <a:lstStyle/>
        <a:p>
          <a:endParaRPr lang="en-HK"/>
        </a:p>
      </dgm:t>
    </dgm:pt>
    <dgm:pt modelId="{FD71C072-EC3F-487F-96E6-D9899396BD03}" type="pres">
      <dgm:prSet presAssocID="{3A8A3693-539A-4528-BDD4-0C816ECF6DB0}" presName="linear" presStyleCnt="0">
        <dgm:presLayoutVars>
          <dgm:dir/>
          <dgm:animLvl val="lvl"/>
          <dgm:resizeHandles val="exact"/>
        </dgm:presLayoutVars>
      </dgm:prSet>
      <dgm:spPr/>
    </dgm:pt>
    <dgm:pt modelId="{B683E804-B55C-4CA4-84B3-B893BA8D7C69}" type="pres">
      <dgm:prSet presAssocID="{10501490-220B-414E-844A-3334C923525B}" presName="parentLin" presStyleCnt="0"/>
      <dgm:spPr/>
    </dgm:pt>
    <dgm:pt modelId="{07CEC9B1-473E-4E04-AC55-35E7509D35FD}" type="pres">
      <dgm:prSet presAssocID="{10501490-220B-414E-844A-3334C923525B}" presName="parentLeftMargin" presStyleLbl="node1" presStyleIdx="0" presStyleCnt="3"/>
      <dgm:spPr/>
    </dgm:pt>
    <dgm:pt modelId="{ED7AB936-7E9E-4E03-B9C6-3A6778D63D3F}" type="pres">
      <dgm:prSet presAssocID="{10501490-220B-414E-844A-3334C923525B}" presName="parentText" presStyleLbl="node1" presStyleIdx="0" presStyleCnt="3">
        <dgm:presLayoutVars>
          <dgm:chMax val="0"/>
          <dgm:bulletEnabled val="1"/>
        </dgm:presLayoutVars>
      </dgm:prSet>
      <dgm:spPr/>
    </dgm:pt>
    <dgm:pt modelId="{39D8D9A8-5091-4E6C-AD86-9E458A7330F2}" type="pres">
      <dgm:prSet presAssocID="{10501490-220B-414E-844A-3334C923525B}" presName="negativeSpace" presStyleCnt="0"/>
      <dgm:spPr/>
    </dgm:pt>
    <dgm:pt modelId="{E315093E-F434-4DC1-90B8-FA69ED4F17CD}" type="pres">
      <dgm:prSet presAssocID="{10501490-220B-414E-844A-3334C923525B}" presName="childText" presStyleLbl="conFgAcc1" presStyleIdx="0" presStyleCnt="3">
        <dgm:presLayoutVars>
          <dgm:bulletEnabled val="1"/>
        </dgm:presLayoutVars>
      </dgm:prSet>
      <dgm:spPr/>
    </dgm:pt>
    <dgm:pt modelId="{3EE23AB9-5558-44CF-A3C6-1997A69F6F1A}" type="pres">
      <dgm:prSet presAssocID="{D903821B-131F-41F8-9E89-EA3908CCB6BD}" presName="spaceBetweenRectangles" presStyleCnt="0"/>
      <dgm:spPr/>
    </dgm:pt>
    <dgm:pt modelId="{7C291A91-02C8-4BA3-914A-2CB152648246}" type="pres">
      <dgm:prSet presAssocID="{4E3FBA25-CD59-4ABE-AEB5-92A7E4516B52}" presName="parentLin" presStyleCnt="0"/>
      <dgm:spPr/>
    </dgm:pt>
    <dgm:pt modelId="{BBD60CEB-9409-41A2-90D8-5263208D06CB}" type="pres">
      <dgm:prSet presAssocID="{4E3FBA25-CD59-4ABE-AEB5-92A7E4516B52}" presName="parentLeftMargin" presStyleLbl="node1" presStyleIdx="0" presStyleCnt="3"/>
      <dgm:spPr/>
    </dgm:pt>
    <dgm:pt modelId="{0E763946-976A-4CBF-AE51-E8AF35864D20}" type="pres">
      <dgm:prSet presAssocID="{4E3FBA25-CD59-4ABE-AEB5-92A7E4516B52}" presName="parentText" presStyleLbl="node1" presStyleIdx="1" presStyleCnt="3">
        <dgm:presLayoutVars>
          <dgm:chMax val="0"/>
          <dgm:bulletEnabled val="1"/>
        </dgm:presLayoutVars>
      </dgm:prSet>
      <dgm:spPr/>
    </dgm:pt>
    <dgm:pt modelId="{75E9CA66-6D65-4C46-BA93-C01849A44F61}" type="pres">
      <dgm:prSet presAssocID="{4E3FBA25-CD59-4ABE-AEB5-92A7E4516B52}" presName="negativeSpace" presStyleCnt="0"/>
      <dgm:spPr/>
    </dgm:pt>
    <dgm:pt modelId="{9104E28E-EC6D-4A78-8A34-6964568C40BE}" type="pres">
      <dgm:prSet presAssocID="{4E3FBA25-CD59-4ABE-AEB5-92A7E4516B52}" presName="childText" presStyleLbl="conFgAcc1" presStyleIdx="1" presStyleCnt="3">
        <dgm:presLayoutVars>
          <dgm:bulletEnabled val="1"/>
        </dgm:presLayoutVars>
      </dgm:prSet>
      <dgm:spPr/>
    </dgm:pt>
    <dgm:pt modelId="{816A4F03-CB07-4E2A-8576-6C9C076557CC}" type="pres">
      <dgm:prSet presAssocID="{53EE4326-B0E3-41CE-AC8C-13D94DA0950E}" presName="spaceBetweenRectangles" presStyleCnt="0"/>
      <dgm:spPr/>
    </dgm:pt>
    <dgm:pt modelId="{06107478-60FD-4B35-997C-9A6039D3965F}" type="pres">
      <dgm:prSet presAssocID="{D69D666B-DE98-4193-BBF1-9D4957650B23}" presName="parentLin" presStyleCnt="0"/>
      <dgm:spPr/>
    </dgm:pt>
    <dgm:pt modelId="{391BD322-2B40-470C-A2E8-10EF811D2CC4}" type="pres">
      <dgm:prSet presAssocID="{D69D666B-DE98-4193-BBF1-9D4957650B23}" presName="parentLeftMargin" presStyleLbl="node1" presStyleIdx="1" presStyleCnt="3"/>
      <dgm:spPr/>
    </dgm:pt>
    <dgm:pt modelId="{346BE1C6-51DA-4306-AAB4-831792436C6E}" type="pres">
      <dgm:prSet presAssocID="{D69D666B-DE98-4193-BBF1-9D4957650B23}" presName="parentText" presStyleLbl="node1" presStyleIdx="2" presStyleCnt="3">
        <dgm:presLayoutVars>
          <dgm:chMax val="0"/>
          <dgm:bulletEnabled val="1"/>
        </dgm:presLayoutVars>
      </dgm:prSet>
      <dgm:spPr/>
    </dgm:pt>
    <dgm:pt modelId="{83B606D9-8D6C-4EEF-8BAD-9AE630C45C7C}" type="pres">
      <dgm:prSet presAssocID="{D69D666B-DE98-4193-BBF1-9D4957650B23}" presName="negativeSpace" presStyleCnt="0"/>
      <dgm:spPr/>
    </dgm:pt>
    <dgm:pt modelId="{AC291609-1DB3-48C6-9A7B-994CBAEDD69D}" type="pres">
      <dgm:prSet presAssocID="{D69D666B-DE98-4193-BBF1-9D4957650B23}" presName="childText" presStyleLbl="conFgAcc1" presStyleIdx="2" presStyleCnt="3">
        <dgm:presLayoutVars>
          <dgm:bulletEnabled val="1"/>
        </dgm:presLayoutVars>
      </dgm:prSet>
      <dgm:spPr/>
    </dgm:pt>
  </dgm:ptLst>
  <dgm:cxnLst>
    <dgm:cxn modelId="{781C3A0A-82E7-4175-8C87-D4464A1209D3}" type="presOf" srcId="{4E3FBA25-CD59-4ABE-AEB5-92A7E4516B52}" destId="{BBD60CEB-9409-41A2-90D8-5263208D06CB}" srcOrd="0" destOrd="0" presId="urn:microsoft.com/office/officeart/2005/8/layout/list1"/>
    <dgm:cxn modelId="{F963ED2F-C0C5-4F2B-83C4-7416BFB21D53}" type="presOf" srcId="{10501490-220B-414E-844A-3334C923525B}" destId="{07CEC9B1-473E-4E04-AC55-35E7509D35FD}" srcOrd="0" destOrd="0" presId="urn:microsoft.com/office/officeart/2005/8/layout/list1"/>
    <dgm:cxn modelId="{967B0757-7E7C-4297-AF02-EBA5E93FBF2C}" srcId="{3A8A3693-539A-4528-BDD4-0C816ECF6DB0}" destId="{D69D666B-DE98-4193-BBF1-9D4957650B23}" srcOrd="2" destOrd="0" parTransId="{16F2831F-4A73-4701-87FB-5EC085A2B440}" sibTransId="{971E8CDD-1A0C-40AF-95FC-6CF0E8985E89}"/>
    <dgm:cxn modelId="{05EF6C5B-3ED4-40FA-B2E2-6D748E24A3A9}" type="presOf" srcId="{4E3FBA25-CD59-4ABE-AEB5-92A7E4516B52}" destId="{0E763946-976A-4CBF-AE51-E8AF35864D20}" srcOrd="1" destOrd="0" presId="urn:microsoft.com/office/officeart/2005/8/layout/list1"/>
    <dgm:cxn modelId="{4F92DB6E-BDA9-462D-9D28-99409EB118E7}" type="presOf" srcId="{D69D666B-DE98-4193-BBF1-9D4957650B23}" destId="{391BD322-2B40-470C-A2E8-10EF811D2CC4}" srcOrd="0" destOrd="0" presId="urn:microsoft.com/office/officeart/2005/8/layout/list1"/>
    <dgm:cxn modelId="{651F9382-4D13-49F4-AD81-132B70A934CC}" srcId="{3A8A3693-539A-4528-BDD4-0C816ECF6DB0}" destId="{10501490-220B-414E-844A-3334C923525B}" srcOrd="0" destOrd="0" parTransId="{8B206696-2D7F-4E50-BDA4-98E6F2EEE03E}" sibTransId="{D903821B-131F-41F8-9E89-EA3908CCB6BD}"/>
    <dgm:cxn modelId="{9F13919E-1654-415A-91A4-462FA1B870B6}" srcId="{3A8A3693-539A-4528-BDD4-0C816ECF6DB0}" destId="{4E3FBA25-CD59-4ABE-AEB5-92A7E4516B52}" srcOrd="1" destOrd="0" parTransId="{F6025636-2333-41E8-9361-1558460B4E1A}" sibTransId="{53EE4326-B0E3-41CE-AC8C-13D94DA0950E}"/>
    <dgm:cxn modelId="{0214E9AD-1322-4849-A850-2EED7993BC2B}" type="presOf" srcId="{D69D666B-DE98-4193-BBF1-9D4957650B23}" destId="{346BE1C6-51DA-4306-AAB4-831792436C6E}" srcOrd="1" destOrd="0" presId="urn:microsoft.com/office/officeart/2005/8/layout/list1"/>
    <dgm:cxn modelId="{4CDDF3DA-8566-48BC-B3DE-D562CC1A046E}" type="presOf" srcId="{10501490-220B-414E-844A-3334C923525B}" destId="{ED7AB936-7E9E-4E03-B9C6-3A6778D63D3F}" srcOrd="1" destOrd="0" presId="urn:microsoft.com/office/officeart/2005/8/layout/list1"/>
    <dgm:cxn modelId="{4C582CE7-CAEB-4052-B635-6609EBBC1DE7}" type="presOf" srcId="{3A8A3693-539A-4528-BDD4-0C816ECF6DB0}" destId="{FD71C072-EC3F-487F-96E6-D9899396BD03}" srcOrd="0" destOrd="0" presId="urn:microsoft.com/office/officeart/2005/8/layout/list1"/>
    <dgm:cxn modelId="{680B3B69-FAD0-40FC-8D18-911EDAA97730}" type="presParOf" srcId="{FD71C072-EC3F-487F-96E6-D9899396BD03}" destId="{B683E804-B55C-4CA4-84B3-B893BA8D7C69}" srcOrd="0" destOrd="0" presId="urn:microsoft.com/office/officeart/2005/8/layout/list1"/>
    <dgm:cxn modelId="{2C386C2A-29F4-4AB1-A8ED-C988527B254C}" type="presParOf" srcId="{B683E804-B55C-4CA4-84B3-B893BA8D7C69}" destId="{07CEC9B1-473E-4E04-AC55-35E7509D35FD}" srcOrd="0" destOrd="0" presId="urn:microsoft.com/office/officeart/2005/8/layout/list1"/>
    <dgm:cxn modelId="{0B117272-54B1-4096-A75F-2B4D0EA7A1B0}" type="presParOf" srcId="{B683E804-B55C-4CA4-84B3-B893BA8D7C69}" destId="{ED7AB936-7E9E-4E03-B9C6-3A6778D63D3F}" srcOrd="1" destOrd="0" presId="urn:microsoft.com/office/officeart/2005/8/layout/list1"/>
    <dgm:cxn modelId="{15B65585-55C0-4800-A055-50F415E050C3}" type="presParOf" srcId="{FD71C072-EC3F-487F-96E6-D9899396BD03}" destId="{39D8D9A8-5091-4E6C-AD86-9E458A7330F2}" srcOrd="1" destOrd="0" presId="urn:microsoft.com/office/officeart/2005/8/layout/list1"/>
    <dgm:cxn modelId="{5EDAE923-585E-4D42-A967-AA55A8F36E37}" type="presParOf" srcId="{FD71C072-EC3F-487F-96E6-D9899396BD03}" destId="{E315093E-F434-4DC1-90B8-FA69ED4F17CD}" srcOrd="2" destOrd="0" presId="urn:microsoft.com/office/officeart/2005/8/layout/list1"/>
    <dgm:cxn modelId="{FF020064-1876-4044-8D4F-B347056ABFFF}" type="presParOf" srcId="{FD71C072-EC3F-487F-96E6-D9899396BD03}" destId="{3EE23AB9-5558-44CF-A3C6-1997A69F6F1A}" srcOrd="3" destOrd="0" presId="urn:microsoft.com/office/officeart/2005/8/layout/list1"/>
    <dgm:cxn modelId="{C2ADBCC3-E8DB-4667-A72D-32D047619C9A}" type="presParOf" srcId="{FD71C072-EC3F-487F-96E6-D9899396BD03}" destId="{7C291A91-02C8-4BA3-914A-2CB152648246}" srcOrd="4" destOrd="0" presId="urn:microsoft.com/office/officeart/2005/8/layout/list1"/>
    <dgm:cxn modelId="{8D77A694-A180-4462-8C9E-EA7AFC2FA5C5}" type="presParOf" srcId="{7C291A91-02C8-4BA3-914A-2CB152648246}" destId="{BBD60CEB-9409-41A2-90D8-5263208D06CB}" srcOrd="0" destOrd="0" presId="urn:microsoft.com/office/officeart/2005/8/layout/list1"/>
    <dgm:cxn modelId="{E78B6237-2623-457B-905F-78C6EFB7C1D2}" type="presParOf" srcId="{7C291A91-02C8-4BA3-914A-2CB152648246}" destId="{0E763946-976A-4CBF-AE51-E8AF35864D20}" srcOrd="1" destOrd="0" presId="urn:microsoft.com/office/officeart/2005/8/layout/list1"/>
    <dgm:cxn modelId="{86B553F0-131B-4B40-B866-05FBD26CFCCA}" type="presParOf" srcId="{FD71C072-EC3F-487F-96E6-D9899396BD03}" destId="{75E9CA66-6D65-4C46-BA93-C01849A44F61}" srcOrd="5" destOrd="0" presId="urn:microsoft.com/office/officeart/2005/8/layout/list1"/>
    <dgm:cxn modelId="{FF8B3CF7-8F21-411A-B58B-1FF239ACE098}" type="presParOf" srcId="{FD71C072-EC3F-487F-96E6-D9899396BD03}" destId="{9104E28E-EC6D-4A78-8A34-6964568C40BE}" srcOrd="6" destOrd="0" presId="urn:microsoft.com/office/officeart/2005/8/layout/list1"/>
    <dgm:cxn modelId="{428842F0-85F1-49F4-BCD5-D22604E9BBC4}" type="presParOf" srcId="{FD71C072-EC3F-487F-96E6-D9899396BD03}" destId="{816A4F03-CB07-4E2A-8576-6C9C076557CC}" srcOrd="7" destOrd="0" presId="urn:microsoft.com/office/officeart/2005/8/layout/list1"/>
    <dgm:cxn modelId="{93306FDD-1866-48DF-972A-65A8CB458E3A}" type="presParOf" srcId="{FD71C072-EC3F-487F-96E6-D9899396BD03}" destId="{06107478-60FD-4B35-997C-9A6039D3965F}" srcOrd="8" destOrd="0" presId="urn:microsoft.com/office/officeart/2005/8/layout/list1"/>
    <dgm:cxn modelId="{51A336B6-335E-4177-9869-1A3BD00D7EEE}" type="presParOf" srcId="{06107478-60FD-4B35-997C-9A6039D3965F}" destId="{391BD322-2B40-470C-A2E8-10EF811D2CC4}" srcOrd="0" destOrd="0" presId="urn:microsoft.com/office/officeart/2005/8/layout/list1"/>
    <dgm:cxn modelId="{138993A3-8463-4DC5-AA70-2F51E82E033E}" type="presParOf" srcId="{06107478-60FD-4B35-997C-9A6039D3965F}" destId="{346BE1C6-51DA-4306-AAB4-831792436C6E}" srcOrd="1" destOrd="0" presId="urn:microsoft.com/office/officeart/2005/8/layout/list1"/>
    <dgm:cxn modelId="{C405B826-F671-4F2A-B3F4-AC0E6C2E30D2}" type="presParOf" srcId="{FD71C072-EC3F-487F-96E6-D9899396BD03}" destId="{83B606D9-8D6C-4EEF-8BAD-9AE630C45C7C}" srcOrd="9" destOrd="0" presId="urn:microsoft.com/office/officeart/2005/8/layout/list1"/>
    <dgm:cxn modelId="{C98EE790-6484-4BC7-AA90-A13CD9473C7D}" type="presParOf" srcId="{FD71C072-EC3F-487F-96E6-D9899396BD03}" destId="{AC291609-1DB3-48C6-9A7B-994CBAEDD69D}"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743B08-0E05-424B-B5E5-BF6591C7EA0D}" type="doc">
      <dgm:prSet loTypeId="urn:microsoft.com/office/officeart/2005/8/layout/process1" loCatId="process" qsTypeId="urn:microsoft.com/office/officeart/2005/8/quickstyle/simple1" qsCatId="simple" csTypeId="urn:microsoft.com/office/officeart/2005/8/colors/accent1_2" csCatId="accent1" phldr="1"/>
      <dgm:spPr/>
    </dgm:pt>
    <dgm:pt modelId="{D1D4F2F7-53A9-4F45-A186-5AF53B97457C}">
      <dgm:prSet phldrT="[Text]" custT="1"/>
      <dgm:spPr/>
      <dgm:t>
        <a:bodyPr/>
        <a:lstStyle/>
        <a:p>
          <a:r>
            <a:rPr lang="en-HK" sz="2800" dirty="0">
              <a:latin typeface="Times New Roman" panose="02020603050405020304" pitchFamily="18" charset="0"/>
              <a:cs typeface="Times New Roman" panose="02020603050405020304" pitchFamily="18" charset="0"/>
            </a:rPr>
            <a:t>PW</a:t>
          </a:r>
        </a:p>
      </dgm:t>
    </dgm:pt>
    <dgm:pt modelId="{5EC967BA-AA7A-4E7D-9A90-42D24B3C05B2}" type="parTrans" cxnId="{048E40AF-CFE7-456B-9998-9DC34E46191A}">
      <dgm:prSet/>
      <dgm:spPr/>
      <dgm:t>
        <a:bodyPr/>
        <a:lstStyle/>
        <a:p>
          <a:endParaRPr lang="en-HK"/>
        </a:p>
      </dgm:t>
    </dgm:pt>
    <dgm:pt modelId="{D9D9B14C-25F3-44D6-B8BE-8016E7C49F37}" type="sibTrans" cxnId="{048E40AF-CFE7-456B-9998-9DC34E46191A}">
      <dgm:prSet/>
      <dgm:spPr/>
      <dgm:t>
        <a:bodyPr/>
        <a:lstStyle/>
        <a:p>
          <a:endParaRPr lang="en-HK"/>
        </a:p>
      </dgm:t>
    </dgm:pt>
    <dgm:pt modelId="{FB99BC8B-FC9B-428C-A3D6-A21C700D5BF2}">
      <dgm:prSet phldrT="[Text]" custT="1"/>
      <dgm:spPr/>
      <dgm:t>
        <a:bodyPr/>
        <a:lstStyle/>
        <a:p>
          <a:r>
            <a:rPr lang="en-HK" sz="2800" dirty="0">
              <a:latin typeface="Times New Roman" panose="02020603050405020304" pitchFamily="18" charset="0"/>
              <a:cs typeface="Times New Roman" panose="02020603050405020304" pitchFamily="18" charset="0"/>
            </a:rPr>
            <a:t>Elliott’s brother</a:t>
          </a:r>
        </a:p>
      </dgm:t>
    </dgm:pt>
    <dgm:pt modelId="{E55AD672-FCC4-4C39-BACC-E538B881275C}" type="parTrans" cxnId="{10F89B82-7820-4909-9B27-C088227853CF}">
      <dgm:prSet/>
      <dgm:spPr/>
      <dgm:t>
        <a:bodyPr/>
        <a:lstStyle/>
        <a:p>
          <a:endParaRPr lang="en-HK"/>
        </a:p>
      </dgm:t>
    </dgm:pt>
    <dgm:pt modelId="{68A0B2B1-E9A7-4848-93F2-8AD31C3BADF2}" type="sibTrans" cxnId="{10F89B82-7820-4909-9B27-C088227853CF}">
      <dgm:prSet/>
      <dgm:spPr/>
      <dgm:t>
        <a:bodyPr/>
        <a:lstStyle/>
        <a:p>
          <a:endParaRPr lang="en-HK"/>
        </a:p>
      </dgm:t>
    </dgm:pt>
    <dgm:pt modelId="{1CADF846-2083-4694-9924-A48442D22237}">
      <dgm:prSet phldrT="[Text]" custT="1"/>
      <dgm:spPr/>
      <dgm:t>
        <a:bodyPr/>
        <a:lstStyle/>
        <a:p>
          <a:r>
            <a:rPr lang="en-HK" sz="2800" dirty="0">
              <a:latin typeface="Times New Roman" panose="02020603050405020304" pitchFamily="18" charset="0"/>
              <a:cs typeface="Times New Roman" panose="02020603050405020304" pitchFamily="18" charset="0"/>
            </a:rPr>
            <a:t>Elliott</a:t>
          </a:r>
        </a:p>
      </dgm:t>
    </dgm:pt>
    <dgm:pt modelId="{54379497-3D68-44D3-BC19-6AABB7B02C2E}" type="parTrans" cxnId="{2FF66C6A-B870-4A96-95CE-097DF36E16C9}">
      <dgm:prSet/>
      <dgm:spPr/>
      <dgm:t>
        <a:bodyPr/>
        <a:lstStyle/>
        <a:p>
          <a:endParaRPr lang="en-HK"/>
        </a:p>
      </dgm:t>
    </dgm:pt>
    <dgm:pt modelId="{73CD877E-F535-400C-AE3D-D83F96E6435C}" type="sibTrans" cxnId="{2FF66C6A-B870-4A96-95CE-097DF36E16C9}">
      <dgm:prSet/>
      <dgm:spPr/>
      <dgm:t>
        <a:bodyPr/>
        <a:lstStyle/>
        <a:p>
          <a:endParaRPr lang="en-HK"/>
        </a:p>
      </dgm:t>
    </dgm:pt>
    <dgm:pt modelId="{5D7D7F94-2271-48BB-93ED-78C0CE5B2B7B}" type="pres">
      <dgm:prSet presAssocID="{BA743B08-0E05-424B-B5E5-BF6591C7EA0D}" presName="Name0" presStyleCnt="0">
        <dgm:presLayoutVars>
          <dgm:dir/>
          <dgm:resizeHandles val="exact"/>
        </dgm:presLayoutVars>
      </dgm:prSet>
      <dgm:spPr/>
    </dgm:pt>
    <dgm:pt modelId="{A5264BF3-618F-48CB-9511-E5E24E37A38C}" type="pres">
      <dgm:prSet presAssocID="{D1D4F2F7-53A9-4F45-A186-5AF53B97457C}" presName="node" presStyleLbl="node1" presStyleIdx="0" presStyleCnt="3">
        <dgm:presLayoutVars>
          <dgm:bulletEnabled val="1"/>
        </dgm:presLayoutVars>
      </dgm:prSet>
      <dgm:spPr/>
    </dgm:pt>
    <dgm:pt modelId="{A11D9463-8F26-430B-BCCF-ED1AE90F3A32}" type="pres">
      <dgm:prSet presAssocID="{D9D9B14C-25F3-44D6-B8BE-8016E7C49F37}" presName="sibTrans" presStyleLbl="sibTrans2D1" presStyleIdx="0" presStyleCnt="2"/>
      <dgm:spPr/>
    </dgm:pt>
    <dgm:pt modelId="{7F2EDB11-3936-400B-9347-4DAF77098694}" type="pres">
      <dgm:prSet presAssocID="{D9D9B14C-25F3-44D6-B8BE-8016E7C49F37}" presName="connectorText" presStyleLbl="sibTrans2D1" presStyleIdx="0" presStyleCnt="2"/>
      <dgm:spPr/>
    </dgm:pt>
    <dgm:pt modelId="{09DFCDA6-E33C-413F-A04E-45BF420F8425}" type="pres">
      <dgm:prSet presAssocID="{FB99BC8B-FC9B-428C-A3D6-A21C700D5BF2}" presName="node" presStyleLbl="node1" presStyleIdx="1" presStyleCnt="3">
        <dgm:presLayoutVars>
          <dgm:bulletEnabled val="1"/>
        </dgm:presLayoutVars>
      </dgm:prSet>
      <dgm:spPr/>
    </dgm:pt>
    <dgm:pt modelId="{DC530C41-E8F2-4346-9BA3-8BF28571125D}" type="pres">
      <dgm:prSet presAssocID="{68A0B2B1-E9A7-4848-93F2-8AD31C3BADF2}" presName="sibTrans" presStyleLbl="sibTrans2D1" presStyleIdx="1" presStyleCnt="2"/>
      <dgm:spPr/>
    </dgm:pt>
    <dgm:pt modelId="{8F378A80-320D-475A-9778-BF35B31C765C}" type="pres">
      <dgm:prSet presAssocID="{68A0B2B1-E9A7-4848-93F2-8AD31C3BADF2}" presName="connectorText" presStyleLbl="sibTrans2D1" presStyleIdx="1" presStyleCnt="2"/>
      <dgm:spPr/>
    </dgm:pt>
    <dgm:pt modelId="{79F32BF4-BEEE-4FF1-920C-02F8D0225F1B}" type="pres">
      <dgm:prSet presAssocID="{1CADF846-2083-4694-9924-A48442D22237}" presName="node" presStyleLbl="node1" presStyleIdx="2" presStyleCnt="3">
        <dgm:presLayoutVars>
          <dgm:bulletEnabled val="1"/>
        </dgm:presLayoutVars>
      </dgm:prSet>
      <dgm:spPr/>
    </dgm:pt>
  </dgm:ptLst>
  <dgm:cxnLst>
    <dgm:cxn modelId="{BE25B835-7E0D-4D51-B618-12FAEAE633F0}" type="presOf" srcId="{1CADF846-2083-4694-9924-A48442D22237}" destId="{79F32BF4-BEEE-4FF1-920C-02F8D0225F1B}" srcOrd="0" destOrd="0" presId="urn:microsoft.com/office/officeart/2005/8/layout/process1"/>
    <dgm:cxn modelId="{9A788C36-44E7-48BD-9337-0062CF17584A}" type="presOf" srcId="{68A0B2B1-E9A7-4848-93F2-8AD31C3BADF2}" destId="{8F378A80-320D-475A-9778-BF35B31C765C}" srcOrd="1" destOrd="0" presId="urn:microsoft.com/office/officeart/2005/8/layout/process1"/>
    <dgm:cxn modelId="{A8E60458-41AF-4644-8AE5-1FF21DCA3C60}" type="presOf" srcId="{68A0B2B1-E9A7-4848-93F2-8AD31C3BADF2}" destId="{DC530C41-E8F2-4346-9BA3-8BF28571125D}" srcOrd="0" destOrd="0" presId="urn:microsoft.com/office/officeart/2005/8/layout/process1"/>
    <dgm:cxn modelId="{4CDD446A-B5BB-44DF-8076-AA3549761EB6}" type="presOf" srcId="{BA743B08-0E05-424B-B5E5-BF6591C7EA0D}" destId="{5D7D7F94-2271-48BB-93ED-78C0CE5B2B7B}" srcOrd="0" destOrd="0" presId="urn:microsoft.com/office/officeart/2005/8/layout/process1"/>
    <dgm:cxn modelId="{2FF66C6A-B870-4A96-95CE-097DF36E16C9}" srcId="{BA743B08-0E05-424B-B5E5-BF6591C7EA0D}" destId="{1CADF846-2083-4694-9924-A48442D22237}" srcOrd="2" destOrd="0" parTransId="{54379497-3D68-44D3-BC19-6AABB7B02C2E}" sibTransId="{73CD877E-F535-400C-AE3D-D83F96E6435C}"/>
    <dgm:cxn modelId="{E709286B-AC96-476A-B0C3-1E298715015B}" type="presOf" srcId="{FB99BC8B-FC9B-428C-A3D6-A21C700D5BF2}" destId="{09DFCDA6-E33C-413F-A04E-45BF420F8425}" srcOrd="0" destOrd="0" presId="urn:microsoft.com/office/officeart/2005/8/layout/process1"/>
    <dgm:cxn modelId="{10F89B82-7820-4909-9B27-C088227853CF}" srcId="{BA743B08-0E05-424B-B5E5-BF6591C7EA0D}" destId="{FB99BC8B-FC9B-428C-A3D6-A21C700D5BF2}" srcOrd="1" destOrd="0" parTransId="{E55AD672-FCC4-4C39-BACC-E538B881275C}" sibTransId="{68A0B2B1-E9A7-4848-93F2-8AD31C3BADF2}"/>
    <dgm:cxn modelId="{048E40AF-CFE7-456B-9998-9DC34E46191A}" srcId="{BA743B08-0E05-424B-B5E5-BF6591C7EA0D}" destId="{D1D4F2F7-53A9-4F45-A186-5AF53B97457C}" srcOrd="0" destOrd="0" parTransId="{5EC967BA-AA7A-4E7D-9A90-42D24B3C05B2}" sibTransId="{D9D9B14C-25F3-44D6-B8BE-8016E7C49F37}"/>
    <dgm:cxn modelId="{695A7EC4-0A5A-49A5-88D4-07EAC01EA321}" type="presOf" srcId="{D9D9B14C-25F3-44D6-B8BE-8016E7C49F37}" destId="{7F2EDB11-3936-400B-9347-4DAF77098694}" srcOrd="1" destOrd="0" presId="urn:microsoft.com/office/officeart/2005/8/layout/process1"/>
    <dgm:cxn modelId="{43FB1FCE-95BA-49CA-9CB8-57F24D402E4A}" type="presOf" srcId="{D1D4F2F7-53A9-4F45-A186-5AF53B97457C}" destId="{A5264BF3-618F-48CB-9511-E5E24E37A38C}" srcOrd="0" destOrd="0" presId="urn:microsoft.com/office/officeart/2005/8/layout/process1"/>
    <dgm:cxn modelId="{6DDF3AF1-7620-4CB3-9FAA-5AF1968F0D5E}" type="presOf" srcId="{D9D9B14C-25F3-44D6-B8BE-8016E7C49F37}" destId="{A11D9463-8F26-430B-BCCF-ED1AE90F3A32}" srcOrd="0" destOrd="0" presId="urn:microsoft.com/office/officeart/2005/8/layout/process1"/>
    <dgm:cxn modelId="{1E060C36-C652-4442-BD13-D6940DD98501}" type="presParOf" srcId="{5D7D7F94-2271-48BB-93ED-78C0CE5B2B7B}" destId="{A5264BF3-618F-48CB-9511-E5E24E37A38C}" srcOrd="0" destOrd="0" presId="urn:microsoft.com/office/officeart/2005/8/layout/process1"/>
    <dgm:cxn modelId="{9143E13D-84C3-4C1F-81A6-ABC59B254E4A}" type="presParOf" srcId="{5D7D7F94-2271-48BB-93ED-78C0CE5B2B7B}" destId="{A11D9463-8F26-430B-BCCF-ED1AE90F3A32}" srcOrd="1" destOrd="0" presId="urn:microsoft.com/office/officeart/2005/8/layout/process1"/>
    <dgm:cxn modelId="{0D2996B1-EFDD-4C7B-846F-BA97ADDC3D3E}" type="presParOf" srcId="{A11D9463-8F26-430B-BCCF-ED1AE90F3A32}" destId="{7F2EDB11-3936-400B-9347-4DAF77098694}" srcOrd="0" destOrd="0" presId="urn:microsoft.com/office/officeart/2005/8/layout/process1"/>
    <dgm:cxn modelId="{EECF0A6D-B05F-4E4C-BD17-5BEA9CA6E452}" type="presParOf" srcId="{5D7D7F94-2271-48BB-93ED-78C0CE5B2B7B}" destId="{09DFCDA6-E33C-413F-A04E-45BF420F8425}" srcOrd="2" destOrd="0" presId="urn:microsoft.com/office/officeart/2005/8/layout/process1"/>
    <dgm:cxn modelId="{3C417DC6-8B8D-4CE7-B270-76E3B12C0067}" type="presParOf" srcId="{5D7D7F94-2271-48BB-93ED-78C0CE5B2B7B}" destId="{DC530C41-E8F2-4346-9BA3-8BF28571125D}" srcOrd="3" destOrd="0" presId="urn:microsoft.com/office/officeart/2005/8/layout/process1"/>
    <dgm:cxn modelId="{93F8477D-055B-4C8A-8F53-82B0F34E63B1}" type="presParOf" srcId="{DC530C41-E8F2-4346-9BA3-8BF28571125D}" destId="{8F378A80-320D-475A-9778-BF35B31C765C}" srcOrd="0" destOrd="0" presId="urn:microsoft.com/office/officeart/2005/8/layout/process1"/>
    <dgm:cxn modelId="{135FAD2B-2D3B-4984-AD8A-084250ADFE27}" type="presParOf" srcId="{5D7D7F94-2271-48BB-93ED-78C0CE5B2B7B}" destId="{79F32BF4-BEEE-4FF1-920C-02F8D0225F1B}"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93E-F434-4DC1-90B8-FA69ED4F17CD}">
      <dsp:nvSpPr>
        <dsp:cNvPr id="0" name=""/>
        <dsp:cNvSpPr/>
      </dsp:nvSpPr>
      <dsp:spPr>
        <a:xfrm>
          <a:off x="0" y="395852"/>
          <a:ext cx="8128000" cy="630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7AB936-7E9E-4E03-B9C6-3A6778D63D3F}">
      <dsp:nvSpPr>
        <dsp:cNvPr id="0" name=""/>
        <dsp:cNvSpPr/>
      </dsp:nvSpPr>
      <dsp:spPr>
        <a:xfrm>
          <a:off x="406400" y="26852"/>
          <a:ext cx="5689600" cy="738000"/>
        </a:xfrm>
        <a:prstGeom prst="roundRect">
          <a:avLst/>
        </a:prstGeom>
        <a:solidFill>
          <a:srgbClr val="3333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422400">
            <a:lnSpc>
              <a:spcPct val="90000"/>
            </a:lnSpc>
            <a:spcBef>
              <a:spcPct val="0"/>
            </a:spcBef>
            <a:spcAft>
              <a:spcPct val="35000"/>
            </a:spcAft>
            <a:buNone/>
          </a:pPr>
          <a:r>
            <a:rPr lang="en-HK" sz="3200" kern="1200" dirty="0">
              <a:latin typeface="Times New Roman" panose="02020603050405020304" pitchFamily="18" charset="0"/>
              <a:cs typeface="Times New Roman" panose="02020603050405020304" pitchFamily="18" charset="0"/>
            </a:rPr>
            <a:t>Trespass to chattels </a:t>
          </a:r>
        </a:p>
      </dsp:txBody>
      <dsp:txXfrm>
        <a:off x="442426" y="62878"/>
        <a:ext cx="5617548" cy="665948"/>
      </dsp:txXfrm>
    </dsp:sp>
    <dsp:sp modelId="{9104E28E-EC6D-4A78-8A34-6964568C40BE}">
      <dsp:nvSpPr>
        <dsp:cNvPr id="0" name=""/>
        <dsp:cNvSpPr/>
      </dsp:nvSpPr>
      <dsp:spPr>
        <a:xfrm>
          <a:off x="0" y="1529852"/>
          <a:ext cx="8128000" cy="630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763946-976A-4CBF-AE51-E8AF35864D20}">
      <dsp:nvSpPr>
        <dsp:cNvPr id="0" name=""/>
        <dsp:cNvSpPr/>
      </dsp:nvSpPr>
      <dsp:spPr>
        <a:xfrm>
          <a:off x="406400" y="1160852"/>
          <a:ext cx="5689600" cy="73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422400">
            <a:lnSpc>
              <a:spcPct val="90000"/>
            </a:lnSpc>
            <a:spcBef>
              <a:spcPct val="0"/>
            </a:spcBef>
            <a:spcAft>
              <a:spcPct val="35000"/>
            </a:spcAft>
            <a:buNone/>
          </a:pPr>
          <a:r>
            <a:rPr lang="en-HK" sz="3200" kern="1200" dirty="0">
              <a:latin typeface="Times New Roman" panose="02020603050405020304" pitchFamily="18" charset="0"/>
              <a:cs typeface="Times New Roman" panose="02020603050405020304" pitchFamily="18" charset="0"/>
            </a:rPr>
            <a:t>Conversion </a:t>
          </a:r>
        </a:p>
      </dsp:txBody>
      <dsp:txXfrm>
        <a:off x="442426" y="1196878"/>
        <a:ext cx="5617548" cy="665948"/>
      </dsp:txXfrm>
    </dsp:sp>
    <dsp:sp modelId="{AC291609-1DB3-48C6-9A7B-994CBAEDD69D}">
      <dsp:nvSpPr>
        <dsp:cNvPr id="0" name=""/>
        <dsp:cNvSpPr/>
      </dsp:nvSpPr>
      <dsp:spPr>
        <a:xfrm>
          <a:off x="0" y="2663852"/>
          <a:ext cx="8128000" cy="630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6BE1C6-51DA-4306-AAB4-831792436C6E}">
      <dsp:nvSpPr>
        <dsp:cNvPr id="0" name=""/>
        <dsp:cNvSpPr/>
      </dsp:nvSpPr>
      <dsp:spPr>
        <a:xfrm>
          <a:off x="406400" y="2294852"/>
          <a:ext cx="5689600" cy="738000"/>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422400">
            <a:lnSpc>
              <a:spcPct val="90000"/>
            </a:lnSpc>
            <a:spcBef>
              <a:spcPct val="0"/>
            </a:spcBef>
            <a:spcAft>
              <a:spcPct val="35000"/>
            </a:spcAft>
            <a:buNone/>
          </a:pPr>
          <a:r>
            <a:rPr lang="en-HK" sz="3200" kern="1200" dirty="0">
              <a:latin typeface="Times New Roman" panose="02020603050405020304" pitchFamily="18" charset="0"/>
              <a:cs typeface="Times New Roman" panose="02020603050405020304" pitchFamily="18" charset="0"/>
            </a:rPr>
            <a:t>Detinue</a:t>
          </a:r>
          <a:r>
            <a:rPr lang="en-HK" sz="4100" kern="1200" dirty="0"/>
            <a:t> </a:t>
          </a:r>
        </a:p>
      </dsp:txBody>
      <dsp:txXfrm>
        <a:off x="442426" y="2330878"/>
        <a:ext cx="5617548"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64BF3-618F-48CB-9511-E5E24E37A38C}">
      <dsp:nvSpPr>
        <dsp:cNvPr id="0" name=""/>
        <dsp:cNvSpPr/>
      </dsp:nvSpPr>
      <dsp:spPr>
        <a:xfrm>
          <a:off x="7143" y="353588"/>
          <a:ext cx="2135187" cy="1281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HK" sz="2800" kern="1200" dirty="0">
              <a:latin typeface="Times New Roman" panose="02020603050405020304" pitchFamily="18" charset="0"/>
              <a:cs typeface="Times New Roman" panose="02020603050405020304" pitchFamily="18" charset="0"/>
            </a:rPr>
            <a:t>PW</a:t>
          </a:r>
        </a:p>
      </dsp:txBody>
      <dsp:txXfrm>
        <a:off x="44665" y="391110"/>
        <a:ext cx="2060143" cy="1206068"/>
      </dsp:txXfrm>
    </dsp:sp>
    <dsp:sp modelId="{A11D9463-8F26-430B-BCCF-ED1AE90F3A32}">
      <dsp:nvSpPr>
        <dsp:cNvPr id="0" name=""/>
        <dsp:cNvSpPr/>
      </dsp:nvSpPr>
      <dsp:spPr>
        <a:xfrm>
          <a:off x="2355850" y="729381"/>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HK" sz="2400" kern="1200"/>
        </a:p>
      </dsp:txBody>
      <dsp:txXfrm>
        <a:off x="2355850" y="835286"/>
        <a:ext cx="316861" cy="317716"/>
      </dsp:txXfrm>
    </dsp:sp>
    <dsp:sp modelId="{09DFCDA6-E33C-413F-A04E-45BF420F8425}">
      <dsp:nvSpPr>
        <dsp:cNvPr id="0" name=""/>
        <dsp:cNvSpPr/>
      </dsp:nvSpPr>
      <dsp:spPr>
        <a:xfrm>
          <a:off x="2996406" y="353588"/>
          <a:ext cx="2135187" cy="1281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HK" sz="2800" kern="1200" dirty="0">
              <a:latin typeface="Times New Roman" panose="02020603050405020304" pitchFamily="18" charset="0"/>
              <a:cs typeface="Times New Roman" panose="02020603050405020304" pitchFamily="18" charset="0"/>
            </a:rPr>
            <a:t>Elliott’s brother</a:t>
          </a:r>
        </a:p>
      </dsp:txBody>
      <dsp:txXfrm>
        <a:off x="3033928" y="391110"/>
        <a:ext cx="2060143" cy="1206068"/>
      </dsp:txXfrm>
    </dsp:sp>
    <dsp:sp modelId="{DC530C41-E8F2-4346-9BA3-8BF28571125D}">
      <dsp:nvSpPr>
        <dsp:cNvPr id="0" name=""/>
        <dsp:cNvSpPr/>
      </dsp:nvSpPr>
      <dsp:spPr>
        <a:xfrm>
          <a:off x="5345112" y="729381"/>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HK" sz="2400" kern="1200"/>
        </a:p>
      </dsp:txBody>
      <dsp:txXfrm>
        <a:off x="5345112" y="835286"/>
        <a:ext cx="316861" cy="317716"/>
      </dsp:txXfrm>
    </dsp:sp>
    <dsp:sp modelId="{79F32BF4-BEEE-4FF1-920C-02F8D0225F1B}">
      <dsp:nvSpPr>
        <dsp:cNvPr id="0" name=""/>
        <dsp:cNvSpPr/>
      </dsp:nvSpPr>
      <dsp:spPr>
        <a:xfrm>
          <a:off x="5985668" y="353588"/>
          <a:ext cx="2135187" cy="1281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HK" sz="2800" kern="1200" dirty="0">
              <a:latin typeface="Times New Roman" panose="02020603050405020304" pitchFamily="18" charset="0"/>
              <a:cs typeface="Times New Roman" panose="02020603050405020304" pitchFamily="18" charset="0"/>
            </a:rPr>
            <a:t>Elliott</a:t>
          </a:r>
        </a:p>
      </dsp:txBody>
      <dsp:txXfrm>
        <a:off x="6023190" y="391110"/>
        <a:ext cx="2060143" cy="12060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5/8/2026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4/8/2026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a:p>
        </p:txBody>
      </p:sp>
    </p:spTree>
    <p:extLst>
      <p:ext uri="{BB962C8B-B14F-4D97-AF65-F5344CB8AC3E}">
        <p14:creationId xmlns:p14="http://schemas.microsoft.com/office/powerpoint/2010/main" val="1560858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a:p>
        </p:txBody>
      </p:sp>
    </p:spTree>
    <p:extLst>
      <p:ext uri="{BB962C8B-B14F-4D97-AF65-F5344CB8AC3E}">
        <p14:creationId xmlns:p14="http://schemas.microsoft.com/office/powerpoint/2010/main" val="1923510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a:p>
        </p:txBody>
      </p:sp>
    </p:spTree>
    <p:extLst>
      <p:ext uri="{BB962C8B-B14F-4D97-AF65-F5344CB8AC3E}">
        <p14:creationId xmlns:p14="http://schemas.microsoft.com/office/powerpoint/2010/main" val="79067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a:p>
        </p:txBody>
      </p:sp>
    </p:spTree>
    <p:extLst>
      <p:ext uri="{BB962C8B-B14F-4D97-AF65-F5344CB8AC3E}">
        <p14:creationId xmlns:p14="http://schemas.microsoft.com/office/powerpoint/2010/main" val="806261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a:p>
        </p:txBody>
      </p:sp>
    </p:spTree>
    <p:extLst>
      <p:ext uri="{BB962C8B-B14F-4D97-AF65-F5344CB8AC3E}">
        <p14:creationId xmlns:p14="http://schemas.microsoft.com/office/powerpoint/2010/main" val="1174974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a:p>
        </p:txBody>
      </p:sp>
    </p:spTree>
    <p:extLst>
      <p:ext uri="{BB962C8B-B14F-4D97-AF65-F5344CB8AC3E}">
        <p14:creationId xmlns:p14="http://schemas.microsoft.com/office/powerpoint/2010/main" val="2272174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108229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4274834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3268708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3773178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3991263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14506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311241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777128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1260794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958588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958588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3412088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4000345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3720441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Week 2 – Part 2 </a:t>
            </a:r>
            <a:br>
              <a:rPr lang="en-AU" sz="3100" b="1" dirty="0">
                <a:latin typeface="Times New Roman" panose="02020603050405020304" pitchFamily="18" charset="0"/>
                <a:cs typeface="Times New Roman" panose="02020603050405020304" pitchFamily="18" charset="0"/>
              </a:rPr>
            </a:br>
            <a:r>
              <a:rPr lang="en-AU" sz="3100" b="1" i="1" dirty="0">
                <a:latin typeface="Times New Roman" panose="02020603050405020304" pitchFamily="18" charset="0"/>
                <a:cs typeface="Times New Roman" panose="02020603050405020304" pitchFamily="18" charset="0"/>
              </a:rPr>
              <a:t>Interference with Chattels</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a:solidFill>
                  <a:schemeClr val="accent3"/>
                </a:solidFill>
                <a:latin typeface="Times New Roman" panose="02020603050405020304" pitchFamily="18" charset="0"/>
                <a:cs typeface="Times New Roman" panose="02020603050405020304" pitchFamily="18" charset="0"/>
              </a:rPr>
              <a:t>Interference </a:t>
            </a:r>
            <a:r>
              <a:rPr lang="en-US" dirty="0">
                <a:solidFill>
                  <a:schemeClr val="accent3"/>
                </a:solidFill>
                <a:latin typeface="Times New Roman" panose="02020603050405020304" pitchFamily="18" charset="0"/>
                <a:cs typeface="Times New Roman" panose="02020603050405020304" pitchFamily="18" charset="0"/>
              </a:rPr>
              <a:t>with chattels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Several tort actions are possible to protect one’s chattels from unlawful interference: </a:t>
            </a:r>
          </a:p>
        </p:txBody>
      </p:sp>
      <p:graphicFrame>
        <p:nvGraphicFramePr>
          <p:cNvPr id="4" name="Diagram 3">
            <a:extLst>
              <a:ext uri="{FF2B5EF4-FFF2-40B4-BE49-F238E27FC236}">
                <a16:creationId xmlns:a16="http://schemas.microsoft.com/office/drawing/2014/main" id="{99513698-579E-1E38-2957-358D2C690894}"/>
              </a:ext>
            </a:extLst>
          </p:cNvPr>
          <p:cNvGraphicFramePr/>
          <p:nvPr>
            <p:extLst>
              <p:ext uri="{D42A27DB-BD31-4B8C-83A1-F6EECF244321}">
                <p14:modId xmlns:p14="http://schemas.microsoft.com/office/powerpoint/2010/main" val="3073755633"/>
              </p:ext>
            </p:extLst>
          </p:nvPr>
        </p:nvGraphicFramePr>
        <p:xfrm>
          <a:off x="3020828" y="2721934"/>
          <a:ext cx="8128000" cy="33207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3225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Meaning of chattels</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“Chattels” are goods – tangible or moveable goods  </a:t>
            </a:r>
          </a:p>
          <a:p>
            <a:pPr marL="0" indent="0">
              <a:buNone/>
            </a:pPr>
            <a:endParaRPr lang="en-HK" sz="24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Key characteristics of chattels are: </a:t>
            </a:r>
          </a:p>
          <a:p>
            <a:pPr marL="0" indent="0">
              <a:buNone/>
            </a:pPr>
            <a:endParaRPr lang="en-HK"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Tangible </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Can be possessed physically </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Movable </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Visible </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Transferable by delivery </a:t>
            </a:r>
          </a:p>
        </p:txBody>
      </p:sp>
    </p:spTree>
    <p:extLst>
      <p:ext uri="{BB962C8B-B14F-4D97-AF65-F5344CB8AC3E}">
        <p14:creationId xmlns:p14="http://schemas.microsoft.com/office/powerpoint/2010/main" val="2440430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Chattels include pets, livestock, motor vehicles, books, computers, mobile phones and artwork </a:t>
            </a: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But does </a:t>
            </a:r>
            <a:r>
              <a:rPr lang="en-HK" sz="2800" u="sng" dirty="0">
                <a:latin typeface="Times New Roman" panose="02020603050405020304" pitchFamily="18" charset="0"/>
                <a:cs typeface="Times New Roman" panose="02020603050405020304" pitchFamily="18" charset="0"/>
              </a:rPr>
              <a:t>not</a:t>
            </a:r>
            <a:r>
              <a:rPr lang="en-HK" sz="2800" dirty="0">
                <a:latin typeface="Times New Roman" panose="02020603050405020304" pitchFamily="18" charset="0"/>
                <a:cs typeface="Times New Roman" panose="02020603050405020304" pitchFamily="18" charset="0"/>
              </a:rPr>
              <a:t> include fixtures such buildings or equipment permanently attached to land </a:t>
            </a:r>
          </a:p>
          <a:p>
            <a:pPr marL="0" indent="0">
              <a:buNone/>
            </a:pPr>
            <a:r>
              <a:rPr lang="en-HK" sz="2800" dirty="0">
                <a:latin typeface="Times New Roman" panose="02020603050405020304" pitchFamily="18" charset="0"/>
                <a:cs typeface="Times New Roman" panose="02020603050405020304" pitchFamily="18" charset="0"/>
              </a:rPr>
              <a:t> </a:t>
            </a:r>
          </a:p>
        </p:txBody>
      </p:sp>
      <p:sp>
        <p:nvSpPr>
          <p:cNvPr id="4" name="Arrow: Pentagon 3">
            <a:extLst>
              <a:ext uri="{FF2B5EF4-FFF2-40B4-BE49-F238E27FC236}">
                <a16:creationId xmlns:a16="http://schemas.microsoft.com/office/drawing/2014/main" id="{0F71FD68-BC90-68FF-2037-3CE9945B3FEE}"/>
              </a:ext>
            </a:extLst>
          </p:cNvPr>
          <p:cNvSpPr/>
          <p:nvPr/>
        </p:nvSpPr>
        <p:spPr>
          <a:xfrm>
            <a:off x="4774020" y="4051005"/>
            <a:ext cx="3296092" cy="1298569"/>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HK" sz="2800" dirty="0">
                <a:solidFill>
                  <a:srgbClr val="3333FF"/>
                </a:solidFill>
                <a:latin typeface="Times New Roman" panose="02020603050405020304" pitchFamily="18" charset="0"/>
                <a:cs typeface="Times New Roman" panose="02020603050405020304" pitchFamily="18" charset="0"/>
              </a:rPr>
              <a:t>What about minerals? </a:t>
            </a:r>
          </a:p>
        </p:txBody>
      </p:sp>
    </p:spTree>
    <p:extLst>
      <p:ext uri="{BB962C8B-B14F-4D97-AF65-F5344CB8AC3E}">
        <p14:creationId xmlns:p14="http://schemas.microsoft.com/office/powerpoint/2010/main" val="4279584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What about corps or body parts? </a:t>
            </a:r>
          </a:p>
          <a:p>
            <a:pPr marL="0" indent="0">
              <a:buNone/>
            </a:pPr>
            <a:endParaRPr lang="en-HK"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q"/>
            </a:pPr>
            <a:r>
              <a:rPr lang="en-HK" sz="2800" dirty="0">
                <a:latin typeface="Times New Roman" panose="02020603050405020304" pitchFamily="18" charset="0"/>
                <a:cs typeface="Times New Roman" panose="02020603050405020304" pitchFamily="18" charset="0"/>
              </a:rPr>
              <a:t> no property in a dead body (</a:t>
            </a:r>
            <a:r>
              <a:rPr lang="en-HK" sz="2800" u="sng" dirty="0">
                <a:latin typeface="Times New Roman" panose="02020603050405020304" pitchFamily="18" charset="0"/>
                <a:cs typeface="Times New Roman" panose="02020603050405020304" pitchFamily="18" charset="0"/>
              </a:rPr>
              <a:t>exception</a:t>
            </a:r>
            <a:r>
              <a:rPr lang="en-HK" sz="2800" dirty="0">
                <a:latin typeface="Times New Roman" panose="02020603050405020304" pitchFamily="18" charset="0"/>
                <a:cs typeface="Times New Roman" panose="02020603050405020304" pitchFamily="18" charset="0"/>
              </a:rPr>
              <a:t>: Egyptian mummy) </a:t>
            </a:r>
          </a:p>
          <a:p>
            <a:pPr lvl="2">
              <a:buFont typeface="Wingdings" panose="05000000000000000000" pitchFamily="2" charset="2"/>
              <a:buChar char="q"/>
            </a:pPr>
            <a:r>
              <a:rPr lang="en-HK" sz="2800" dirty="0">
                <a:latin typeface="Times New Roman" panose="02020603050405020304" pitchFamily="18" charset="0"/>
                <a:cs typeface="Times New Roman" panose="02020603050405020304" pitchFamily="18" charset="0"/>
              </a:rPr>
              <a:t> stored sperm may be protected at chattels </a:t>
            </a:r>
          </a:p>
          <a:p>
            <a:pPr lvl="2">
              <a:buFont typeface="Wingdings" panose="05000000000000000000" pitchFamily="2" charset="2"/>
              <a:buChar char="q"/>
            </a:pPr>
            <a:r>
              <a:rPr lang="en-HK" sz="2800" dirty="0">
                <a:latin typeface="Times New Roman" panose="02020603050405020304" pitchFamily="18" charset="0"/>
                <a:cs typeface="Times New Roman" panose="02020603050405020304" pitchFamily="18" charset="0"/>
              </a:rPr>
              <a:t> body parts?   </a:t>
            </a: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Should intangible properties such as bitcoins, domain names and digital files be protected as chattels? </a:t>
            </a:r>
          </a:p>
        </p:txBody>
      </p:sp>
      <p:sp>
        <p:nvSpPr>
          <p:cNvPr id="4" name="Double Brace 3">
            <a:extLst>
              <a:ext uri="{FF2B5EF4-FFF2-40B4-BE49-F238E27FC236}">
                <a16:creationId xmlns:a16="http://schemas.microsoft.com/office/drawing/2014/main" id="{7159C302-468D-9955-68CC-BFFAC68EBE03}"/>
              </a:ext>
            </a:extLst>
          </p:cNvPr>
          <p:cNvSpPr/>
          <p:nvPr/>
        </p:nvSpPr>
        <p:spPr>
          <a:xfrm>
            <a:off x="6815470" y="5071730"/>
            <a:ext cx="1584251" cy="1399871"/>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HK" sz="2400" dirty="0">
                <a:solidFill>
                  <a:srgbClr val="3333FF"/>
                </a:solidFill>
                <a:latin typeface="Times New Roman" panose="02020603050405020304" pitchFamily="18" charset="0"/>
                <a:cs typeface="Times New Roman" panose="02020603050405020304" pitchFamily="18" charset="0"/>
              </a:rPr>
              <a:t>What do you think?</a:t>
            </a:r>
          </a:p>
        </p:txBody>
      </p:sp>
      <p:sp>
        <p:nvSpPr>
          <p:cNvPr id="5" name="Action Button: Help 4">
            <a:hlinkClick r:id="" action="ppaction://noaction" highlightClick="1"/>
            <a:extLst>
              <a:ext uri="{FF2B5EF4-FFF2-40B4-BE49-F238E27FC236}">
                <a16:creationId xmlns:a16="http://schemas.microsoft.com/office/drawing/2014/main" id="{4CD2B46C-4820-7BC5-4C32-2B841271980D}"/>
              </a:ext>
            </a:extLst>
          </p:cNvPr>
          <p:cNvSpPr/>
          <p:nvPr/>
        </p:nvSpPr>
        <p:spPr>
          <a:xfrm>
            <a:off x="9071951" y="5250457"/>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9034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Trespass to chattels</a:t>
            </a:r>
          </a:p>
          <a:p>
            <a:pPr marL="0" indent="0">
              <a:buNone/>
            </a:pPr>
            <a:r>
              <a:rPr lang="en-US" sz="2800" u="sng" dirty="0">
                <a:solidFill>
                  <a:srgbClr val="008000"/>
                </a:solidFill>
                <a:latin typeface="Times New Roman" panose="02020603050405020304" pitchFamily="18" charset="0"/>
                <a:cs typeface="Times New Roman" panose="02020603050405020304" pitchFamily="18" charset="0"/>
              </a:rPr>
              <a:t>Elements:</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A </a:t>
            </a:r>
            <a:r>
              <a:rPr lang="en-HK" sz="2800" b="1" dirty="0">
                <a:latin typeface="Times New Roman" panose="02020603050405020304" pitchFamily="18" charset="0"/>
                <a:cs typeface="Times New Roman" panose="02020603050405020304" pitchFamily="18" charset="0"/>
              </a:rPr>
              <a:t>direct interference </a:t>
            </a:r>
            <a:r>
              <a:rPr lang="en-HK" sz="2800" dirty="0">
                <a:latin typeface="Times New Roman" panose="02020603050405020304" pitchFamily="18" charset="0"/>
                <a:cs typeface="Times New Roman" panose="02020603050405020304" pitchFamily="18" charset="0"/>
              </a:rPr>
              <a:t>with </a:t>
            </a:r>
            <a:r>
              <a:rPr lang="en-HK" sz="2800" b="1" dirty="0">
                <a:latin typeface="Times New Roman" panose="02020603050405020304" pitchFamily="18" charset="0"/>
                <a:cs typeface="Times New Roman" panose="02020603050405020304" pitchFamily="18" charset="0"/>
              </a:rPr>
              <a:t>chattels</a:t>
            </a:r>
            <a:r>
              <a:rPr lang="en-HK" sz="2800" dirty="0">
                <a:latin typeface="Times New Roman" panose="02020603050405020304" pitchFamily="18" charset="0"/>
                <a:cs typeface="Times New Roman" panose="02020603050405020304" pitchFamily="18" charset="0"/>
              </a:rPr>
              <a:t> in the </a:t>
            </a:r>
            <a:r>
              <a:rPr lang="en-HK" sz="2800" b="1" dirty="0">
                <a:latin typeface="Times New Roman" panose="02020603050405020304" pitchFamily="18" charset="0"/>
                <a:cs typeface="Times New Roman" panose="02020603050405020304" pitchFamily="18" charset="0"/>
              </a:rPr>
              <a:t>possession of the plaintiff</a:t>
            </a:r>
            <a:r>
              <a:rPr lang="en-HK" sz="2800" dirty="0">
                <a:latin typeface="Times New Roman" panose="02020603050405020304" pitchFamily="18" charset="0"/>
                <a:cs typeface="Times New Roman" panose="02020603050405020304" pitchFamily="18" charset="0"/>
              </a:rPr>
              <a:t> at the time of interference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Since the action is in trespass, </a:t>
            </a:r>
            <a:r>
              <a:rPr lang="en-HK" sz="2800" u="sng" dirty="0">
                <a:latin typeface="Times New Roman" panose="02020603050405020304" pitchFamily="18" charset="0"/>
                <a:cs typeface="Times New Roman" panose="02020603050405020304" pitchFamily="18" charset="0"/>
              </a:rPr>
              <a:t>no</a:t>
            </a:r>
            <a:r>
              <a:rPr lang="en-HK" sz="2800" dirty="0">
                <a:latin typeface="Times New Roman" panose="02020603050405020304" pitchFamily="18" charset="0"/>
                <a:cs typeface="Times New Roman" panose="02020603050405020304" pitchFamily="18" charset="0"/>
              </a:rPr>
              <a:t> proof of actual damage is generally required </a:t>
            </a: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Usual defences like consent and lawful authority apply (we deal with defences in a later week)</a:t>
            </a:r>
          </a:p>
        </p:txBody>
      </p:sp>
    </p:spTree>
    <p:extLst>
      <p:ext uri="{BB962C8B-B14F-4D97-AF65-F5344CB8AC3E}">
        <p14:creationId xmlns:p14="http://schemas.microsoft.com/office/powerpoint/2010/main" val="2778440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Understanding </a:t>
            </a:r>
            <a:r>
              <a:rPr lang="en-HK" sz="2800" u="sng" dirty="0">
                <a:latin typeface="Times New Roman" panose="02020603050405020304" pitchFamily="18" charset="0"/>
                <a:cs typeface="Times New Roman" panose="02020603050405020304" pitchFamily="18" charset="0"/>
              </a:rPr>
              <a:t>possession</a:t>
            </a:r>
            <a:r>
              <a:rPr lang="en-HK" sz="2800" dirty="0">
                <a:latin typeface="Times New Roman" panose="02020603050405020304" pitchFamily="18" charset="0"/>
                <a:cs typeface="Times New Roman" panose="02020603050405020304" pitchFamily="18" charset="0"/>
              </a:rPr>
              <a:t> is critical to trespass to chattels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Possession is </a:t>
            </a:r>
            <a:r>
              <a:rPr lang="en-HK" sz="2800" i="1" dirty="0">
                <a:latin typeface="Times New Roman" panose="02020603050405020304" pitchFamily="18" charset="0"/>
                <a:cs typeface="Times New Roman" panose="02020603050405020304" pitchFamily="18" charset="0"/>
              </a:rPr>
              <a:t>different from ownership </a:t>
            </a:r>
            <a:r>
              <a:rPr lang="en-HK" sz="2800" dirty="0">
                <a:latin typeface="Times New Roman" panose="02020603050405020304" pitchFamily="18" charset="0"/>
                <a:cs typeface="Times New Roman" panose="02020603050405020304" pitchFamily="18" charset="0"/>
              </a:rPr>
              <a:t>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Possession has two elements:</a:t>
            </a:r>
          </a:p>
          <a:p>
            <a:pPr marL="0" indent="0">
              <a:buNone/>
            </a:pPr>
            <a:endParaRPr lang="en-HK" sz="1000" dirty="0">
              <a:latin typeface="Times New Roman" panose="02020603050405020304" pitchFamily="18" charset="0"/>
              <a:cs typeface="Times New Roman" panose="02020603050405020304" pitchFamily="18" charset="0"/>
            </a:endParaRPr>
          </a:p>
          <a:p>
            <a:pPr marL="1885950" lvl="3" indent="-514350">
              <a:buFont typeface="+mj-lt"/>
              <a:buAutoNum type="arabicParenR"/>
            </a:pPr>
            <a:r>
              <a:rPr lang="en-HK" sz="2800" dirty="0">
                <a:latin typeface="Times New Roman" panose="02020603050405020304" pitchFamily="18" charset="0"/>
                <a:cs typeface="Times New Roman" panose="02020603050405020304" pitchFamily="18" charset="0"/>
              </a:rPr>
              <a:t>Intention to exercise control and exclude others</a:t>
            </a:r>
          </a:p>
          <a:p>
            <a:pPr marL="1885950" lvl="3" indent="-514350">
              <a:buFont typeface="+mj-lt"/>
              <a:buAutoNum type="arabicParenR"/>
            </a:pPr>
            <a:r>
              <a:rPr lang="en-HK" sz="2800" dirty="0">
                <a:latin typeface="Times New Roman" panose="02020603050405020304" pitchFamily="18" charset="0"/>
                <a:cs typeface="Times New Roman" panose="02020603050405020304" pitchFamily="18" charset="0"/>
              </a:rPr>
              <a:t>Actual control </a:t>
            </a:r>
          </a:p>
        </p:txBody>
      </p:sp>
      <p:sp>
        <p:nvSpPr>
          <p:cNvPr id="5" name="Folded Corner 4">
            <a:extLst>
              <a:ext uri="{FF2B5EF4-FFF2-40B4-BE49-F238E27FC236}">
                <a16:creationId xmlns:a16="http://schemas.microsoft.com/office/drawing/2014/main" id="{7ACF9FCA-C0EC-52FF-1C37-35BB9771E689}"/>
              </a:ext>
            </a:extLst>
          </p:cNvPr>
          <p:cNvSpPr/>
          <p:nvPr/>
        </p:nvSpPr>
        <p:spPr>
          <a:xfrm>
            <a:off x="9459414" y="1916723"/>
            <a:ext cx="2012586" cy="1764323"/>
          </a:xfrm>
          <a:prstGeom prst="foldedCorner">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Let’s discuss the example of borrowing a bike…</a:t>
            </a:r>
          </a:p>
        </p:txBody>
      </p:sp>
    </p:spTree>
    <p:extLst>
      <p:ext uri="{BB962C8B-B14F-4D97-AF65-F5344CB8AC3E}">
        <p14:creationId xmlns:p14="http://schemas.microsoft.com/office/powerpoint/2010/main" val="81447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Let us consider </a:t>
            </a:r>
            <a:r>
              <a:rPr lang="en-HK" sz="2800" i="1" dirty="0">
                <a:solidFill>
                  <a:srgbClr val="0070C0"/>
                </a:solidFill>
                <a:latin typeface="Times New Roman" panose="02020603050405020304" pitchFamily="18" charset="0"/>
                <a:cs typeface="Times New Roman" panose="02020603050405020304" pitchFamily="18" charset="0"/>
              </a:rPr>
              <a:t>Penfolds Wines v Elliott </a:t>
            </a:r>
            <a:r>
              <a:rPr lang="en-HK" sz="2800" dirty="0">
                <a:solidFill>
                  <a:srgbClr val="0070C0"/>
                </a:solidFill>
                <a:latin typeface="Times New Roman" panose="02020603050405020304" pitchFamily="18" charset="0"/>
                <a:cs typeface="Times New Roman" panose="02020603050405020304" pitchFamily="18" charset="0"/>
              </a:rPr>
              <a:t>(1946) 74 CLR 204 </a:t>
            </a:r>
            <a:r>
              <a:rPr lang="en-HK" sz="2800" dirty="0">
                <a:solidFill>
                  <a:srgbClr val="7030A0"/>
                </a:solidFill>
                <a:latin typeface="Times New Roman" panose="02020603050405020304" pitchFamily="18" charset="0"/>
                <a:cs typeface="Times New Roman" panose="02020603050405020304" pitchFamily="18" charset="0"/>
              </a:rPr>
              <a:t>(PW sold wine in bottles embossed with words: “This bottle is the property of Penfolds Wines Ltd”; E sold bulk wines to customers who brought in their own bottles; E used PW’s bottles, given to him by his brother, to sell wines; E only intended to sell wine, not the bottles) </a:t>
            </a: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PW sued E in trespass and conversion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PW also sought an injunction against E to restrain him from selling his wine in PW’s bottles  </a:t>
            </a:r>
          </a:p>
        </p:txBody>
      </p:sp>
    </p:spTree>
    <p:extLst>
      <p:ext uri="{BB962C8B-B14F-4D97-AF65-F5344CB8AC3E}">
        <p14:creationId xmlns:p14="http://schemas.microsoft.com/office/powerpoint/2010/main" val="4236137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The High Court by majority held that no trespass to goods was made out because PW’s bottles were already in the possession of Elliott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Dixon J dealt with the issue of </a:t>
            </a:r>
            <a:r>
              <a:rPr lang="en-HK" sz="2800" b="1" dirty="0">
                <a:latin typeface="Times New Roman" panose="02020603050405020304" pitchFamily="18" charset="0"/>
                <a:cs typeface="Times New Roman" panose="02020603050405020304" pitchFamily="18" charset="0"/>
              </a:rPr>
              <a:t>bailment</a:t>
            </a:r>
            <a:r>
              <a:rPr lang="en-HK" sz="2800" dirty="0">
                <a:latin typeface="Times New Roman" panose="02020603050405020304" pitchFamily="18" charset="0"/>
                <a:cs typeface="Times New Roman" panose="02020603050405020304" pitchFamily="18" charset="0"/>
              </a:rPr>
              <a:t> in relation to possession: PW was the </a:t>
            </a:r>
            <a:r>
              <a:rPr lang="en-HK" sz="2800" u="sng" dirty="0">
                <a:latin typeface="Times New Roman" panose="02020603050405020304" pitchFamily="18" charset="0"/>
                <a:cs typeface="Times New Roman" panose="02020603050405020304" pitchFamily="18" charset="0"/>
              </a:rPr>
              <a:t>bailor</a:t>
            </a:r>
            <a:r>
              <a:rPr lang="en-HK" sz="2800" dirty="0">
                <a:latin typeface="Times New Roman" panose="02020603050405020304" pitchFamily="18" charset="0"/>
                <a:cs typeface="Times New Roman" panose="02020603050405020304" pitchFamily="18" charset="0"/>
              </a:rPr>
              <a:t>, while Elliott’s brother was the </a:t>
            </a:r>
            <a:r>
              <a:rPr lang="en-HK" sz="2800" u="sng" dirty="0">
                <a:latin typeface="Times New Roman" panose="02020603050405020304" pitchFamily="18" charset="0"/>
                <a:cs typeface="Times New Roman" panose="02020603050405020304" pitchFamily="18" charset="0"/>
              </a:rPr>
              <a:t>bailee</a:t>
            </a:r>
            <a:r>
              <a:rPr lang="en-HK" sz="2800" dirty="0">
                <a:latin typeface="Times New Roman" panose="02020603050405020304" pitchFamily="18" charset="0"/>
                <a:cs typeface="Times New Roman" panose="02020603050405020304" pitchFamily="18" charset="0"/>
              </a:rPr>
              <a:t> (such bailment may continue in chains)    </a:t>
            </a:r>
          </a:p>
        </p:txBody>
      </p:sp>
      <p:graphicFrame>
        <p:nvGraphicFramePr>
          <p:cNvPr id="4" name="Diagram 3">
            <a:extLst>
              <a:ext uri="{FF2B5EF4-FFF2-40B4-BE49-F238E27FC236}">
                <a16:creationId xmlns:a16="http://schemas.microsoft.com/office/drawing/2014/main" id="{64E9E4BC-C94E-0A91-294B-13DAD6642025}"/>
              </a:ext>
            </a:extLst>
          </p:cNvPr>
          <p:cNvGraphicFramePr/>
          <p:nvPr>
            <p:extLst>
              <p:ext uri="{D42A27DB-BD31-4B8C-83A1-F6EECF244321}">
                <p14:modId xmlns:p14="http://schemas.microsoft.com/office/powerpoint/2010/main" val="3942058592"/>
              </p:ext>
            </p:extLst>
          </p:nvPr>
        </p:nvGraphicFramePr>
        <p:xfrm>
          <a:off x="3233480" y="4295553"/>
          <a:ext cx="8128000" cy="19882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425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While a bailee’s possession of goods cannot be trespass, Dixon J noted a few </a:t>
            </a:r>
            <a:r>
              <a:rPr lang="en-HK" sz="2800" u="sng" dirty="0">
                <a:latin typeface="Times New Roman" panose="02020603050405020304" pitchFamily="18" charset="0"/>
                <a:cs typeface="Times New Roman" panose="02020603050405020304" pitchFamily="18" charset="0"/>
              </a:rPr>
              <a:t>exceptions</a:t>
            </a:r>
            <a:r>
              <a:rPr lang="en-HK" sz="2800" dirty="0">
                <a:latin typeface="Times New Roman" panose="02020603050405020304" pitchFamily="18" charset="0"/>
                <a:cs typeface="Times New Roman" panose="02020603050405020304" pitchFamily="18" charset="0"/>
              </a:rPr>
              <a:t>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For example, the bailor may sue for trespass where the bailee completely destroyed the goods </a:t>
            </a:r>
          </a:p>
          <a:p>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901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Does the finder of a chattel have the required possession to sue in trespass? </a:t>
            </a:r>
          </a:p>
          <a:p>
            <a:pPr marL="0" indent="0">
              <a:buNone/>
            </a:pPr>
            <a:endParaRPr lang="en-HK" sz="2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See discussion in </a:t>
            </a:r>
            <a:r>
              <a:rPr lang="en-HK" sz="2800" i="1" dirty="0">
                <a:solidFill>
                  <a:srgbClr val="0070C0"/>
                </a:solidFill>
                <a:latin typeface="Times New Roman" panose="02020603050405020304" pitchFamily="18" charset="0"/>
                <a:cs typeface="Times New Roman" panose="02020603050405020304" pitchFamily="18" charset="0"/>
              </a:rPr>
              <a:t>National Crime Authority v Flack </a:t>
            </a:r>
            <a:r>
              <a:rPr lang="en-HK" sz="2800" dirty="0">
                <a:solidFill>
                  <a:srgbClr val="0070C0"/>
                </a:solidFill>
                <a:latin typeface="Times New Roman" panose="02020603050405020304" pitchFamily="18" charset="0"/>
                <a:cs typeface="Times New Roman" panose="02020603050405020304" pitchFamily="18" charset="0"/>
              </a:rPr>
              <a:t>(1988) 86 </a:t>
            </a:r>
            <a:r>
              <a:rPr lang="en-HK" sz="2800" dirty="0" err="1">
                <a:solidFill>
                  <a:srgbClr val="0070C0"/>
                </a:solidFill>
                <a:latin typeface="Times New Roman" panose="02020603050405020304" pitchFamily="18" charset="0"/>
                <a:cs typeface="Times New Roman" panose="02020603050405020304" pitchFamily="18" charset="0"/>
              </a:rPr>
              <a:t>FCR</a:t>
            </a:r>
            <a:r>
              <a:rPr lang="en-HK" sz="2800" dirty="0">
                <a:solidFill>
                  <a:srgbClr val="0070C0"/>
                </a:solidFill>
                <a:latin typeface="Times New Roman" panose="02020603050405020304" pitchFamily="18" charset="0"/>
                <a:cs typeface="Times New Roman" panose="02020603050405020304" pitchFamily="18" charset="0"/>
              </a:rPr>
              <a:t> 16  </a:t>
            </a:r>
            <a:r>
              <a:rPr lang="en-HK" sz="2800" dirty="0">
                <a:solidFill>
                  <a:srgbClr val="7030A0"/>
                </a:solidFill>
                <a:latin typeface="Times New Roman" panose="02020603050405020304" pitchFamily="18" charset="0"/>
                <a:cs typeface="Times New Roman" panose="02020603050405020304" pitchFamily="18" charset="0"/>
              </a:rPr>
              <a:t>(Mrs Flack sued for conversion when the </a:t>
            </a:r>
            <a:r>
              <a:rPr lang="en-HK" sz="2800" dirty="0" err="1">
                <a:solidFill>
                  <a:srgbClr val="7030A0"/>
                </a:solidFill>
                <a:latin typeface="Times New Roman" panose="02020603050405020304" pitchFamily="18" charset="0"/>
                <a:cs typeface="Times New Roman" panose="02020603050405020304" pitchFamily="18" charset="0"/>
              </a:rPr>
              <a:t>NCA</a:t>
            </a:r>
            <a:r>
              <a:rPr lang="en-HK" sz="2800" dirty="0">
                <a:solidFill>
                  <a:srgbClr val="7030A0"/>
                </a:solidFill>
                <a:latin typeface="Times New Roman" panose="02020603050405020304" pitchFamily="18" charset="0"/>
                <a:cs typeface="Times New Roman" panose="02020603050405020304" pitchFamily="18" charset="0"/>
              </a:rPr>
              <a:t> neither initiated any prosecution nor returned the briefcase with money after three years) </a:t>
            </a:r>
          </a:p>
          <a:p>
            <a:pPr marL="0" indent="0">
              <a:buNone/>
            </a:pPr>
            <a:endParaRPr lang="en-HK" sz="2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court held Mrs Flack had possession in law over </a:t>
            </a:r>
            <a:r>
              <a:rPr lang="en-HK" sz="2800" i="1" dirty="0">
                <a:latin typeface="Times New Roman" panose="02020603050405020304" pitchFamily="18" charset="0"/>
                <a:cs typeface="Times New Roman" panose="02020603050405020304" pitchFamily="18" charset="0"/>
              </a:rPr>
              <a:t>all</a:t>
            </a:r>
            <a:r>
              <a:rPr lang="en-HK" sz="2800" dirty="0">
                <a:latin typeface="Times New Roman" panose="02020603050405020304" pitchFamily="18" charset="0"/>
                <a:cs typeface="Times New Roman" panose="02020603050405020304" pitchFamily="18" charset="0"/>
              </a:rPr>
              <a:t> chattels on the premises (</a:t>
            </a:r>
            <a:r>
              <a:rPr lang="en-HK" sz="2800" u="sng" dirty="0">
                <a:latin typeface="Times New Roman" panose="02020603050405020304" pitchFamily="18" charset="0"/>
                <a:cs typeface="Times New Roman" panose="02020603050405020304" pitchFamily="18" charset="0"/>
              </a:rPr>
              <a:t>including those whose existence she was unaware</a:t>
            </a:r>
            <a:r>
              <a:rPr lang="en-HK" sz="2800" dirty="0">
                <a:latin typeface="Times New Roman" panose="02020603050405020304" pitchFamily="18" charset="0"/>
                <a:cs typeface="Times New Roman" panose="02020603050405020304" pitchFamily="18" charset="0"/>
              </a:rPr>
              <a:t>) – she had possessory rights against all except the true owner </a:t>
            </a:r>
          </a:p>
        </p:txBody>
      </p:sp>
    </p:spTree>
    <p:extLst>
      <p:ext uri="{BB962C8B-B14F-4D97-AF65-F5344CB8AC3E}">
        <p14:creationId xmlns:p14="http://schemas.microsoft.com/office/powerpoint/2010/main" val="2040923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Conversion</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Historically, conversion evolved from the action on the case of </a:t>
            </a:r>
            <a:r>
              <a:rPr lang="en-HK" sz="2800" i="1" dirty="0">
                <a:latin typeface="Times New Roman" panose="02020603050405020304" pitchFamily="18" charset="0"/>
                <a:cs typeface="Times New Roman" panose="02020603050405020304" pitchFamily="18" charset="0"/>
              </a:rPr>
              <a:t>trover</a:t>
            </a:r>
            <a:r>
              <a:rPr lang="en-HK" sz="2800" dirty="0">
                <a:latin typeface="Times New Roman" panose="02020603050405020304" pitchFamily="18" charset="0"/>
                <a:cs typeface="Times New Roman" panose="02020603050405020304" pitchFamily="18" charset="0"/>
              </a:rPr>
              <a:t> – if a finder of the goods wrongfully converted them to her use, the owner can sue the finder </a:t>
            </a:r>
          </a:p>
          <a:p>
            <a:endParaRPr lang="en-HK" sz="2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This action expanded to become an action for any wrongful taking or destruction of the plaintiff’s goods inconsistent with her possessory rights </a:t>
            </a:r>
          </a:p>
          <a:p>
            <a:endParaRPr lang="en-HK" sz="2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Conversion is a tort of </a:t>
            </a:r>
            <a:r>
              <a:rPr lang="en-HK" sz="2800" b="1" dirty="0">
                <a:latin typeface="Times New Roman" panose="02020603050405020304" pitchFamily="18" charset="0"/>
                <a:cs typeface="Times New Roman" panose="02020603050405020304" pitchFamily="18" charset="0"/>
              </a:rPr>
              <a:t>strict liability</a:t>
            </a:r>
            <a:r>
              <a:rPr lang="en-HK" sz="2800" dirty="0">
                <a:latin typeface="Times New Roman" panose="02020603050405020304" pitchFamily="18" charset="0"/>
                <a:cs typeface="Times New Roman" panose="02020603050405020304" pitchFamily="18" charset="0"/>
              </a:rPr>
              <a:t>, e.g., good faith or mistake by an auctioneer is no defence  </a:t>
            </a:r>
          </a:p>
        </p:txBody>
      </p:sp>
    </p:spTree>
    <p:extLst>
      <p:ext uri="{BB962C8B-B14F-4D97-AF65-F5344CB8AC3E}">
        <p14:creationId xmlns:p14="http://schemas.microsoft.com/office/powerpoint/2010/main" val="998033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034398"/>
            <a:ext cx="10800001" cy="5074936"/>
          </a:xfrm>
        </p:spPr>
        <p:txBody>
          <a:bodyPr>
            <a:noAutofit/>
          </a:bodyPr>
          <a:lstStyle/>
          <a:p>
            <a:endParaRPr lang="en-HK" sz="2000" dirty="0">
              <a:latin typeface="Times New Roman" panose="02020603050405020304" pitchFamily="18" charset="0"/>
              <a:cs typeface="Times New Roman" panose="02020603050405020304" pitchFamily="18" charset="0"/>
            </a:endParaRPr>
          </a:p>
          <a:p>
            <a:r>
              <a:rPr lang="en-HK" sz="2800" u="sng" dirty="0">
                <a:latin typeface="Times New Roman" panose="02020603050405020304" pitchFamily="18" charset="0"/>
                <a:cs typeface="Times New Roman" panose="02020603050405020304" pitchFamily="18" charset="0"/>
              </a:rPr>
              <a:t>Key differences</a:t>
            </a:r>
            <a:r>
              <a:rPr lang="en-HK" sz="2800" dirty="0">
                <a:latin typeface="Times New Roman" panose="02020603050405020304" pitchFamily="18" charset="0"/>
                <a:cs typeface="Times New Roman" panose="02020603050405020304" pitchFamily="18" charset="0"/>
              </a:rPr>
              <a:t> between trespass and conversion (see [5.95]): </a:t>
            </a:r>
          </a:p>
          <a:p>
            <a:pPr marL="0" indent="0">
              <a:buNone/>
            </a:pPr>
            <a:endParaRPr lang="en-HK"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Conduct: Conversion involves “dealing” with goods rather than mere interference with their physical state – this element differentiates it from trespass   </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Possession: For trespass, the plaintiff must have possession at the time of the interference, while a right to immediate possession will suffice for conversion</a:t>
            </a:r>
            <a:endParaRPr lang="en-HK" sz="1000" dirty="0">
              <a:latin typeface="Times New Roman" panose="02020603050405020304" pitchFamily="18" charset="0"/>
              <a:cs typeface="Times New Roman" panose="02020603050405020304" pitchFamily="18" charset="0"/>
            </a:endParaRPr>
          </a:p>
          <a:p>
            <a:endParaRPr lang="en-HK" sz="2800" dirty="0">
              <a:latin typeface="Times New Roman" panose="02020603050405020304" pitchFamily="18" charset="0"/>
              <a:cs typeface="Times New Roman" panose="02020603050405020304" pitchFamily="18" charset="0"/>
            </a:endParaRPr>
          </a:p>
          <a:p>
            <a:endParaRPr lang="en-H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144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HK" sz="2800" b="1" dirty="0">
                <a:latin typeface="Times New Roman" panose="02020603050405020304" pitchFamily="18" charset="0"/>
                <a:cs typeface="Times New Roman" panose="02020603050405020304" pitchFamily="18" charset="0"/>
              </a:rPr>
              <a:t>Title to sue - </a:t>
            </a:r>
          </a:p>
          <a:p>
            <a:r>
              <a:rPr lang="en-HK" sz="2800" dirty="0">
                <a:latin typeface="Times New Roman" panose="02020603050405020304" pitchFamily="18" charset="0"/>
                <a:cs typeface="Times New Roman" panose="02020603050405020304" pitchFamily="18" charset="0"/>
              </a:rPr>
              <a:t>To sue for conversion, the plaintiff should have: </a:t>
            </a:r>
          </a:p>
          <a:p>
            <a:endParaRPr lang="en-HK"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Possession when the wrongful act was done</a:t>
            </a:r>
          </a:p>
          <a:p>
            <a:pPr marL="914400" lvl="2" indent="0">
              <a:buNone/>
            </a:pPr>
            <a:r>
              <a:rPr lang="en-HK" sz="2800" u="sng" dirty="0">
                <a:latin typeface="Times New Roman" panose="02020603050405020304" pitchFamily="18" charset="0"/>
                <a:cs typeface="Times New Roman" panose="02020603050405020304" pitchFamily="18" charset="0"/>
              </a:rPr>
              <a:t>or</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The right to immediate possession at that time </a:t>
            </a:r>
          </a:p>
          <a:p>
            <a:pPr marL="914400" lvl="2"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plaintiff must have some form of </a:t>
            </a:r>
            <a:r>
              <a:rPr lang="en-HK" sz="2800" b="1" dirty="0">
                <a:latin typeface="Times New Roman" panose="02020603050405020304" pitchFamily="18" charset="0"/>
                <a:cs typeface="Times New Roman" panose="02020603050405020304" pitchFamily="18" charset="0"/>
              </a:rPr>
              <a:t>legal right to goods </a:t>
            </a:r>
            <a:r>
              <a:rPr lang="en-HK" sz="2800" dirty="0">
                <a:latin typeface="Times New Roman" panose="02020603050405020304" pitchFamily="18" charset="0"/>
                <a:cs typeface="Times New Roman" panose="02020603050405020304" pitchFamily="18" charset="0"/>
              </a:rPr>
              <a:t>(propriety title) – merely having a contractual right or a custody right to possession will not suffice (</a:t>
            </a:r>
            <a:r>
              <a:rPr lang="en-HK" sz="2800" i="1" dirty="0">
                <a:solidFill>
                  <a:srgbClr val="0070C0"/>
                </a:solidFill>
                <a:latin typeface="Times New Roman" panose="02020603050405020304" pitchFamily="18" charset="0"/>
                <a:cs typeface="Times New Roman" panose="02020603050405020304" pitchFamily="18" charset="0"/>
              </a:rPr>
              <a:t>Hocking v Director General of the National Archives of Australia </a:t>
            </a:r>
            <a:r>
              <a:rPr lang="en-HK" sz="2800" dirty="0">
                <a:solidFill>
                  <a:srgbClr val="0070C0"/>
                </a:solidFill>
                <a:latin typeface="Times New Roman" panose="02020603050405020304" pitchFamily="18" charset="0"/>
                <a:cs typeface="Times New Roman" panose="02020603050405020304" pitchFamily="18" charset="0"/>
              </a:rPr>
              <a:t>[2020] HCA 19</a:t>
            </a:r>
            <a:r>
              <a:rPr lang="en-HK"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30173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695999" y="1396666"/>
            <a:ext cx="10800001" cy="5074936"/>
          </a:xfrm>
        </p:spPr>
        <p:txBody>
          <a:bodyPr>
            <a:noAutofit/>
          </a:bodyPr>
          <a:lstStyle/>
          <a:p>
            <a:pPr marL="0" indent="0">
              <a:buNone/>
            </a:pPr>
            <a:r>
              <a:rPr lang="en-HK" sz="2800" b="1" dirty="0">
                <a:latin typeface="Times New Roman" panose="02020603050405020304" pitchFamily="18" charset="0"/>
                <a:cs typeface="Times New Roman" panose="02020603050405020304" pitchFamily="18" charset="0"/>
              </a:rPr>
              <a:t>Conduct required - </a:t>
            </a:r>
          </a:p>
          <a:p>
            <a:r>
              <a:rPr lang="en-HK" sz="2800" dirty="0">
                <a:latin typeface="Times New Roman" panose="02020603050405020304" pitchFamily="18" charset="0"/>
                <a:cs typeface="Times New Roman" panose="02020603050405020304" pitchFamily="18" charset="0"/>
              </a:rPr>
              <a:t>Conversion involves “dealing” with goods rather than mere interference</a:t>
            </a:r>
          </a:p>
          <a:p>
            <a:r>
              <a:rPr lang="en-HK" sz="2800" dirty="0">
                <a:latin typeface="Times New Roman" panose="02020603050405020304" pitchFamily="18" charset="0"/>
                <a:cs typeface="Times New Roman" panose="02020603050405020304" pitchFamily="18" charset="0"/>
              </a:rPr>
              <a:t>the interference needs to be serious and an assertion of dominion over the chattel contrary to the rights of the person entitled to possession</a:t>
            </a:r>
          </a:p>
          <a:p>
            <a:r>
              <a:rPr lang="en-HK" sz="2800" dirty="0">
                <a:latin typeface="Times New Roman" panose="02020603050405020304" pitchFamily="18" charset="0"/>
                <a:cs typeface="Times New Roman" panose="02020603050405020304" pitchFamily="18" charset="0"/>
              </a:rPr>
              <a:t>Conversion may take place, for example, by: </a:t>
            </a:r>
          </a:p>
          <a:p>
            <a:pPr marL="0" indent="0">
              <a:buNone/>
            </a:pPr>
            <a:endParaRPr lang="en-HK" sz="1000" dirty="0">
              <a:latin typeface="Times New Roman" panose="02020603050405020304" pitchFamily="18" charset="0"/>
              <a:cs typeface="Times New Roman" panose="02020603050405020304" pitchFamily="18" charset="0"/>
            </a:endParaRPr>
          </a:p>
          <a:p>
            <a:pPr lvl="2"/>
            <a:r>
              <a:rPr lang="en-HK" sz="2800" dirty="0">
                <a:latin typeface="Times New Roman" panose="02020603050405020304" pitchFamily="18" charset="0"/>
                <a:cs typeface="Times New Roman" panose="02020603050405020304" pitchFamily="18" charset="0"/>
              </a:rPr>
              <a:t>Sale of goods – but the purchaser will </a:t>
            </a:r>
            <a:r>
              <a:rPr lang="en-HK" sz="2800" u="sng" dirty="0">
                <a:latin typeface="Times New Roman" panose="02020603050405020304" pitchFamily="18" charset="0"/>
                <a:cs typeface="Times New Roman" panose="02020603050405020304" pitchFamily="18" charset="0"/>
              </a:rPr>
              <a:t>not</a:t>
            </a:r>
            <a:r>
              <a:rPr lang="en-HK" sz="2800" dirty="0">
                <a:latin typeface="Times New Roman" panose="02020603050405020304" pitchFamily="18" charset="0"/>
                <a:cs typeface="Times New Roman" panose="02020603050405020304" pitchFamily="18" charset="0"/>
              </a:rPr>
              <a:t> generally get a good legal title over the goods     </a:t>
            </a:r>
            <a:endParaRPr lang="en-HK" sz="2000" dirty="0">
              <a:latin typeface="Times New Roman" panose="02020603050405020304" pitchFamily="18" charset="0"/>
              <a:cs typeface="Times New Roman" panose="02020603050405020304" pitchFamily="18" charset="0"/>
            </a:endParaRPr>
          </a:p>
          <a:p>
            <a:pPr lvl="2"/>
            <a:r>
              <a:rPr lang="en-HK" sz="2800" dirty="0">
                <a:latin typeface="Times New Roman" panose="02020603050405020304" pitchFamily="18" charset="0"/>
                <a:cs typeface="Times New Roman" panose="02020603050405020304" pitchFamily="18" charset="0"/>
              </a:rPr>
              <a:t>Taking possession – </a:t>
            </a:r>
            <a:r>
              <a:rPr lang="en-HK" sz="2800" i="1" dirty="0">
                <a:latin typeface="Times New Roman" panose="02020603050405020304" pitchFamily="18" charset="0"/>
                <a:cs typeface="Times New Roman" panose="02020603050405020304" pitchFamily="18" charset="0"/>
              </a:rPr>
              <a:t>intention to retain goods permanently is not necessary</a:t>
            </a:r>
            <a:r>
              <a:rPr lang="en-HK" sz="2800" dirty="0">
                <a:latin typeface="Times New Roman" panose="02020603050405020304" pitchFamily="18" charset="0"/>
                <a:cs typeface="Times New Roman" panose="02020603050405020304" pitchFamily="18" charset="0"/>
              </a:rPr>
              <a:t> </a:t>
            </a:r>
          </a:p>
          <a:p>
            <a:pPr marL="914400" lvl="2" indent="0">
              <a:buNone/>
            </a:pPr>
            <a:endParaRPr lang="en-H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056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lvl="2"/>
            <a:r>
              <a:rPr lang="en-HK" sz="2800" dirty="0">
                <a:latin typeface="Times New Roman" panose="02020603050405020304" pitchFamily="18" charset="0"/>
                <a:cs typeface="Times New Roman" panose="02020603050405020304" pitchFamily="18" charset="0"/>
              </a:rPr>
              <a:t>Use of goods – consider </a:t>
            </a:r>
            <a:r>
              <a:rPr lang="en-HK" sz="2800" i="1" dirty="0">
                <a:solidFill>
                  <a:srgbClr val="0070C0"/>
                </a:solidFill>
                <a:latin typeface="Times New Roman" panose="02020603050405020304" pitchFamily="18" charset="0"/>
                <a:cs typeface="Times New Roman" panose="02020603050405020304" pitchFamily="18" charset="0"/>
              </a:rPr>
              <a:t>Penfolds Wines v Elliott </a:t>
            </a:r>
            <a:r>
              <a:rPr lang="en-HK" sz="2800" dirty="0">
                <a:latin typeface="Times New Roman" panose="02020603050405020304" pitchFamily="18" charset="0"/>
                <a:cs typeface="Times New Roman" panose="02020603050405020304" pitchFamily="18" charset="0"/>
              </a:rPr>
              <a:t>(conversion in relation the wine bottles was made out, because such use of the bottles was inconsistent with the dominion of the bottles’ owner)</a:t>
            </a:r>
          </a:p>
          <a:p>
            <a:pPr lvl="2"/>
            <a:r>
              <a:rPr lang="en-HK" sz="2800" dirty="0">
                <a:latin typeface="Times New Roman" panose="02020603050405020304" pitchFamily="18" charset="0"/>
                <a:cs typeface="Times New Roman" panose="02020603050405020304" pitchFamily="18" charset="0"/>
              </a:rPr>
              <a:t>But note that what is ‘</a:t>
            </a:r>
            <a:r>
              <a:rPr lang="en-HK" sz="2800" dirty="0" err="1">
                <a:latin typeface="Times New Roman" panose="02020603050405020304" pitchFamily="18" charset="0"/>
                <a:cs typeface="Times New Roman" panose="02020603050405020304" pitchFamily="18" charset="0"/>
              </a:rPr>
              <a:t>serious’</a:t>
            </a:r>
            <a:r>
              <a:rPr lang="en-HK" sz="2800" dirty="0">
                <a:latin typeface="Times New Roman" panose="02020603050405020304" pitchFamily="18" charset="0"/>
                <a:cs typeface="Times New Roman" panose="02020603050405020304" pitchFamily="18" charset="0"/>
              </a:rPr>
              <a:t> can be debated – judges can differ in opinion </a:t>
            </a:r>
            <a:r>
              <a:rPr lang="en-HK" sz="2800" dirty="0" err="1">
                <a:latin typeface="Times New Roman" panose="02020603050405020304" pitchFamily="18" charset="0"/>
                <a:cs typeface="Times New Roman" panose="02020603050405020304" pitchFamily="18" charset="0"/>
              </a:rPr>
              <a:t>eg</a:t>
            </a:r>
            <a:r>
              <a:rPr lang="en-HK" sz="2800" dirty="0">
                <a:latin typeface="Times New Roman" panose="02020603050405020304" pitchFamily="18" charset="0"/>
                <a:cs typeface="Times New Roman" panose="02020603050405020304" pitchFamily="18" charset="0"/>
              </a:rPr>
              <a:t> in Penfolds case Dixon J said use of bottles was not serious enough to amount to conversion  </a:t>
            </a:r>
          </a:p>
        </p:txBody>
      </p:sp>
    </p:spTree>
    <p:extLst>
      <p:ext uri="{BB962C8B-B14F-4D97-AF65-F5344CB8AC3E}">
        <p14:creationId xmlns:p14="http://schemas.microsoft.com/office/powerpoint/2010/main" val="1378598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Also consider </a:t>
            </a:r>
            <a:r>
              <a:rPr lang="en-HK" sz="2800" i="1" dirty="0">
                <a:solidFill>
                  <a:srgbClr val="0070C0"/>
                </a:solidFill>
                <a:latin typeface="Times New Roman" panose="02020603050405020304" pitchFamily="18" charset="0"/>
                <a:cs typeface="Times New Roman" panose="02020603050405020304" pitchFamily="18" charset="0"/>
              </a:rPr>
              <a:t>Bunnings Group Ltd v CHEP Australia Ltd </a:t>
            </a:r>
            <a:r>
              <a:rPr lang="en-HK" sz="2800" dirty="0">
                <a:solidFill>
                  <a:srgbClr val="0070C0"/>
                </a:solidFill>
                <a:latin typeface="Times New Roman" panose="02020603050405020304" pitchFamily="18" charset="0"/>
                <a:cs typeface="Times New Roman" panose="02020603050405020304" pitchFamily="18" charset="0"/>
              </a:rPr>
              <a:t>(2011) NSWCA 342</a:t>
            </a:r>
            <a:r>
              <a:rPr lang="en-HK" sz="2800" dirty="0">
                <a:latin typeface="Times New Roman" panose="02020603050405020304" pitchFamily="18" charset="0"/>
                <a:cs typeface="Times New Roman" panose="02020603050405020304" pitchFamily="18" charset="0"/>
              </a:rPr>
              <a:t> </a:t>
            </a:r>
            <a:r>
              <a:rPr lang="en-HK" sz="2800" dirty="0">
                <a:solidFill>
                  <a:srgbClr val="7030A0"/>
                </a:solidFill>
                <a:latin typeface="Times New Roman" panose="02020603050405020304" pitchFamily="18" charset="0"/>
                <a:cs typeface="Times New Roman" panose="02020603050405020304" pitchFamily="18" charset="0"/>
              </a:rPr>
              <a:t>(the use of CHEP’s timber pallets by Bunnings)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An action in conversion may be brought if a plaintiff with an immediate right to possession unconditionally demands the return of the chattel and the defendant wrongfully refuses the demand. The refusal amounts to an assertion of dominion contrary to the rights of the person entitled to possession.</a:t>
            </a:r>
          </a:p>
        </p:txBody>
      </p:sp>
      <p:pic>
        <p:nvPicPr>
          <p:cNvPr id="5" name="Picture 4">
            <a:extLst>
              <a:ext uri="{FF2B5EF4-FFF2-40B4-BE49-F238E27FC236}">
                <a16:creationId xmlns:a16="http://schemas.microsoft.com/office/drawing/2014/main" id="{0B5E21AF-373E-43A9-02BC-14D2E5C37E3A}"/>
              </a:ext>
            </a:extLst>
          </p:cNvPr>
          <p:cNvPicPr>
            <a:picLocks noChangeAspect="1"/>
          </p:cNvPicPr>
          <p:nvPr/>
        </p:nvPicPr>
        <p:blipFill>
          <a:blip r:embed="rId3"/>
          <a:stretch>
            <a:fillRect/>
          </a:stretch>
        </p:blipFill>
        <p:spPr>
          <a:xfrm>
            <a:off x="6532922" y="5014219"/>
            <a:ext cx="3279701" cy="1843781"/>
          </a:xfrm>
          <a:prstGeom prst="rect">
            <a:avLst/>
          </a:prstGeom>
        </p:spPr>
      </p:pic>
    </p:spTree>
    <p:extLst>
      <p:ext uri="{BB962C8B-B14F-4D97-AF65-F5344CB8AC3E}">
        <p14:creationId xmlns:p14="http://schemas.microsoft.com/office/powerpoint/2010/main" val="1399852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there is often real difficulty in determining whether a particular dealing with goods constitutes a ‘sufficiently serious interference’ … often courts can be divided … Bunnings case shows the fine judgment required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court held that Bunnings’ use of pallets to store or display goods as delivered on those pallets was not conversion – but the use of empty pallets to transport Bunnings’ own goods was conversion </a:t>
            </a:r>
          </a:p>
        </p:txBody>
      </p:sp>
      <p:pic>
        <p:nvPicPr>
          <p:cNvPr id="5" name="Picture 4">
            <a:extLst>
              <a:ext uri="{FF2B5EF4-FFF2-40B4-BE49-F238E27FC236}">
                <a16:creationId xmlns:a16="http://schemas.microsoft.com/office/drawing/2014/main" id="{0B5E21AF-373E-43A9-02BC-14D2E5C37E3A}"/>
              </a:ext>
            </a:extLst>
          </p:cNvPr>
          <p:cNvPicPr>
            <a:picLocks noChangeAspect="1"/>
          </p:cNvPicPr>
          <p:nvPr/>
        </p:nvPicPr>
        <p:blipFill>
          <a:blip r:embed="rId3"/>
          <a:stretch>
            <a:fillRect/>
          </a:stretch>
        </p:blipFill>
        <p:spPr>
          <a:xfrm>
            <a:off x="7538425" y="5014219"/>
            <a:ext cx="3279701" cy="1843781"/>
          </a:xfrm>
          <a:prstGeom prst="rect">
            <a:avLst/>
          </a:prstGeom>
        </p:spPr>
      </p:pic>
    </p:spTree>
    <p:extLst>
      <p:ext uri="{BB962C8B-B14F-4D97-AF65-F5344CB8AC3E}">
        <p14:creationId xmlns:p14="http://schemas.microsoft.com/office/powerpoint/2010/main" val="520607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Detinue</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This tort provides remedy for the </a:t>
            </a:r>
            <a:r>
              <a:rPr lang="en-HK" sz="2800" b="1" dirty="0">
                <a:latin typeface="Times New Roman" panose="02020603050405020304" pitchFamily="18" charset="0"/>
                <a:cs typeface="Times New Roman" panose="02020603050405020304" pitchFamily="18" charset="0"/>
              </a:rPr>
              <a:t>wrongful detention </a:t>
            </a:r>
            <a:r>
              <a:rPr lang="en-HK" sz="2800" dirty="0">
                <a:latin typeface="Times New Roman" panose="02020603050405020304" pitchFamily="18" charset="0"/>
                <a:cs typeface="Times New Roman" panose="02020603050405020304" pitchFamily="18" charset="0"/>
              </a:rPr>
              <a:t>of chattels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tort is unique in that it allows courts to order the return of chattels – though such order is discretionary  </a:t>
            </a:r>
          </a:p>
        </p:txBody>
      </p:sp>
    </p:spTree>
    <p:extLst>
      <p:ext uri="{BB962C8B-B14F-4D97-AF65-F5344CB8AC3E}">
        <p14:creationId xmlns:p14="http://schemas.microsoft.com/office/powerpoint/2010/main" val="1110645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To sue for detinue, the plaintiff should at least have a </a:t>
            </a:r>
            <a:r>
              <a:rPr lang="en-HK" sz="2800" b="1" dirty="0">
                <a:latin typeface="Times New Roman" panose="02020603050405020304" pitchFamily="18" charset="0"/>
                <a:cs typeface="Times New Roman" panose="02020603050405020304" pitchFamily="18" charset="0"/>
              </a:rPr>
              <a:t>right to immediate possession</a:t>
            </a:r>
            <a:r>
              <a:rPr lang="en-HK" sz="2800" dirty="0">
                <a:latin typeface="Times New Roman" panose="02020603050405020304" pitchFamily="18" charset="0"/>
                <a:cs typeface="Times New Roman" panose="02020603050405020304" pitchFamily="18" charset="0"/>
              </a:rPr>
              <a:t> </a:t>
            </a: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plaintiff should prove that she (1) made a demand for the goods, and (2) the defendant wrongfully refused to return goods  </a:t>
            </a:r>
          </a:p>
        </p:txBody>
      </p:sp>
      <p:sp>
        <p:nvSpPr>
          <p:cNvPr id="4" name="Callout: Up Arrow 3">
            <a:extLst>
              <a:ext uri="{FF2B5EF4-FFF2-40B4-BE49-F238E27FC236}">
                <a16:creationId xmlns:a16="http://schemas.microsoft.com/office/drawing/2014/main" id="{55247AE5-11C5-4766-53D8-410947F0BB91}"/>
              </a:ext>
            </a:extLst>
          </p:cNvPr>
          <p:cNvSpPr/>
          <p:nvPr/>
        </p:nvSpPr>
        <p:spPr>
          <a:xfrm>
            <a:off x="4657060" y="2248785"/>
            <a:ext cx="4720855" cy="2089299"/>
          </a:xfrm>
          <a:prstGeom prst="up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HK" sz="2600" dirty="0">
                <a:solidFill>
                  <a:srgbClr val="3333FF"/>
                </a:solidFill>
                <a:latin typeface="Times New Roman" panose="02020603050405020304" pitchFamily="18" charset="0"/>
                <a:cs typeface="Times New Roman" panose="02020603050405020304" pitchFamily="18" charset="0"/>
              </a:rPr>
              <a:t>No actual possession or ownership is therefore required </a:t>
            </a:r>
          </a:p>
        </p:txBody>
      </p:sp>
    </p:spTree>
    <p:extLst>
      <p:ext uri="{BB962C8B-B14F-4D97-AF65-F5344CB8AC3E}">
        <p14:creationId xmlns:p14="http://schemas.microsoft.com/office/powerpoint/2010/main" val="1628026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Interference with chattels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The demand for return of the goods – which may be </a:t>
            </a:r>
            <a:r>
              <a:rPr lang="en-HK" sz="2800" i="1" dirty="0">
                <a:latin typeface="Times New Roman" panose="02020603050405020304" pitchFamily="18" charset="0"/>
                <a:cs typeface="Times New Roman" panose="02020603050405020304" pitchFamily="18" charset="0"/>
              </a:rPr>
              <a:t>written or oral</a:t>
            </a:r>
            <a:r>
              <a:rPr lang="en-HK" sz="2800" dirty="0">
                <a:latin typeface="Times New Roman" panose="02020603050405020304" pitchFamily="18" charset="0"/>
                <a:cs typeface="Times New Roman" panose="02020603050405020304" pitchFamily="18" charset="0"/>
              </a:rPr>
              <a:t> – should provide </a:t>
            </a:r>
            <a:r>
              <a:rPr lang="en-HK" sz="2800" b="1" dirty="0">
                <a:latin typeface="Times New Roman" panose="02020603050405020304" pitchFamily="18" charset="0"/>
                <a:cs typeface="Times New Roman" panose="02020603050405020304" pitchFamily="18" charset="0"/>
              </a:rPr>
              <a:t>specific, clear and unequivocal instructions</a:t>
            </a:r>
            <a:r>
              <a:rPr lang="en-HK" sz="2800" dirty="0">
                <a:latin typeface="Times New Roman" panose="02020603050405020304" pitchFamily="18" charset="0"/>
                <a:cs typeface="Times New Roman" panose="02020603050405020304" pitchFamily="18" charset="0"/>
              </a:rPr>
              <a:t> regarding delivery of goods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refusal to deliver the goods should be express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defendant may not be liable if refusal to return the goods is reasonable, e.g., verifying whether the plaintiff was entitled to the goods  </a:t>
            </a:r>
          </a:p>
        </p:txBody>
      </p:sp>
    </p:spTree>
    <p:extLst>
      <p:ext uri="{BB962C8B-B14F-4D97-AF65-F5344CB8AC3E}">
        <p14:creationId xmlns:p14="http://schemas.microsoft.com/office/powerpoint/2010/main" val="2664989548"/>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15888</TotalTime>
  <Words>1297</Words>
  <Application>Microsoft Macintosh PowerPoint</Application>
  <PresentationFormat>Widescreen</PresentationFormat>
  <Paragraphs>219</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Georgia</vt:lpstr>
      <vt:lpstr>Times New Roman</vt:lpstr>
      <vt:lpstr>Wingdings</vt:lpstr>
      <vt:lpstr>MAC UNI BASIC_Round 1 Draft for feedback</vt:lpstr>
      <vt:lpstr>LAWS2400 / LAWS8040 – Torts  Week 2 – Part 2  Interference with Chattels  </vt:lpstr>
      <vt:lpstr>Interference with chattels </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lpstr>Interference with chattels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Ebony Birchall</cp:lastModifiedBy>
  <cp:revision>937</cp:revision>
  <cp:lastPrinted>2025-08-04T03:54:31Z</cp:lastPrinted>
  <dcterms:created xsi:type="dcterms:W3CDTF">2019-01-24T02:12:19Z</dcterms:created>
  <dcterms:modified xsi:type="dcterms:W3CDTF">2026-08-05T04:55:46Z</dcterms:modified>
</cp:coreProperties>
</file>