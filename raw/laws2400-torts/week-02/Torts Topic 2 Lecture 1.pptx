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638" r:id="rId1"/>
  </p:sldMasterIdLst>
  <p:notesMasterIdLst>
    <p:notesMasterId r:id="rId34"/>
  </p:notesMasterIdLst>
  <p:handoutMasterIdLst>
    <p:handoutMasterId r:id="rId35"/>
  </p:handoutMasterIdLst>
  <p:sldIdLst>
    <p:sldId id="303" r:id="rId2"/>
    <p:sldId id="258" r:id="rId3"/>
    <p:sldId id="333" r:id="rId4"/>
    <p:sldId id="334" r:id="rId5"/>
    <p:sldId id="336" r:id="rId6"/>
    <p:sldId id="335" r:id="rId7"/>
    <p:sldId id="372" r:id="rId8"/>
    <p:sldId id="375" r:id="rId9"/>
    <p:sldId id="376" r:id="rId10"/>
    <p:sldId id="392" r:id="rId11"/>
    <p:sldId id="377" r:id="rId12"/>
    <p:sldId id="378" r:id="rId13"/>
    <p:sldId id="374" r:id="rId14"/>
    <p:sldId id="393" r:id="rId15"/>
    <p:sldId id="379" r:id="rId16"/>
    <p:sldId id="381" r:id="rId17"/>
    <p:sldId id="382" r:id="rId18"/>
    <p:sldId id="380" r:id="rId19"/>
    <p:sldId id="373" r:id="rId20"/>
    <p:sldId id="383" r:id="rId21"/>
    <p:sldId id="394" r:id="rId22"/>
    <p:sldId id="396" r:id="rId23"/>
    <p:sldId id="395" r:id="rId24"/>
    <p:sldId id="397" r:id="rId25"/>
    <p:sldId id="337" r:id="rId26"/>
    <p:sldId id="353" r:id="rId27"/>
    <p:sldId id="387" r:id="rId28"/>
    <p:sldId id="386" r:id="rId29"/>
    <p:sldId id="389" r:id="rId30"/>
    <p:sldId id="390" r:id="rId31"/>
    <p:sldId id="340" r:id="rId32"/>
    <p:sldId id="33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nah Harris" initials="HH" lastIdx="8" clrIdx="0">
    <p:extLst>
      <p:ext uri="{19B8F6BF-5375-455C-9EA6-DF929625EA0E}">
        <p15:presenceInfo xmlns:p15="http://schemas.microsoft.com/office/powerpoint/2012/main" userId="S::hannah.harris@mq.edu.au::6810d1df-3b5d-4428-9867-3b286e5d46c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6AC383-4781-2E46-9EC1-9CB493B27BAC}" v="9" dt="2026-08-05T08:25:03.630"/>
    <p1510:client id="{C709BB29-45E8-4642-8F21-5D0D50A00C74}" v="1" dt="2026-08-06T00:11:33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6301" autoAdjust="0"/>
  </p:normalViewPr>
  <p:slideViewPr>
    <p:cSldViewPr snapToGrid="0" snapToObjects="1">
      <p:cViewPr varScale="1">
        <p:scale>
          <a:sx n="109" d="100"/>
          <a:sy n="109" d="100"/>
        </p:scale>
        <p:origin x="216" y="584"/>
      </p:cViewPr>
      <p:guideLst/>
    </p:cSldViewPr>
  </p:slideViewPr>
  <p:outlineViewPr>
    <p:cViewPr>
      <p:scale>
        <a:sx n="33" d="100"/>
        <a:sy n="33" d="100"/>
      </p:scale>
      <p:origin x="0" y="-523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120" d="100"/>
          <a:sy n="120" d="100"/>
        </p:scale>
        <p:origin x="2544" y="-19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Head" userId="3622ac83-72fb-4480-aaff-0580f4ad655a" providerId="ADAL" clId="{26B8ED3C-072C-57B2-8DCA-D1BEC0C6037D}"/>
    <pc:docChg chg="modSld">
      <pc:chgData name="Amanda Head" userId="3622ac83-72fb-4480-aaff-0580f4ad655a" providerId="ADAL" clId="{26B8ED3C-072C-57B2-8DCA-D1BEC0C6037D}" dt="2026-08-05T11:43:18.624" v="54" actId="20577"/>
      <pc:docMkLst>
        <pc:docMk/>
      </pc:docMkLst>
      <pc:sldChg chg="modSp mod">
        <pc:chgData name="Amanda Head" userId="3622ac83-72fb-4480-aaff-0580f4ad655a" providerId="ADAL" clId="{26B8ED3C-072C-57B2-8DCA-D1BEC0C6037D}" dt="2026-08-05T11:43:18.624" v="54" actId="20577"/>
        <pc:sldMkLst>
          <pc:docMk/>
          <pc:sldMk cId="1147857787" sldId="335"/>
        </pc:sldMkLst>
        <pc:spChg chg="mod">
          <ac:chgData name="Amanda Head" userId="3622ac83-72fb-4480-aaff-0580f4ad655a" providerId="ADAL" clId="{26B8ED3C-072C-57B2-8DCA-D1BEC0C6037D}" dt="2026-08-05T11:43:18.624" v="54" actId="20577"/>
          <ac:spMkLst>
            <pc:docMk/>
            <pc:sldMk cId="1147857787" sldId="335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05T11:41:33.627" v="34" actId="20577"/>
        <pc:sldMkLst>
          <pc:docMk/>
          <pc:sldMk cId="129688080" sldId="372"/>
        </pc:sldMkLst>
        <pc:spChg chg="mod">
          <ac:chgData name="Amanda Head" userId="3622ac83-72fb-4480-aaff-0580f4ad655a" providerId="ADAL" clId="{26B8ED3C-072C-57B2-8DCA-D1BEC0C6037D}" dt="2026-08-05T11:41:33.627" v="34" actId="20577"/>
          <ac:spMkLst>
            <pc:docMk/>
            <pc:sldMk cId="129688080" sldId="372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05T11:13:56.854" v="1" actId="20577"/>
        <pc:sldMkLst>
          <pc:docMk/>
          <pc:sldMk cId="1024451107" sldId="377"/>
        </pc:sldMkLst>
        <pc:spChg chg="mod">
          <ac:chgData name="Amanda Head" userId="3622ac83-72fb-4480-aaff-0580f4ad655a" providerId="ADAL" clId="{26B8ED3C-072C-57B2-8DCA-D1BEC0C6037D}" dt="2026-08-05T11:13:56.854" v="1" actId="20577"/>
          <ac:spMkLst>
            <pc:docMk/>
            <pc:sldMk cId="1024451107" sldId="377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05T11:14:09.391" v="3" actId="20577"/>
        <pc:sldMkLst>
          <pc:docMk/>
          <pc:sldMk cId="3415447862" sldId="379"/>
        </pc:sldMkLst>
        <pc:spChg chg="mod">
          <ac:chgData name="Amanda Head" userId="3622ac83-72fb-4480-aaff-0580f4ad655a" providerId="ADAL" clId="{26B8ED3C-072C-57B2-8DCA-D1BEC0C6037D}" dt="2026-08-05T11:14:09.391" v="3" actId="20577"/>
          <ac:spMkLst>
            <pc:docMk/>
            <pc:sldMk cId="3415447862" sldId="379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05T11:39:35.904" v="26" actId="20577"/>
        <pc:sldMkLst>
          <pc:docMk/>
          <pc:sldMk cId="2651228495" sldId="387"/>
        </pc:sldMkLst>
        <pc:spChg chg="mod">
          <ac:chgData name="Amanda Head" userId="3622ac83-72fb-4480-aaff-0580f4ad655a" providerId="ADAL" clId="{26B8ED3C-072C-57B2-8DCA-D1BEC0C6037D}" dt="2026-08-05T11:39:35.904" v="26" actId="20577"/>
          <ac:spMkLst>
            <pc:docMk/>
            <pc:sldMk cId="2651228495" sldId="387"/>
            <ac:spMk id="3" creationId="{EEA464B0-4368-47D8-802B-4FB5B5FAD6E7}"/>
          </ac:spMkLst>
        </pc:spChg>
      </pc:sldChg>
    </pc:docChg>
  </pc:docChgLst>
  <pc:docChgLst>
    <pc:chgData name="Amanda Head" userId="3622ac83-72fb-4480-aaff-0580f4ad655a" providerId="ADAL" clId="{6BBF4A71-3A44-5905-A51C-0BDCE69EAF34}"/>
    <pc:docChg chg="modSld">
      <pc:chgData name="Amanda Head" userId="3622ac83-72fb-4480-aaff-0580f4ad655a" providerId="ADAL" clId="{6BBF4A71-3A44-5905-A51C-0BDCE69EAF34}" dt="2026-08-06T00:11:33.780" v="69"/>
      <pc:docMkLst>
        <pc:docMk/>
      </pc:docMkLst>
      <pc:sldChg chg="modSp mod">
        <pc:chgData name="Amanda Head" userId="3622ac83-72fb-4480-aaff-0580f4ad655a" providerId="ADAL" clId="{6BBF4A71-3A44-5905-A51C-0BDCE69EAF34}" dt="2026-08-06T00:11:21.917" v="68" actId="20577"/>
        <pc:sldMkLst>
          <pc:docMk/>
          <pc:sldMk cId="1024451107" sldId="377"/>
        </pc:sldMkLst>
        <pc:spChg chg="mod">
          <ac:chgData name="Amanda Head" userId="3622ac83-72fb-4480-aaff-0580f4ad655a" providerId="ADAL" clId="{6BBF4A71-3A44-5905-A51C-0BDCE69EAF34}" dt="2026-08-06T00:11:21.917" v="68" actId="20577"/>
          <ac:spMkLst>
            <pc:docMk/>
            <pc:sldMk cId="1024451107" sldId="377"/>
            <ac:spMk id="3" creationId="{EEA464B0-4368-47D8-802B-4FB5B5FAD6E7}"/>
          </ac:spMkLst>
        </pc:spChg>
      </pc:sldChg>
      <pc:sldChg chg="modSp">
        <pc:chgData name="Amanda Head" userId="3622ac83-72fb-4480-aaff-0580f4ad655a" providerId="ADAL" clId="{6BBF4A71-3A44-5905-A51C-0BDCE69EAF34}" dt="2026-08-06T00:11:33.780" v="69"/>
        <pc:sldMkLst>
          <pc:docMk/>
          <pc:sldMk cId="3415447862" sldId="379"/>
        </pc:sldMkLst>
        <pc:spChg chg="mod">
          <ac:chgData name="Amanda Head" userId="3622ac83-72fb-4480-aaff-0580f4ad655a" providerId="ADAL" clId="{6BBF4A71-3A44-5905-A51C-0BDCE69EAF34}" dt="2026-08-06T00:11:33.780" v="69"/>
          <ac:spMkLst>
            <pc:docMk/>
            <pc:sldMk cId="3415447862" sldId="379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6BBF4A71-3A44-5905-A51C-0BDCE69EAF34}" dt="2026-08-06T00:07:15.109" v="54" actId="20577"/>
        <pc:sldMkLst>
          <pc:docMk/>
          <pc:sldMk cId="2651228495" sldId="387"/>
        </pc:sldMkLst>
        <pc:spChg chg="mod">
          <ac:chgData name="Amanda Head" userId="3622ac83-72fb-4480-aaff-0580f4ad655a" providerId="ADAL" clId="{6BBF4A71-3A44-5905-A51C-0BDCE69EAF34}" dt="2026-08-06T00:07:15.109" v="54" actId="20577"/>
          <ac:spMkLst>
            <pc:docMk/>
            <pc:sldMk cId="2651228495" sldId="387"/>
            <ac:spMk id="3" creationId="{EEA464B0-4368-47D8-802B-4FB5B5FAD6E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761F64-24A3-47F5-8A3C-C1A55F2765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F9FD7-5F19-4302-897E-687657C26A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EFBBB-0FE0-4C79-99F2-94106FE31639}" type="datetimeFigureOut">
              <a:rPr lang="en-AU" smtClean="0"/>
              <a:t>6/8/2026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09924-3CCC-4429-B913-306C3F0A09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EA83F-F2DC-46D7-B696-662122F59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C4DC0-EA1F-4BE8-BE5B-D0247039CF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410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BC296-011A-4286-8D88-FBCD11477F2B}" type="datetimeFigureOut">
              <a:rPr lang="en-AU" smtClean="0"/>
              <a:t>6/8/2026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142E5-A706-4C60-B43E-D82CA518B0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74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890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539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7294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7472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2796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24084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456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3096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390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D513F-E180-B7BB-F28F-84D08300A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5C72CB-E65C-2488-9350-A546175C1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F707A-0DDD-B0D3-3DFA-E079E91D9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46EAE-F942-582B-60A7-DB4335E35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8893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932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9272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23395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231AC-5CC6-3E7F-5F2C-E13C1BFB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46415-81E3-E4D4-7CE0-E69854CFA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25575-BA22-E909-B940-4E313F834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E699D-1427-DAA5-5A5B-AE11022BB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6439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3203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01380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1552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3938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50954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61360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484DD-E875-961B-EE97-8302365F3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F5576-3D85-8F28-B40D-92E213940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1CE0B-2D5D-1188-A22F-A246240EF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D90AB-2F46-ECDE-A216-A3D319480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31084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C7E87-61C2-0D01-417F-BD15B333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AAB82-5BD6-DEF5-99FB-AD7857205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65AC9-40AE-95F6-1FEE-B82E01207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B144E-9323-E694-6712-B28084B30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32157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4E056-84AB-4E1D-CD33-AF4FE2C9E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811C0-60A5-DDA2-C2EC-A65DC6090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DF13D-B227-CE29-4999-6A82E2674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CB3EA-CD08-EF6C-E7AD-96F39D66D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98448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2F92F-FBBC-694F-EB91-01CABB33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BF084-5E3A-9318-D290-BC0BCEBA4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BDA3C-FBE3-EDC1-7885-BAEFF6501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E3C75-D201-3100-227A-A58CD9E97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01871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31713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52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16624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91998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3826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1779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27893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9494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3"/>
          <a:stretch/>
        </p:blipFill>
        <p:spPr>
          <a:xfrm>
            <a:off x="241904" y="3067670"/>
            <a:ext cx="11710747" cy="3611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52CFF-C49E-FB47-9FC2-54AD48C7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2" name="Rectangle 1"/>
          <p:cNvSpPr/>
          <p:nvPr/>
        </p:nvSpPr>
        <p:spPr>
          <a:xfrm>
            <a:off x="241904" y="3062172"/>
            <a:ext cx="4722971" cy="3633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Placeholder 9" descr="Section_Image.jpg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3" t="15468" r="100" b="1049"/>
          <a:stretch/>
        </p:blipFill>
        <p:spPr>
          <a:xfrm>
            <a:off x="4964875" y="3062172"/>
            <a:ext cx="6987287" cy="363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59" y="3448840"/>
            <a:ext cx="1943987" cy="32399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96" y="5910035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A9269F-011F-4649-845C-08AE05BE9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6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1428" y="181429"/>
            <a:ext cx="1170333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pic>
        <p:nvPicPr>
          <p:cNvPr id="9" name="Picture Placeholder 9" descr="Section_Image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15597" r="462" b="1605"/>
          <a:stretch/>
        </p:blipFill>
        <p:spPr>
          <a:xfrm>
            <a:off x="251429" y="1257301"/>
            <a:ext cx="11706850" cy="5419724"/>
          </a:xfrm>
          <a:prstGeom prst="rect">
            <a:avLst/>
          </a:prstGeom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0000" y="2863019"/>
            <a:ext cx="8045752" cy="608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485114"/>
            <a:ext cx="6407150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05" y="5842000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457" y="3502203"/>
            <a:ext cx="3174822" cy="31748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9B8C79-07FC-2444-B397-BBCDB3F9F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0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41904" y="181429"/>
            <a:ext cx="11710800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608410" y="6183276"/>
            <a:ext cx="577266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 hasCustomPrompt="1"/>
          </p:nvPr>
        </p:nvSpPr>
        <p:spPr>
          <a:xfrm>
            <a:off x="5639120" y="2708920"/>
            <a:ext cx="5665556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5638360" y="3357564"/>
            <a:ext cx="5666316" cy="503237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9" name="Picture 8" descr="MAC21_190.5x254_PowerPoint_Images_Cov v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" y="0"/>
            <a:ext cx="4383024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F0B494-A7A4-6F4C-8E15-141F578E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10800001" cy="45259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04664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914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625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720000" y="1620000"/>
            <a:ext cx="10776675" cy="45243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3392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759075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38668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2898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25430"/>
          </a:xfrm>
        </p:spPr>
        <p:txBody>
          <a:bodyPr lIns="0" tIns="0" rIns="0" bIns="0"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</p:spTree>
    <p:extLst>
      <p:ext uri="{BB962C8B-B14F-4D97-AF65-F5344CB8AC3E}">
        <p14:creationId xmlns:p14="http://schemas.microsoft.com/office/powerpoint/2010/main" val="264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00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3624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02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012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151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20000" y="1620000"/>
            <a:ext cx="10752000" cy="4525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998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3392" y="6309321"/>
            <a:ext cx="54726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09321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77" y="57150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186930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720000" y="1620000"/>
            <a:ext cx="8507963" cy="4490720"/>
          </a:xfrm>
        </p:spPr>
        <p:txBody>
          <a:bodyPr>
            <a:noAutofit/>
          </a:bodyPr>
          <a:lstStyle>
            <a:lvl7pPr>
              <a:buNone/>
              <a:defRPr/>
            </a:lvl7pPr>
            <a:lvl8pPr>
              <a:buNone/>
              <a:defRPr/>
            </a:lvl8pPr>
          </a:lstStyle>
          <a:p>
            <a:r>
              <a:rPr lang="en-US" b="1" dirty="0">
                <a:solidFill>
                  <a:srgbClr val="6D0020"/>
                </a:solidFill>
              </a:rPr>
              <a:t>HEADER INFO</a:t>
            </a:r>
          </a:p>
          <a:p>
            <a:r>
              <a:rPr lang="en-US" dirty="0" err="1">
                <a:latin typeface="Georgia"/>
                <a:cs typeface="Georgia"/>
              </a:rPr>
              <a:t>Consectetur</a:t>
            </a:r>
            <a:r>
              <a:rPr lang="en-US" dirty="0">
                <a:latin typeface="Georgia"/>
                <a:cs typeface="Georgia"/>
              </a:rPr>
              <a:t>  met </a:t>
            </a:r>
            <a:r>
              <a:rPr lang="en-US" dirty="0" err="1">
                <a:latin typeface="Georgia"/>
                <a:cs typeface="Georgia"/>
              </a:rPr>
              <a:t>adipiscing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. </a:t>
            </a:r>
            <a:r>
              <a:rPr lang="en-US" dirty="0" err="1">
                <a:latin typeface="Georgia"/>
                <a:cs typeface="Georgia"/>
              </a:rPr>
              <a:t>Aenean</a:t>
            </a:r>
            <a:r>
              <a:rPr lang="en-US" dirty="0">
                <a:latin typeface="Georgia"/>
                <a:cs typeface="Georgia"/>
              </a:rPr>
              <a:t> ac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a </a:t>
            </a:r>
            <a:r>
              <a:rPr lang="en-US" dirty="0" err="1">
                <a:latin typeface="Georgia"/>
                <a:cs typeface="Georgia"/>
              </a:rPr>
              <a:t>felis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pharetra</a:t>
            </a:r>
            <a:r>
              <a:rPr lang="en-US" dirty="0">
                <a:latin typeface="Georgia"/>
                <a:cs typeface="Georgia"/>
              </a:rPr>
              <a:t>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 err="1">
                <a:latin typeface="Georgia"/>
                <a:cs typeface="Georgia"/>
              </a:rPr>
              <a:t>vel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Fringilla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Duis</a:t>
            </a:r>
            <a:r>
              <a:rPr lang="en-US" dirty="0">
                <a:latin typeface="Georgia"/>
                <a:cs typeface="Georgia"/>
              </a:rPr>
              <a:t> dui </a:t>
            </a:r>
            <a:r>
              <a:rPr lang="en-US" dirty="0" err="1">
                <a:latin typeface="Georgia"/>
                <a:cs typeface="Georgia"/>
              </a:rPr>
              <a:t>arcu</a:t>
            </a:r>
            <a:r>
              <a:rPr lang="en-US" dirty="0">
                <a:latin typeface="Georgia"/>
                <a:cs typeface="Georgia"/>
              </a:rPr>
              <a:t>,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scelerisque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nec</a:t>
            </a:r>
            <a:r>
              <a:rPr lang="en-US" dirty="0">
                <a:latin typeface="Georgia"/>
                <a:cs typeface="Georgia"/>
              </a:rPr>
              <a:t> dictum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>
                <a:latin typeface="Georgia"/>
                <a:cs typeface="Georgia"/>
              </a:rPr>
              <a:t>ac </a:t>
            </a:r>
            <a:r>
              <a:rPr lang="en-US" dirty="0" err="1">
                <a:latin typeface="Georgia"/>
                <a:cs typeface="Georgia"/>
              </a:rPr>
              <a:t>conse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eu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Donec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tincid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unt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enim</a:t>
            </a:r>
            <a:r>
              <a:rPr lang="en-US" dirty="0">
                <a:latin typeface="Georgia"/>
                <a:cs typeface="Georgia"/>
              </a:rPr>
              <a:t> sit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consequat</a:t>
            </a:r>
            <a:r>
              <a:rPr lang="en-US" dirty="0">
                <a:latin typeface="Georgia"/>
                <a:cs typeface="Georgia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7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pPr marL="342900" lvl="7" indent="0"/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6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endParaRPr lang="en-US" dirty="0">
              <a:latin typeface="Georgia"/>
              <a:cs typeface="Georgia"/>
            </a:endParaRPr>
          </a:p>
          <a:p>
            <a:endParaRPr 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458276" cy="434305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50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29F5C7-1EDD-4D4F-B3EB-31F227D9F4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620000"/>
            <a:ext cx="10800001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309321"/>
            <a:ext cx="54006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1875" y="6309321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68000"/>
            <a:ext cx="10800000" cy="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00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  <p:sldLayoutId id="2147484650" r:id="rId12"/>
    <p:sldLayoutId id="2147484651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4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stlii.edu.au/cgi-bin/viewdoc/au/cases/nsw/NSWCA/2015/228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836784"/>
            <a:ext cx="9140096" cy="648000"/>
          </a:xfrm>
        </p:spPr>
        <p:txBody>
          <a:bodyPr>
            <a:normAutofit fontScale="90000"/>
          </a:bodyPr>
          <a:lstStyle/>
          <a:p>
            <a:r>
              <a:rPr lang="en-AU" sz="4000" b="1" dirty="0">
                <a:latin typeface="+mn-lt"/>
                <a:cs typeface="Times New Roman" panose="02020603050405020304" pitchFamily="18" charset="0"/>
              </a:rPr>
              <a:t>LAWS2400 / LAWS8040 – Torts</a:t>
            </a:r>
            <a:br>
              <a:rPr lang="en-AU" sz="3600" b="1" dirty="0">
                <a:latin typeface="+mn-lt"/>
                <a:cs typeface="Times New Roman" panose="02020603050405020304" pitchFamily="18" charset="0"/>
              </a:rPr>
            </a:br>
            <a:br>
              <a:rPr lang="en-AU" sz="3600" b="1" dirty="0">
                <a:latin typeface="+mn-lt"/>
                <a:cs typeface="Times New Roman" panose="02020603050405020304" pitchFamily="18" charset="0"/>
              </a:rPr>
            </a:br>
            <a:r>
              <a:rPr lang="en-AU" sz="3100" b="1" dirty="0">
                <a:latin typeface="+mn-lt"/>
                <a:cs typeface="Times New Roman" panose="02020603050405020304" pitchFamily="18" charset="0"/>
              </a:rPr>
              <a:t>Week 2 – Lecture 1</a:t>
            </a:r>
            <a:br>
              <a:rPr lang="en-AU" sz="3100" b="1" dirty="0">
                <a:latin typeface="+mn-lt"/>
                <a:cs typeface="Times New Roman" panose="02020603050405020304" pitchFamily="18" charset="0"/>
              </a:rPr>
            </a:br>
            <a:r>
              <a:rPr lang="en-AU" sz="3100" b="1" i="1" dirty="0">
                <a:latin typeface="+mn-lt"/>
                <a:cs typeface="Times New Roman" panose="02020603050405020304" pitchFamily="18" charset="0"/>
              </a:rPr>
              <a:t>Trespass to </a:t>
            </a:r>
            <a:r>
              <a:rPr lang="en-AU" sz="3100" b="1" i="1">
                <a:latin typeface="+mn-lt"/>
                <a:cs typeface="Times New Roman" panose="02020603050405020304" pitchFamily="18" charset="0"/>
              </a:rPr>
              <a:t>the Person</a:t>
            </a:r>
            <a:br>
              <a:rPr lang="en-AU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7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E700-BEAF-3248-A54C-F5BEBA34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4637"/>
            <a:ext cx="8458276" cy="89494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Outline</a:t>
            </a:r>
            <a:endParaRPr lang="en-US" sz="2800" dirty="0">
              <a:solidFill>
                <a:srgbClr val="C0000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9E6F-2A4A-EC4A-903A-6B54DA7E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69311"/>
            <a:ext cx="11116400" cy="4822929"/>
          </a:xfrm>
        </p:spPr>
        <p:txBody>
          <a:bodyPr>
            <a:no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HK" sz="2400" b="1" dirty="0">
                <a:cs typeface="Times New Roman" panose="02020603050405020304" pitchFamily="18" charset="0"/>
              </a:rPr>
              <a:t>Overview </a:t>
            </a:r>
          </a:p>
          <a:p>
            <a:pPr marL="971550" lvl="1" indent="-514350">
              <a:buFont typeface="+mj-lt"/>
              <a:buAutoNum type="arabicPeriod"/>
            </a:pPr>
            <a:endParaRPr lang="en-HK" sz="2400" b="1" dirty="0"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400" b="1" dirty="0">
                <a:cs typeface="Times New Roman" panose="02020603050405020304" pitchFamily="18" charset="0"/>
              </a:rPr>
              <a:t>Trespass to the person </a:t>
            </a:r>
          </a:p>
          <a:p>
            <a:pPr marL="971550" lvl="1" indent="-514350">
              <a:buFont typeface="+mj-lt"/>
              <a:buAutoNum type="arabicPeriod"/>
            </a:pPr>
            <a:endParaRPr lang="en-HK" sz="2400" b="1" dirty="0"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400" b="1" dirty="0">
                <a:cs typeface="Times New Roman" panose="02020603050405020304" pitchFamily="18" charset="0"/>
              </a:rPr>
              <a:t>Action on the case for intentional harm </a:t>
            </a:r>
          </a:p>
          <a:p>
            <a:pPr marL="971550" lvl="1" indent="-514350">
              <a:buFont typeface="+mj-lt"/>
              <a:buAutoNum type="arabicPeriod"/>
            </a:pPr>
            <a:endParaRPr lang="en-HK" sz="2400" b="1" dirty="0"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400" b="1" dirty="0">
                <a:cs typeface="Times New Roman" panose="02020603050405020304" pitchFamily="18" charset="0"/>
              </a:rPr>
              <a:t>Remedies for intentional interference with the person </a:t>
            </a:r>
          </a:p>
          <a:p>
            <a:pPr marL="971550" lvl="1" indent="-514350">
              <a:buFont typeface="+mj-lt"/>
              <a:buAutoNum type="arabicPeriod"/>
            </a:pPr>
            <a:endParaRPr lang="en-HK" sz="2400" b="1" dirty="0"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400" b="1" dirty="0">
                <a:cs typeface="Times New Roman" panose="02020603050405020304" pitchFamily="18" charset="0"/>
              </a:rPr>
              <a:t>Interference with chattels (Topic 2 - Lecture 2) </a:t>
            </a:r>
          </a:p>
        </p:txBody>
      </p:sp>
    </p:spTree>
    <p:extLst>
      <p:ext uri="{BB962C8B-B14F-4D97-AF65-F5344CB8AC3E}">
        <p14:creationId xmlns:p14="http://schemas.microsoft.com/office/powerpoint/2010/main" val="108145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1. Overview </a:t>
            </a:r>
            <a:endParaRPr lang="en-AU" sz="2800" dirty="0">
              <a:solidFill>
                <a:schemeClr val="accent3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1" y="1508426"/>
            <a:ext cx="11155680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In this lecture, we will focus on several torts aimed at protecting bodily integrity, liberties:</a:t>
            </a:r>
            <a:r>
              <a:rPr lang="en-US" sz="2400" i="1" dirty="0"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Trespass to the person – battery, assault and false imprisonment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Action on the case for intentional harm – malicious prosecution and intentional infliction of personal injury </a:t>
            </a:r>
          </a:p>
        </p:txBody>
      </p:sp>
    </p:spTree>
    <p:extLst>
      <p:ext uri="{BB962C8B-B14F-4D97-AF65-F5344CB8AC3E}">
        <p14:creationId xmlns:p14="http://schemas.microsoft.com/office/powerpoint/2010/main" val="255168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Overview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1045280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You should focus on understanding – by reading cases and other materials – </a:t>
            </a:r>
            <a:r>
              <a:rPr lang="en-US" sz="2400" b="1" dirty="0">
                <a:cs typeface="Times New Roman" panose="02020603050405020304" pitchFamily="18" charset="0"/>
              </a:rPr>
              <a:t>key elements</a:t>
            </a:r>
            <a:r>
              <a:rPr lang="en-US" sz="2400" dirty="0">
                <a:cs typeface="Times New Roman" panose="02020603050405020304" pitchFamily="18" charset="0"/>
              </a:rPr>
              <a:t> of each of these torts and </a:t>
            </a:r>
            <a:r>
              <a:rPr lang="en-US" sz="2400" b="1" dirty="0">
                <a:cs typeface="Times New Roman" panose="02020603050405020304" pitchFamily="18" charset="0"/>
              </a:rPr>
              <a:t>differences</a:t>
            </a:r>
            <a:r>
              <a:rPr lang="en-US" sz="2400" dirty="0">
                <a:cs typeface="Times New Roman" panose="02020603050405020304" pitchFamily="18" charset="0"/>
              </a:rPr>
              <a:t> between them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cs typeface="Times New Roman" panose="02020603050405020304" pitchFamily="18" charset="0"/>
              </a:rPr>
              <a:t>What </a:t>
            </a:r>
            <a:r>
              <a:rPr lang="en-US" sz="2400" b="1" dirty="0">
                <a:cs typeface="Times New Roman" panose="02020603050405020304" pitchFamily="18" charset="0"/>
              </a:rPr>
              <a:t>remedies</a:t>
            </a:r>
            <a:r>
              <a:rPr lang="en-US" sz="2400" dirty="0">
                <a:cs typeface="Times New Roman" panose="02020603050405020304" pitchFamily="18" charset="0"/>
              </a:rPr>
              <a:t> are available to address the harm to body/liberties/goods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62E8CC6-5DE7-1E80-0957-38F9DF1FAFA9}"/>
              </a:ext>
            </a:extLst>
          </p:cNvPr>
          <p:cNvSpPr/>
          <p:nvPr/>
        </p:nvSpPr>
        <p:spPr>
          <a:xfrm>
            <a:off x="4518837" y="2679406"/>
            <a:ext cx="4189228" cy="1765004"/>
          </a:xfrm>
          <a:prstGeom prst="wedgeRoundRectCallout">
            <a:avLst>
              <a:gd name="adj1" fmla="val -28973"/>
              <a:gd name="adj2" fmla="val 7985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dirty="0">
                <a:solidFill>
                  <a:srgbClr val="3333FF"/>
                </a:solidFill>
                <a:cs typeface="Times New Roman" panose="02020603050405020304" pitchFamily="18" charset="0"/>
              </a:rPr>
              <a:t>Have you come across situations in daily life where these torts may be relevant? </a:t>
            </a:r>
          </a:p>
        </p:txBody>
      </p:sp>
    </p:spTree>
    <p:extLst>
      <p:ext uri="{BB962C8B-B14F-4D97-AF65-F5344CB8AC3E}">
        <p14:creationId xmlns:p14="http://schemas.microsoft.com/office/powerpoint/2010/main" val="2192181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2. Trespass to the person </a:t>
            </a:r>
            <a:endParaRPr lang="en-AU" sz="2800" dirty="0">
              <a:solidFill>
                <a:schemeClr val="accent3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Trespass to the person (</a:t>
            </a:r>
            <a:r>
              <a:rPr lang="en-US" sz="2400" u="sng" dirty="0">
                <a:cs typeface="Times New Roman" panose="02020603050405020304" pitchFamily="18" charset="0"/>
              </a:rPr>
              <a:t>battery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  <a:r>
              <a:rPr lang="en-US" sz="2400" u="sng" dirty="0">
                <a:cs typeface="Times New Roman" panose="02020603050405020304" pitchFamily="18" charset="0"/>
              </a:rPr>
              <a:t>assault</a:t>
            </a:r>
            <a:r>
              <a:rPr lang="en-US" sz="2400" dirty="0">
                <a:cs typeface="Times New Roman" panose="02020603050405020304" pitchFamily="18" charset="0"/>
              </a:rPr>
              <a:t> and </a:t>
            </a:r>
            <a:r>
              <a:rPr lang="en-US" sz="2400" u="sng" dirty="0">
                <a:cs typeface="Times New Roman" panose="02020603050405020304" pitchFamily="18" charset="0"/>
              </a:rPr>
              <a:t>false imprisonment</a:t>
            </a:r>
            <a:r>
              <a:rPr lang="en-US" sz="2400" dirty="0">
                <a:cs typeface="Times New Roman" panose="02020603050405020304" pitchFamily="18" charset="0"/>
              </a:rPr>
              <a:t>) has a vital role in protecting civil rights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Useful in a variety of settings: 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cs typeface="Times New Roman" panose="02020603050405020304" pitchFamily="18" charset="0"/>
              </a:rPr>
              <a:t>Bullying 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cs typeface="Times New Roman" panose="02020603050405020304" pitchFamily="18" charset="0"/>
              </a:rPr>
              <a:t>Domestic violence 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cs typeface="Times New Roman" panose="02020603050405020304" pitchFamily="18" charset="0"/>
              </a:rPr>
              <a:t>Medical treatment 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cs typeface="Times New Roman" panose="02020603050405020304" pitchFamily="18" charset="0"/>
              </a:rPr>
              <a:t>Police action   </a:t>
            </a:r>
          </a:p>
        </p:txBody>
      </p:sp>
    </p:spTree>
    <p:extLst>
      <p:ext uri="{BB962C8B-B14F-4D97-AF65-F5344CB8AC3E}">
        <p14:creationId xmlns:p14="http://schemas.microsoft.com/office/powerpoint/2010/main" val="865280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5868369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Battery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>
                <a:cs typeface="Times New Roman" panose="02020603050405020304" pitchFamily="18" charset="0"/>
              </a:rPr>
              <a:t>Direct</a:t>
            </a:r>
            <a:r>
              <a:rPr lang="en-US" sz="2400" dirty="0">
                <a:cs typeface="Times New Roman" panose="02020603050405020304" pitchFamily="18" charset="0"/>
              </a:rPr>
              <a:t> and </a:t>
            </a:r>
            <a:r>
              <a:rPr lang="en-US" sz="2400" i="1" dirty="0">
                <a:cs typeface="Times New Roman" panose="02020603050405020304" pitchFamily="18" charset="0"/>
              </a:rPr>
              <a:t>intentional or negligent act </a:t>
            </a:r>
            <a:r>
              <a:rPr lang="en-US" sz="2400" dirty="0">
                <a:cs typeface="Times New Roman" panose="02020603050405020304" pitchFamily="18" charset="0"/>
              </a:rPr>
              <a:t>of the defendant which causes </a:t>
            </a:r>
            <a:r>
              <a:rPr lang="en-US" sz="2400" i="1" dirty="0">
                <a:cs typeface="Times New Roman" panose="02020603050405020304" pitchFamily="18" charset="0"/>
              </a:rPr>
              <a:t>physical contact with the body </a:t>
            </a:r>
            <a:r>
              <a:rPr lang="en-US" sz="2400" dirty="0">
                <a:cs typeface="Times New Roman" panose="02020603050405020304" pitchFamily="18" charset="0"/>
              </a:rPr>
              <a:t>of the plaintiff </a:t>
            </a:r>
            <a:r>
              <a:rPr lang="en-US" sz="2400" i="1" dirty="0">
                <a:cs typeface="Times New Roman" panose="02020603050405020304" pitchFamily="18" charset="0"/>
              </a:rPr>
              <a:t>without consent or other </a:t>
            </a:r>
            <a:r>
              <a:rPr lang="en-US" sz="2400" i="1">
                <a:cs typeface="Times New Roman" panose="02020603050405020304" pitchFamily="18" charset="0"/>
              </a:rPr>
              <a:t>lawful justification. </a:t>
            </a:r>
            <a:endParaRPr lang="en-US" sz="2400" i="1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i="1" dirty="0"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4" name="Wave 3">
            <a:extLst>
              <a:ext uri="{FF2B5EF4-FFF2-40B4-BE49-F238E27FC236}">
                <a16:creationId xmlns:a16="http://schemas.microsoft.com/office/drawing/2014/main" id="{365F9F6D-0BEA-CDE5-7652-6364E4D90675}"/>
              </a:ext>
            </a:extLst>
          </p:cNvPr>
          <p:cNvSpPr/>
          <p:nvPr/>
        </p:nvSpPr>
        <p:spPr>
          <a:xfrm>
            <a:off x="7059292" y="2841620"/>
            <a:ext cx="4832815" cy="2744598"/>
          </a:xfrm>
          <a:prstGeom prst="wav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HK" sz="2400" dirty="0">
                <a:solidFill>
                  <a:srgbClr val="3333FF"/>
                </a:solidFill>
                <a:cs typeface="Times New Roman" panose="02020603050405020304" pitchFamily="18" charset="0"/>
              </a:rPr>
              <a:t>Think any two examples of battery from daily life situations! </a:t>
            </a:r>
          </a:p>
        </p:txBody>
      </p:sp>
    </p:spTree>
    <p:extLst>
      <p:ext uri="{BB962C8B-B14F-4D97-AF65-F5344CB8AC3E}">
        <p14:creationId xmlns:p14="http://schemas.microsoft.com/office/powerpoint/2010/main" val="1147857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key elements for battery: </a:t>
            </a:r>
          </a:p>
          <a:p>
            <a:pPr marL="1371600" lvl="2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cs typeface="Times New Roman" panose="02020603050405020304" pitchFamily="18" charset="0"/>
              </a:rPr>
              <a:t>Voluntary and positive act by the defendant</a:t>
            </a:r>
          </a:p>
          <a:p>
            <a:pPr marL="1371600" lvl="2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cs typeface="Times New Roman" panose="02020603050405020304" pitchFamily="18" charset="0"/>
              </a:rPr>
              <a:t>Direct interference</a:t>
            </a:r>
          </a:p>
          <a:p>
            <a:pPr marL="1371600" lvl="2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cs typeface="Times New Roman" panose="02020603050405020304" pitchFamily="18" charset="0"/>
              </a:rPr>
              <a:t>Intentional or negligent contact</a:t>
            </a:r>
          </a:p>
          <a:p>
            <a:pPr marL="1371600" lvl="2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cs typeface="Times New Roman" panose="02020603050405020304" pitchFamily="18" charset="0"/>
              </a:rPr>
              <a:t>Physical Interference (bodily contact)</a:t>
            </a:r>
          </a:p>
          <a:p>
            <a:pPr marL="1371600" lvl="2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cs typeface="Times New Roman" panose="02020603050405020304" pitchFamily="18" charset="0"/>
              </a:rPr>
              <a:t>Touching was unlawful (no consent or other lawful excuse)</a:t>
            </a:r>
          </a:p>
        </p:txBody>
      </p:sp>
    </p:spTree>
    <p:extLst>
      <p:ext uri="{BB962C8B-B14F-4D97-AF65-F5344CB8AC3E}">
        <p14:creationId xmlns:p14="http://schemas.microsoft.com/office/powerpoint/2010/main" val="129688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cs typeface="Times New Roman" panose="02020603050405020304" pitchFamily="18" charset="0"/>
              </a:rPr>
              <a:t>Positive Act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Times New Roman" panose="02020603050405020304" pitchFamily="18" charset="0"/>
              </a:rPr>
              <a:t>What is the difference between an active and passive act?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Times New Roman" panose="02020603050405020304" pitchFamily="18" charset="0"/>
              </a:rPr>
              <a:t>Consider </a:t>
            </a:r>
            <a:r>
              <a:rPr lang="en-US" sz="2000" i="1" dirty="0">
                <a:solidFill>
                  <a:srgbClr val="0070C0"/>
                </a:solidFill>
                <a:cs typeface="Times New Roman" panose="02020603050405020304" pitchFamily="18" charset="0"/>
              </a:rPr>
              <a:t>Innes v Wylie </a:t>
            </a:r>
            <a:r>
              <a:rPr lang="en-US" sz="2000" dirty="0">
                <a:solidFill>
                  <a:srgbClr val="0070C0"/>
                </a:solidFill>
                <a:cs typeface="Times New Roman" panose="02020603050405020304" pitchFamily="18" charset="0"/>
              </a:rPr>
              <a:t>(1844) 174 ER 800 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(police officer standing in the doorway)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Times New Roman" panose="02020603050405020304" pitchFamily="18" charset="0"/>
              </a:rPr>
              <a:t>if standing passively -&gt; no battery</a:t>
            </a:r>
            <a:endParaRPr lang="en-US" sz="2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Times New Roman" panose="02020603050405020304" pitchFamily="18" charset="0"/>
              </a:rPr>
              <a:t>Consider </a:t>
            </a:r>
            <a:r>
              <a:rPr lang="en-US" sz="2000" i="1" dirty="0">
                <a:solidFill>
                  <a:srgbClr val="0070C0"/>
                </a:solidFill>
                <a:cs typeface="Times New Roman" panose="02020603050405020304" pitchFamily="18" charset="0"/>
              </a:rPr>
              <a:t>Fagan v Metropolitan Police Commissioner </a:t>
            </a:r>
            <a:r>
              <a:rPr lang="en-US" sz="2000" dirty="0">
                <a:solidFill>
                  <a:srgbClr val="0070C0"/>
                </a:solidFill>
                <a:cs typeface="Times New Roman" panose="02020603050405020304" pitchFamily="18" charset="0"/>
              </a:rPr>
              <a:t>[1969] 1 QB 439 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(car accidently drove onto the officer’s foot, but the defendant did not move the car for a few minutes despite being requested to do so) </a:t>
            </a:r>
            <a:endParaRPr lang="en-US" sz="20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Times New Roman" panose="02020603050405020304" pitchFamily="18" charset="0"/>
              </a:rPr>
              <a:t>The court held that the failure to move the car was still a positive act because of its nexus with the earlier positive act of driving the car onto the foot – </a:t>
            </a:r>
            <a:r>
              <a:rPr lang="en-US" sz="2000" i="1" dirty="0">
                <a:cs typeface="Times New Roman" panose="02020603050405020304" pitchFamily="18" charset="0"/>
              </a:rPr>
              <a:t>one continuous positive act  </a:t>
            </a:r>
          </a:p>
        </p:txBody>
      </p:sp>
    </p:spTree>
    <p:extLst>
      <p:ext uri="{BB962C8B-B14F-4D97-AF65-F5344CB8AC3E}">
        <p14:creationId xmlns:p14="http://schemas.microsoft.com/office/powerpoint/2010/main" val="2099220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cs typeface="Times New Roman" panose="02020603050405020304" pitchFamily="18" charset="0"/>
              </a:rPr>
              <a:t>Direct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u="sng" dirty="0">
                <a:cs typeface="Times New Roman" panose="02020603050405020304" pitchFamily="18" charset="0"/>
              </a:rPr>
              <a:t>and</a:t>
            </a:r>
            <a:r>
              <a:rPr lang="en-US" sz="2400" b="1" dirty="0">
                <a:cs typeface="Times New Roman" panose="02020603050405020304" pitchFamily="18" charset="0"/>
              </a:rPr>
              <a:t> intentional </a:t>
            </a:r>
            <a:r>
              <a:rPr lang="en-US" sz="2400" u="sng" dirty="0">
                <a:cs typeface="Times New Roman" panose="02020603050405020304" pitchFamily="18" charset="0"/>
              </a:rPr>
              <a:t>or</a:t>
            </a:r>
            <a:r>
              <a:rPr lang="en-US" sz="2400" b="1" dirty="0">
                <a:cs typeface="Times New Roman" panose="02020603050405020304" pitchFamily="18" charset="0"/>
              </a:rPr>
              <a:t> negligent</a:t>
            </a:r>
            <a:endParaRPr lang="en-US" sz="2400" i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Except the highway cases, the </a:t>
            </a:r>
            <a:r>
              <a:rPr lang="en-US" sz="2400" i="1" dirty="0">
                <a:cs typeface="Times New Roman" panose="02020603050405020304" pitchFamily="18" charset="0"/>
              </a:rPr>
              <a:t>onus is on the defendant </a:t>
            </a:r>
            <a:r>
              <a:rPr lang="en-US" sz="2400" dirty="0">
                <a:cs typeface="Times New Roman" panose="02020603050405020304" pitchFamily="18" charset="0"/>
              </a:rPr>
              <a:t>to prove that her act was neither intentional or negligent  </a:t>
            </a:r>
          </a:p>
        </p:txBody>
      </p:sp>
    </p:spTree>
    <p:extLst>
      <p:ext uri="{BB962C8B-B14F-4D97-AF65-F5344CB8AC3E}">
        <p14:creationId xmlns:p14="http://schemas.microsoft.com/office/powerpoint/2010/main" val="1203842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BE33-3260-B92F-5979-BF92EE7CF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89CC-726F-D2BA-A54B-0DA4C9F8A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0DF6A-00EB-5A57-43BC-1485B1A1E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cs typeface="Times New Roman" panose="02020603050405020304" pitchFamily="18" charset="0"/>
              </a:rPr>
              <a:t>Physical Interference with the plaintiff’s body</a:t>
            </a:r>
            <a:endParaRPr lang="en-US" sz="2400" i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Hit, touch or push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But also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Through the use of a weapon or car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use of tear gas in </a:t>
            </a:r>
            <a:r>
              <a:rPr lang="en-US" sz="24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Binsaris</a:t>
            </a:r>
            <a:r>
              <a:rPr lang="en-US" sz="2400" i="1" dirty="0">
                <a:solidFill>
                  <a:srgbClr val="0070C0"/>
                </a:solidFill>
                <a:cs typeface="Times New Roman" panose="02020603050405020304" pitchFamily="18" charset="0"/>
              </a:rPr>
              <a:t> v Northern Territory </a:t>
            </a:r>
            <a:r>
              <a:rPr 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(2020) 270 CLR 549 </a:t>
            </a:r>
            <a:r>
              <a:rPr lang="en-US" sz="2400" dirty="0">
                <a:solidFill>
                  <a:srgbClr val="7030A0"/>
                </a:solidFill>
                <a:cs typeface="Times New Roman" panose="02020603050405020304" pitchFamily="18" charset="0"/>
              </a:rPr>
              <a:t>(the gas touched the eyes of the plaintiff)</a:t>
            </a:r>
            <a:endParaRPr lang="en-US" sz="2000" dirty="0">
              <a:solidFill>
                <a:srgbClr val="7030A0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306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cs typeface="Times New Roman" panose="02020603050405020304" pitchFamily="18" charset="0"/>
              </a:rPr>
              <a:t>Unlawful touching</a:t>
            </a:r>
            <a:endParaRPr lang="en-US" sz="2400" i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touching need </a:t>
            </a:r>
            <a:r>
              <a:rPr lang="en-US" sz="2400" i="1" dirty="0">
                <a:cs typeface="Times New Roman" panose="02020603050405020304" pitchFamily="18" charset="0"/>
              </a:rPr>
              <a:t>not</a:t>
            </a:r>
            <a:r>
              <a:rPr lang="en-US" sz="2400" dirty="0">
                <a:cs typeface="Times New Roman" panose="02020603050405020304" pitchFamily="18" charset="0"/>
              </a:rPr>
              <a:t> be hostile; any slight touching </a:t>
            </a:r>
            <a:r>
              <a:rPr lang="en-US" sz="2400" i="1" dirty="0">
                <a:cs typeface="Times New Roman" panose="02020603050405020304" pitchFamily="18" charset="0"/>
              </a:rPr>
              <a:t>without a lawful excuse </a:t>
            </a:r>
            <a:r>
              <a:rPr lang="en-US" sz="2400" dirty="0">
                <a:cs typeface="Times New Roman" panose="02020603050405020304" pitchFamily="18" charset="0"/>
              </a:rPr>
              <a:t>will suffice – </a:t>
            </a:r>
            <a:r>
              <a:rPr lang="en-US" sz="2400" u="sng" dirty="0">
                <a:cs typeface="Times New Roman" panose="02020603050405020304" pitchFamily="18" charset="0"/>
              </a:rPr>
              <a:t>the principle of personal inviolability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Consider </a:t>
            </a:r>
            <a:r>
              <a:rPr lang="en-US" sz="2400" i="1" dirty="0">
                <a:solidFill>
                  <a:srgbClr val="0070C0"/>
                </a:solidFill>
                <a:cs typeface="Times New Roman" panose="02020603050405020304" pitchFamily="18" charset="0"/>
              </a:rPr>
              <a:t>Rixon v Star City Pty Ltd</a:t>
            </a:r>
            <a:r>
              <a:rPr 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(2001) 53 NSWLR 98 </a:t>
            </a:r>
            <a:r>
              <a:rPr lang="en-US" sz="2400" dirty="0">
                <a:solidFill>
                  <a:srgbClr val="7030A0"/>
                </a:solidFill>
                <a:cs typeface="Times New Roman" panose="02020603050405020304" pitchFamily="18" charset="0"/>
              </a:rPr>
              <a:t>(treatment of an excluded person in a casino)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Court of Appeal held that ‘the absence of anger or hostile attitude by the person touching another is not a satisfactory basis for concluding that the touching was not a battery’ </a:t>
            </a:r>
          </a:p>
        </p:txBody>
      </p:sp>
    </p:spTree>
    <p:extLst>
      <p:ext uri="{BB962C8B-B14F-4D97-AF65-F5344CB8AC3E}">
        <p14:creationId xmlns:p14="http://schemas.microsoft.com/office/powerpoint/2010/main" val="1024451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cs typeface="Times New Roman" panose="02020603050405020304" pitchFamily="18" charset="0"/>
              </a:rPr>
              <a:t>Express / implied consent</a:t>
            </a:r>
            <a:r>
              <a:rPr lang="en-US" sz="2400" dirty="0">
                <a:cs typeface="Times New Roman" panose="02020603050405020304" pitchFamily="18" charset="0"/>
              </a:rPr>
              <a:t>, exigencies of everyday life and reasonable force in </a:t>
            </a:r>
            <a:r>
              <a:rPr lang="en-US" sz="2400" dirty="0" err="1">
                <a:cs typeface="Times New Roman" panose="02020603050405020304" pitchFamily="18" charset="0"/>
              </a:rPr>
              <a:t>self-defence</a:t>
            </a:r>
            <a:r>
              <a:rPr lang="en-US" sz="2400" dirty="0">
                <a:cs typeface="Times New Roman" panose="02020603050405020304" pitchFamily="18" charset="0"/>
              </a:rPr>
              <a:t> will not amount to unlawful touching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Whether there is battery in the following scenarios: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Tapping on shoulder to attract attention 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Touching body with a paper rocket / missile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Conducting surgery without consent</a:t>
            </a: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754C815-CCE7-B3B7-D60B-EB9093CEB796}"/>
              </a:ext>
            </a:extLst>
          </p:cNvPr>
          <p:cNvSpPr/>
          <p:nvPr/>
        </p:nvSpPr>
        <p:spPr>
          <a:xfrm>
            <a:off x="9178276" y="4136065"/>
            <a:ext cx="1042416" cy="1042416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99363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1508426"/>
            <a:ext cx="8864674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Assault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A direct and intentional act by the defendant which creates in the plaintiff a reasonable apprehension of an  imminent physical interference with their person</a:t>
            </a:r>
          </a:p>
        </p:txBody>
      </p:sp>
    </p:spTree>
    <p:extLst>
      <p:ext uri="{BB962C8B-B14F-4D97-AF65-F5344CB8AC3E}">
        <p14:creationId xmlns:p14="http://schemas.microsoft.com/office/powerpoint/2010/main" val="883359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8584A-34EB-F4A1-6682-F30F282CE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D129-9D28-E5F5-FC86-DAF439E74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84B77-F8EC-52E4-6B1C-1A8523C18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1508426"/>
            <a:ext cx="8864674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elements of assault are:</a:t>
            </a:r>
          </a:p>
          <a:p>
            <a:pPr marL="1371600" lvl="2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cs typeface="Times New Roman" panose="02020603050405020304" pitchFamily="18" charset="0"/>
              </a:rPr>
              <a:t>Positive act</a:t>
            </a:r>
          </a:p>
          <a:p>
            <a:pPr marL="1371600" lvl="2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cs typeface="Times New Roman" panose="02020603050405020304" pitchFamily="18" charset="0"/>
              </a:rPr>
              <a:t>Direct interference</a:t>
            </a:r>
          </a:p>
          <a:p>
            <a:pPr marL="1371600" lvl="2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cs typeface="Times New Roman" panose="02020603050405020304" pitchFamily="18" charset="0"/>
              </a:rPr>
              <a:t>Intentional act </a:t>
            </a:r>
          </a:p>
          <a:p>
            <a:pPr marL="1371600" lvl="2" indent="-51435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cs typeface="Times New Roman" panose="02020603050405020304" pitchFamily="18" charset="0"/>
              </a:rPr>
              <a:t>Reasonable apprehension in the plaintiff of imminent harmful or offensive contact  </a:t>
            </a:r>
          </a:p>
        </p:txBody>
      </p:sp>
      <p:sp>
        <p:nvSpPr>
          <p:cNvPr id="4" name="Callout: Left Arrow 3">
            <a:extLst>
              <a:ext uri="{FF2B5EF4-FFF2-40B4-BE49-F238E27FC236}">
                <a16:creationId xmlns:a16="http://schemas.microsoft.com/office/drawing/2014/main" id="{3D7DAFAF-4902-0B33-FFE4-0DA325421400}"/>
              </a:ext>
            </a:extLst>
          </p:cNvPr>
          <p:cNvSpPr/>
          <p:nvPr/>
        </p:nvSpPr>
        <p:spPr>
          <a:xfrm>
            <a:off x="9178276" y="4361157"/>
            <a:ext cx="2700670" cy="2222205"/>
          </a:xfrm>
          <a:prstGeom prst="left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dirty="0">
                <a:solidFill>
                  <a:srgbClr val="3333FF"/>
                </a:solidFill>
                <a:cs typeface="Times New Roman" panose="02020603050405020304" pitchFamily="18" charset="0"/>
              </a:rPr>
              <a:t>The act should be without lawful justification</a:t>
            </a:r>
          </a:p>
        </p:txBody>
      </p:sp>
    </p:spTree>
    <p:extLst>
      <p:ext uri="{BB962C8B-B14F-4D97-AF65-F5344CB8AC3E}">
        <p14:creationId xmlns:p14="http://schemas.microsoft.com/office/powerpoint/2010/main" val="369307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cs typeface="Times New Roman" panose="02020603050405020304" pitchFamily="18" charset="0"/>
              </a:rPr>
              <a:t>Intentional act*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cs typeface="Times New Roman" panose="02020603050405020304" pitchFamily="18" charset="0"/>
              </a:rPr>
              <a:t>The intention refers to the intention to cause apprehension in the plaintiff of the commission of the battery, not the intention to commit the </a:t>
            </a:r>
            <a:r>
              <a:rPr lang="en-US" sz="2200">
                <a:cs typeface="Times New Roman" panose="02020603050405020304" pitchFamily="18" charset="0"/>
              </a:rPr>
              <a:t>battery (</a:t>
            </a:r>
            <a:r>
              <a:rPr lang="en-US" sz="2400" i="1">
                <a:solidFill>
                  <a:srgbClr val="0070C0"/>
                </a:solidFill>
                <a:cs typeface="Times New Roman" panose="02020603050405020304" pitchFamily="18" charset="0"/>
              </a:rPr>
              <a:t>Rixon v Star City Pty Ltd</a:t>
            </a:r>
            <a:r>
              <a:rPr lang="en-US" sz="240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(2001) 53 NSWLR 98 [56]-[59])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act may include mere words or gesture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* </a:t>
            </a:r>
            <a:r>
              <a:rPr lang="en-US" sz="2000" dirty="0">
                <a:cs typeface="Times New Roman" panose="02020603050405020304" pitchFamily="18" charset="0"/>
              </a:rPr>
              <a:t>Note that </a:t>
            </a:r>
            <a:r>
              <a:rPr lang="en-AU" sz="2000" dirty="0"/>
              <a:t>the weight of Australian authority is that the tort of assault requires intention (but see the dicta </a:t>
            </a:r>
            <a:r>
              <a:rPr lang="en-AU" sz="2000" i="1" dirty="0"/>
              <a:t>New South Wales v McMaster </a:t>
            </a:r>
            <a:r>
              <a:rPr lang="en-AU" sz="2000" dirty="0">
                <a:hlinkClick r:id="rId3" tooltip="Supreme Court of New South Wales Court of Appeal"/>
              </a:rPr>
              <a:t>[2015] NSWCA 228</a:t>
            </a:r>
            <a:r>
              <a:rPr lang="en-AU" sz="2000" dirty="0"/>
              <a:t> [206]-[208])</a:t>
            </a: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447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cs typeface="Times New Roman" panose="02020603050405020304" pitchFamily="18" charset="0"/>
              </a:rPr>
              <a:t>Reasonable apprehension </a:t>
            </a:r>
            <a:r>
              <a:rPr lang="en-US" sz="2400" dirty="0">
                <a:cs typeface="Times New Roman" panose="02020603050405020304" pitchFamily="18" charset="0"/>
              </a:rPr>
              <a:t>in the plaintiff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focus is on the </a:t>
            </a:r>
            <a:r>
              <a:rPr lang="en-US" sz="2400" u="sng" dirty="0">
                <a:cs typeface="Times New Roman" panose="02020603050405020304" pitchFamily="18" charset="0"/>
              </a:rPr>
              <a:t>mind of the plaintiff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Words are sufficient provided they directly raise in the plaintiff’s mind the apprehension of interference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Fear is not necessary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However, the test is </a:t>
            </a:r>
            <a:r>
              <a:rPr lang="en-US" sz="2400" i="1" dirty="0">
                <a:cs typeface="Times New Roman" panose="02020603050405020304" pitchFamily="18" charset="0"/>
              </a:rPr>
              <a:t>objective – reasonable apprehension – </a:t>
            </a:r>
            <a:r>
              <a:rPr lang="en-US" sz="2400" dirty="0">
                <a:cs typeface="Times New Roman" panose="02020603050405020304" pitchFamily="18" charset="0"/>
              </a:rPr>
              <a:t>would a </a:t>
            </a:r>
            <a:r>
              <a:rPr lang="en-US" sz="2400" i="1" dirty="0">
                <a:cs typeface="Times New Roman" panose="02020603050405020304" pitchFamily="18" charset="0"/>
              </a:rPr>
              <a:t>reasonable</a:t>
            </a:r>
            <a:r>
              <a:rPr lang="en-US" sz="2400" dirty="0">
                <a:cs typeface="Times New Roman" panose="02020603050405020304" pitchFamily="18" charset="0"/>
              </a:rPr>
              <a:t> person in the plaintiff’s position have apprehended the threat?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432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I</a:t>
            </a:r>
            <a:r>
              <a:rPr lang="en-US" sz="2400" b="1" dirty="0">
                <a:cs typeface="Times New Roman" panose="02020603050405020304" pitchFamily="18" charset="0"/>
              </a:rPr>
              <a:t>mminent direct contact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Must be at least the possibility of physical contact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Imminence here does not necessarily mean immediate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Consider </a:t>
            </a:r>
            <a:r>
              <a:rPr lang="en-US" sz="24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Zanker</a:t>
            </a:r>
            <a:r>
              <a:rPr lang="en-US" sz="2400" i="1" dirty="0">
                <a:solidFill>
                  <a:srgbClr val="0070C0"/>
                </a:solidFill>
                <a:cs typeface="Times New Roman" panose="02020603050405020304" pitchFamily="18" charset="0"/>
              </a:rPr>
              <a:t> v </a:t>
            </a:r>
            <a:r>
              <a:rPr lang="en-US" sz="24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Vartzokas</a:t>
            </a:r>
            <a:r>
              <a:rPr lang="en-US" sz="2400" i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(1988) 34 A Crim R 11 </a:t>
            </a:r>
            <a:r>
              <a:rPr lang="en-US" sz="2400" dirty="0">
                <a:solidFill>
                  <a:srgbClr val="7030A0"/>
                </a:solidFill>
                <a:cs typeface="Times New Roman" panose="02020603050405020304" pitchFamily="18" charset="0"/>
              </a:rPr>
              <a:t>(the defendant said the following to the girl, who accepted lift in his van, after she declined sexual </a:t>
            </a:r>
            <a:r>
              <a:rPr lang="en-HK" sz="2400" dirty="0">
                <a:solidFill>
                  <a:srgbClr val="7030A0"/>
                </a:solidFill>
                <a:cs typeface="Times New Roman" panose="02020603050405020304" pitchFamily="18" charset="0"/>
              </a:rPr>
              <a:t>favours</a:t>
            </a:r>
            <a:r>
              <a:rPr lang="en-US" sz="2400" dirty="0">
                <a:solidFill>
                  <a:srgbClr val="7030A0"/>
                </a:solidFill>
                <a:cs typeface="Times New Roman" panose="02020603050405020304" pitchFamily="18" charset="0"/>
              </a:rPr>
              <a:t> for money: “I am going to take you to my mate’s house. He will really fix you up.”)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court held that the threat was sufficiently imminent in the given circumstances  </a:t>
            </a:r>
          </a:p>
        </p:txBody>
      </p:sp>
    </p:spTree>
    <p:extLst>
      <p:ext uri="{BB962C8B-B14F-4D97-AF65-F5344CB8AC3E}">
        <p14:creationId xmlns:p14="http://schemas.microsoft.com/office/powerpoint/2010/main" val="3383237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Whether the following will amount to assault: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Pointing a toy gun at a person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Sending the following text message to an ex-partner: “I’m </a:t>
            </a:r>
            <a:r>
              <a:rPr lang="en-US" sz="2400" dirty="0" err="1">
                <a:cs typeface="Times New Roman" panose="02020603050405020304" pitchFamily="18" charset="0"/>
              </a:rPr>
              <a:t>gonna</a:t>
            </a:r>
            <a:r>
              <a:rPr lang="en-US" sz="2400" dirty="0">
                <a:cs typeface="Times New Roman" panose="02020603050405020304" pitchFamily="18" charset="0"/>
              </a:rPr>
              <a:t> get </a:t>
            </a:r>
            <a:r>
              <a:rPr lang="en-US" sz="2400">
                <a:cs typeface="Times New Roman" panose="02020603050405020304" pitchFamily="18" charset="0"/>
              </a:rPr>
              <a:t>you fixed up!”  </a:t>
            </a:r>
            <a:endParaRPr lang="en-US" sz="2400" dirty="0"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Raising the fist to punch behind the back of a person     </a:t>
            </a: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429DA75-899E-879A-872F-1A5F5CB34004}"/>
              </a:ext>
            </a:extLst>
          </p:cNvPr>
          <p:cNvSpPr/>
          <p:nvPr/>
        </p:nvSpPr>
        <p:spPr>
          <a:xfrm>
            <a:off x="9699484" y="1775637"/>
            <a:ext cx="1042416" cy="1042416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609860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Battery and Assault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As you may have noticed, there are differences between battery and assault – e.g., no touching required for assault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It is possible that the two may occur in quick succession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Assault may take place without battery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Battery in many cases will involve assault, but not always  </a:t>
            </a:r>
          </a:p>
        </p:txBody>
      </p:sp>
      <p:sp>
        <p:nvSpPr>
          <p:cNvPr id="4" name="Double Bracket 3">
            <a:extLst>
              <a:ext uri="{FF2B5EF4-FFF2-40B4-BE49-F238E27FC236}">
                <a16:creationId xmlns:a16="http://schemas.microsoft.com/office/drawing/2014/main" id="{98DA4677-80C5-4F4C-9E38-680AAC170020}"/>
              </a:ext>
            </a:extLst>
          </p:cNvPr>
          <p:cNvSpPr/>
          <p:nvPr/>
        </p:nvSpPr>
        <p:spPr>
          <a:xfrm flipH="1">
            <a:off x="10079665" y="3923414"/>
            <a:ext cx="1174519" cy="2062716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HK" sz="2400" dirty="0">
                <a:solidFill>
                  <a:srgbClr val="3333FF"/>
                </a:solidFill>
                <a:cs typeface="Times New Roman" panose="02020603050405020304" pitchFamily="18" charset="0"/>
              </a:rPr>
              <a:t>Think how?</a:t>
            </a:r>
          </a:p>
        </p:txBody>
      </p:sp>
    </p:spTree>
    <p:extLst>
      <p:ext uri="{BB962C8B-B14F-4D97-AF65-F5344CB8AC3E}">
        <p14:creationId xmlns:p14="http://schemas.microsoft.com/office/powerpoint/2010/main" val="2478219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False imprisonment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False imprisonment is the direct total restraint of the liberty of the plaintiff by an intentional or negligent act of the defendant without lawful justification.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A plaintiff can be totally imprisoned without physical boundaries (</a:t>
            </a:r>
            <a:r>
              <a:rPr lang="en-US" sz="2400" i="1" dirty="0">
                <a:solidFill>
                  <a:srgbClr val="0070C0"/>
                </a:solidFill>
                <a:cs typeface="Times New Roman" panose="02020603050405020304" pitchFamily="18" charset="0"/>
              </a:rPr>
              <a:t>Symes v Mahon</a:t>
            </a:r>
            <a:r>
              <a:rPr lang="en-US" sz="2400" dirty="0"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A plaintiff may be falsely imprisoned even if they do not know it at the time of the imprisonment (</a:t>
            </a:r>
            <a:r>
              <a:rPr lang="en-US" sz="24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Meering</a:t>
            </a:r>
            <a:r>
              <a:rPr lang="en-US" sz="2400" i="1" dirty="0">
                <a:solidFill>
                  <a:srgbClr val="0070C0"/>
                </a:solidFill>
                <a:cs typeface="Times New Roman" panose="02020603050405020304" pitchFamily="18" charset="0"/>
              </a:rPr>
              <a:t> v Graham-White Aviation</a:t>
            </a:r>
            <a:r>
              <a:rPr lang="en-US" sz="2400" dirty="0"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688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C745-40B8-A1ED-6BD8-FBE019948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6390B-5139-F0FC-7CF9-D8EF24DB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B4724-FDF6-13CD-D0C0-E8F59F73F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elements of false imprisonment are: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Positive act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Direct interference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Intentional or negligent act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Total restraint of the liberty of the plaintiff without lawful justification </a:t>
            </a:r>
          </a:p>
        </p:txBody>
      </p:sp>
    </p:spTree>
    <p:extLst>
      <p:ext uri="{BB962C8B-B14F-4D97-AF65-F5344CB8AC3E}">
        <p14:creationId xmlns:p14="http://schemas.microsoft.com/office/powerpoint/2010/main" val="1748523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6FB0-D7FE-7622-A412-BA5A922D4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07B7-8F65-4020-1E83-34427F70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ABF87-066E-63C1-06C3-730EA7681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Direct interference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imprisonment must be the direct result of the defendant’s act.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A direct act includes the defendant directing, promoting or causing another person to detain the plaintiff (</a:t>
            </a:r>
            <a:r>
              <a:rPr lang="en-US" sz="2400" i="1" dirty="0">
                <a:solidFill>
                  <a:srgbClr val="0070C0"/>
                </a:solidFill>
                <a:cs typeface="Times New Roman" panose="02020603050405020304" pitchFamily="18" charset="0"/>
              </a:rPr>
              <a:t>Coles Myer Ltd v Webster</a:t>
            </a:r>
            <a:r>
              <a:rPr lang="en-US" sz="2400" dirty="0"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474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D7C49-C831-44DE-0045-17355C343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1E57-CDCE-F711-610F-1B964327D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E81F9-E414-6F46-29CC-7D7824136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Deprivation of liberty must be total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deprivation must be </a:t>
            </a:r>
            <a:r>
              <a:rPr lang="en-US" sz="2400" b="1" i="1" dirty="0">
                <a:cs typeface="Times New Roman" panose="02020603050405020304" pitchFamily="18" charset="0"/>
              </a:rPr>
              <a:t>total</a:t>
            </a:r>
            <a:r>
              <a:rPr lang="en-US" sz="2400" dirty="0">
                <a:cs typeface="Times New Roman" panose="02020603050405020304" pitchFamily="18" charset="0"/>
              </a:rPr>
              <a:t> with no reasonable means of escape (</a:t>
            </a:r>
            <a:r>
              <a:rPr lang="en-US" sz="2400" i="1" dirty="0">
                <a:solidFill>
                  <a:srgbClr val="0070C0"/>
                </a:solidFill>
                <a:cs typeface="Times New Roman" panose="02020603050405020304" pitchFamily="18" charset="0"/>
              </a:rPr>
              <a:t>Bird v Jones</a:t>
            </a:r>
            <a:r>
              <a:rPr lang="en-US" sz="2400" dirty="0">
                <a:cs typeface="Times New Roman" panose="02020603050405020304" pitchFamily="18" charset="0"/>
              </a:rPr>
              <a:t>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Consider </a:t>
            </a:r>
            <a:r>
              <a:rPr lang="en-US" sz="2400" i="1" dirty="0">
                <a:solidFill>
                  <a:srgbClr val="0070C0"/>
                </a:solidFill>
                <a:cs typeface="Times New Roman" panose="02020603050405020304" pitchFamily="18" charset="0"/>
              </a:rPr>
              <a:t>Balmain New Ferry v Robertson </a:t>
            </a:r>
            <a:r>
              <a:rPr 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(1906) 4 CLR 379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cs typeface="Times New Roman" panose="02020603050405020304" pitchFamily="18" charset="0"/>
              </a:rPr>
              <a:t>(a passenger, who missed his ferry, was not allowed to leave the wharf without paying a further penny) 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The court held that no false imprisonment was made out, as it was a conditional entry on the premises  (</a:t>
            </a:r>
            <a:r>
              <a:rPr lang="en-US" sz="2400" dirty="0" err="1">
                <a:cs typeface="Times New Roman" panose="02020603050405020304" pitchFamily="18" charset="0"/>
              </a:rPr>
              <a:t>ie</a:t>
            </a:r>
            <a:r>
              <a:rPr lang="en-US" sz="2400" dirty="0">
                <a:cs typeface="Times New Roman" panose="02020603050405020304" pitchFamily="18" charset="0"/>
              </a:rPr>
              <a:t> lawful excuse)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64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9BADA-7D2F-3F04-5C06-3EC01803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DEB40-A7BD-96BD-554C-DCB1687AA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Trespass to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D3AA-DD87-131B-F799-0FA34B5D2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Intentional or Negligent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cs typeface="Times New Roman" panose="02020603050405020304" pitchFamily="18" charset="0"/>
              </a:rPr>
              <a:t>An intentional act of imprisonment may give rise to liability even if the defendant is acting under the reasonable but mistaken belief they are acting lawfully.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133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3. Action on the case for intentional interference </a:t>
            </a:r>
            <a:endParaRPr lang="en-AU" sz="2800" dirty="0">
              <a:solidFill>
                <a:schemeClr val="accent3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In comparison to trespass, an </a:t>
            </a:r>
            <a:r>
              <a:rPr lang="en-US" sz="2400" b="1" dirty="0">
                <a:cs typeface="Times New Roman" panose="02020603050405020304" pitchFamily="18" charset="0"/>
              </a:rPr>
              <a:t>action on the case</a:t>
            </a:r>
            <a:r>
              <a:rPr lang="en-US" sz="2400" dirty="0">
                <a:cs typeface="Times New Roman" panose="02020603050405020304" pitchFamily="18" charset="0"/>
              </a:rPr>
              <a:t> may lie for the following: 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Malicious prosecution </a:t>
            </a:r>
          </a:p>
          <a:p>
            <a:pPr lvl="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Intentional indirect interference with the person</a:t>
            </a:r>
            <a:endParaRPr lang="en-US" sz="24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723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Action on the case for intentional interference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Malicious prosecution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Procuring </a:t>
            </a:r>
            <a:r>
              <a:rPr lang="en-US" sz="2400" i="1" dirty="0">
                <a:cs typeface="Times New Roman" panose="02020603050405020304" pitchFamily="18" charset="0"/>
              </a:rPr>
              <a:t>with malice </a:t>
            </a:r>
            <a:r>
              <a:rPr lang="en-US" sz="2400" dirty="0">
                <a:cs typeface="Times New Roman" panose="02020603050405020304" pitchFamily="18" charset="0"/>
              </a:rPr>
              <a:t>the prosecution of another person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The key elements are: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The defendant initiated proceedings against the plaintiff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The proceedings terminated in the plaintiff’s </a:t>
            </a:r>
            <a:r>
              <a:rPr lang="en-US" sz="2400" dirty="0" err="1">
                <a:cs typeface="Times New Roman" panose="02020603050405020304" pitchFamily="18" charset="0"/>
              </a:rPr>
              <a:t>favour</a:t>
            </a:r>
            <a:endParaRPr lang="en-US" sz="2400" dirty="0"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The defendant, in initiating the proceedings, acted maliciously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cs typeface="Times New Roman" panose="02020603050405020304" pitchFamily="18" charset="0"/>
              </a:rPr>
              <a:t> The defendant acted without reasonable and probable cause</a:t>
            </a:r>
          </a:p>
        </p:txBody>
      </p:sp>
    </p:spTree>
    <p:extLst>
      <p:ext uri="{BB962C8B-B14F-4D97-AF65-F5344CB8AC3E}">
        <p14:creationId xmlns:p14="http://schemas.microsoft.com/office/powerpoint/2010/main" val="1315225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Action on the case for intentional interference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Moreover, since malicious prosecution is an action on the case, there must be </a:t>
            </a:r>
            <a:r>
              <a:rPr lang="en-US" sz="2400" b="1" dirty="0">
                <a:cs typeface="Times New Roman" panose="02020603050405020304" pitchFamily="18" charset="0"/>
              </a:rPr>
              <a:t>damage</a:t>
            </a:r>
            <a:r>
              <a:rPr lang="en-US" sz="2400" dirty="0">
                <a:cs typeface="Times New Roman" panose="02020603050405020304" pitchFamily="18" charset="0"/>
              </a:rPr>
              <a:t> to the life, liberty, reputation or property of the victim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Consider </a:t>
            </a:r>
            <a:r>
              <a:rPr lang="en-US" sz="2400" i="1" dirty="0">
                <a:solidFill>
                  <a:srgbClr val="0070C0"/>
                </a:solidFill>
                <a:cs typeface="Times New Roman" panose="02020603050405020304" pitchFamily="18" charset="0"/>
              </a:rPr>
              <a:t>A v New South Wales </a:t>
            </a:r>
            <a:r>
              <a:rPr 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(2007) 230 CLR 500 </a:t>
            </a:r>
            <a:r>
              <a:rPr lang="en-US" sz="2400" dirty="0">
                <a:solidFill>
                  <a:srgbClr val="7030A0"/>
                </a:solidFill>
                <a:cs typeface="Times New Roman" panose="02020603050405020304" pitchFamily="18" charset="0"/>
              </a:rPr>
              <a:t>(a police detective initiated prosecution against a civilian employee of the Police Service for alleged anal intercourse as he felt pressured to do so)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The High Court held that the following two elements are distinct: 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cs typeface="Times New Roman" panose="02020603050405020304" pitchFamily="18" charset="0"/>
              </a:rPr>
              <a:t>Malice (</a:t>
            </a:r>
            <a:r>
              <a:rPr lang="en-US" sz="2400" u="sng" dirty="0">
                <a:cs typeface="Times New Roman" panose="02020603050405020304" pitchFamily="18" charset="0"/>
              </a:rPr>
              <a:t>positive</a:t>
            </a:r>
            <a:r>
              <a:rPr lang="en-US" sz="2400" dirty="0">
                <a:cs typeface="Times New Roman" panose="02020603050405020304" pitchFamily="18" charset="0"/>
              </a:rPr>
              <a:t>) – e.g., acting for a non-legitimate purpose  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cs typeface="Times New Roman" panose="02020603050405020304" pitchFamily="18" charset="0"/>
              </a:rPr>
              <a:t>Absence of reasonable and probable cause (</a:t>
            </a:r>
            <a:r>
              <a:rPr lang="en-US" sz="2400" u="sng" dirty="0">
                <a:cs typeface="Times New Roman" panose="02020603050405020304" pitchFamily="18" charset="0"/>
              </a:rPr>
              <a:t>negative</a:t>
            </a:r>
            <a:r>
              <a:rPr lang="en-US" sz="2400" dirty="0">
                <a:cs typeface="Times New Roman" panose="02020603050405020304" pitchFamily="18" charset="0"/>
              </a:rPr>
              <a:t>) – both subjective and objective tests should be met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228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Action on the case for intentional interference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Intentional infliction of personal injury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This tort covers </a:t>
            </a:r>
            <a:r>
              <a:rPr lang="en-US" sz="2400" i="1" dirty="0">
                <a:cs typeface="Times New Roman" panose="02020603050405020304" pitchFamily="18" charset="0"/>
              </a:rPr>
              <a:t>intentional but indirect </a:t>
            </a:r>
            <a:r>
              <a:rPr lang="en-US" sz="2400" dirty="0">
                <a:cs typeface="Times New Roman" panose="02020603050405020304" pitchFamily="18" charset="0"/>
              </a:rPr>
              <a:t>infliction of injury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The value lies in that neither trespass nor negligence may provide an adequate remedy in such situations  </a:t>
            </a:r>
          </a:p>
        </p:txBody>
      </p:sp>
      <p:sp>
        <p:nvSpPr>
          <p:cNvPr id="4" name="Flowchart: Sequential Access Storage 3">
            <a:extLst>
              <a:ext uri="{FF2B5EF4-FFF2-40B4-BE49-F238E27FC236}">
                <a16:creationId xmlns:a16="http://schemas.microsoft.com/office/drawing/2014/main" id="{AF7116F2-04AA-508A-A976-35CC1B51994D}"/>
              </a:ext>
            </a:extLst>
          </p:cNvPr>
          <p:cNvSpPr/>
          <p:nvPr/>
        </p:nvSpPr>
        <p:spPr>
          <a:xfrm flipH="1">
            <a:off x="7166341" y="4045894"/>
            <a:ext cx="1477928" cy="1170978"/>
          </a:xfrm>
          <a:prstGeom prst="flowChartMagneticTap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800" dirty="0">
                <a:solidFill>
                  <a:srgbClr val="3333FF"/>
                </a:solidFill>
                <a:cs typeface="Times New Roman" panose="02020603050405020304" pitchFamily="18" charset="0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250663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Action on the case for intentional interference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Consider </a:t>
            </a:r>
            <a:r>
              <a:rPr lang="en-US" sz="2400" i="1" dirty="0">
                <a:solidFill>
                  <a:srgbClr val="0070C0"/>
                </a:solidFill>
                <a:cs typeface="Times New Roman" panose="02020603050405020304" pitchFamily="18" charset="0"/>
              </a:rPr>
              <a:t>Wilkinson v Downton</a:t>
            </a:r>
            <a:r>
              <a:rPr 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[1897] 2 QB 57 </a:t>
            </a:r>
            <a:r>
              <a:rPr lang="en-US" sz="2400" dirty="0">
                <a:solidFill>
                  <a:srgbClr val="7030A0"/>
                </a:solidFill>
                <a:cs typeface="Times New Roman" panose="02020603050405020304" pitchFamily="18" charset="0"/>
              </a:rPr>
              <a:t>(nervous shock triggered by a practical joke that the plaintiff’s husband was smashed up in an accident)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The court held that the cause of action lies in </a:t>
            </a:r>
            <a:r>
              <a:rPr lang="en-US" sz="2400" u="sng" dirty="0">
                <a:cs typeface="Times New Roman" panose="02020603050405020304" pitchFamily="18" charset="0"/>
              </a:rPr>
              <a:t>willfully</a:t>
            </a:r>
            <a:r>
              <a:rPr lang="en-US" sz="2400" dirty="0">
                <a:cs typeface="Times New Roman" panose="02020603050405020304" pitchFamily="18" charset="0"/>
              </a:rPr>
              <a:t> doing an act </a:t>
            </a:r>
            <a:r>
              <a:rPr lang="en-US" sz="2400" u="sng" dirty="0">
                <a:cs typeface="Times New Roman" panose="02020603050405020304" pitchFamily="18" charset="0"/>
              </a:rPr>
              <a:t>calculated to cause</a:t>
            </a:r>
            <a:r>
              <a:rPr lang="en-US" sz="2400" dirty="0">
                <a:cs typeface="Times New Roman" panose="02020603050405020304" pitchFamily="18" charset="0"/>
              </a:rPr>
              <a:t> physical harm to the plaintiff and </a:t>
            </a:r>
            <a:r>
              <a:rPr lang="en-US" sz="2400" u="sng" dirty="0">
                <a:cs typeface="Times New Roman" panose="02020603050405020304" pitchFamily="18" charset="0"/>
              </a:rPr>
              <a:t>actually causing such harm</a:t>
            </a:r>
            <a:r>
              <a:rPr lang="en-US" sz="2400" dirty="0">
                <a:cs typeface="Times New Roman" panose="02020603050405020304" pitchFamily="18" charset="0"/>
              </a:rPr>
              <a:t> to her 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38E3FF0A-DFF7-F413-C724-0B60B4EBAD49}"/>
              </a:ext>
            </a:extLst>
          </p:cNvPr>
          <p:cNvSpPr/>
          <p:nvPr/>
        </p:nvSpPr>
        <p:spPr>
          <a:xfrm>
            <a:off x="5869173" y="4625163"/>
            <a:ext cx="4051004" cy="1509823"/>
          </a:xfrm>
          <a:prstGeom prst="wedgeEllipseCallout">
            <a:avLst>
              <a:gd name="adj1" fmla="val -41351"/>
              <a:gd name="adj2" fmla="val 7364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2400" dirty="0">
                <a:solidFill>
                  <a:srgbClr val="008000"/>
                </a:solidFill>
                <a:cs typeface="Times New Roman" panose="02020603050405020304" pitchFamily="18" charset="0"/>
              </a:rPr>
              <a:t>But was there really an intention to cause such harm?  </a:t>
            </a:r>
          </a:p>
        </p:txBody>
      </p:sp>
    </p:spTree>
    <p:extLst>
      <p:ext uri="{BB962C8B-B14F-4D97-AF65-F5344CB8AC3E}">
        <p14:creationId xmlns:p14="http://schemas.microsoft.com/office/powerpoint/2010/main" val="36830701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Action on the case for intentional interference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Also consider </a:t>
            </a:r>
            <a:r>
              <a:rPr lang="en-US" sz="2400" i="1" dirty="0">
                <a:solidFill>
                  <a:srgbClr val="0070C0"/>
                </a:solidFill>
                <a:cs typeface="Times New Roman" panose="02020603050405020304" pitchFamily="18" charset="0"/>
              </a:rPr>
              <a:t>Nationwide News v Naidu</a:t>
            </a:r>
            <a:r>
              <a:rPr 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 (2007) 71 NSWLR 471 </a:t>
            </a:r>
            <a:r>
              <a:rPr lang="en-US" sz="2400" dirty="0">
                <a:solidFill>
                  <a:srgbClr val="7030A0"/>
                </a:solidFill>
                <a:cs typeface="Times New Roman" panose="02020603050405020304" pitchFamily="18" charset="0"/>
              </a:rPr>
              <a:t>(extreme bullying by superior at work resulting in major depression and post-traumatic stress disorder) </a:t>
            </a:r>
            <a:endParaRPr lang="en-US" sz="24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One key issue before the court was about the nature of intention (“calculate to cause”) required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cs typeface="Times New Roman" panose="02020603050405020304" pitchFamily="18" charset="0"/>
              </a:rPr>
              <a:t>The court held that an actual subjective intention is </a:t>
            </a:r>
            <a:r>
              <a:rPr lang="en-US" sz="2400" u="sng" dirty="0">
                <a:cs typeface="Times New Roman" panose="02020603050405020304" pitchFamily="18" charset="0"/>
              </a:rPr>
              <a:t>not</a:t>
            </a:r>
            <a:r>
              <a:rPr lang="en-US" sz="2400" dirty="0">
                <a:cs typeface="Times New Roman" panose="02020603050405020304" pitchFamily="18" charset="0"/>
              </a:rPr>
              <a:t> required – </a:t>
            </a:r>
            <a:r>
              <a:rPr lang="en-US" sz="2400" i="1" dirty="0">
                <a:cs typeface="Times New Roman" panose="02020603050405020304" pitchFamily="18" charset="0"/>
              </a:rPr>
              <a:t>reckless indifference to a result will, for example, suffice    </a:t>
            </a:r>
          </a:p>
        </p:txBody>
      </p:sp>
    </p:spTree>
    <p:extLst>
      <p:ext uri="{BB962C8B-B14F-4D97-AF65-F5344CB8AC3E}">
        <p14:creationId xmlns:p14="http://schemas.microsoft.com/office/powerpoint/2010/main" val="2273974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6" y="386398"/>
            <a:ext cx="8803758" cy="648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4. Remedies for intentional interference with the person </a:t>
            </a:r>
            <a:endParaRPr lang="en-AU" sz="2800" dirty="0">
              <a:solidFill>
                <a:schemeClr val="accent3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b="1" dirty="0">
                <a:cs typeface="Times New Roman" panose="02020603050405020304" pitchFamily="18" charset="0"/>
              </a:rPr>
              <a:t>Damages</a:t>
            </a:r>
            <a:r>
              <a:rPr lang="en-US" sz="2400" dirty="0">
                <a:cs typeface="Times New Roman" panose="02020603050405020304" pitchFamily="18" charset="0"/>
              </a:rPr>
              <a:t> is the most common remedy for intentional interference with the person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cs typeface="Times New Roman" panose="02020603050405020304" pitchFamily="18" charset="0"/>
              </a:rPr>
              <a:t>In suitable cases, an </a:t>
            </a:r>
            <a:r>
              <a:rPr lang="en-US" sz="2400" b="1" dirty="0">
                <a:cs typeface="Times New Roman" panose="02020603050405020304" pitchFamily="18" charset="0"/>
              </a:rPr>
              <a:t>injunction</a:t>
            </a:r>
            <a:r>
              <a:rPr lang="en-US" sz="2400" dirty="0">
                <a:cs typeface="Times New Roman" panose="02020603050405020304" pitchFamily="18" charset="0"/>
              </a:rPr>
              <a:t> may also be issued to prevent an anticipated tort (e.g., battery) from taking place  </a:t>
            </a:r>
          </a:p>
        </p:txBody>
      </p:sp>
    </p:spTree>
    <p:extLst>
      <p:ext uri="{BB962C8B-B14F-4D97-AF65-F5344CB8AC3E}">
        <p14:creationId xmlns:p14="http://schemas.microsoft.com/office/powerpoint/2010/main" val="1643290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n-lt"/>
                <a:cs typeface="Times New Roman" panose="02020603050405020304" pitchFamily="18" charset="0"/>
              </a:rPr>
              <a:t>Remedies for intentional interference with the person </a:t>
            </a:r>
            <a:r>
              <a:rPr lang="en-US" sz="2800" i="1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Contd.</a:t>
            </a:r>
            <a:endParaRPr lang="en-AU" sz="2800" i="1" dirty="0">
              <a:solidFill>
                <a:srgbClr val="00B05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cs typeface="Times New Roman" panose="02020603050405020304" pitchFamily="18" charset="0"/>
              </a:rPr>
              <a:t>Damages may be </a:t>
            </a:r>
            <a:r>
              <a:rPr lang="en-US" sz="2400" u="sng" dirty="0">
                <a:cs typeface="Times New Roman" panose="02020603050405020304" pitchFamily="18" charset="0"/>
              </a:rPr>
              <a:t>nominal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  <a:r>
              <a:rPr lang="en-US" sz="2400" u="sng" dirty="0">
                <a:cs typeface="Times New Roman" panose="02020603050405020304" pitchFamily="18" charset="0"/>
              </a:rPr>
              <a:t>compensatory and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u="sng" dirty="0">
                <a:cs typeface="Times New Roman" panose="02020603050405020304" pitchFamily="18" charset="0"/>
              </a:rPr>
              <a:t>aggravated and/or exemplary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i="1" dirty="0">
                <a:cs typeface="Times New Roman" panose="02020603050405020304" pitchFamily="18" charset="0"/>
              </a:rPr>
              <a:t>Nominal</a:t>
            </a:r>
            <a:r>
              <a:rPr lang="en-US" sz="2400" dirty="0">
                <a:cs typeface="Times New Roman" panose="02020603050405020304" pitchFamily="18" charset="0"/>
              </a:rPr>
              <a:t> damages are likely in cases where no harm or damage was caused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HK" sz="2400" i="1" dirty="0">
                <a:cs typeface="Times New Roman" panose="02020603050405020304" pitchFamily="18" charset="0"/>
              </a:rPr>
              <a:t>Compensatory </a:t>
            </a:r>
            <a:r>
              <a:rPr lang="en-HK" sz="2400" dirty="0">
                <a:cs typeface="Times New Roman" panose="02020603050405020304" pitchFamily="18" charset="0"/>
              </a:rPr>
              <a:t>damages aim to put the plaintiff in the position they would have been had the wrong not occurred</a:t>
            </a:r>
            <a:endParaRPr lang="en-HK" sz="2400" i="1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HK" sz="2400" i="1" dirty="0">
                <a:cs typeface="Times New Roman" panose="02020603050405020304" pitchFamily="18" charset="0"/>
              </a:rPr>
              <a:t>Aggravated</a:t>
            </a:r>
            <a:r>
              <a:rPr lang="en-HK" sz="2400" dirty="0">
                <a:cs typeface="Times New Roman" panose="02020603050405020304" pitchFamily="18" charset="0"/>
              </a:rPr>
              <a:t> damages are awarded for deliberate conduct of the defendant which has resulted an affront to the plaintiff.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HK" sz="2400" i="1" dirty="0">
                <a:cs typeface="Times New Roman" panose="02020603050405020304" pitchFamily="18" charset="0"/>
              </a:rPr>
              <a:t>Exemplary</a:t>
            </a:r>
            <a:r>
              <a:rPr lang="en-HK" sz="2400" dirty="0">
                <a:cs typeface="Times New Roman" panose="02020603050405020304" pitchFamily="18" charset="0"/>
              </a:rPr>
              <a:t> damages are awarded to ‘punish’ the defendant where the conduct of the defendant was particularly egregious.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HK" sz="2400" dirty="0">
              <a:solidFill>
                <a:srgbClr val="7030A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150494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-INT 16x9 Template _2016" id="{260B2EA1-E29E-8F43-8CD0-19C5943E9B3E}" vid="{17EFAF55-AA0F-074F-B88C-D92FD2EB1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c514c1-a717-4087-be06-d40d2070ad52}" enabled="0" method="" siteId="{82c514c1-a717-4087-be06-d40d2070ad5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15106</TotalTime>
  <Words>1905</Words>
  <Application>Microsoft Macintosh PowerPoint</Application>
  <PresentationFormat>Widescreen</PresentationFormat>
  <Paragraphs>297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Courier New</vt:lpstr>
      <vt:lpstr>Georgia</vt:lpstr>
      <vt:lpstr>Times New Roman</vt:lpstr>
      <vt:lpstr>Wingdings</vt:lpstr>
      <vt:lpstr>MAC UNI BASIC_Round 1 Draft for feedback</vt:lpstr>
      <vt:lpstr>LAWS2400 / LAWS8040 – Torts  Week 2 – Lecture 1 Trespass to the Person  </vt:lpstr>
      <vt:lpstr>Outline</vt:lpstr>
      <vt:lpstr>1. Overview </vt:lpstr>
      <vt:lpstr>Overview Contd.</vt:lpstr>
      <vt:lpstr>2. Trespass to the person 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Trespass to the person Contd.</vt:lpstr>
      <vt:lpstr>3. Action on the case for intentional interference </vt:lpstr>
      <vt:lpstr>Action on the case for intentional interference Contd.</vt:lpstr>
      <vt:lpstr>Action on the case for intentional interference Contd.</vt:lpstr>
      <vt:lpstr>Action on the case for intentional interference Contd.</vt:lpstr>
      <vt:lpstr>Action on the case for intentional interference Contd.</vt:lpstr>
      <vt:lpstr>Action on the case for intentional interference Contd.</vt:lpstr>
      <vt:lpstr>4. Remedies for intentional interference with the person </vt:lpstr>
      <vt:lpstr>Remedies for intentional interference with the person Contd.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Amanda Head</cp:lastModifiedBy>
  <cp:revision>935</cp:revision>
  <dcterms:created xsi:type="dcterms:W3CDTF">2019-01-24T02:12:19Z</dcterms:created>
  <dcterms:modified xsi:type="dcterms:W3CDTF">2026-08-06T00:11:34Z</dcterms:modified>
</cp:coreProperties>
</file>