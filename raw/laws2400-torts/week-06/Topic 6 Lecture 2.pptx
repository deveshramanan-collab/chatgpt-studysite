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30"/>
  </p:notesMasterIdLst>
  <p:handoutMasterIdLst>
    <p:handoutMasterId r:id="rId31"/>
  </p:handoutMasterIdLst>
  <p:sldIdLst>
    <p:sldId id="303" r:id="rId2"/>
    <p:sldId id="258" r:id="rId3"/>
    <p:sldId id="333" r:id="rId4"/>
    <p:sldId id="341" r:id="rId5"/>
    <p:sldId id="369" r:id="rId6"/>
    <p:sldId id="459" r:id="rId7"/>
    <p:sldId id="463" r:id="rId8"/>
    <p:sldId id="464" r:id="rId9"/>
    <p:sldId id="462" r:id="rId10"/>
    <p:sldId id="461" r:id="rId11"/>
    <p:sldId id="402" r:id="rId12"/>
    <p:sldId id="435" r:id="rId13"/>
    <p:sldId id="465" r:id="rId14"/>
    <p:sldId id="466" r:id="rId15"/>
    <p:sldId id="468" r:id="rId16"/>
    <p:sldId id="467" r:id="rId17"/>
    <p:sldId id="469" r:id="rId18"/>
    <p:sldId id="470" r:id="rId19"/>
    <p:sldId id="471" r:id="rId20"/>
    <p:sldId id="473" r:id="rId21"/>
    <p:sldId id="474" r:id="rId22"/>
    <p:sldId id="476" r:id="rId23"/>
    <p:sldId id="480" r:id="rId24"/>
    <p:sldId id="475" r:id="rId25"/>
    <p:sldId id="477" r:id="rId26"/>
    <p:sldId id="478" r:id="rId27"/>
    <p:sldId id="479" r:id="rId28"/>
    <p:sldId id="47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30" autoAdjust="0"/>
    <p:restoredTop sz="93447" autoAdjust="0"/>
  </p:normalViewPr>
  <p:slideViewPr>
    <p:cSldViewPr snapToGrid="0" snapToObjects="1">
      <p:cViewPr varScale="1">
        <p:scale>
          <a:sx n="90" d="100"/>
          <a:sy n="90" d="100"/>
        </p:scale>
        <p:origin x="208" y="1000"/>
      </p:cViewPr>
      <p:guideLst/>
    </p:cSldViewPr>
  </p:slideViewPr>
  <p:outlineViewPr>
    <p:cViewPr>
      <p:scale>
        <a:sx n="33" d="100"/>
        <a:sy n="33" d="100"/>
      </p:scale>
      <p:origin x="0" y="-523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Deva" userId="7fc89188-b279-4464-aad4-6bcc30702912" providerId="ADAL" clId="{349F6322-FDDF-4257-8981-BF76A49B5776}"/>
    <pc:docChg chg="undo custSel modSld">
      <pc:chgData name="Surya Deva" userId="7fc89188-b279-4464-aad4-6bcc30702912" providerId="ADAL" clId="{349F6322-FDDF-4257-8981-BF76A49B5776}" dt="2024-08-11T23:49:07.452" v="13" actId="20577"/>
      <pc:docMkLst>
        <pc:docMk/>
      </pc:docMkLst>
      <pc:sldChg chg="modSp mod">
        <pc:chgData name="Surya Deva" userId="7fc89188-b279-4464-aad4-6bcc30702912" providerId="ADAL" clId="{349F6322-FDDF-4257-8981-BF76A49B5776}" dt="2024-08-11T23:33:26.145" v="0" actId="20577"/>
        <pc:sldMkLst>
          <pc:docMk/>
          <pc:sldMk cId="865280206" sldId="336"/>
        </pc:sldMkLst>
        <pc:spChg chg="mod">
          <ac:chgData name="Surya Deva" userId="7fc89188-b279-4464-aad4-6bcc30702912" providerId="ADAL" clId="{349F6322-FDDF-4257-8981-BF76A49B5776}" dt="2024-08-11T23:33:26.145" v="0" actId="20577"/>
          <ac:spMkLst>
            <pc:docMk/>
            <pc:sldMk cId="865280206" sldId="336"/>
            <ac:spMk id="3" creationId="{EEA464B0-4368-47D8-802B-4FB5B5FAD6E7}"/>
          </ac:spMkLst>
        </pc:spChg>
      </pc:sldChg>
      <pc:sldChg chg="modSp mod">
        <pc:chgData name="Surya Deva" userId="7fc89188-b279-4464-aad4-6bcc30702912" providerId="ADAL" clId="{349F6322-FDDF-4257-8981-BF76A49B5776}" dt="2024-08-11T23:34:49.688" v="2" actId="20577"/>
        <pc:sldMkLst>
          <pc:docMk/>
          <pc:sldMk cId="1315225398" sldId="353"/>
        </pc:sldMkLst>
        <pc:spChg chg="mod">
          <ac:chgData name="Surya Deva" userId="7fc89188-b279-4464-aad4-6bcc30702912" providerId="ADAL" clId="{349F6322-FDDF-4257-8981-BF76A49B5776}" dt="2024-08-11T23:34:49.688" v="2" actId="20577"/>
          <ac:spMkLst>
            <pc:docMk/>
            <pc:sldMk cId="1315225398" sldId="353"/>
            <ac:spMk id="3" creationId="{EEA464B0-4368-47D8-802B-4FB5B5FAD6E7}"/>
          </ac:spMkLst>
        </pc:spChg>
      </pc:sldChg>
      <pc:sldChg chg="modSp mod">
        <pc:chgData name="Surya Deva" userId="7fc89188-b279-4464-aad4-6bcc30702912" providerId="ADAL" clId="{349F6322-FDDF-4257-8981-BF76A49B5776}" dt="2024-08-11T23:49:07.452" v="13" actId="20577"/>
        <pc:sldMkLst>
          <pc:docMk/>
          <pc:sldMk cId="2109320942" sldId="479"/>
        </pc:sldMkLst>
        <pc:spChg chg="mod">
          <ac:chgData name="Surya Deva" userId="7fc89188-b279-4464-aad4-6bcc30702912" providerId="ADAL" clId="{349F6322-FDDF-4257-8981-BF76A49B5776}" dt="2024-08-11T23:49:07.452" v="13" actId="20577"/>
          <ac:spMkLst>
            <pc:docMk/>
            <pc:sldMk cId="2109320942" sldId="479"/>
            <ac:spMk id="3" creationId="{EEA464B0-4368-47D8-802B-4FB5B5FAD6E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39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729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858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510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7988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7032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870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1881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916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0972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788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8453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2358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092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6686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904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84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69244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00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3958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56030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2170-D189-F1E7-0F7C-CDCD0999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AAD63-9B08-60DA-A553-FBA18683E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24CD7-49CB-7105-07A9-B20B21BF9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CD5D0-2BA7-1190-5CFF-AC12792E0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99849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2205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27989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2203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133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27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8544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LAWS2400 / LAWS8040 – Torts</a:t>
            </a: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6 – Lecture 2</a:t>
            </a:r>
            <a:b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 </a:t>
            </a:r>
            <a:r>
              <a:rPr lang="en-US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Harm and Psychiatric Harm</a:t>
            </a:r>
            <a:br>
              <a:rPr lang="en-AU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700-BEAF-3248-A54C-F5BEBA34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4637"/>
            <a:ext cx="8458276" cy="8949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E6F-2A4A-EC4A-903A-6B54DA7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69311"/>
            <a:ext cx="11116400" cy="4822929"/>
          </a:xfrm>
        </p:spPr>
        <p:txBody>
          <a:bodyPr>
            <a:no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of care and types of harm 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harm caused by an act and omission   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liability 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 and recreation injury (this lecture)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 (this lecture)</a:t>
            </a:r>
          </a:p>
        </p:txBody>
      </p:sp>
    </p:spTree>
    <p:extLst>
      <p:ext uri="{BB962C8B-B14F-4D97-AF65-F5344CB8AC3E}">
        <p14:creationId xmlns:p14="http://schemas.microsoft.com/office/powerpoint/2010/main" val="10814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Recap: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1" y="1508426"/>
            <a:ext cx="11155680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week we started the duty of care element of negligence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talked about established relationships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also how to determine if a duty arises in a ‘novel case’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week, we will look 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factors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have a bearing on whether a given case falls within one of the established categories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also consider case types where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Civil Liability Act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impacted the duty of care element </a:t>
            </a:r>
          </a:p>
        </p:txBody>
      </p:sp>
    </p:spTree>
    <p:extLst>
      <p:ext uri="{BB962C8B-B14F-4D97-AF65-F5344CB8AC3E}">
        <p14:creationId xmlns:p14="http://schemas.microsoft.com/office/powerpoint/2010/main" val="255168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Sport and recreation injury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duty of care question does arise frequently in the context of sports and recreational activities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duty may be owed to: 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fellow players 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spectators 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coaches 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 </a:t>
            </a:r>
          </a:p>
        </p:txBody>
      </p:sp>
    </p:spTree>
    <p:extLst>
      <p:ext uri="{BB962C8B-B14F-4D97-AF65-F5344CB8AC3E}">
        <p14:creationId xmlns:p14="http://schemas.microsoft.com/office/powerpoint/2010/main" val="473225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 and recreation injury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decision in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Rootes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 Shelton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(1967) 116 CLR 383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Rootes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 experienced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waterskier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was skiing on the Macquarie River; while doing “crossover”, he collided with a stationary boat;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Rootes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blinded briefly by spray, but there was also a failure on the part of the towing boat observer to warn skiers of objects)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allowing the appeal, the High Court held that the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boat driver owed a duty of 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this duty was breached </a:t>
            </a:r>
          </a:p>
        </p:txBody>
      </p:sp>
    </p:spTree>
    <p:extLst>
      <p:ext uri="{BB962C8B-B14F-4D97-AF65-F5344CB8AC3E}">
        <p14:creationId xmlns:p14="http://schemas.microsoft.com/office/powerpoint/2010/main" val="244043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 and recreation injury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Barwick CJ noted: 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“By engaging in a sport or pastime, the participants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held to have accepted risks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inherent in that sport or pastime … but this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eliminate all duty of 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one participant to the other.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or not such a duty arises and, if it does, its extent, must necessarily depend in each case upon its own circumstances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extent of the duty?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boat driver have a duty to warn about submerged objects?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Inherent risk vs failure of DOC - Need to look at all the circumstances of each case 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5E3B1C1-0C41-B186-16FF-D76B7111A340}"/>
              </a:ext>
            </a:extLst>
          </p:cNvPr>
          <p:cNvSpPr/>
          <p:nvPr/>
        </p:nvSpPr>
        <p:spPr>
          <a:xfrm>
            <a:off x="10770039" y="4700775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7749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 and recreation injury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Agar v Hyde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(2000) 201 CLR 552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(two players got injured in a rugby scrum; they argued that the International Rugby Football Board owed them a duty of care to monitor rules of the game and change them to reduce “unnecessary risk” to players)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rejected this argument –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such duty was owed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plaintiffs </a:t>
            </a:r>
          </a:p>
        </p:txBody>
      </p:sp>
    </p:spTree>
    <p:extLst>
      <p:ext uri="{BB962C8B-B14F-4D97-AF65-F5344CB8AC3E}">
        <p14:creationId xmlns:p14="http://schemas.microsoft.com/office/powerpoint/2010/main" val="60117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 and recreation injury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Gleeson CJ asked: “The game is based on activities … which, by the standards of most members of the community, are obviously dangerous. … What is an unnecessary risk in an inherently dangerous sport?”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fact-specific – this time, based on these facts, the court found no duty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1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 and recreation injury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5 of Part 1A of the Civil Liability Act deals with negligence liability for recreational activities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5L provides: 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person (the defendant) is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liable in negligence for harm suffered by another person (the plaintiff) as a result of the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materialisation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obvious risk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dangerous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recreational activity engaged in by the plaintiff.” </a:t>
            </a:r>
          </a:p>
        </p:txBody>
      </p:sp>
    </p:spTree>
    <p:extLst>
      <p:ext uri="{BB962C8B-B14F-4D97-AF65-F5344CB8AC3E}">
        <p14:creationId xmlns:p14="http://schemas.microsoft.com/office/powerpoint/2010/main" val="2373980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 and recreation injury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5M further provides: 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person (the defendant) does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owe a duty of 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another person who engages in a recreational activity (the plaintiff) to take care in respect of a risk of the activity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risk was the subject of a risk warning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plaintiff.” 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87AFCF35-4E75-0991-7C91-3D3FE407DD4E}"/>
              </a:ext>
            </a:extLst>
          </p:cNvPr>
          <p:cNvSpPr/>
          <p:nvPr/>
        </p:nvSpPr>
        <p:spPr>
          <a:xfrm>
            <a:off x="5700713" y="5014913"/>
            <a:ext cx="6143625" cy="156844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 will return to this topic again when we discuss </a:t>
            </a:r>
            <a:r>
              <a:rPr lang="en-US" sz="2400" dirty="0" err="1"/>
              <a:t>defences</a:t>
            </a:r>
            <a:r>
              <a:rPr lang="en-US" sz="2400" dirty="0"/>
              <a:t> for negligence </a:t>
            </a:r>
          </a:p>
        </p:txBody>
      </p:sp>
    </p:spTree>
    <p:extLst>
      <p:ext uri="{BB962C8B-B14F-4D97-AF65-F5344CB8AC3E}">
        <p14:creationId xmlns:p14="http://schemas.microsoft.com/office/powerpoint/2010/main" val="70512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Psychiatric harm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may now be recovered for psychiatric harm – a harm which was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labelled as “nervous shock” 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recoverable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may arise in varied situations: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following a physical injury to self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exposure to a situation of danger creating fear for the self or relatives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seeing or hearing a relative being killed in an accident 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a rescuer witnessed a horrific scene  </a:t>
            </a:r>
          </a:p>
        </p:txBody>
      </p:sp>
    </p:spTree>
    <p:extLst>
      <p:ext uri="{BB962C8B-B14F-4D97-AF65-F5344CB8AC3E}">
        <p14:creationId xmlns:p14="http://schemas.microsoft.com/office/powerpoint/2010/main" val="1822244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cases, a person who has not been physically injured may suffer from psychiatric harm due to negligence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such situations of </a:t>
            </a: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psychiatric harm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plaintiff must show that it was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reasonably foreseeable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defendant that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in the plaintiff’s position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would suffer psychiatric harm by a given act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the injury should be a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recognised form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psychiatric harm    </a:t>
            </a:r>
          </a:p>
        </p:txBody>
      </p:sp>
    </p:spTree>
    <p:extLst>
      <p:ext uri="{BB962C8B-B14F-4D97-AF65-F5344CB8AC3E}">
        <p14:creationId xmlns:p14="http://schemas.microsoft.com/office/powerpoint/2010/main" val="2438241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decision in two cases heard together:</a:t>
            </a: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HK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Tame v NSW </a:t>
            </a:r>
            <a:r>
              <a:rPr lang="en-HK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(2002) 211 CLR 317 </a:t>
            </a:r>
            <a:r>
              <a:rPr lang="en-HK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(Tame was involved with a car accident, where the other driver was at fault; the police by mistake recorded her as being drunk; the mistake was later corrected but Tame developed psychotic depression after her solicitor told her of this mistake)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HK" sz="1600" b="0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HK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Annetts</a:t>
            </a:r>
            <a:r>
              <a:rPr kumimoji="0" lang="en-HK" sz="2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v Australians Stations Pty Ltd. </a:t>
            </a:r>
            <a:r>
              <a:rPr kumimoji="0" lang="en-HK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(2002) 211 CLR 317 </a:t>
            </a:r>
            <a:r>
              <a:rPr kumimoji="0" lang="en-HK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(the plaintiffs’ 16 year-old son, James, was employed on a cattle station in Western Australia; employer promised to look after son; contrary to the agreement, James was sent to work alone; the police told the parents that James was missing; James died of dehydration in desert; the parents sued for nervous shock)</a:t>
            </a:r>
          </a:p>
          <a:p>
            <a:pPr marL="0" indent="0">
              <a:buNone/>
            </a:pPr>
            <a:endParaRPr lang="en-HK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HK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60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held that: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police officer </a:t>
            </a:r>
            <a:r>
              <a:rPr lang="en-HK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 </a:t>
            </a:r>
            <a:r>
              <a:rPr lang="en-HK" sz="28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owe</a:t>
            </a:r>
            <a:r>
              <a:rPr lang="en-HK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duty of care to Tame – e.g., psychiatric injury was not reasonably foreseeable; coherence and consistency with other duties of the officer  </a:t>
            </a:r>
          </a:p>
          <a:p>
            <a:pPr marL="914400" lvl="2" indent="0">
              <a:buNone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Australian Stations </a:t>
            </a:r>
            <a:r>
              <a:rPr lang="en-HK" sz="2800" u="sng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owed</a:t>
            </a:r>
            <a:r>
              <a:rPr lang="en-HK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duty of care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Annetts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e.g., the relationship between the parties coupled with reasonable foreseeability gave rise to the duty of care; failure to fulfil the promise to supervise a 16-year old boy  </a:t>
            </a:r>
          </a:p>
          <a:p>
            <a:pPr marL="0" indent="0">
              <a:buNone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767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Gleeson CJ noted that the </a:t>
            </a: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mechanisms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“sudden shock” and “direct perception or immediate aftermath” did not help in either of these two cases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D2DB43EE-D98E-C9A9-445A-8D3DB4833E30}"/>
              </a:ext>
            </a:extLst>
          </p:cNvPr>
          <p:cNvSpPr/>
          <p:nvPr/>
        </p:nvSpPr>
        <p:spPr>
          <a:xfrm>
            <a:off x="5539562" y="2923952"/>
            <a:ext cx="2679405" cy="1648047"/>
          </a:xfrm>
          <a:prstGeom prst="striped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811577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Gleeson CJ observed that the common law of Australia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limit liability for psychiatric injury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cases where the injury is caused by a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shock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(ii) to cases where the plaintiff has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perceived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distressing phenomenon or its immediate aftermath  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Yet, there are limits on what type of psychiatric harm may be remediable     </a:t>
            </a:r>
          </a:p>
        </p:txBody>
      </p:sp>
    </p:spTree>
    <p:extLst>
      <p:ext uri="{BB962C8B-B14F-4D97-AF65-F5344CB8AC3E}">
        <p14:creationId xmlns:p14="http://schemas.microsoft.com/office/powerpoint/2010/main" val="3526513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Gummow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Kirby JJ noted that there are three control mechanisms: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514350">
              <a:buFont typeface="+mj-lt"/>
              <a:buAutoNum type="arabicPeriod"/>
            </a:pPr>
            <a:r>
              <a:rPr lang="en-H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 assessed by reference to a hypothetical person of </a:t>
            </a:r>
            <a:r>
              <a:rPr lang="en-H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fortitude</a:t>
            </a:r>
            <a:r>
              <a:rPr lang="en-H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H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 is caused by a </a:t>
            </a:r>
            <a:r>
              <a:rPr lang="en-H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shock 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H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plaintiff </a:t>
            </a:r>
            <a:r>
              <a:rPr lang="en-H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perceive</a:t>
            </a:r>
            <a:r>
              <a:rPr lang="en-H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distressing phenomenon or its immediate aftermath  </a:t>
            </a:r>
          </a:p>
          <a:p>
            <a:pPr marL="0" indent="0">
              <a:buNone/>
            </a:pPr>
            <a:endParaRPr lang="en-H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mechanisms are unsound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they are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pre-condition to liability for negligently inflicted psychiatric harm”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8BD1F55-2AB0-8A6D-51DC-CBAD82DD6FC7}"/>
              </a:ext>
            </a:extLst>
          </p:cNvPr>
          <p:cNvSpPr/>
          <p:nvPr/>
        </p:nvSpPr>
        <p:spPr>
          <a:xfrm>
            <a:off x="1671638" y="5582093"/>
            <a:ext cx="9960987" cy="1001269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position in law has now changed due to CLA s30-32 – see next slides</a:t>
            </a:r>
          </a:p>
        </p:txBody>
      </p:sp>
    </p:spTree>
    <p:extLst>
      <p:ext uri="{BB962C8B-B14F-4D97-AF65-F5344CB8AC3E}">
        <p14:creationId xmlns:p14="http://schemas.microsoft.com/office/powerpoint/2010/main" val="2710539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Gummow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Kirby JJ critically examined four reasons given to differentiate psychiatric harm from physical harm: </a:t>
            </a:r>
          </a:p>
          <a:p>
            <a:pPr marL="0" indent="0">
              <a:buNone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psychiatric harm is less objectively observable</a:t>
            </a:r>
          </a:p>
          <a:p>
            <a:pPr marL="914400" lvl="2" indent="0">
              <a:buNone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litigation for purely psychiatric harm is likely to operate as a disincentive to rehabilitation </a:t>
            </a:r>
          </a:p>
          <a:p>
            <a:pPr marL="914400" lvl="2" indent="0">
              <a:buNone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risks of indeterminate liability </a:t>
            </a:r>
          </a:p>
          <a:p>
            <a:pPr marL="914400" lvl="2" indent="0">
              <a:buNone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unreasonable or disproportionate burden on defendants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D5B59-7112-A33D-AA88-634ECA1D9154}"/>
              </a:ext>
            </a:extLst>
          </p:cNvPr>
          <p:cNvSpPr/>
          <p:nvPr/>
        </p:nvSpPr>
        <p:spPr>
          <a:xfrm>
            <a:off x="382772" y="2743200"/>
            <a:ext cx="1073888" cy="2606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you agree? </a:t>
            </a:r>
          </a:p>
        </p:txBody>
      </p:sp>
    </p:spTree>
    <p:extLst>
      <p:ext uri="{BB962C8B-B14F-4D97-AF65-F5344CB8AC3E}">
        <p14:creationId xmlns:p14="http://schemas.microsoft.com/office/powerpoint/2010/main" val="1339888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HK" sz="2800" u="sng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Civil Liability Act </a:t>
            </a:r>
          </a:p>
          <a:p>
            <a:pPr marL="0" indent="0">
              <a:buNone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3 of the Civil Liability Act deals with mental harm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27 defines “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harm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as “impairment of a person’s mental condition”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“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consequential mental harm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mental harm that is a consequence of a personal injury of any other kind” </a:t>
            </a: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335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30 imposes limits on recovery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mental harm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arising from shock: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This section applies to the liability of a person (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defendant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pure mental harm to a person (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plaintiff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arising wholly or partly from mental or nervous shock in connection with another person (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victim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being killed, injured or put in peril by the act or omission of the defendant.</a:t>
            </a:r>
          </a:p>
          <a:p>
            <a:pPr marL="0" indent="0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 plaintiff is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entitled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recover damages for pure mental harm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unless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(a) the plaintiff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witnessed, at the scene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victim being killed, injured or 	put in peril,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(b) the plaintiff is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close member of the family of the victim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HK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415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“Close member of the family of a victim” in Section 30 means: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victim or other person with parental responsibility for the victim</a:t>
            </a:r>
          </a:p>
          <a:p>
            <a:pPr marL="914400" lvl="2" indent="0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spouse or partner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victim</a:t>
            </a:r>
          </a:p>
          <a:p>
            <a:pPr marL="914400" lvl="2" indent="0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or stepchild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victim or any other person for whom the victim has parental responsibility</a:t>
            </a:r>
          </a:p>
          <a:p>
            <a:pPr marL="914400" lvl="2" indent="0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brother, sister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half-brother or half-sister, or stepbrother or stepsister of the victim</a:t>
            </a: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500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Section 31 provides that: “There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liability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pay damages for pure mental harm resulting from negligence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harm consists of a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recognised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psychiatric illness.”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238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13CB-DE18-1A18-3516-0430DC5C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5B0F0-AA59-2EF4-FB87-E90009BA5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7767-F525-6D63-84E4-CED15CA1F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43" y="891532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Regarding the duty of care, Section 32 states: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Both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(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defendant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does not owe a duty of care to another person (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plaintiff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take care not to cause the plaintiff mental harm unless the defendant ought to have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foreseen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 person of </a:t>
            </a:r>
            <a:r>
              <a:rPr lang="en-US" sz="26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fortitude</a:t>
            </a:r>
            <a:r>
              <a:rPr lang="en-US" sz="2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might,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600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circumstances of the case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suffer a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psychiatric illness if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 care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not taken.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H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For the purposes of the application of this section in respect of pure mental harm, </a:t>
            </a:r>
            <a:r>
              <a:rPr lang="en-HK" sz="2000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circumstances of the case</a:t>
            </a:r>
            <a:r>
              <a:rPr lang="en-H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the following-- </a:t>
            </a:r>
          </a:p>
          <a:p>
            <a:pPr marL="457200" lvl="1" indent="0">
              <a:buNone/>
            </a:pPr>
            <a:r>
              <a:rPr lang="en-H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whether or not the mental harm was suffered as the result of a sudden shock, </a:t>
            </a:r>
          </a:p>
          <a:p>
            <a:pPr marL="457200" lvl="1" indent="0">
              <a:buNone/>
            </a:pPr>
            <a:r>
              <a:rPr lang="en-H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whether the plaintiff witnessed, at the scene, a person being killed, injured or put in peril, </a:t>
            </a:r>
          </a:p>
          <a:p>
            <a:pPr marL="457200" lvl="1" indent="0">
              <a:buNone/>
            </a:pPr>
            <a:r>
              <a:rPr lang="en-H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the nature of the relationship between the plaintiff and any person killed, injured or put in peril, </a:t>
            </a:r>
          </a:p>
          <a:p>
            <a:pPr marL="457200" lvl="1" indent="0">
              <a:buNone/>
            </a:pPr>
            <a:r>
              <a:rPr lang="en-H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whether or not there was a pre-existing relationship between the plaintiff and the defendant.</a:t>
            </a:r>
          </a:p>
          <a:p>
            <a:pPr marL="0" indent="0">
              <a:buNone/>
            </a:pPr>
            <a:endParaRPr lang="en-HK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0360F8E3-3749-E4F7-4C0D-21AD8EAC87B1}"/>
              </a:ext>
            </a:extLst>
          </p:cNvPr>
          <p:cNvSpPr/>
          <p:nvPr/>
        </p:nvSpPr>
        <p:spPr>
          <a:xfrm>
            <a:off x="7500938" y="242888"/>
            <a:ext cx="4572000" cy="10287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Note: there are some differences here to the position at common law.. See next slides..</a:t>
            </a:r>
          </a:p>
        </p:txBody>
      </p:sp>
    </p:spTree>
    <p:extLst>
      <p:ext uri="{BB962C8B-B14F-4D97-AF65-F5344CB8AC3E}">
        <p14:creationId xmlns:p14="http://schemas.microsoft.com/office/powerpoint/2010/main" val="3457562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Wicks v SRA (NSW)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(2010) 241 CLR 60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(two police officers were called by radio to the scene of a train accident; State Rail admitted negligence; the police officers spent several hours at the scene and consequently suffered psychiatric injury)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police officers’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claims were dismissed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court of first instance as well as the Court of Appeal </a:t>
            </a: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78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High Court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 the appeal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remitted the case to the Court of Appeal for determination in light of the reasoning of the High Court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made several observations about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law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Civil Liability 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32 controls what would be a duty of care arising at common law – it should be looked at first before considering limitations under Section 30(2) </a:t>
            </a:r>
          </a:p>
        </p:txBody>
      </p:sp>
    </p:spTree>
    <p:extLst>
      <p:ext uri="{BB962C8B-B14F-4D97-AF65-F5344CB8AC3E}">
        <p14:creationId xmlns:p14="http://schemas.microsoft.com/office/powerpoint/2010/main" val="4248015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32(1) is cast negatively: it provides that a duty “is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found unless a condition is satisfied”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32 reflects the common law identified in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four factors in s32(2) “are considerations relevant to foreseeability, but none is to be treated as a condition necessary to finding a duty of care”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Contrary to what was decided in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Section 32(1) requires foreseeability from the perspective of a person of “normal fortitude” </a:t>
            </a:r>
          </a:p>
        </p:txBody>
      </p:sp>
    </p:spTree>
    <p:extLst>
      <p:ext uri="{BB962C8B-B14F-4D97-AF65-F5344CB8AC3E}">
        <p14:creationId xmlns:p14="http://schemas.microsoft.com/office/powerpoint/2010/main" val="1340699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5715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Wicks tell us about s30 CLA?</a:t>
            </a:r>
          </a:p>
          <a:p>
            <a:pPr marL="57150" indent="0">
              <a:buNone/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Recap: S30 says: ‘The plaintiff is not entitled to recover damages for pure mental harm unless—(a) the plaintiff witnessed, at the scene, the victim being killed, injured or put in peril’</a:t>
            </a:r>
          </a:p>
          <a:p>
            <a:pPr marL="57150" indent="0">
              <a:buNone/>
            </a:pP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would be wrong to only consider what a rescuer perceived on first arriving at the scene – rather, a series of shocking experiences may be relevant 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would not be right to assume that all cases of death, injury or being put in peril are events that begin and end in an instant – e.g., the survivors of a derailment remained in peril until they had been rescued     </a:t>
            </a:r>
          </a:p>
        </p:txBody>
      </p:sp>
    </p:spTree>
    <p:extLst>
      <p:ext uri="{BB962C8B-B14F-4D97-AF65-F5344CB8AC3E}">
        <p14:creationId xmlns:p14="http://schemas.microsoft.com/office/powerpoint/2010/main" val="2109320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Psychiatric harm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HK" sz="2800" u="sng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Feminist critique of psychiatric harm </a:t>
            </a:r>
          </a:p>
          <a:p>
            <a:pPr marL="0" indent="0">
              <a:buNone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Feminist scholars have critiqued tort law’s approach to psychiatric harm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Prevalence of women who claimed for such harm in many cases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Privileging physical injury over emotional harm is likely to impact women disproportionately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test of reasonable person is applied is also problematic       </a:t>
            </a:r>
          </a:p>
        </p:txBody>
      </p:sp>
    </p:spTree>
    <p:extLst>
      <p:ext uri="{BB962C8B-B14F-4D97-AF65-F5344CB8AC3E}">
        <p14:creationId xmlns:p14="http://schemas.microsoft.com/office/powerpoint/2010/main" val="3382004474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17582</TotalTime>
  <Words>2259</Words>
  <Application>Microsoft Macintosh PowerPoint</Application>
  <PresentationFormat>Widescreen</PresentationFormat>
  <Paragraphs>293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Courier New</vt:lpstr>
      <vt:lpstr>Georgia</vt:lpstr>
      <vt:lpstr>Times New Roman</vt:lpstr>
      <vt:lpstr>Wingdings</vt:lpstr>
      <vt:lpstr>MAC UNI BASIC_Round 1 Draft for feedback</vt:lpstr>
      <vt:lpstr>LAWS2400 / LAWS8040 – Torts  Week 6 – Lecture 2 Categories: Physical Harm and Psychiatric Harm  </vt:lpstr>
      <vt:lpstr>Outline</vt:lpstr>
      <vt:lpstr>Recap:</vt:lpstr>
      <vt:lpstr>5. Sport and recreation injury </vt:lpstr>
      <vt:lpstr>Sport and recreation injury Contd.</vt:lpstr>
      <vt:lpstr>Sport and recreation injury Contd.</vt:lpstr>
      <vt:lpstr>Sport and recreation injury Contd.</vt:lpstr>
      <vt:lpstr>Sport and recreation injury Contd.</vt:lpstr>
      <vt:lpstr>Sport and recreation injury Contd.</vt:lpstr>
      <vt:lpstr>Sport and recreation injury Contd.</vt:lpstr>
      <vt:lpstr>6. Psychiatric harm 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  <vt:lpstr>Psychiatric harm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Ebony Birchall</cp:lastModifiedBy>
  <cp:revision>1797</cp:revision>
  <cp:lastPrinted>2025-09-01T02:41:08Z</cp:lastPrinted>
  <dcterms:created xsi:type="dcterms:W3CDTF">2019-01-24T02:12:19Z</dcterms:created>
  <dcterms:modified xsi:type="dcterms:W3CDTF">2026-08-31T02:00:13Z</dcterms:modified>
</cp:coreProperties>
</file>