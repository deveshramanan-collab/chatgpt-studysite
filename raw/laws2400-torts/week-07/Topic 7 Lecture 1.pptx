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31"/>
  </p:notesMasterIdLst>
  <p:handoutMasterIdLst>
    <p:handoutMasterId r:id="rId32"/>
  </p:handoutMasterIdLst>
  <p:sldIdLst>
    <p:sldId id="303" r:id="rId2"/>
    <p:sldId id="258" r:id="rId3"/>
    <p:sldId id="333" r:id="rId4"/>
    <p:sldId id="456" r:id="rId5"/>
    <p:sldId id="337" r:id="rId6"/>
    <p:sldId id="353" r:id="rId7"/>
    <p:sldId id="442" r:id="rId8"/>
    <p:sldId id="443" r:id="rId9"/>
    <p:sldId id="340" r:id="rId10"/>
    <p:sldId id="381" r:id="rId11"/>
    <p:sldId id="444" r:id="rId12"/>
    <p:sldId id="457" r:id="rId13"/>
    <p:sldId id="458" r:id="rId14"/>
    <p:sldId id="459" r:id="rId15"/>
    <p:sldId id="460" r:id="rId16"/>
    <p:sldId id="461" r:id="rId17"/>
    <p:sldId id="445" r:id="rId18"/>
    <p:sldId id="446" r:id="rId19"/>
    <p:sldId id="447" r:id="rId20"/>
    <p:sldId id="455" r:id="rId21"/>
    <p:sldId id="451" r:id="rId22"/>
    <p:sldId id="462" r:id="rId23"/>
    <p:sldId id="463" r:id="rId24"/>
    <p:sldId id="449" r:id="rId25"/>
    <p:sldId id="450" r:id="rId26"/>
    <p:sldId id="452" r:id="rId27"/>
    <p:sldId id="453" r:id="rId28"/>
    <p:sldId id="454" r:id="rId29"/>
    <p:sldId id="4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30" autoAdjust="0"/>
    <p:restoredTop sz="93447" autoAdjust="0"/>
  </p:normalViewPr>
  <p:slideViewPr>
    <p:cSldViewPr snapToGrid="0" snapToObjects="1">
      <p:cViewPr varScale="1">
        <p:scale>
          <a:sx n="109" d="100"/>
          <a:sy n="109" d="100"/>
        </p:scale>
        <p:origin x="216" y="584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ead" userId="3622ac83-72fb-4480-aaff-0580f4ad655a" providerId="ADAL" clId="{6BBF4A71-3A44-5905-A51C-0BDCE69EAF34}"/>
    <pc:docChg chg="custSel addSld modSld">
      <pc:chgData name="Amanda Head" userId="3622ac83-72fb-4480-aaff-0580f4ad655a" providerId="ADAL" clId="{6BBF4A71-3A44-5905-A51C-0BDCE69EAF34}" dt="2026-09-10T04:24:34.690" v="1444" actId="207"/>
      <pc:docMkLst>
        <pc:docMk/>
      </pc:docMkLst>
      <pc:sldChg chg="modSp mod">
        <pc:chgData name="Amanda Head" userId="3622ac83-72fb-4480-aaff-0580f4ad655a" providerId="ADAL" clId="{6BBF4A71-3A44-5905-A51C-0BDCE69EAF34}" dt="2026-09-10T00:34:50.577" v="3" actId="2711"/>
        <pc:sldMkLst>
          <pc:docMk/>
          <pc:sldMk cId="2551680515" sldId="333"/>
        </pc:sldMkLst>
        <pc:spChg chg="mod">
          <ac:chgData name="Amanda Head" userId="3622ac83-72fb-4480-aaff-0580f4ad655a" providerId="ADAL" clId="{6BBF4A71-3A44-5905-A51C-0BDCE69EAF34}" dt="2026-09-10T00:34:50.577" v="3" actId="2711"/>
          <ac:spMkLst>
            <pc:docMk/>
            <pc:sldMk cId="2551680515" sldId="33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9-10T02:27:24.760" v="521" actId="404"/>
        <pc:sldMkLst>
          <pc:docMk/>
          <pc:sldMk cId="965466165" sldId="455"/>
        </pc:sldMkLst>
        <pc:spChg chg="mod">
          <ac:chgData name="Amanda Head" userId="3622ac83-72fb-4480-aaff-0580f4ad655a" providerId="ADAL" clId="{6BBF4A71-3A44-5905-A51C-0BDCE69EAF34}" dt="2026-09-10T02:27:24.760" v="521" actId="404"/>
          <ac:spMkLst>
            <pc:docMk/>
            <pc:sldMk cId="965466165" sldId="455"/>
            <ac:spMk id="3" creationId="{957B71BF-274A-EF4E-EC25-DAC9BF30B095}"/>
          </ac:spMkLst>
        </pc:spChg>
      </pc:sldChg>
      <pc:sldChg chg="addSp delSp modSp mod">
        <pc:chgData name="Amanda Head" userId="3622ac83-72fb-4480-aaff-0580f4ad655a" providerId="ADAL" clId="{6BBF4A71-3A44-5905-A51C-0BDCE69EAF34}" dt="2026-09-10T02:23:49.370" v="519" actId="20577"/>
        <pc:sldMkLst>
          <pc:docMk/>
          <pc:sldMk cId="138724240" sldId="456"/>
        </pc:sldMkLst>
        <pc:spChg chg="mod">
          <ac:chgData name="Amanda Head" userId="3622ac83-72fb-4480-aaff-0580f4ad655a" providerId="ADAL" clId="{6BBF4A71-3A44-5905-A51C-0BDCE69EAF34}" dt="2026-09-10T02:23:49.370" v="519" actId="20577"/>
          <ac:spMkLst>
            <pc:docMk/>
            <pc:sldMk cId="138724240" sldId="456"/>
            <ac:spMk id="3" creationId="{79D84788-5DEB-05EA-1814-447DDE77F891}"/>
          </ac:spMkLst>
        </pc:spChg>
        <pc:spChg chg="add del mod">
          <ac:chgData name="Amanda Head" userId="3622ac83-72fb-4480-aaff-0580f4ad655a" providerId="ADAL" clId="{6BBF4A71-3A44-5905-A51C-0BDCE69EAF34}" dt="2026-09-10T02:22:14.241" v="457"/>
          <ac:spMkLst>
            <pc:docMk/>
            <pc:sldMk cId="138724240" sldId="456"/>
            <ac:spMk id="4" creationId="{F00588ED-E6AD-90B8-BBCF-21F8E3AC2056}"/>
          </ac:spMkLst>
        </pc:spChg>
      </pc:sldChg>
      <pc:sldChg chg="modSp mod">
        <pc:chgData name="Amanda Head" userId="3622ac83-72fb-4480-aaff-0580f4ad655a" providerId="ADAL" clId="{6BBF4A71-3A44-5905-A51C-0BDCE69EAF34}" dt="2026-09-10T04:06:57.690" v="1419" actId="313"/>
        <pc:sldMkLst>
          <pc:docMk/>
          <pc:sldMk cId="1487669711" sldId="458"/>
        </pc:sldMkLst>
        <pc:spChg chg="mod">
          <ac:chgData name="Amanda Head" userId="3622ac83-72fb-4480-aaff-0580f4ad655a" providerId="ADAL" clId="{6BBF4A71-3A44-5905-A51C-0BDCE69EAF34}" dt="2026-09-10T04:06:57.690" v="1419" actId="313"/>
          <ac:spMkLst>
            <pc:docMk/>
            <pc:sldMk cId="1487669711" sldId="458"/>
            <ac:spMk id="3" creationId="{7F616EF9-D0DA-E063-EAAA-A58C671F6A31}"/>
          </ac:spMkLst>
        </pc:spChg>
      </pc:sldChg>
      <pc:sldChg chg="modSp mod">
        <pc:chgData name="Amanda Head" userId="3622ac83-72fb-4480-aaff-0580f4ad655a" providerId="ADAL" clId="{6BBF4A71-3A44-5905-A51C-0BDCE69EAF34}" dt="2026-09-10T04:14:30.516" v="1420" actId="20577"/>
        <pc:sldMkLst>
          <pc:docMk/>
          <pc:sldMk cId="3496266293" sldId="460"/>
        </pc:sldMkLst>
        <pc:spChg chg="mod">
          <ac:chgData name="Amanda Head" userId="3622ac83-72fb-4480-aaff-0580f4ad655a" providerId="ADAL" clId="{6BBF4A71-3A44-5905-A51C-0BDCE69EAF34}" dt="2026-09-10T04:14:30.516" v="1420" actId="20577"/>
          <ac:spMkLst>
            <pc:docMk/>
            <pc:sldMk cId="3496266293" sldId="460"/>
            <ac:spMk id="3" creationId="{85D23D9D-0452-7A4F-07DF-782549B11AAA}"/>
          </ac:spMkLst>
        </pc:spChg>
      </pc:sldChg>
      <pc:sldChg chg="modSp mod">
        <pc:chgData name="Amanda Head" userId="3622ac83-72fb-4480-aaff-0580f4ad655a" providerId="ADAL" clId="{6BBF4A71-3A44-5905-A51C-0BDCE69EAF34}" dt="2026-09-10T04:15:45.042" v="1426" actId="313"/>
        <pc:sldMkLst>
          <pc:docMk/>
          <pc:sldMk cId="1026801942" sldId="461"/>
        </pc:sldMkLst>
        <pc:spChg chg="mod">
          <ac:chgData name="Amanda Head" userId="3622ac83-72fb-4480-aaff-0580f4ad655a" providerId="ADAL" clId="{6BBF4A71-3A44-5905-A51C-0BDCE69EAF34}" dt="2026-09-10T04:15:45.042" v="1426" actId="313"/>
          <ac:spMkLst>
            <pc:docMk/>
            <pc:sldMk cId="1026801942" sldId="461"/>
            <ac:spMk id="3" creationId="{DC699E70-9243-786D-BC34-45B86E865CC9}"/>
          </ac:spMkLst>
        </pc:spChg>
      </pc:sldChg>
      <pc:sldChg chg="modSp mod">
        <pc:chgData name="Amanda Head" userId="3622ac83-72fb-4480-aaff-0580f4ad655a" providerId="ADAL" clId="{6BBF4A71-3A44-5905-A51C-0BDCE69EAF34}" dt="2026-09-10T04:24:34.690" v="1444" actId="207"/>
        <pc:sldMkLst>
          <pc:docMk/>
          <pc:sldMk cId="2154987438" sldId="463"/>
        </pc:sldMkLst>
        <pc:spChg chg="mod">
          <ac:chgData name="Amanda Head" userId="3622ac83-72fb-4480-aaff-0580f4ad655a" providerId="ADAL" clId="{6BBF4A71-3A44-5905-A51C-0BDCE69EAF34}" dt="2026-09-10T04:24:34.690" v="1444" actId="207"/>
          <ac:spMkLst>
            <pc:docMk/>
            <pc:sldMk cId="2154987438" sldId="463"/>
            <ac:spMk id="3" creationId="{C0F5BFDF-DC74-E85D-5C65-288A614EECB3}"/>
          </ac:spMkLst>
        </pc:spChg>
      </pc:sldChg>
      <pc:sldChg chg="delSp modSp add mod">
        <pc:chgData name="Amanda Head" userId="3622ac83-72fb-4480-aaff-0580f4ad655a" providerId="ADAL" clId="{6BBF4A71-3A44-5905-A51C-0BDCE69EAF34}" dt="2026-09-10T03:39:51.368" v="1416" actId="20577"/>
        <pc:sldMkLst>
          <pc:docMk/>
          <pc:sldMk cId="1467393469" sldId="464"/>
        </pc:sldMkLst>
        <pc:spChg chg="mod">
          <ac:chgData name="Amanda Head" userId="3622ac83-72fb-4480-aaff-0580f4ad655a" providerId="ADAL" clId="{6BBF4A71-3A44-5905-A51C-0BDCE69EAF34}" dt="2026-09-10T03:39:51.368" v="1416" actId="20577"/>
          <ac:spMkLst>
            <pc:docMk/>
            <pc:sldMk cId="1467393469" sldId="464"/>
            <ac:spMk id="3" creationId="{8E5ACFB3-0979-77EB-CA66-0AA10CDADF56}"/>
          </ac:spMkLst>
        </pc:spChg>
        <pc:picChg chg="del">
          <ac:chgData name="Amanda Head" userId="3622ac83-72fb-4480-aaff-0580f4ad655a" providerId="ADAL" clId="{6BBF4A71-3A44-5905-A51C-0BDCE69EAF34}" dt="2026-09-10T03:09:31.445" v="524" actId="478"/>
          <ac:picMkLst>
            <pc:docMk/>
            <pc:sldMk cId="1467393469" sldId="464"/>
            <ac:picMk id="5" creationId="{98D155BB-2CA8-2345-EB71-DA0D4D18D8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10/9/2026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10/9/2026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29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77D7-A669-32B0-4763-0AED754A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052C-0A2C-366E-0D50-371C7AB0F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9F751-A2A6-9B73-95C1-6B4423183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88AEC-CBFF-8258-2973-8CAB20AD2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6667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171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52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438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645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789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2903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356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0FE3-89CF-ABC0-2838-CB6B1022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2A078-1D4C-7BF6-4973-DB90B839F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2AF0C-29DD-2024-A818-8E030EED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680E1-DB1B-2B88-BD15-9C557BD76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666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8018-64F9-71C3-A7C4-BDEDB780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3CE2A-E003-A1B6-7250-DCA1D975E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9D12E-EB24-11BC-3245-2B939041D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C6208-69E9-033C-637B-E3C6AFD69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2848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2409-FD7B-3947-7504-DDF51864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EDEE6-2D77-6880-99F2-EB0F7D523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CB99A-AE4A-6A0B-878E-B76988857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A1DB-2514-ACDC-78EB-6318E4FDB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589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2286-6627-DAB2-C8DF-2861ABE8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4B2DF-38D6-2144-8CE4-E3EBB5000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6B6AD-722E-5E4C-352F-E5ECA7B1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4830F-94E6-E8B8-C629-75EF63DC4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857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6838-18F7-C803-2B0D-F3158D5F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4FB95-E7C6-61CD-1F0E-AB775F924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C759F-9EC3-6756-0964-AF12A5DF2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EE0DF-F8B0-EA5A-0298-00E7443D7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903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7829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377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1193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9AD5-C15A-5529-FEFB-FBDA9DFE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71793-ACDB-A6EC-C953-8BEB4B01F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4CD73-C603-8DBF-CB39-57AD2D638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C0E6-933B-4AE0-FE3D-98250BA57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3391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3862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EE6D-2D2A-3928-98B1-2108855E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AA76-2605-875C-B6A0-F7F00AF89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CBD93-D1FA-0C73-F577-B06481700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89531-813E-4256-5FF0-36AFB3884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523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EB4E-CA19-1A27-A6A1-6DE15361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FDFE7-D601-FC2B-0FDC-4A1B321B0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FCAC-AB97-7863-DB66-57852C134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229DF-5293-6905-BAD5-DE004FF12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7897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0287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363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686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9222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3495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5F92-3D48-8D55-9251-7201502B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C727E-47E6-6F17-F8A7-E5EBA66E9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1FA39-FBBE-DFF3-16D6-CFFC0B53A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A492C-C31F-11C4-87A3-8C07F7250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009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en-AU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Pure </a:t>
            </a:r>
            <a:r>
              <a:rPr lang="en-US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Loss 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pure economic loss (PEL)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 (lecture 2)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(lecture 2)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week: what pure economic loss is, and when the law allows recovery for it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lecture: loss caused by negligent words.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2: negligent acts and defective structures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8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188D-2BBC-C7FA-4455-4F7B3E36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EC41-B463-C383-8D1E-7510C4A6C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Pure Economic Loss: Readings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4788-5DEB-05EA-1814-447DDE77F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 Bunn, Allcock, Allison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Shircore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 9 [9.65] to [9.150] (mainly L1)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Casebook: Topic 7 (Esanda Finance (L1); Perre (L2); Woolcock (L2))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reading from S&amp;V on PEL caused by an act and PEL caused by defective structures (L2)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text readings for PEL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text’s middle headings (‘third party situations’, ‘tort and contract’,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can look like separate categories. They are not.  </a:t>
            </a:r>
          </a:p>
        </p:txBody>
      </p:sp>
    </p:spTree>
    <p:extLst>
      <p:ext uri="{BB962C8B-B14F-4D97-AF65-F5344CB8AC3E}">
        <p14:creationId xmlns:p14="http://schemas.microsoft.com/office/powerpoint/2010/main" val="13872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Concept of pure economic loss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economic loss (PEL) refers to an economic loss which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result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any physical injury to the person or property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can be caused intentionally, negligently, or innocently.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may be caused by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words, acts or omissions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intentional conduct may also result in PEL which may be actionable under “economic torts” such as deceit/fraudulent misrepresentation/ passing off. This is outside the scope of this unit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2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pure economic loss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a few illustrative examples of consequential economic loss and pure economic loss: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EC57F6B-8287-32AB-447A-04DA23549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864720"/>
              </p:ext>
            </p:extLst>
          </p:nvPr>
        </p:nvGraphicFramePr>
        <p:xfrm>
          <a:off x="1286540" y="2885702"/>
          <a:ext cx="10185460" cy="369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2730">
                  <a:extLst>
                    <a:ext uri="{9D8B030D-6E8A-4147-A177-3AD203B41FA5}">
                      <a16:colId xmlns:a16="http://schemas.microsoft.com/office/drawing/2014/main" val="1820270220"/>
                    </a:ext>
                  </a:extLst>
                </a:gridCol>
                <a:gridCol w="5092730">
                  <a:extLst>
                    <a:ext uri="{9D8B030D-6E8A-4147-A177-3AD203B41FA5}">
                      <a16:colId xmlns:a16="http://schemas.microsoft.com/office/drawing/2014/main" val="596060563"/>
                    </a:ext>
                  </a:extLst>
                </a:gridCol>
              </a:tblGrid>
              <a:tr h="822694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Consequential Economic loss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Economic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333368"/>
                  </a:ext>
                </a:extLst>
              </a:tr>
              <a:tr h="958322"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 loss due to physical injury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Investment losses due to a negligent financial advice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199020"/>
                  </a:ext>
                </a:extLst>
              </a:tr>
              <a:tr h="958322"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expenses due to physical 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profit due to electrical cable damage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016072"/>
                  </a:ext>
                </a:extLst>
              </a:tr>
              <a:tr h="958322"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of required home modifications linked to an injury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Diminished property value to due to  the architect’s defective advice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4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22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pure economic loss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distinction between consequential economic loss and PEL is critical because the latter was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recoverable until recently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now, PEL is recoverable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certain situations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conditions are satisfied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74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pure economic loss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considerations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behind courts’ general reluctance to allow the recovery of PEL: 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Indeterminate liability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law of contract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linked to a lawful commercial activity </a:t>
            </a:r>
          </a:p>
        </p:txBody>
      </p:sp>
    </p:spTree>
    <p:extLst>
      <p:ext uri="{BB962C8B-B14F-4D97-AF65-F5344CB8AC3E}">
        <p14:creationId xmlns:p14="http://schemas.microsoft.com/office/powerpoint/2010/main" val="235264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386398"/>
            <a:ext cx="8803758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PEL caused by negligent words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may be caused by negligent words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think of some examples?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94ACA4E-0C24-A46D-D8D6-119845C8ACCB}"/>
              </a:ext>
            </a:extLst>
          </p:cNvPr>
          <p:cNvSpPr/>
          <p:nvPr/>
        </p:nvSpPr>
        <p:spPr>
          <a:xfrm>
            <a:off x="7552987" y="2668978"/>
            <a:ext cx="1261403" cy="1180008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4329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Courts have drawn a distinction between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negligent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negligent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Reid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Hedley Byrne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observed: 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‘[T]he law must treat negligent words differently from negligent acts. … Quite careful people often express definite opinions 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or informal occasions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when they see that others are likely to be influenced by them; and often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that without taking that care which they would if asked for their opinion professionally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in business transactions … there can be no duty of care on such occasions.’  </a:t>
            </a:r>
          </a:p>
        </p:txBody>
      </p:sp>
    </p:spTree>
    <p:extLst>
      <p:ext uri="{BB962C8B-B14F-4D97-AF65-F5344CB8AC3E}">
        <p14:creationId xmlns:p14="http://schemas.microsoft.com/office/powerpoint/2010/main" val="329417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common law, the remedy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misstatement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available under deceit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House of Lords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Derry v Peek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(1889)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ruled that negligent misstatement will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suffice for deceit –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rather, it must be an intentional or reckless misstatement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where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Hedley Byrne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critical – it created a liability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negligent misstatement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common law 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9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FEE3-F9DC-B355-9CD1-4A3813A5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2A98-2A05-E6F6-382D-39550E3A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8C87-11C0-75CE-58E4-FD73BAFA5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Hedley Byrne &amp; Co v Heller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[1964] AC 465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of care for negligent words where a special relationship exists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Reid: the inquirer trusts the speaker to take care, reasonably relies, and the speaker knows or ought to know of the reliance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Morris: a person with special skill who undertakes to apply it for another who relies on it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Topic 5: the disclaimer meant NO duty arose on the facts  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0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F3B3-5167-2926-2BAC-1AE69DD4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B0AF-7627-4438-1AFC-31D70F0E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6EF9-D0DA-E063-EAAA-A58C671F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Life &amp; Citizens’ Assurance Co v Evatt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(1968) 122 CLR 556</a:t>
            </a:r>
            <a:endParaRPr lang="en-AU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Barwick CJ: information or advice on a serious matter; speaker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should) they are being trusted; reasonable for the recipient to act on it; duty of reasonable care follows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Quoted in your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Esanda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casebook extract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669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A818-9593-1A10-51E5-4C678D22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6488-88EA-71AD-F858-C9D2BB79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421EF-A72F-067E-5AB4-D92DFD020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Shaddock &amp; Associates Pty Ltd v Parramatta City Council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(1981) 150 CLR 225</a:t>
            </a:r>
            <a:endParaRPr lang="en-AU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Council told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intending purchaser no road-widening proposal affected the land; there was one</a:t>
            </a:r>
            <a:endParaRPr lang="en-A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found: covers information as well as advice; no separate requirement that the speaker possess special skill</a:t>
            </a:r>
            <a:r>
              <a:rPr lang="en-A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9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5E3F-FAB7-EAB5-69AC-D6E5E08C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7A6F-CD95-A3DA-3701-728A3FCA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3D9D-0452-7A4F-07DF-782549B11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 Sebastian Pty Ltd v Minister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(1986) 162 CLR 340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duty can arise without any request, e.g. known special competence; assumption of responsibility; inviting or intending reliance; an interest in the recipient acting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Brennan J's conditions: representor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representee will trust their special competence; reasonable to accept and rely; reasonably foreseeable loss if the statement is wrong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266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2EAB-13C0-2DB7-77AE-900F3F79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7956-E5C4-2F08-B432-5BF30392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9E70-9243-786D-BC34-45B86E865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Tepko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Pty Ltd v Water Board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(2001) 206 CLR 1</a:t>
            </a:r>
            <a:endParaRPr lang="en-AU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‘Ball-park’ costing, given reluctantly; shown to the plaintiff's bank; figure overstated; arrangements collapsed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duty: the Board neither knew nor should have known of the reliance, and reliance on a reluctant, provisional estimate was not reasonable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Needed: known reliance, an assumption of responsibility, or both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0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Esanda Finance Corp v PMH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(1997) 188 CLR 241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 casebook -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(Esanda lent money to companies associated with Excel; PMH had audited and certified Excel’s accounts; Esanda alleged that PMH were negligent and consequently it suffered economic loss after Excel was placed into receivership)</a:t>
            </a:r>
          </a:p>
        </p:txBody>
      </p:sp>
    </p:spTree>
    <p:extLst>
      <p:ext uri="{BB962C8B-B14F-4D97-AF65-F5344CB8AC3E}">
        <p14:creationId xmlns:p14="http://schemas.microsoft.com/office/powerpoint/2010/main" val="737250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question before the High Court was whether PMH owed a duty of care to Esanda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held 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such duty existed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circumstances which might serve to establish any relationship of proximity between Esanda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545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Dawson J observed: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mere foreseeability of harm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only harm is pure economic loss,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rise to a duty of care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is that a duty of care imposed by reference to the mere foreseeability of harm in the form of financial loss would extend liability in negligence beyond acceptable bounds. … for a duty of care to arise in cases of pure economic loss,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requires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addition to the foreseeability of harm,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 relationship between the parties which is described as a relationship of proximity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.’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6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47B4-C15C-5FBD-594A-28078203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F4E5-C185-B2C0-6336-0C932168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B71BF-274A-EF4E-EC25-DAC9BF30B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in Esanda identified several factors that could establish the necessary ‘proximity’* or ‘special relationship’ for pure economic loss claims in addition to reasonable foreseeability: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Reliance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Relationship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skill or knowledge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of Reliance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of Responsibility</a:t>
            </a:r>
            <a:endParaRPr lang="en-A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*Note: 'proximity' is the historical label; the modern approach treats these as salient factors (Sullivan v Moody) </a:t>
            </a:r>
          </a:p>
        </p:txBody>
      </p:sp>
    </p:spTree>
    <p:extLst>
      <p:ext uri="{BB962C8B-B14F-4D97-AF65-F5344CB8AC3E}">
        <p14:creationId xmlns:p14="http://schemas.microsoft.com/office/powerpoint/2010/main" val="965466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McHugh J gave several policy reasons why auditors should not have a duty of care to third parties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 the cost of auditing services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complex litigation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indeterminate liability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difficulties of proving reliance </a:t>
            </a:r>
          </a:p>
        </p:txBody>
      </p:sp>
    </p:spTree>
    <p:extLst>
      <p:ext uri="{BB962C8B-B14F-4D97-AF65-F5344CB8AC3E}">
        <p14:creationId xmlns:p14="http://schemas.microsoft.com/office/powerpoint/2010/main" val="3087003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ED6C-5234-DFDA-A1E7-2BFEE91C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6B15-202C-CE9E-1A13-C4F3A181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A879-4BA4-1981-EBF1-A8F01483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Disclaimers and assumption of responsibility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disclaimer is one factor against a duty arising (Hedley Byrne itself: no duty arose)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Distinguish: disclaimer of responsibility (excludes the duty) vs warning that care has not been taken (goes to whether reliance was reasonable)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Mallonland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Pty Ltd v Advanta Seeds Pty Ltd </a:t>
            </a:r>
            <a:r>
              <a:rPr lang="en-US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[2024] HCA 25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‘assumption of responsibility’ is imprecise; understood as an undertaking to take on a task from which acceptance of reasonable care can be inferred </a:t>
            </a:r>
          </a:p>
        </p:txBody>
      </p:sp>
    </p:spTree>
    <p:extLst>
      <p:ext uri="{BB962C8B-B14F-4D97-AF65-F5344CB8AC3E}">
        <p14:creationId xmlns:p14="http://schemas.microsoft.com/office/powerpoint/2010/main" val="2414834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90B0-B927-665B-0E96-FD74FE5C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12A0-D205-353C-0323-EB4377AD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BFDF-DC74-E85D-5C65-288A614E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</a:t>
            </a:r>
          </a:p>
          <a:p>
            <a:pPr lvl="0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Anchorage Capital Master Offshore Ltd v Sparkes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(2023) 111 NSWLR 304</a:t>
            </a:r>
            <a:endParaRPr lang="en-AU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Lenders relied on false financial notices from the borrower's officers; company collapsed; no duty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commercial parties able to protect themselves by contract are not vulnerable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987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Statutory liability for misstatements </a:t>
            </a:r>
            <a:endParaRPr lang="en-US" sz="1000" u="sng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there are also statutory provisions which provide for liability for misrepresentation 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Section 18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Australian Consumer Law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provides: 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 person must not, in trade or commerce, engage in conduct that is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or deceptive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is likely to mislead or deceive.’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73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18 covers both conduct and words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Section 18,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establish a duty of care or prove negligence – rather, what needs to be proved is the existence of misleading or deceptive conduct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Yet, common law remains relevant, e.g., in cases where the defendant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 ‘in trade or commerce' </a:t>
            </a:r>
          </a:p>
        </p:txBody>
      </p:sp>
    </p:spTree>
    <p:extLst>
      <p:ext uri="{BB962C8B-B14F-4D97-AF65-F5344CB8AC3E}">
        <p14:creationId xmlns:p14="http://schemas.microsoft.com/office/powerpoint/2010/main" val="1478454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ACCC v Kimberly-Clark </a:t>
            </a:r>
            <a:r>
              <a:rPr lang="en-US" sz="28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r>
              <a:rPr lang="en-US" sz="28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[2019] FCA 992 (first instance); [2020] FCAFC 107 (appeal)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(ACCC brought action on two counts: whether the wipes were ‘flushable’ and ‘made in Australia’)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6A4A39D-10D2-D679-6521-51B74B19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867" y="3452194"/>
            <a:ext cx="4804853" cy="241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94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Federal Court found that the ‘made in Australia’ claim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false and misleading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wipes were made elsewhere!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Court ruled that Kimberly-Clarke had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made false and misleading claims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‘flushable wipes’ – this was upheld on appeal by the Full Federal Court </a:t>
            </a:r>
          </a:p>
        </p:txBody>
      </p:sp>
    </p:spTree>
    <p:extLst>
      <p:ext uri="{BB962C8B-B14F-4D97-AF65-F5344CB8AC3E}">
        <p14:creationId xmlns:p14="http://schemas.microsoft.com/office/powerpoint/2010/main" val="11870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worth noting that Kimberly-Clarke had faced similar actions in the US and it decided to settle out of court 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9F4769B-AEFC-ED63-C49F-0AC5CCA7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43" y="2733850"/>
            <a:ext cx="8463157" cy="384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55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58C8-E439-C1E8-4D2B-EDA821E5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12F0-46A0-EE93-CC01-901AA0B6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CFB3-0979-77EB-CA66-0AA10CDAD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508426"/>
            <a:ext cx="10721723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Approaching duty of care for PEL by negligent misstatement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relevant to the inquiry include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relevant salient features)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foreseeability (necessary but not sufficient)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Indeterminacy of liability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of relationship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Defendant’s knowledge (of matters affecting the plaintiff, including reliance)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by plaintiff (reasonable in the circumstances?)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of responsibility by defendant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skill of defendant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of plaintiff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not a rigid checklist; there is a cross over between factors depending on the circumstances; courts look to the circumstances as a whole.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393469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20038</TotalTime>
  <Words>1889</Words>
  <Application>Microsoft Macintosh PowerPoint</Application>
  <PresentationFormat>Widescreen</PresentationFormat>
  <Paragraphs>248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7 Categories: Pure Economic Loss   </vt:lpstr>
      <vt:lpstr>Outline</vt:lpstr>
      <vt:lpstr>1. Overview </vt:lpstr>
      <vt:lpstr>2. Pure Economic Loss: Readings</vt:lpstr>
      <vt:lpstr>3. Concept of pure economic loss </vt:lpstr>
      <vt:lpstr>Concept of pure economic loss Contd.</vt:lpstr>
      <vt:lpstr>Concept of pure economic loss Contd.</vt:lpstr>
      <vt:lpstr>Concept of pure economic loss Contd.</vt:lpstr>
      <vt:lpstr>4. PEL caused by negligent words 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  <vt:lpstr>PEL caused by negligent words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Amanda Head</cp:lastModifiedBy>
  <cp:revision>1978</cp:revision>
  <dcterms:created xsi:type="dcterms:W3CDTF">2019-01-24T02:12:19Z</dcterms:created>
  <dcterms:modified xsi:type="dcterms:W3CDTF">2026-09-10T04:24:37Z</dcterms:modified>
</cp:coreProperties>
</file>