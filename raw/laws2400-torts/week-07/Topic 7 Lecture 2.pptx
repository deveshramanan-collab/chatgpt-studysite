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638" r:id="rId1"/>
  </p:sldMasterIdLst>
  <p:notesMasterIdLst>
    <p:notesMasterId r:id="rId19"/>
  </p:notesMasterIdLst>
  <p:handoutMasterIdLst>
    <p:handoutMasterId r:id="rId20"/>
  </p:handoutMasterIdLst>
  <p:sldIdLst>
    <p:sldId id="303" r:id="rId2"/>
    <p:sldId id="258" r:id="rId3"/>
    <p:sldId id="341" r:id="rId4"/>
    <p:sldId id="369" r:id="rId5"/>
    <p:sldId id="466" r:id="rId6"/>
    <p:sldId id="457" r:id="rId7"/>
    <p:sldId id="456" r:id="rId8"/>
    <p:sldId id="455" r:id="rId9"/>
    <p:sldId id="402" r:id="rId10"/>
    <p:sldId id="435" r:id="rId11"/>
    <p:sldId id="464" r:id="rId12"/>
    <p:sldId id="462" r:id="rId13"/>
    <p:sldId id="465" r:id="rId14"/>
    <p:sldId id="463" r:id="rId15"/>
    <p:sldId id="459" r:id="rId16"/>
    <p:sldId id="460" r:id="rId17"/>
    <p:sldId id="4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nah Harris" initials="HH" lastIdx="8" clrIdx="0">
    <p:extLst>
      <p:ext uri="{19B8F6BF-5375-455C-9EA6-DF929625EA0E}">
        <p15:presenceInfo xmlns:p15="http://schemas.microsoft.com/office/powerpoint/2012/main" userId="S::hannah.harris@mq.edu.au::6810d1df-3b5d-4428-9867-3b286e5d46c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38" autoAdjust="0"/>
    <p:restoredTop sz="93447" autoAdjust="0"/>
  </p:normalViewPr>
  <p:slideViewPr>
    <p:cSldViewPr snapToGrid="0" snapToObjects="1">
      <p:cViewPr varScale="1">
        <p:scale>
          <a:sx n="127" d="100"/>
          <a:sy n="127" d="100"/>
        </p:scale>
        <p:origin x="264" y="192"/>
      </p:cViewPr>
      <p:guideLst/>
    </p:cSldViewPr>
  </p:slideViewPr>
  <p:outlineViewPr>
    <p:cViewPr>
      <p:scale>
        <a:sx n="33" d="100"/>
        <a:sy n="33" d="100"/>
      </p:scale>
      <p:origin x="0" y="-523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120" d="100"/>
          <a:sy n="120" d="100"/>
        </p:scale>
        <p:origin x="2544" y="-19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ya Deva" userId="7fc89188-b279-4464-aad4-6bcc30702912" providerId="ADAL" clId="{D38D5A40-A1BB-4F98-A182-6EE86484EA42}"/>
    <pc:docChg chg="modSld">
      <pc:chgData name="Surya Deva" userId="7fc89188-b279-4464-aad4-6bcc30702912" providerId="ADAL" clId="{D38D5A40-A1BB-4F98-A182-6EE86484EA42}" dt="2024-08-18T01:27:07.082" v="1" actId="20577"/>
      <pc:docMkLst>
        <pc:docMk/>
      </pc:docMkLst>
      <pc:sldChg chg="modSp mod">
        <pc:chgData name="Surya Deva" userId="7fc89188-b279-4464-aad4-6bcc30702912" providerId="ADAL" clId="{D38D5A40-A1BB-4F98-A182-6EE86484EA42}" dt="2024-08-18T01:22:07.570" v="0" actId="20577"/>
        <pc:sldMkLst>
          <pc:docMk/>
          <pc:sldMk cId="473225537" sldId="341"/>
        </pc:sldMkLst>
        <pc:spChg chg="mod">
          <ac:chgData name="Surya Deva" userId="7fc89188-b279-4464-aad4-6bcc30702912" providerId="ADAL" clId="{D38D5A40-A1BB-4F98-A182-6EE86484EA42}" dt="2024-08-18T01:22:07.570" v="0" actId="20577"/>
          <ac:spMkLst>
            <pc:docMk/>
            <pc:sldMk cId="473225537" sldId="341"/>
            <ac:spMk id="3" creationId="{EEA464B0-4368-47D8-802B-4FB5B5FAD6E7}"/>
          </ac:spMkLst>
        </pc:spChg>
      </pc:sldChg>
      <pc:sldChg chg="modSp mod">
        <pc:chgData name="Surya Deva" userId="7fc89188-b279-4464-aad4-6bcc30702912" providerId="ADAL" clId="{D38D5A40-A1BB-4F98-A182-6EE86484EA42}" dt="2024-08-18T01:27:07.082" v="1" actId="20577"/>
        <pc:sldMkLst>
          <pc:docMk/>
          <pc:sldMk cId="2440430412" sldId="369"/>
        </pc:sldMkLst>
        <pc:spChg chg="mod">
          <ac:chgData name="Surya Deva" userId="7fc89188-b279-4464-aad4-6bcc30702912" providerId="ADAL" clId="{D38D5A40-A1BB-4F98-A182-6EE86484EA42}" dt="2024-08-18T01:27:07.082" v="1" actId="20577"/>
          <ac:spMkLst>
            <pc:docMk/>
            <pc:sldMk cId="2440430412" sldId="369"/>
            <ac:spMk id="3" creationId="{EEA464B0-4368-47D8-802B-4FB5B5FAD6E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761F64-24A3-47F5-8A3C-C1A55F2765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F9FD7-5F19-4302-897E-687657C26A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EFBBB-0FE0-4C79-99F2-94106FE31639}" type="datetimeFigureOut">
              <a:rPr lang="en-AU" smtClean="0"/>
              <a:t>8/9/2026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09924-3CCC-4429-B913-306C3F0A09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EA83F-F2DC-46D7-B696-662122F59A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C4DC0-EA1F-4BE8-BE5B-D0247039CF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8410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BC296-011A-4286-8D88-FBCD11477F2B}" type="datetimeFigureOut">
              <a:rPr lang="en-AU" smtClean="0"/>
              <a:t>8/9/2026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142E5-A706-4C60-B43E-D82CA518B0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8740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0AC98-8E30-490D-A639-38DF0F70C274}" type="slidenum">
              <a:rPr lang="en-AU" smtClean="0"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38902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5394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0858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3510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5FF0C-C92F-F265-D52F-FEE8D60CD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8303A-103C-6623-DE84-D89D9E6AB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3E0F9-2FD2-7210-1D8D-AB3E88311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2D191-E6B0-F050-0EC1-77A4237C5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9165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2944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3927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9959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0972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17885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8188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00323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9307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1558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80517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13023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7622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63"/>
          <a:stretch/>
        </p:blipFill>
        <p:spPr>
          <a:xfrm>
            <a:off x="241904" y="3067670"/>
            <a:ext cx="11710747" cy="3611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F52CFF-C49E-FB47-9FC2-54AD48C78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8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2" name="Rectangle 1"/>
          <p:cNvSpPr/>
          <p:nvPr/>
        </p:nvSpPr>
        <p:spPr>
          <a:xfrm>
            <a:off x="241904" y="3062172"/>
            <a:ext cx="4722971" cy="36330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Picture Placeholder 9" descr="Section_Image.jpg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03" t="15468" r="100" b="1049"/>
          <a:stretch/>
        </p:blipFill>
        <p:spPr>
          <a:xfrm>
            <a:off x="4964875" y="3062172"/>
            <a:ext cx="6987287" cy="3632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959" y="3448840"/>
            <a:ext cx="1943987" cy="32399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96" y="5910035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A9269F-011F-4649-845C-08AE05BE9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6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1428" y="181429"/>
            <a:ext cx="1170333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pic>
        <p:nvPicPr>
          <p:cNvPr id="9" name="Picture Placeholder 9" descr="Section_Image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t="15597" r="462" b="1605"/>
          <a:stretch/>
        </p:blipFill>
        <p:spPr>
          <a:xfrm>
            <a:off x="251429" y="1257301"/>
            <a:ext cx="11706850" cy="5419724"/>
          </a:xfrm>
          <a:prstGeom prst="rect">
            <a:avLst/>
          </a:prstGeom>
          <a:ln>
            <a:noFill/>
          </a:ln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20000" y="2863019"/>
            <a:ext cx="8045752" cy="608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3485114"/>
            <a:ext cx="6407150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05" y="5842000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457" y="3502203"/>
            <a:ext cx="3174822" cy="31748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9B8C79-07FC-2444-B397-BBCDB3F9F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0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41904" y="181429"/>
            <a:ext cx="11710800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608410" y="6183276"/>
            <a:ext cx="577266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 hasCustomPrompt="1"/>
          </p:nvPr>
        </p:nvSpPr>
        <p:spPr>
          <a:xfrm>
            <a:off x="5639120" y="2708920"/>
            <a:ext cx="5665556" cy="64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AU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5638360" y="3357564"/>
            <a:ext cx="5666316" cy="503237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9" name="Picture 8" descr="MAC21_190.5x254_PowerPoint_Images_Cov v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5" y="0"/>
            <a:ext cx="4383024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F0B494-A7A4-6F4C-8E15-141F578E0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2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10800001" cy="45259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04664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914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1625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720000" y="1620000"/>
            <a:ext cx="10776675" cy="45243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3392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759075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38668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2898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 lIns="0" tIns="0" rIns="0" bIns="0"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25430"/>
          </a:xfrm>
        </p:spPr>
        <p:txBody>
          <a:bodyPr lIns="0" tIns="0" rIns="0" bIns="0"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2484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</p:spTree>
    <p:extLst>
      <p:ext uri="{BB962C8B-B14F-4D97-AF65-F5344CB8AC3E}">
        <p14:creationId xmlns:p14="http://schemas.microsoft.com/office/powerpoint/2010/main" val="264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7200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3624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902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012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151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20000" y="1620000"/>
            <a:ext cx="10752000" cy="4525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998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3392" y="6309321"/>
            <a:ext cx="54726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09321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77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01277" y="571501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186930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720000" y="1620000"/>
            <a:ext cx="8507963" cy="4490720"/>
          </a:xfrm>
        </p:spPr>
        <p:txBody>
          <a:bodyPr>
            <a:noAutofit/>
          </a:bodyPr>
          <a:lstStyle>
            <a:lvl7pPr>
              <a:buNone/>
              <a:defRPr/>
            </a:lvl7pPr>
            <a:lvl8pPr>
              <a:buNone/>
              <a:defRPr/>
            </a:lvl8pPr>
          </a:lstStyle>
          <a:p>
            <a:r>
              <a:rPr lang="en-US" b="1" dirty="0">
                <a:solidFill>
                  <a:srgbClr val="6D0020"/>
                </a:solidFill>
              </a:rPr>
              <a:t>HEADER INFO</a:t>
            </a:r>
          </a:p>
          <a:p>
            <a:r>
              <a:rPr lang="en-US" dirty="0" err="1">
                <a:latin typeface="Georgia"/>
                <a:cs typeface="Georgia"/>
              </a:rPr>
              <a:t>Consectetur</a:t>
            </a:r>
            <a:r>
              <a:rPr lang="en-US" dirty="0">
                <a:latin typeface="Georgia"/>
                <a:cs typeface="Georgia"/>
              </a:rPr>
              <a:t>  met </a:t>
            </a:r>
            <a:r>
              <a:rPr lang="en-US" dirty="0" err="1">
                <a:latin typeface="Georgia"/>
                <a:cs typeface="Georgia"/>
              </a:rPr>
              <a:t>adipiscing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. </a:t>
            </a:r>
            <a:r>
              <a:rPr lang="en-US" dirty="0" err="1">
                <a:latin typeface="Georgia"/>
                <a:cs typeface="Georgia"/>
              </a:rPr>
              <a:t>Aenean</a:t>
            </a:r>
            <a:r>
              <a:rPr lang="en-US" dirty="0">
                <a:latin typeface="Georgia"/>
                <a:cs typeface="Georgia"/>
              </a:rPr>
              <a:t> ac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a </a:t>
            </a:r>
            <a:r>
              <a:rPr lang="en-US" dirty="0" err="1">
                <a:latin typeface="Georgia"/>
                <a:cs typeface="Georgia"/>
              </a:rPr>
              <a:t>felis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pharetra</a:t>
            </a:r>
            <a:r>
              <a:rPr lang="en-US" dirty="0">
                <a:latin typeface="Georgia"/>
                <a:cs typeface="Georgia"/>
              </a:rPr>
              <a:t>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 err="1">
                <a:latin typeface="Georgia"/>
                <a:cs typeface="Georgia"/>
              </a:rPr>
              <a:t>vel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Fringilla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Duis</a:t>
            </a:r>
            <a:r>
              <a:rPr lang="en-US" dirty="0">
                <a:latin typeface="Georgia"/>
                <a:cs typeface="Georgia"/>
              </a:rPr>
              <a:t> dui </a:t>
            </a:r>
            <a:r>
              <a:rPr lang="en-US" dirty="0" err="1">
                <a:latin typeface="Georgia"/>
                <a:cs typeface="Georgia"/>
              </a:rPr>
              <a:t>arcu</a:t>
            </a:r>
            <a:r>
              <a:rPr lang="en-US" dirty="0">
                <a:latin typeface="Georgia"/>
                <a:cs typeface="Georgia"/>
              </a:rPr>
              <a:t>,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scelerisque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nec</a:t>
            </a:r>
            <a:r>
              <a:rPr lang="en-US" dirty="0">
                <a:latin typeface="Georgia"/>
                <a:cs typeface="Georgia"/>
              </a:rPr>
              <a:t> dictum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>
                <a:latin typeface="Georgia"/>
                <a:cs typeface="Georgia"/>
              </a:rPr>
              <a:t>ac </a:t>
            </a:r>
            <a:r>
              <a:rPr lang="en-US" dirty="0" err="1">
                <a:latin typeface="Georgia"/>
                <a:cs typeface="Georgia"/>
              </a:rPr>
              <a:t>conse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eu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Donec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tincid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unt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enim</a:t>
            </a:r>
            <a:r>
              <a:rPr lang="en-US" dirty="0">
                <a:latin typeface="Georgia"/>
                <a:cs typeface="Georgia"/>
              </a:rPr>
              <a:t> sit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consequat</a:t>
            </a:r>
            <a:r>
              <a:rPr lang="en-US" dirty="0">
                <a:latin typeface="Georgia"/>
                <a:cs typeface="Georgia"/>
              </a:rPr>
              <a:t>.</a:t>
            </a:r>
          </a:p>
          <a:p>
            <a:pPr>
              <a:buFont typeface="Arial"/>
              <a:buChar char="•"/>
            </a:pPr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7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pPr marL="342900" lvl="7" indent="0"/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6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endParaRPr lang="en-US" dirty="0">
              <a:latin typeface="Georgia"/>
              <a:cs typeface="Georgia"/>
            </a:endParaRPr>
          </a:p>
          <a:p>
            <a:endParaRPr 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458276" cy="434305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0507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29F5C7-1EDD-4D4F-B3EB-31F227D9F4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620000"/>
            <a:ext cx="10800001" cy="45259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0000" y="6309321"/>
            <a:ext cx="540067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1875" y="6309321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/>
          <p:cNvPicPr preferRelativeResize="0"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368000"/>
            <a:ext cx="10800000" cy="12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600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9" r:id="rId1"/>
    <p:sldLayoutId id="2147484640" r:id="rId2"/>
    <p:sldLayoutId id="2147484641" r:id="rId3"/>
    <p:sldLayoutId id="2147484642" r:id="rId4"/>
    <p:sldLayoutId id="2147484643" r:id="rId5"/>
    <p:sldLayoutId id="2147484644" r:id="rId6"/>
    <p:sldLayoutId id="2147484645" r:id="rId7"/>
    <p:sldLayoutId id="2147484646" r:id="rId8"/>
    <p:sldLayoutId id="2147484647" r:id="rId9"/>
    <p:sldLayoutId id="2147484648" r:id="rId10"/>
    <p:sldLayoutId id="2147484649" r:id="rId11"/>
    <p:sldLayoutId id="2147484650" r:id="rId12"/>
    <p:sldLayoutId id="2147484651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4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836784"/>
            <a:ext cx="8544000" cy="648000"/>
          </a:xfrm>
        </p:spPr>
        <p:txBody>
          <a:bodyPr>
            <a:normAutofit fontScale="90000"/>
          </a:bodyPr>
          <a:lstStyle/>
          <a:p>
            <a:pPr algn="ctr"/>
            <a:r>
              <a:rPr lang="en-A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LAWS2400 / LAWS8040 – Torts</a:t>
            </a:r>
            <a:b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7 – Lecture 2</a:t>
            </a:r>
            <a:br>
              <a:rPr lang="en-A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Categories: </a:t>
            </a:r>
            <a:r>
              <a:rPr lang="en-US" sz="3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Economic Loss </a:t>
            </a:r>
            <a:br>
              <a:rPr lang="en-AU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476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E700-BEAF-3248-A54C-F5BEBA34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4637"/>
            <a:ext cx="8458276" cy="89494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C9E6F-2A4A-EC4A-903A-6B54DA7E0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669311"/>
            <a:ext cx="11116400" cy="4822929"/>
          </a:xfrm>
        </p:spPr>
        <p:txBody>
          <a:bodyPr>
            <a:no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</a:t>
            </a:r>
          </a:p>
          <a:p>
            <a:pPr marL="971550" lvl="1" indent="-514350">
              <a:buFont typeface="+mj-lt"/>
              <a:buAutoNum type="arabicPeriod"/>
            </a:pP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of pure economic loss (PEL)</a:t>
            </a:r>
          </a:p>
          <a:p>
            <a:pPr marL="971550" lvl="1" indent="-514350">
              <a:buFont typeface="+mj-lt"/>
              <a:buAutoNum type="arabicPeriod"/>
            </a:pP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negligent words </a:t>
            </a:r>
          </a:p>
          <a:p>
            <a:pPr marL="971550" lvl="1" indent="-514350">
              <a:buFont typeface="+mj-lt"/>
              <a:buAutoNum type="arabicPeriod"/>
            </a:pP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an act  </a:t>
            </a:r>
            <a:r>
              <a:rPr lang="en-HK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(this lecture)</a:t>
            </a:r>
          </a:p>
          <a:p>
            <a:pPr marL="971550" lvl="1" indent="-514350">
              <a:buFont typeface="+mj-lt"/>
              <a:buAutoNum type="arabicPeriod"/>
            </a:pP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defective structures </a:t>
            </a:r>
            <a:r>
              <a:rPr lang="en-HK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(this lecture)</a:t>
            </a:r>
          </a:p>
          <a:p>
            <a:pPr marL="457200" lvl="1" indent="0">
              <a:buNone/>
            </a:pPr>
            <a:endParaRPr lang="en-H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458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an act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England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duty is generally imposed by courts for PEL caused by an act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other hand, courts 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Australia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such a duty after applying the “salient factors” approach </a:t>
            </a:r>
          </a:p>
        </p:txBody>
      </p:sp>
    </p:spTree>
    <p:extLst>
      <p:ext uri="{BB962C8B-B14F-4D97-AF65-F5344CB8AC3E}">
        <p14:creationId xmlns:p14="http://schemas.microsoft.com/office/powerpoint/2010/main" val="473225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6-point Star 18">
            <a:extLst>
              <a:ext uri="{FF2B5EF4-FFF2-40B4-BE49-F238E27FC236}">
                <a16:creationId xmlns:a16="http://schemas.microsoft.com/office/drawing/2014/main" id="{F28C80A4-BE24-7626-AFC2-B09A58CC286B}"/>
              </a:ext>
            </a:extLst>
          </p:cNvPr>
          <p:cNvSpPr/>
          <p:nvPr/>
        </p:nvSpPr>
        <p:spPr>
          <a:xfrm>
            <a:off x="7310052" y="2713234"/>
            <a:ext cx="1453408" cy="1696692"/>
          </a:xfrm>
          <a:prstGeom prst="star6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an act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1" y="1508426"/>
            <a:ext cx="5851621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decision in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Perre v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Apand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(1999) 198 CLR 180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Apand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supplied potato seeds to the </a:t>
            </a: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Sparnon’s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farm; </a:t>
            </a: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Sparnon’s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farm and Perre’s farm were 3kms apart; </a:t>
            </a: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Apand’s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seeds were infected with a ‘bacterial wilt’ disease; WA had prohibited importing potatoes within 20kms of wilt disease; the </a:t>
            </a: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Perres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suffered PEL for being unable to export potatoes to WA)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B4BCC-14AD-5084-343B-F969142FA6FC}"/>
              </a:ext>
            </a:extLst>
          </p:cNvPr>
          <p:cNvSpPr txBox="1"/>
          <p:nvPr/>
        </p:nvSpPr>
        <p:spPr>
          <a:xfrm>
            <a:off x="8422584" y="1612442"/>
            <a:ext cx="2329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Apand</a:t>
            </a:r>
            <a:r>
              <a:rPr lang="en-US" dirty="0"/>
              <a:t> (Kettle chips!)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9D35DC-3248-57FD-DF2A-A9AD3A146BC6}"/>
              </a:ext>
            </a:extLst>
          </p:cNvPr>
          <p:cNvSpPr txBox="1"/>
          <p:nvPr/>
        </p:nvSpPr>
        <p:spPr>
          <a:xfrm>
            <a:off x="10241074" y="3122564"/>
            <a:ext cx="13263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sells potato seeds to 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ECCA9E-5D1C-CBB5-25AF-EDB7A2F3053E}"/>
              </a:ext>
            </a:extLst>
          </p:cNvPr>
          <p:cNvSpPr txBox="1"/>
          <p:nvPr/>
        </p:nvSpPr>
        <p:spPr>
          <a:xfrm>
            <a:off x="10751737" y="5390675"/>
            <a:ext cx="1457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Sparnon’s</a:t>
            </a:r>
            <a:r>
              <a:rPr lang="en-US" dirty="0"/>
              <a:t> farm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726870-9D22-6D31-D4C8-9F669DCB8D73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9587161" y="1981774"/>
            <a:ext cx="981639" cy="34089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A4F2189-7927-B093-EF65-F66F4B0B7948}"/>
              </a:ext>
            </a:extLst>
          </p:cNvPr>
          <p:cNvSpPr txBox="1"/>
          <p:nvPr/>
        </p:nvSpPr>
        <p:spPr>
          <a:xfrm>
            <a:off x="7377026" y="5405482"/>
            <a:ext cx="1084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Perre’s farm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04943-30D9-746A-7722-5A87A04EADE9}"/>
              </a:ext>
            </a:extLst>
          </p:cNvPr>
          <p:cNvSpPr txBox="1"/>
          <p:nvPr/>
        </p:nvSpPr>
        <p:spPr>
          <a:xfrm>
            <a:off x="7633111" y="3122564"/>
            <a:ext cx="1084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Does A owe P a DOC?</a:t>
            </a:r>
          </a:p>
        </p:txBody>
      </p:sp>
      <p:sp>
        <p:nvSpPr>
          <p:cNvPr id="18" name="Oval Callout 17">
            <a:extLst>
              <a:ext uri="{FF2B5EF4-FFF2-40B4-BE49-F238E27FC236}">
                <a16:creationId xmlns:a16="http://schemas.microsoft.com/office/drawing/2014/main" id="{8BE6284B-326D-C30E-6C4F-EB97B537814F}"/>
              </a:ext>
            </a:extLst>
          </p:cNvPr>
          <p:cNvSpPr/>
          <p:nvPr/>
        </p:nvSpPr>
        <p:spPr>
          <a:xfrm>
            <a:off x="5086886" y="163644"/>
            <a:ext cx="3865573" cy="1049739"/>
          </a:xfrm>
          <a:prstGeom prst="wedgeEllipseCallout">
            <a:avLst>
              <a:gd name="adj1" fmla="val -46709"/>
              <a:gd name="adj2" fmla="val 9046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 is pronounced Perry!</a:t>
            </a:r>
          </a:p>
        </p:txBody>
      </p:sp>
      <p:sp>
        <p:nvSpPr>
          <p:cNvPr id="8" name="Left-right Arrow Callout 7">
            <a:extLst>
              <a:ext uri="{FF2B5EF4-FFF2-40B4-BE49-F238E27FC236}">
                <a16:creationId xmlns:a16="http://schemas.microsoft.com/office/drawing/2014/main" id="{89B283BE-6554-8637-BEE0-0F805F8D7C44}"/>
              </a:ext>
            </a:extLst>
          </p:cNvPr>
          <p:cNvSpPr/>
          <p:nvPr/>
        </p:nvSpPr>
        <p:spPr>
          <a:xfrm>
            <a:off x="8184695" y="5392409"/>
            <a:ext cx="2567042" cy="714912"/>
          </a:xfrm>
          <a:prstGeom prst="leftRightArrowCallou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Two farms are 3kms apart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29A7A67-0077-C595-777E-33FA80AFCB0B}"/>
              </a:ext>
            </a:extLst>
          </p:cNvPr>
          <p:cNvCxnSpPr>
            <a:cxnSpLocks/>
          </p:cNvCxnSpPr>
          <p:nvPr/>
        </p:nvCxnSpPr>
        <p:spPr>
          <a:xfrm flipH="1">
            <a:off x="8355516" y="1996589"/>
            <a:ext cx="1037166" cy="340889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430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435C2-64D5-EE58-7C54-3E591FC97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32957-4598-EEB0-1C59-152ED842E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an act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590D6-D5DD-FD70-5978-0FE62DD2E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207980"/>
            <a:ext cx="10736125" cy="5074936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Sparnon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Perre brought claims. In the lower courts:</a:t>
            </a:r>
          </a:p>
          <a:p>
            <a:pPr lvl="1"/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Sparnon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won: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Apand’s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duty to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Sparnon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clear.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Sparnon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suffered the  physical damage of the potatoes being diseased. Also can sue under contract and consumer law. 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Perre lost: </a:t>
            </a:r>
            <a:r>
              <a:rPr 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Perre didn’t suffer physical damage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there was no disease on their property. Instead, the courts said this was a case of pure economic loss (PEL). Moreover, no contract between parties.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 Court had to consider - did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Apand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 duty to take reasonable care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protect 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Perres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PEL?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YES duty owed </a:t>
            </a:r>
          </a:p>
        </p:txBody>
      </p:sp>
    </p:spTree>
    <p:extLst>
      <p:ext uri="{BB962C8B-B14F-4D97-AF65-F5344CB8AC3E}">
        <p14:creationId xmlns:p14="http://schemas.microsoft.com/office/powerpoint/2010/main" val="3604985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an act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McHugh J noted that whether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Apand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had a duty of care to 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Perres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depended on the following questions:</a:t>
            </a:r>
          </a:p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the loss suffered by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members of the group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reasonably foreseeable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yes to question 1, would the imposition of a duty of care impose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indeterminate liability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to question 2, would the imposition of a duty of care impose an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unreasonable burden on the autonomy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to question 3, were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some of them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 to loss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conduct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its conduct could cause harm to individuals such as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5126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an act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various judgments, one can find several “salient factors” factors such as:</a:t>
            </a:r>
          </a:p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financial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reasonably foreseeable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risk of </a:t>
            </a:r>
            <a:r>
              <a:rPr lang="en-US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indeterminate liability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coherence of law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threatened?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plaintiff a member of an </a:t>
            </a:r>
            <a:r>
              <a:rPr lang="en-US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ascertained class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the defendant have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of risk and its magnitude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the defendant in </a:t>
            </a:r>
            <a:r>
              <a:rPr lang="en-US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situation?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the plaintiff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579070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an act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fact, even before the “salient factors” approach was firmly established, the High Court had found a duty of care in PEL cases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the decision in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Caltex Oil v Dredge ‘Willemstad’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(1976) 136 CLR 529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(the defendant dredge negligently damaged an oil pipeline; Caltex did not claim for the small amount of property damage but instead claimed pure economic loss, being the significant expenses of transporting the oil by road around the bay)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Court held that the defendant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owed a duty of care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Caltex </a:t>
            </a:r>
          </a:p>
        </p:txBody>
      </p:sp>
    </p:spTree>
    <p:extLst>
      <p:ext uri="{BB962C8B-B14F-4D97-AF65-F5344CB8AC3E}">
        <p14:creationId xmlns:p14="http://schemas.microsoft.com/office/powerpoint/2010/main" val="813785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defective structures 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Parties can deal with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obvious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defects in buildings through contractual arrangements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law of torts comes into picture to deal with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defects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244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defective structures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 defect causes a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injury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builder or architect will be generally liable to anyone foreseeably injured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a defect in the building has been viewed by the courts as PEL – e.g.,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diminishing the value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property.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PEL may arise because a building has been negligently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</a:t>
            </a:r>
            <a:endParaRPr lang="en-US" sz="2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241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defective structures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the decision in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Bryan v Maloney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(1995) 182 CLR 608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 builder constructed a house with defective foundations; </a:t>
            </a: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Maloney, who was the third owner since the construction, noticed cracks in the walls due to defective foundations)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 Court ruled that a builder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owed a duty of care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 subsequent purchaser to take reasonable care in the building of a house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068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defective structures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Bryan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High Court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 used the </a:t>
            </a:r>
            <a:r>
              <a:rPr lang="en-US" sz="2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proximity principle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impose a duty of care to avoid PEL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drew a distinction between construction of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dwellings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buildings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High Court had a chance to consider these aspects in a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subsequent case: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Woolcock Street Investments v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CDG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(2004) 216 CLR 515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917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defective structures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the decision in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Woolcock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CDG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designed a commercial complex; as one of the owners refused to pay for a geotechnical inspection, it was not done; Woolcock purchased the building from the original owners; the building settled causing structural distress; Woolcock sued for failure to properly design the structure and foundations of the building)</a:t>
            </a:r>
          </a:p>
          <a:p>
            <a:pPr marL="0" indent="0">
              <a:buNone/>
            </a:pPr>
            <a:endParaRPr lang="en-US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question before the High Court was whether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CDG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owed a duty of care to Woolcock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834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defective structures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Court did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any such duty in this case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noted that there was no reliance or assumption of responsibility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the plaintiff (Woolcock) was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vulnerable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248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defective structures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u="sng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Statutory duty of care regarding building construction 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NSW, the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Building Practitioners Act 2020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(NSW) provides owners a cause of action against builders for negligent construction.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duty extends to all subsequent purchasers (s37)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duty is non-delegable (s39)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duty cannot be contracted out (s40)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it easier for owners/subsequent purchasers to sue builders, as there is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 to establish a duty of care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common law </a:t>
            </a:r>
            <a:endParaRPr lang="en-US" sz="2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849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defective structures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37 of the Act provides: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“(1)  A person who carries out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work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a duty to exercise reasonable care to avoid economic loss caused by defects—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(a)  in or related to a building for which the work is done, and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(b)  arising from the construction work.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 The duty of care is owed to each owner of the land in relation to which the construction work is carried out and to each </a:t>
            </a:r>
            <a:r>
              <a:rPr lang="en-US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subsequent owner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land.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 A person to whom the duty of care is owed is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entitled to damages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breach of the duty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if the duty were a duty established by the common law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 </a:t>
            </a:r>
          </a:p>
        </p:txBody>
      </p:sp>
    </p:spTree>
    <p:extLst>
      <p:ext uri="{BB962C8B-B14F-4D97-AF65-F5344CB8AC3E}">
        <p14:creationId xmlns:p14="http://schemas.microsoft.com/office/powerpoint/2010/main" val="1508840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 caused by defective structures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 “ construction work” has been defined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Section 36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building work, it includes preparation of designs, the manufacture or supply of building products, and supervision, coordination or project management over building work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693831"/>
      </p:ext>
    </p:extLst>
  </p:cSld>
  <p:clrMapOvr>
    <a:masterClrMapping/>
  </p:clrMapOvr>
</p:sld>
</file>

<file path=ppt/theme/theme1.xml><?xml version="1.0" encoding="utf-8"?>
<a:theme xmlns:a="http://schemas.openxmlformats.org/drawingml/2006/main" name="MAC UNI BASIC_Round 1 Draft for feedback">
  <a:themeElements>
    <a:clrScheme name="MQU Colours">
      <a:dk1>
        <a:sysClr val="windowText" lastClr="000000"/>
      </a:dk1>
      <a:lt1>
        <a:sysClr val="window" lastClr="FFFFFF"/>
      </a:lt1>
      <a:dk2>
        <a:srgbClr val="D6D2C4"/>
      </a:dk2>
      <a:lt2>
        <a:srgbClr val="E6E4DC"/>
      </a:lt2>
      <a:accent1>
        <a:srgbClr val="A6192E"/>
      </a:accent1>
      <a:accent2>
        <a:srgbClr val="76232F"/>
      </a:accent2>
      <a:accent3>
        <a:srgbClr val="D6001C"/>
      </a:accent3>
      <a:accent4>
        <a:srgbClr val="C6007E"/>
      </a:accent4>
      <a:accent5>
        <a:srgbClr val="80225F"/>
      </a:accent5>
      <a:accent6>
        <a:srgbClr val="373A36"/>
      </a:accent6>
      <a:hlink>
        <a:srgbClr val="A6192E"/>
      </a:hlink>
      <a:folHlink>
        <a:srgbClr val="954F72"/>
      </a:folHlink>
    </a:clrScheme>
    <a:fontScheme name="MQ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U-INT 16x9 Template _2016" id="{260B2EA1-E29E-8F43-8CD0-19C5943E9B3E}" vid="{17EFAF55-AA0F-074F-B88C-D92FD2EB11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18550</TotalTime>
  <Words>1287</Words>
  <Application>Microsoft Macintosh PowerPoint</Application>
  <PresentationFormat>Widescreen</PresentationFormat>
  <Paragraphs>168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Georgia</vt:lpstr>
      <vt:lpstr>Times New Roman</vt:lpstr>
      <vt:lpstr>Wingdings</vt:lpstr>
      <vt:lpstr>MAC UNI BASIC_Round 1 Draft for feedback</vt:lpstr>
      <vt:lpstr>LAWS2400 / LAWS8040 – Torts  Week 7 – Lecture 2 Categories: Pure Economic Loss   </vt:lpstr>
      <vt:lpstr>Outline</vt:lpstr>
      <vt:lpstr>PEL caused by an act </vt:lpstr>
      <vt:lpstr>PEL caused by an act Contd.</vt:lpstr>
      <vt:lpstr>PEL caused by an act Contd.</vt:lpstr>
      <vt:lpstr>PEL caused by an act Contd.</vt:lpstr>
      <vt:lpstr>PEL caused by an act Contd.</vt:lpstr>
      <vt:lpstr>PEL caused by an act Contd.</vt:lpstr>
      <vt:lpstr>PEL caused by defective structures  </vt:lpstr>
      <vt:lpstr>PEL caused by defective structures Contd.</vt:lpstr>
      <vt:lpstr>PEL caused by defective structures Contd.</vt:lpstr>
      <vt:lpstr>PEL caused by defective structures Contd.</vt:lpstr>
      <vt:lpstr>PEL caused by defective structures Contd.</vt:lpstr>
      <vt:lpstr>PEL caused by defective structures Contd.</vt:lpstr>
      <vt:lpstr>PEL caused by defective structures Contd.</vt:lpstr>
      <vt:lpstr>PEL caused by defective structures Contd.</vt:lpstr>
      <vt:lpstr>PEL caused by defective structures Contd.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Ebony Birchall</cp:lastModifiedBy>
  <cp:revision>1978</cp:revision>
  <cp:lastPrinted>2025-09-08T05:27:14Z</cp:lastPrinted>
  <dcterms:created xsi:type="dcterms:W3CDTF">2019-01-24T02:12:19Z</dcterms:created>
  <dcterms:modified xsi:type="dcterms:W3CDTF">2026-09-08T05:13:56Z</dcterms:modified>
</cp:coreProperties>
</file>