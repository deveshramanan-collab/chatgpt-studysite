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21"/>
  </p:notesMasterIdLst>
  <p:handoutMasterIdLst>
    <p:handoutMasterId r:id="rId22"/>
  </p:handoutMasterIdLst>
  <p:sldIdLst>
    <p:sldId id="303" r:id="rId2"/>
    <p:sldId id="258" r:id="rId3"/>
    <p:sldId id="471" r:id="rId4"/>
    <p:sldId id="369" r:id="rId5"/>
    <p:sldId id="469" r:id="rId6"/>
    <p:sldId id="465" r:id="rId7"/>
    <p:sldId id="466" r:id="rId8"/>
    <p:sldId id="341" r:id="rId9"/>
    <p:sldId id="474" r:id="rId10"/>
    <p:sldId id="472" r:id="rId11"/>
    <p:sldId id="340" r:id="rId12"/>
    <p:sldId id="467" r:id="rId13"/>
    <p:sldId id="460" r:id="rId14"/>
    <p:sldId id="461" r:id="rId15"/>
    <p:sldId id="462" r:id="rId16"/>
    <p:sldId id="463" r:id="rId17"/>
    <p:sldId id="464" r:id="rId18"/>
    <p:sldId id="473" r:id="rId19"/>
    <p:sldId id="4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67" autoAdjust="0"/>
    <p:restoredTop sz="93447" autoAdjust="0"/>
  </p:normalViewPr>
  <p:slideViewPr>
    <p:cSldViewPr snapToGrid="0" snapToObjects="1">
      <p:cViewPr varScale="1">
        <p:scale>
          <a:sx n="98" d="100"/>
          <a:sy n="98" d="100"/>
        </p:scale>
        <p:origin x="192" y="632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AC4F9B-DB79-AC4B-951B-64DF76628D64}" type="doc">
      <dgm:prSet loTypeId="urn:microsoft.com/office/officeart/2005/8/layout/pyramid3" loCatId="" qsTypeId="urn:microsoft.com/office/officeart/2005/8/quickstyle/simple2" qsCatId="simple" csTypeId="urn:microsoft.com/office/officeart/2005/8/colors/accent1_2" csCatId="accent1" phldr="1"/>
      <dgm:spPr/>
    </dgm:pt>
    <dgm:pt modelId="{12E2CA12-BA60-E644-9D02-5AEBFB52FB89}">
      <dgm:prSet phldrT="[Text]"/>
      <dgm:spPr/>
      <dgm:t>
        <a:bodyPr/>
        <a:lstStyle/>
        <a:p>
          <a:r>
            <a:rPr lang="en-GB" dirty="0"/>
            <a:t>Duty (general)</a:t>
          </a:r>
        </a:p>
      </dgm:t>
    </dgm:pt>
    <dgm:pt modelId="{27AE75F5-8645-9C41-883E-42A3EED7854C}" type="parTrans" cxnId="{0FA46E72-7D64-0642-BDE3-1594FBDCC91C}">
      <dgm:prSet/>
      <dgm:spPr/>
      <dgm:t>
        <a:bodyPr/>
        <a:lstStyle/>
        <a:p>
          <a:endParaRPr lang="en-GB"/>
        </a:p>
      </dgm:t>
    </dgm:pt>
    <dgm:pt modelId="{4F8B0E23-8253-5046-B7FD-8024ACE50B56}" type="sibTrans" cxnId="{0FA46E72-7D64-0642-BDE3-1594FBDCC91C}">
      <dgm:prSet/>
      <dgm:spPr/>
      <dgm:t>
        <a:bodyPr/>
        <a:lstStyle/>
        <a:p>
          <a:endParaRPr lang="en-GB"/>
        </a:p>
      </dgm:t>
    </dgm:pt>
    <dgm:pt modelId="{C952730E-3BAD-164D-B992-A29DE90F667A}">
      <dgm:prSet phldrT="[Text]"/>
      <dgm:spPr/>
      <dgm:t>
        <a:bodyPr/>
        <a:lstStyle/>
        <a:p>
          <a:r>
            <a:rPr lang="en-GB" dirty="0"/>
            <a:t>Breach (more specific)</a:t>
          </a:r>
        </a:p>
      </dgm:t>
    </dgm:pt>
    <dgm:pt modelId="{C7CC251C-71EE-EB4D-9944-09544F5799AA}" type="parTrans" cxnId="{E286D8C2-840F-1A47-B433-6CF8DC0359E8}">
      <dgm:prSet/>
      <dgm:spPr/>
      <dgm:t>
        <a:bodyPr/>
        <a:lstStyle/>
        <a:p>
          <a:endParaRPr lang="en-GB"/>
        </a:p>
      </dgm:t>
    </dgm:pt>
    <dgm:pt modelId="{A926336F-A9FB-414A-8D3B-A2C4EEDD2130}" type="sibTrans" cxnId="{E286D8C2-840F-1A47-B433-6CF8DC0359E8}">
      <dgm:prSet/>
      <dgm:spPr/>
      <dgm:t>
        <a:bodyPr/>
        <a:lstStyle/>
        <a:p>
          <a:endParaRPr lang="en-GB"/>
        </a:p>
      </dgm:t>
    </dgm:pt>
    <dgm:pt modelId="{66533299-33BF-9443-9DC8-354A89B85E20}">
      <dgm:prSet phldrT="[Text]"/>
      <dgm:spPr/>
      <dgm:t>
        <a:bodyPr/>
        <a:lstStyle/>
        <a:p>
          <a:r>
            <a:rPr lang="en-GB" dirty="0"/>
            <a:t>Damage (particular)</a:t>
          </a:r>
        </a:p>
      </dgm:t>
    </dgm:pt>
    <dgm:pt modelId="{647DFC95-CB54-9A4E-B209-7975CD8E1ECB}" type="parTrans" cxnId="{ACA068BB-637F-BA4F-8C18-B0858F12416D}">
      <dgm:prSet/>
      <dgm:spPr/>
      <dgm:t>
        <a:bodyPr/>
        <a:lstStyle/>
        <a:p>
          <a:endParaRPr lang="en-GB"/>
        </a:p>
      </dgm:t>
    </dgm:pt>
    <dgm:pt modelId="{29E7430C-EFFF-C741-8351-ED2B480A8A98}" type="sibTrans" cxnId="{ACA068BB-637F-BA4F-8C18-B0858F12416D}">
      <dgm:prSet/>
      <dgm:spPr/>
      <dgm:t>
        <a:bodyPr/>
        <a:lstStyle/>
        <a:p>
          <a:endParaRPr lang="en-GB"/>
        </a:p>
      </dgm:t>
    </dgm:pt>
    <dgm:pt modelId="{92C3DF5F-43D5-054A-AC92-C9DCC839BA2D}" type="pres">
      <dgm:prSet presAssocID="{8DAC4F9B-DB79-AC4B-951B-64DF76628D64}" presName="Name0" presStyleCnt="0">
        <dgm:presLayoutVars>
          <dgm:dir/>
          <dgm:animLvl val="lvl"/>
          <dgm:resizeHandles val="exact"/>
        </dgm:presLayoutVars>
      </dgm:prSet>
      <dgm:spPr/>
    </dgm:pt>
    <dgm:pt modelId="{F5979B83-F92C-AC4E-930A-5177D627FABF}" type="pres">
      <dgm:prSet presAssocID="{12E2CA12-BA60-E644-9D02-5AEBFB52FB89}" presName="Name8" presStyleCnt="0"/>
      <dgm:spPr/>
    </dgm:pt>
    <dgm:pt modelId="{455A0B22-1616-9844-B8F0-F16D508F588D}" type="pres">
      <dgm:prSet presAssocID="{12E2CA12-BA60-E644-9D02-5AEBFB52FB89}" presName="level" presStyleLbl="node1" presStyleIdx="0" presStyleCnt="3">
        <dgm:presLayoutVars>
          <dgm:chMax val="1"/>
          <dgm:bulletEnabled val="1"/>
        </dgm:presLayoutVars>
      </dgm:prSet>
      <dgm:spPr/>
    </dgm:pt>
    <dgm:pt modelId="{BF6EC0F6-786B-DB46-9206-1728B9E0DE46}" type="pres">
      <dgm:prSet presAssocID="{12E2CA12-BA60-E644-9D02-5AEBFB52FB8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88FD53C-4362-AE45-8974-232056B9BE32}" type="pres">
      <dgm:prSet presAssocID="{C952730E-3BAD-164D-B992-A29DE90F667A}" presName="Name8" presStyleCnt="0"/>
      <dgm:spPr/>
    </dgm:pt>
    <dgm:pt modelId="{B7BBFCE5-3D00-2344-8640-F99AC7C0D002}" type="pres">
      <dgm:prSet presAssocID="{C952730E-3BAD-164D-B992-A29DE90F667A}" presName="level" presStyleLbl="node1" presStyleIdx="1" presStyleCnt="3">
        <dgm:presLayoutVars>
          <dgm:chMax val="1"/>
          <dgm:bulletEnabled val="1"/>
        </dgm:presLayoutVars>
      </dgm:prSet>
      <dgm:spPr/>
    </dgm:pt>
    <dgm:pt modelId="{1166814A-4F0C-A647-A652-BCEBC459BBCD}" type="pres">
      <dgm:prSet presAssocID="{C952730E-3BAD-164D-B992-A29DE90F667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ECA9AEA-8395-394B-AB37-4B28624B171D}" type="pres">
      <dgm:prSet presAssocID="{66533299-33BF-9443-9DC8-354A89B85E20}" presName="Name8" presStyleCnt="0"/>
      <dgm:spPr/>
    </dgm:pt>
    <dgm:pt modelId="{19AF2F99-B6A0-0249-82BC-4D3ED5D84B5E}" type="pres">
      <dgm:prSet presAssocID="{66533299-33BF-9443-9DC8-354A89B85E20}" presName="level" presStyleLbl="node1" presStyleIdx="2" presStyleCnt="3">
        <dgm:presLayoutVars>
          <dgm:chMax val="1"/>
          <dgm:bulletEnabled val="1"/>
        </dgm:presLayoutVars>
      </dgm:prSet>
      <dgm:spPr/>
    </dgm:pt>
    <dgm:pt modelId="{910BAF3D-AC93-754F-A892-59FE328353E1}" type="pres">
      <dgm:prSet presAssocID="{66533299-33BF-9443-9DC8-354A89B85E2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5909C03-B225-2A44-9CB1-8439A9538070}" type="presOf" srcId="{C952730E-3BAD-164D-B992-A29DE90F667A}" destId="{1166814A-4F0C-A647-A652-BCEBC459BBCD}" srcOrd="1" destOrd="0" presId="urn:microsoft.com/office/officeart/2005/8/layout/pyramid3"/>
    <dgm:cxn modelId="{3F42D806-D7FB-4845-A428-E88E018C018D}" type="presOf" srcId="{8DAC4F9B-DB79-AC4B-951B-64DF76628D64}" destId="{92C3DF5F-43D5-054A-AC92-C9DCC839BA2D}" srcOrd="0" destOrd="0" presId="urn:microsoft.com/office/officeart/2005/8/layout/pyramid3"/>
    <dgm:cxn modelId="{C9F69A32-8932-6143-A167-DF7454329922}" type="presOf" srcId="{C952730E-3BAD-164D-B992-A29DE90F667A}" destId="{B7BBFCE5-3D00-2344-8640-F99AC7C0D002}" srcOrd="0" destOrd="0" presId="urn:microsoft.com/office/officeart/2005/8/layout/pyramid3"/>
    <dgm:cxn modelId="{93210C57-43DA-1E49-95DC-7CC676F5245A}" type="presOf" srcId="{66533299-33BF-9443-9DC8-354A89B85E20}" destId="{910BAF3D-AC93-754F-A892-59FE328353E1}" srcOrd="1" destOrd="0" presId="urn:microsoft.com/office/officeart/2005/8/layout/pyramid3"/>
    <dgm:cxn modelId="{0FA46E72-7D64-0642-BDE3-1594FBDCC91C}" srcId="{8DAC4F9B-DB79-AC4B-951B-64DF76628D64}" destId="{12E2CA12-BA60-E644-9D02-5AEBFB52FB89}" srcOrd="0" destOrd="0" parTransId="{27AE75F5-8645-9C41-883E-42A3EED7854C}" sibTransId="{4F8B0E23-8253-5046-B7FD-8024ACE50B56}"/>
    <dgm:cxn modelId="{79E7168E-CC18-E74D-AA16-5C268E542900}" type="presOf" srcId="{12E2CA12-BA60-E644-9D02-5AEBFB52FB89}" destId="{BF6EC0F6-786B-DB46-9206-1728B9E0DE46}" srcOrd="1" destOrd="0" presId="urn:microsoft.com/office/officeart/2005/8/layout/pyramid3"/>
    <dgm:cxn modelId="{110D8995-0157-7840-B6DC-54502DA54E6E}" type="presOf" srcId="{12E2CA12-BA60-E644-9D02-5AEBFB52FB89}" destId="{455A0B22-1616-9844-B8F0-F16D508F588D}" srcOrd="0" destOrd="0" presId="urn:microsoft.com/office/officeart/2005/8/layout/pyramid3"/>
    <dgm:cxn modelId="{66FEC7A3-183F-D34E-B144-DDA2B4CE7F71}" type="presOf" srcId="{66533299-33BF-9443-9DC8-354A89B85E20}" destId="{19AF2F99-B6A0-0249-82BC-4D3ED5D84B5E}" srcOrd="0" destOrd="0" presId="urn:microsoft.com/office/officeart/2005/8/layout/pyramid3"/>
    <dgm:cxn modelId="{ACA068BB-637F-BA4F-8C18-B0858F12416D}" srcId="{8DAC4F9B-DB79-AC4B-951B-64DF76628D64}" destId="{66533299-33BF-9443-9DC8-354A89B85E20}" srcOrd="2" destOrd="0" parTransId="{647DFC95-CB54-9A4E-B209-7975CD8E1ECB}" sibTransId="{29E7430C-EFFF-C741-8351-ED2B480A8A98}"/>
    <dgm:cxn modelId="{E286D8C2-840F-1A47-B433-6CF8DC0359E8}" srcId="{8DAC4F9B-DB79-AC4B-951B-64DF76628D64}" destId="{C952730E-3BAD-164D-B992-A29DE90F667A}" srcOrd="1" destOrd="0" parTransId="{C7CC251C-71EE-EB4D-9944-09544F5799AA}" sibTransId="{A926336F-A9FB-414A-8D3B-A2C4EEDD2130}"/>
    <dgm:cxn modelId="{601552BE-315F-7042-94ED-81739D9FBE27}" type="presParOf" srcId="{92C3DF5F-43D5-054A-AC92-C9DCC839BA2D}" destId="{F5979B83-F92C-AC4E-930A-5177D627FABF}" srcOrd="0" destOrd="0" presId="urn:microsoft.com/office/officeart/2005/8/layout/pyramid3"/>
    <dgm:cxn modelId="{DC98D31A-149C-E34E-91FB-0CAAA3F8479D}" type="presParOf" srcId="{F5979B83-F92C-AC4E-930A-5177D627FABF}" destId="{455A0B22-1616-9844-B8F0-F16D508F588D}" srcOrd="0" destOrd="0" presId="urn:microsoft.com/office/officeart/2005/8/layout/pyramid3"/>
    <dgm:cxn modelId="{4470A3AB-019B-5D43-8469-89B769696F52}" type="presParOf" srcId="{F5979B83-F92C-AC4E-930A-5177D627FABF}" destId="{BF6EC0F6-786B-DB46-9206-1728B9E0DE46}" srcOrd="1" destOrd="0" presId="urn:microsoft.com/office/officeart/2005/8/layout/pyramid3"/>
    <dgm:cxn modelId="{EB41B9C0-535D-D942-8CE4-CBB300A4BA88}" type="presParOf" srcId="{92C3DF5F-43D5-054A-AC92-C9DCC839BA2D}" destId="{888FD53C-4362-AE45-8974-232056B9BE32}" srcOrd="1" destOrd="0" presId="urn:microsoft.com/office/officeart/2005/8/layout/pyramid3"/>
    <dgm:cxn modelId="{ABAD5273-1667-EE42-ABBD-928B3D031FA8}" type="presParOf" srcId="{888FD53C-4362-AE45-8974-232056B9BE32}" destId="{B7BBFCE5-3D00-2344-8640-F99AC7C0D002}" srcOrd="0" destOrd="0" presId="urn:microsoft.com/office/officeart/2005/8/layout/pyramid3"/>
    <dgm:cxn modelId="{3280DD03-41A8-0742-B3B9-2958FC203B2A}" type="presParOf" srcId="{888FD53C-4362-AE45-8974-232056B9BE32}" destId="{1166814A-4F0C-A647-A652-BCEBC459BBCD}" srcOrd="1" destOrd="0" presId="urn:microsoft.com/office/officeart/2005/8/layout/pyramid3"/>
    <dgm:cxn modelId="{F42CCB69-5A57-764B-A235-52D20E386016}" type="presParOf" srcId="{92C3DF5F-43D5-054A-AC92-C9DCC839BA2D}" destId="{CECA9AEA-8395-394B-AB37-4B28624B171D}" srcOrd="2" destOrd="0" presId="urn:microsoft.com/office/officeart/2005/8/layout/pyramid3"/>
    <dgm:cxn modelId="{3DABF35F-027E-3F42-8992-372C47B85692}" type="presParOf" srcId="{CECA9AEA-8395-394B-AB37-4B28624B171D}" destId="{19AF2F99-B6A0-0249-82BC-4D3ED5D84B5E}" srcOrd="0" destOrd="0" presId="urn:microsoft.com/office/officeart/2005/8/layout/pyramid3"/>
    <dgm:cxn modelId="{E6562F37-236F-5541-BF4E-3D6FCC21C50E}" type="presParOf" srcId="{CECA9AEA-8395-394B-AB37-4B28624B171D}" destId="{910BAF3D-AC93-754F-A892-59FE328353E1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A0B22-1616-9844-B8F0-F16D508F588D}">
      <dsp:nvSpPr>
        <dsp:cNvPr id="0" name=""/>
        <dsp:cNvSpPr/>
      </dsp:nvSpPr>
      <dsp:spPr>
        <a:xfrm rot="10800000">
          <a:off x="0" y="0"/>
          <a:ext cx="3052465" cy="1202452"/>
        </a:xfrm>
        <a:prstGeom prst="trapezoid">
          <a:avLst>
            <a:gd name="adj" fmla="val 4230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Duty (general)</a:t>
          </a:r>
        </a:p>
      </dsp:txBody>
      <dsp:txXfrm rot="-10800000">
        <a:off x="534181" y="0"/>
        <a:ext cx="1984102" cy="1202452"/>
      </dsp:txXfrm>
    </dsp:sp>
    <dsp:sp modelId="{B7BBFCE5-3D00-2344-8640-F99AC7C0D002}">
      <dsp:nvSpPr>
        <dsp:cNvPr id="0" name=""/>
        <dsp:cNvSpPr/>
      </dsp:nvSpPr>
      <dsp:spPr>
        <a:xfrm rot="10800000">
          <a:off x="508744" y="1202452"/>
          <a:ext cx="2034977" cy="1202452"/>
        </a:xfrm>
        <a:prstGeom prst="trapezoid">
          <a:avLst>
            <a:gd name="adj" fmla="val 4230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Breach (more specific)</a:t>
          </a:r>
        </a:p>
      </dsp:txBody>
      <dsp:txXfrm rot="-10800000">
        <a:off x="864865" y="1202452"/>
        <a:ext cx="1322735" cy="1202452"/>
      </dsp:txXfrm>
    </dsp:sp>
    <dsp:sp modelId="{19AF2F99-B6A0-0249-82BC-4D3ED5D84B5E}">
      <dsp:nvSpPr>
        <dsp:cNvPr id="0" name=""/>
        <dsp:cNvSpPr/>
      </dsp:nvSpPr>
      <dsp:spPr>
        <a:xfrm rot="10800000">
          <a:off x="1017488" y="2404905"/>
          <a:ext cx="1017488" cy="1202452"/>
        </a:xfrm>
        <a:prstGeom prst="trapezoid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Damage (particular)</a:t>
          </a:r>
        </a:p>
      </dsp:txBody>
      <dsp:txXfrm rot="-10800000">
        <a:off x="1017488" y="2404905"/>
        <a:ext cx="1017488" cy="1202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24/8/2026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24/8/2026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AC997-6B9E-D206-50FF-62FC4BFA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B6D4C-95EE-C1FE-2922-3EB4981BF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97081-3A7E-A16C-3B14-C10C36A14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A9023-F50A-0C98-7A71-40169C8BD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576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031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561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760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4962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E145-1C82-8B7B-E9B6-E7847A73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88A97-2049-644C-8C13-79C806380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00D5A-5966-282E-93FC-263E19DE7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C2256-E5A4-4318-57EC-D8C677559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46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4D88-4ACF-8C93-4158-74CB710A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8357E-7BED-F548-1BE8-C30A52E81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9AADE-8770-0A18-C3A5-7562B287A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4A115-A1F3-D17A-E507-0CEDAF52D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945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789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B3BB7-3D3F-3400-C718-B65AA959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EEBA6-D325-A40A-5B93-3EC0F0188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F6D3D-BE20-9237-B65B-8777924C8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A0F3C-F38B-D856-93BA-0112CB8DD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948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1304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9814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622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263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6882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F518-BF6E-A4EA-410A-4E1A26BB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991EA-107F-D41F-7681-312555643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13455-4CA0-81F0-B83C-EE4B88962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47B3A-FBB7-1D79-5D11-95C3D5751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608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B6FD-DAD0-C47C-8B5D-B8E77941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1D395-DBB5-8126-F1A6-DEEE867BF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941E5-658F-0F5D-914F-46CAF098B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8E9D5-CA30-1850-6A32-9522E3BD1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283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 – Lecture 2 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Negligence: Unpacking Duty of Care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– Topic 5 Week 2 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H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‘reasonable foreseeability’ 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categories of duty 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cases and the salient features approach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813A-20BD-34B4-CCF0-85218A9E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94A9-F70D-5791-E1BA-805994CC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reasonable foreseeability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7229F-3FBA-AAAB-661A-EF038BAFD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position for whether a DOC owed is the ‘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principle’ from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Donoghue v Stevenson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if you can 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reasonably foresee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your careless actions could put your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risk of harm then a DOC owed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please note the law has evolved significantly since then and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 is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the end of the inquiry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so this should be seen as a starting position only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issue: what exactly does reasonable foreseeability mean?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38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reasonable foreseeability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reasonable foreseeability mean when working out whether a DOC is owed?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Chapman v Hearse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(1961) 106 CLR 112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(Chapman’s negligent driving resulted in a collision; Chapman was thrown out of the car and became unconscious; Dr Cherry, who was aiding Chapman, was struck by Hearse, resulting in his death)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Cherry’s widow successfully sued Hearse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was Chapman involved in this case then?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A9A0877-2579-8FB5-CEB8-720C2B4CC1A0}"/>
              </a:ext>
            </a:extLst>
          </p:cNvPr>
          <p:cNvSpPr/>
          <p:nvPr/>
        </p:nvSpPr>
        <p:spPr>
          <a:xfrm>
            <a:off x="8131547" y="5349574"/>
            <a:ext cx="916759" cy="910687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259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14937D-0BD6-02CB-01C0-933C913B3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989"/>
            <a:ext cx="12031838" cy="5572897"/>
          </a:xfrm>
          <a:prstGeom prst="rect">
            <a:avLst/>
          </a:prstGeom>
        </p:spPr>
      </p:pic>
      <p:sp>
        <p:nvSpPr>
          <p:cNvPr id="5" name="Pentagon 4">
            <a:extLst>
              <a:ext uri="{FF2B5EF4-FFF2-40B4-BE49-F238E27FC236}">
                <a16:creationId xmlns:a16="http://schemas.microsoft.com/office/drawing/2014/main" id="{140DFD1C-C17A-5A15-7009-6AC5B2492F81}"/>
              </a:ext>
            </a:extLst>
          </p:cNvPr>
          <p:cNvSpPr/>
          <p:nvPr/>
        </p:nvSpPr>
        <p:spPr>
          <a:xfrm>
            <a:off x="6290268" y="5260312"/>
            <a:ext cx="5480313" cy="1597688"/>
          </a:xfrm>
          <a:prstGeom prst="homePlat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QUESTION:</a:t>
            </a:r>
          </a:p>
          <a:p>
            <a:pPr algn="ctr"/>
            <a:r>
              <a:rPr lang="en-US" dirty="0"/>
              <a:t>Did Chapman owe Dr Cherry a DOC? The court had to consider: was it reasonably foreseeable for Chapman that his conduct could cause harm to Dr Cherry?</a:t>
            </a:r>
          </a:p>
        </p:txBody>
      </p:sp>
    </p:spTree>
    <p:extLst>
      <p:ext uri="{BB962C8B-B14F-4D97-AF65-F5344CB8AC3E}">
        <p14:creationId xmlns:p14="http://schemas.microsoft.com/office/powerpoint/2010/main" val="256493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reasonable foreseeability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had to consider whether Chapman owed a duty of care to Dr Cherry. Could Chapman reasonably foresee that his conduct could cause harm to Dr Cherry?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what does that mean... Chapman argued that he could not have foreseen that such a drastic chain of events would have happened (therefore no DOC). But is this the correct way to understand ‘reasonable foreseeability’?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you understand the ‘reasonable foreseeability’ inquiry could change the outcome of cases.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ruled that DOC existed. Chapman’s argument failed. The Court reasoned: 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“It is, we think, sufficient … to ask whether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consequence of the same general character as that which followed was reasonably foreseeable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it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necessary for the plaintiff to show that the precise manner in which his injuries were sustained was reasonably foreseeable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sufficient if it appears that injury to a class of person of which he was one might reasonably have been foreseen as a consequence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 </a:t>
            </a:r>
          </a:p>
        </p:txBody>
      </p:sp>
    </p:spTree>
    <p:extLst>
      <p:ext uri="{BB962C8B-B14F-4D97-AF65-F5344CB8AC3E}">
        <p14:creationId xmlns:p14="http://schemas.microsoft.com/office/powerpoint/2010/main" val="339959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reasonable foreseeability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also be noted that what is reasonably foreseeable can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per the state of scientific knowledge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regarding risks to certain injuries – e.g., risk of exposure to asbestos; impact of climate change   </a:t>
            </a:r>
          </a:p>
        </p:txBody>
      </p:sp>
    </p:spTree>
    <p:extLst>
      <p:ext uri="{BB962C8B-B14F-4D97-AF65-F5344CB8AC3E}">
        <p14:creationId xmlns:p14="http://schemas.microsoft.com/office/powerpoint/2010/main" val="235382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reasonable foreseeability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1508426"/>
            <a:ext cx="10554250" cy="507493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 foreseeability is a central concept to the tort of negligence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see the phrase ‘reasonable foreseeability’ come up three times when working through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elements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negligence – but each time we are assessing different things: 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duty of care: whether an injury was reasonably foreseeable to a “class of persons” – emphasis on the relationship between parties    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breach of duty: whether “the kind of carelessness” by D might cause damage to P – emphasis on D’s action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whether damage was ‘remote’ or causally linked to D: whether the “kind of damage” suffered by the plaintiff was reasonably foreseeable as a possible outcome – emphasis on the damage suffered by P</a:t>
            </a:r>
          </a:p>
        </p:txBody>
      </p:sp>
    </p:spTree>
    <p:extLst>
      <p:ext uri="{BB962C8B-B14F-4D97-AF65-F5344CB8AC3E}">
        <p14:creationId xmlns:p14="http://schemas.microsoft.com/office/powerpoint/2010/main" val="88726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8432-9A4D-FD3B-F444-9DCD3B57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2FBB-3064-A26F-EAD8-92674B5B2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reasonable foreseeability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3B282-54E4-40AD-2047-76690823C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1406132"/>
            <a:ext cx="8072308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concept was explained by Glass JA in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Minister Administering the Environmental Planning and Assessment Act 1979 v San Sebastian Pty Ltd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[1983] 2 NSWLR 268 (at 395- 396):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recognition has emerged that </a:t>
            </a:r>
            <a:r>
              <a:rPr lang="en-A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foreseeability inquiry at the duty, breach and remoteness stages raises different issues which </a:t>
            </a:r>
            <a:r>
              <a:rPr lang="en-A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progressively decline from the general to the particular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proximity upon which a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Donoghue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type </a:t>
            </a:r>
            <a:r>
              <a:rPr lang="en-AU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duty 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rests depends upon proof that the defendant and plaintiff are so placed in relation to each other that it is reasonably foreseeable as a possibility that careless conduct of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kind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 the part of the former may result in damage of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kind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the person or property of the latter: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Chapman v Hearse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(1961) 106 CLR 112 at 120, 121. </a:t>
            </a:r>
          </a:p>
          <a:p>
            <a:pPr marL="0" indent="0">
              <a:buNone/>
            </a:pP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AU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breach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question requires proof that</a:t>
            </a:r>
            <a:r>
              <a:rPr lang="en-A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reasonably foreseeable as a possibility that 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kind 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carelessness charged against the defendant might cause damage of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kind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the plaintiff's person or property: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Overseas Tankship (UK) Ltd v Miller Steamship Co Pty Ltd (The Wagon Mound (No 2))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 617;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Wyong Shire Council v Shirt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(1980) 146 CLR 40. </a:t>
            </a:r>
          </a:p>
          <a:p>
            <a:pPr marL="0" indent="0">
              <a:buNone/>
            </a:pP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AU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remoteness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test is only passed if the plaintiff proves that the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 of damage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suffered by him was foreseeable as a possible outcome of the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 of carelessness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charged against the defendant: </a:t>
            </a:r>
            <a:r>
              <a:rPr lang="en-A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Isa Mines v Pusey</a:t>
            </a:r>
            <a:r>
              <a:rPr lang="en-A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(1970) 125 CLR 383 at 390.”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A13BF42-3DAD-F9A1-6872-7C07094C15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8854056"/>
              </p:ext>
            </p:extLst>
          </p:nvPr>
        </p:nvGraphicFramePr>
        <p:xfrm>
          <a:off x="9065847" y="2974312"/>
          <a:ext cx="3052466" cy="3607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874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5481-4391-6F9E-29C5-ABD0145B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DD5F-2A0A-A7C6-6A50-B2B96C58D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01846"/>
            <a:ext cx="9830769" cy="648000"/>
          </a:xfrm>
        </p:spPr>
        <p:txBody>
          <a:bodyPr>
            <a:normAutofit fontScale="90000"/>
          </a:bodyPr>
          <a:lstStyle/>
          <a:p>
            <a:br>
              <a:rPr lang="en-US" sz="3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Roadmap: How do we work out whether a DOC is owed?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A575B-6A0F-3AC8-0F5B-AAAB86327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position is the ‘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principle’ from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Donoghue v Stevenson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if you can reasonably foresee that your careless actions could put your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risk of harm then a DOC owed – but the law has evolved significantly since this basic principle…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reasonable foreseeability mean? “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necessary for the plaintiff to show that the precise manner in which his injuries were sustained was reasonably foreseeable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1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sufficient if it appears that injury to a class of person of which he was one might reasonably have been foreseen as a consequence”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Chapman v Hearse</a:t>
            </a:r>
          </a:p>
          <a:p>
            <a:pPr marL="457200" lvl="1" indent="0"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we have applied these broader principles, then we need to consider these points (each point is discussed in detail): </a:t>
            </a:r>
          </a:p>
          <a:p>
            <a:pPr lvl="1">
              <a:buFont typeface="Wingdings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case fall into an ‘established relationship category?’</a:t>
            </a:r>
          </a:p>
          <a:p>
            <a:pPr lvl="1">
              <a:buFont typeface="Wingdings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case falls outside of an established category, then it is what we refer to as a ‘novel case’. If novel, we need more than reasonable foreseeability to establish a DOC. We need to apply the salient features approach. </a:t>
            </a:r>
          </a:p>
        </p:txBody>
      </p:sp>
    </p:spTree>
    <p:extLst>
      <p:ext uri="{BB962C8B-B14F-4D97-AF65-F5344CB8AC3E}">
        <p14:creationId xmlns:p14="http://schemas.microsoft.com/office/powerpoint/2010/main" val="961777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6" y="386398"/>
            <a:ext cx="8803758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relationships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most cases, the issue of whether the defendant owed the plaintiff a duty of care is uncontroversial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because the relationship/situation between the P and D falls into an “established category”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 that relationship has come before the courts in previous cases and the courts have recognized that relationship as giving rise to a DOC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cases you can point to case law history to show the relationship falls into an established category – e.g. “this is a manufacturer/consumer case which is an established category per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Donoghue v Stevenson”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3290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5801-022F-1223-6970-B1CA66FA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A71F4-C141-8098-8AE8-D03950E79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courts have recognized certain relationships as giving rise to a DOC, including: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of vehicle owes a duty to other road users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owe a duty to their employees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doctor owes a duty to their patients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manufacturer owes a duty to consumers/users of their products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solicitor owes a duty to exercise due care in their work for their clients  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6B6E6A10-0828-29A5-5BFC-1BC5FE3663A5}"/>
              </a:ext>
            </a:extLst>
          </p:cNvPr>
          <p:cNvSpPr/>
          <p:nvPr/>
        </p:nvSpPr>
        <p:spPr>
          <a:xfrm>
            <a:off x="4059534" y="5349574"/>
            <a:ext cx="7802111" cy="130797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 note: sometimes the facts of a particular case can draw the case away from the accepted paradigm… 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i="1" dirty="0"/>
              <a:t>Chapman v Hearse </a:t>
            </a:r>
            <a:r>
              <a:rPr lang="en-US" dirty="0"/>
              <a:t>was a car accident case but because of its unusual facts, the parties raised the question of whether a DOC was owed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71D71F-0206-8229-5F5B-822720F46A86}"/>
              </a:ext>
            </a:extLst>
          </p:cNvPr>
          <p:cNvSpPr txBox="1">
            <a:spLocks/>
          </p:cNvSpPr>
          <p:nvPr/>
        </p:nvSpPr>
        <p:spPr>
          <a:xfrm>
            <a:off x="563526" y="386398"/>
            <a:ext cx="8803758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relationships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5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u="sng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in novel categories 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factors move away from the original paradigm,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reasonable foreseeability of the harm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required to establish a duty of care  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novel cases, Australian courts adopt an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 and consider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salient factors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F30E32-E00D-AB11-2E10-32ABFECFF9B7}"/>
              </a:ext>
            </a:extLst>
          </p:cNvPr>
          <p:cNvSpPr txBox="1">
            <a:spLocks/>
          </p:cNvSpPr>
          <p:nvPr/>
        </p:nvSpPr>
        <p:spPr>
          <a:xfrm>
            <a:off x="563526" y="386398"/>
            <a:ext cx="8803758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cases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251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Sullivan v Moody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(2001) 207 CLR 562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father was suspected of sexually abusing her daughter; the medical practitioner and the social workers were alleged to have acted negligently in examining the child and investigating the possibility of sexual abuse; no criminal charges were laid; caused divorce and other impacts on the family’s life; the father alleged that he suffered shock, distress, psychiatric injury and consequential financial loss)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High Court was whether the defendants owed a duty to the father to exercise reasonable care in investigating the allegations of sexual abuse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469497-064A-3C9C-1CE3-D05F880A90D7}"/>
              </a:ext>
            </a:extLst>
          </p:cNvPr>
          <p:cNvSpPr txBox="1">
            <a:spLocks/>
          </p:cNvSpPr>
          <p:nvPr/>
        </p:nvSpPr>
        <p:spPr>
          <a:xfrm>
            <a:off x="563526" y="386398"/>
            <a:ext cx="8803758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cases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67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did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a duty of care in the given circumstances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noted that if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reasonable foreseeability of the harm entailed a legal liability, this would: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impose an intolerable burden of potential lability on people </a:t>
            </a:r>
          </a:p>
          <a:p>
            <a:pPr marL="914400" lvl="2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in the tort of negligence subverting many other principles of law and statutory provisions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6058D9-3A80-A8D6-C875-7864C864FB57}"/>
              </a:ext>
            </a:extLst>
          </p:cNvPr>
          <p:cNvSpPr txBox="1">
            <a:spLocks/>
          </p:cNvSpPr>
          <p:nvPr/>
        </p:nvSpPr>
        <p:spPr>
          <a:xfrm>
            <a:off x="563526" y="386398"/>
            <a:ext cx="8803758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cases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380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considered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law as an important factor 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defendants’ duty to protect the interests of children being paramount 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considered difficulties in limiting the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extent and potential indeterminacy of liability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(duty may not be limited to father – but also friends, teachers or anyone else who is suspected of abusing child)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BBB7D3B4-FCBE-1991-C557-EAD81C29A494}"/>
              </a:ext>
            </a:extLst>
          </p:cNvPr>
          <p:cNvSpPr/>
          <p:nvPr/>
        </p:nvSpPr>
        <p:spPr>
          <a:xfrm>
            <a:off x="6963508" y="5114611"/>
            <a:ext cx="4451419" cy="125604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court highlighted these issues as salient (or relevant) factors… similar salient factors were raised in our next case…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F3E748-8F98-6487-C210-893A9463C969}"/>
              </a:ext>
            </a:extLst>
          </p:cNvPr>
          <p:cNvSpPr txBox="1">
            <a:spLocks/>
          </p:cNvSpPr>
          <p:nvPr/>
        </p:nvSpPr>
        <p:spPr>
          <a:xfrm>
            <a:off x="563526" y="386398"/>
            <a:ext cx="8803758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cases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09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of Appeal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the salient factors approach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Caltex Refineries Pty Ltd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Stavar’s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husband was exposed to asbestos while working at an oil refinery; when washing his contaminated work clothes,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Stavar’s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wife was exposed to asbestos dust and developed cancer)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was the husband (employer owing an employee a duty of care is not novel), but this case had to consider whether the employer owed a duty to the employee’s wife? So novel case = salient factors, incremental approach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held that a duty of care could be found in the facts of the case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24439E-5B73-ECBC-136F-A86FB3F60E80}"/>
              </a:ext>
            </a:extLst>
          </p:cNvPr>
          <p:cNvSpPr txBox="1">
            <a:spLocks/>
          </p:cNvSpPr>
          <p:nvPr/>
        </p:nvSpPr>
        <p:spPr>
          <a:xfrm>
            <a:off x="563526" y="386398"/>
            <a:ext cx="8803758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cases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15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49F3-3BF8-62B4-691C-869DF7B3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A32FC-2EC0-F23A-9061-2AD7D0CED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99" y="1497203"/>
            <a:ext cx="10800001" cy="42908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salient factors?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did provide a list of factors in Caltex Refineries – see the judgment or your text at [9.35]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 note on how to read this list: the list is not exhaustive and the plaintiff is not required to meet all factors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include: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Foreseeability: Whether harm to the plaintiff was reasonably foreseeable.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Control: The degree and nature of control the defendant could exercise to avoid the risk.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Vulnerability: The plaintiff’s inability to protect themselves from the harm.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and Responsibility: Any assumption of responsibility or reliance by the plaintiff.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Coherence: Consistency with the scope of relevant statutes, public policy, and broader legal principles.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F746C-3FDD-75B6-4749-E4013FF628B0}"/>
              </a:ext>
            </a:extLst>
          </p:cNvPr>
          <p:cNvSpPr txBox="1">
            <a:spLocks/>
          </p:cNvSpPr>
          <p:nvPr/>
        </p:nvSpPr>
        <p:spPr>
          <a:xfrm>
            <a:off x="695999" y="185431"/>
            <a:ext cx="8803758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cases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2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7898-30B2-8327-12E4-1DBCF5D5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A484-6183-A0F9-0339-664BB4C8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br>
              <a:rPr lang="en-US" sz="31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work out whether a DOC is owed?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8DB92-8FA4-238A-6E4F-C3E4C28C2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position is the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principle’ from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Donoghue v Stevenson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if you can reasonably foresee that your careless actions could put your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risk of harm then a DOC owed – but the law has evolved significantly since this basic principle…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reasonable foreseeability mean? “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necessary for the plaintiff to show that the precise manner in which his injuries were sustained was reasonably foreseeable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sufficient if it appears that injury to a class of person of which he was one might reasonably have been foreseen as a consequence”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Chapman v Hearse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these basic tests are passed, you need to figure out: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case fall into an ‘established relationship category?’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case falls outside of an established category then it is ‘novel’. If novel, we need more than reasonable foreseeability to establish a DOC. We need to apply the salient features approach. 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55225C20-3C16-28D6-E442-A6FB7F4DA5C1}"/>
              </a:ext>
            </a:extLst>
          </p:cNvPr>
          <p:cNvSpPr/>
          <p:nvPr/>
        </p:nvSpPr>
        <p:spPr>
          <a:xfrm>
            <a:off x="5225143" y="5426110"/>
            <a:ext cx="6966857" cy="143189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This isn’t the end of the duty element though….</a:t>
            </a:r>
          </a:p>
          <a:p>
            <a:pPr algn="ctr"/>
            <a:r>
              <a:rPr lang="en-US" sz="1600" dirty="0"/>
              <a:t> There are several types of cases that have distinct rules around whether a DOC will be owed. e.g. cases of pure mental harm or when the defendant is a public authority…</a:t>
            </a:r>
          </a:p>
          <a:p>
            <a:pPr algn="ctr"/>
            <a:r>
              <a:rPr lang="en-US" sz="1600" dirty="0"/>
              <a:t>Duty topic is to be continued next week! </a:t>
            </a:r>
          </a:p>
        </p:txBody>
      </p:sp>
    </p:spTree>
    <p:extLst>
      <p:ext uri="{BB962C8B-B14F-4D97-AF65-F5344CB8AC3E}">
        <p14:creationId xmlns:p14="http://schemas.microsoft.com/office/powerpoint/2010/main" val="3121079165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19532</TotalTime>
  <Words>2104</Words>
  <Application>Microsoft Macintosh PowerPoint</Application>
  <PresentationFormat>Widescreen</PresentationFormat>
  <Paragraphs>189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Times New Roman</vt:lpstr>
      <vt:lpstr>Wingdings</vt:lpstr>
      <vt:lpstr>MAC UNI BASIC_Round 1 Draft for feedback</vt:lpstr>
      <vt:lpstr>LAWS2400 / LAWS8040 – Torts  Week 5 – Lecture 2  Negligence: Unpacking Duty of Care  </vt:lpstr>
      <vt:lpstr>Outline – Topic 5 Week 2 </vt:lpstr>
      <vt:lpstr>Meaning of reasonable foreseeability</vt:lpstr>
      <vt:lpstr>Meaning of reasonable foreseeability Contd.</vt:lpstr>
      <vt:lpstr>PowerPoint Presentation</vt:lpstr>
      <vt:lpstr>Meaning of reasonable foreseeability Contd.</vt:lpstr>
      <vt:lpstr>Meaning of reasonable foreseeability Contd.</vt:lpstr>
      <vt:lpstr>Meaning of reasonable foreseeability </vt:lpstr>
      <vt:lpstr>Meaning of reasonable foreseeability </vt:lpstr>
      <vt:lpstr> Roadmap: How do we work out whether a DOC is owed?  </vt:lpstr>
      <vt:lpstr>Established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Summary:  How do we work out whether a DOC is owed?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Ebony Birchall</cp:lastModifiedBy>
  <cp:revision>1513</cp:revision>
  <cp:lastPrinted>2025-08-25T02:25:11Z</cp:lastPrinted>
  <dcterms:created xsi:type="dcterms:W3CDTF">2019-01-24T02:12:19Z</dcterms:created>
  <dcterms:modified xsi:type="dcterms:W3CDTF">2026-08-26T04:44:49Z</dcterms:modified>
</cp:coreProperties>
</file>