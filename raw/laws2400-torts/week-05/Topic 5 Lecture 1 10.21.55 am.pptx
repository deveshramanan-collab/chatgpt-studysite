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638" r:id="rId1"/>
  </p:sldMasterIdLst>
  <p:notesMasterIdLst>
    <p:notesMasterId r:id="rId30"/>
  </p:notesMasterIdLst>
  <p:handoutMasterIdLst>
    <p:handoutMasterId r:id="rId31"/>
  </p:handoutMasterIdLst>
  <p:sldIdLst>
    <p:sldId id="303" r:id="rId2"/>
    <p:sldId id="258" r:id="rId3"/>
    <p:sldId id="333" r:id="rId4"/>
    <p:sldId id="336" r:id="rId5"/>
    <p:sldId id="335" r:id="rId6"/>
    <p:sldId id="440" r:id="rId7"/>
    <p:sldId id="461" r:id="rId8"/>
    <p:sldId id="337" r:id="rId9"/>
    <p:sldId id="353" r:id="rId10"/>
    <p:sldId id="442" r:id="rId11"/>
    <p:sldId id="441" r:id="rId12"/>
    <p:sldId id="443" r:id="rId13"/>
    <p:sldId id="444" r:id="rId14"/>
    <p:sldId id="416" r:id="rId15"/>
    <p:sldId id="445" r:id="rId16"/>
    <p:sldId id="463" r:id="rId17"/>
    <p:sldId id="446" r:id="rId18"/>
    <p:sldId id="448" r:id="rId19"/>
    <p:sldId id="449" r:id="rId20"/>
    <p:sldId id="450" r:id="rId21"/>
    <p:sldId id="451" r:id="rId22"/>
    <p:sldId id="452" r:id="rId23"/>
    <p:sldId id="453" r:id="rId24"/>
    <p:sldId id="454" r:id="rId25"/>
    <p:sldId id="456" r:id="rId26"/>
    <p:sldId id="457" r:id="rId27"/>
    <p:sldId id="458" r:id="rId28"/>
    <p:sldId id="462"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annah Harris" initials="HH" lastIdx="8" clrIdx="0">
    <p:extLst>
      <p:ext uri="{19B8F6BF-5375-455C-9EA6-DF929625EA0E}">
        <p15:presenceInfo xmlns:p15="http://schemas.microsoft.com/office/powerpoint/2012/main" userId="S::hannah.harris@mq.edu.au::6810d1df-3b5d-4428-9867-3b286e5d46c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9215" autoAdjust="0"/>
    <p:restoredTop sz="93447" autoAdjust="0"/>
  </p:normalViewPr>
  <p:slideViewPr>
    <p:cSldViewPr snapToGrid="0" snapToObjects="1">
      <p:cViewPr varScale="1">
        <p:scale>
          <a:sx n="115" d="100"/>
          <a:sy n="115" d="100"/>
        </p:scale>
        <p:origin x="296" y="464"/>
      </p:cViewPr>
      <p:guideLst/>
    </p:cSldViewPr>
  </p:slideViewPr>
  <p:outlineViewPr>
    <p:cViewPr>
      <p:scale>
        <a:sx n="33" d="100"/>
        <a:sy n="33" d="100"/>
      </p:scale>
      <p:origin x="0" y="-52332"/>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p:scale>
          <a:sx n="120" d="100"/>
          <a:sy n="120" d="100"/>
        </p:scale>
        <p:origin x="2544" y="-195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da Head" userId="3622ac83-72fb-4480-aaff-0580f4ad655a" providerId="ADAL" clId="{26B8ED3C-072C-57B2-8DCA-D1BEC0C6037D}"/>
    <pc:docChg chg="modSld">
      <pc:chgData name="Amanda Head" userId="3622ac83-72fb-4480-aaff-0580f4ad655a" providerId="ADAL" clId="{26B8ED3C-072C-57B2-8DCA-D1BEC0C6037D}" dt="2026-08-26T13:39:16.033" v="1" actId="20577"/>
      <pc:docMkLst>
        <pc:docMk/>
      </pc:docMkLst>
      <pc:sldChg chg="modSp mod">
        <pc:chgData name="Amanda Head" userId="3622ac83-72fb-4480-aaff-0580f4ad655a" providerId="ADAL" clId="{26B8ED3C-072C-57B2-8DCA-D1BEC0C6037D}" dt="2026-08-26T13:39:16.033" v="1" actId="20577"/>
        <pc:sldMkLst>
          <pc:docMk/>
          <pc:sldMk cId="1859724395" sldId="462"/>
        </pc:sldMkLst>
        <pc:spChg chg="mod">
          <ac:chgData name="Amanda Head" userId="3622ac83-72fb-4480-aaff-0580f4ad655a" providerId="ADAL" clId="{26B8ED3C-072C-57B2-8DCA-D1BEC0C6037D}" dt="2026-08-26T13:39:16.033" v="1" actId="20577"/>
          <ac:spMkLst>
            <pc:docMk/>
            <pc:sldMk cId="1859724395" sldId="462"/>
            <ac:spMk id="3" creationId="{5185B9B2-2956-79C8-A9F9-28EFF0E31830}"/>
          </ac:spMkLst>
        </pc:spChg>
      </pc:sldChg>
    </pc:docChg>
  </pc:docChgLst>
  <pc:docChgLst>
    <pc:chgData name="Amanda Head" userId="3622ac83-72fb-4480-aaff-0580f4ad655a" providerId="ADAL" clId="{6BBF4A71-3A44-5905-A51C-0BDCE69EAF34}"/>
    <pc:docChg chg="undo custSel addSld delSld modSld">
      <pc:chgData name="Amanda Head" userId="3622ac83-72fb-4480-aaff-0580f4ad655a" providerId="ADAL" clId="{6BBF4A71-3A44-5905-A51C-0BDCE69EAF34}" dt="2026-08-27T03:04:20.033" v="1544" actId="20577"/>
      <pc:docMkLst>
        <pc:docMk/>
      </pc:docMkLst>
      <pc:sldChg chg="modSp mod">
        <pc:chgData name="Amanda Head" userId="3622ac83-72fb-4480-aaff-0580f4ad655a" providerId="ADAL" clId="{6BBF4A71-3A44-5905-A51C-0BDCE69EAF34}" dt="2026-08-26T22:51:59.377" v="305" actId="790"/>
        <pc:sldMkLst>
          <pc:docMk/>
          <pc:sldMk cId="1147857787" sldId="335"/>
        </pc:sldMkLst>
        <pc:spChg chg="mod">
          <ac:chgData name="Amanda Head" userId="3622ac83-72fb-4480-aaff-0580f4ad655a" providerId="ADAL" clId="{6BBF4A71-3A44-5905-A51C-0BDCE69EAF34}" dt="2026-08-26T22:51:59.377" v="305" actId="790"/>
          <ac:spMkLst>
            <pc:docMk/>
            <pc:sldMk cId="1147857787" sldId="335"/>
            <ac:spMk id="3" creationId="{EEA464B0-4368-47D8-802B-4FB5B5FAD6E7}"/>
          </ac:spMkLst>
        </pc:spChg>
      </pc:sldChg>
      <pc:sldChg chg="addSp modSp mod">
        <pc:chgData name="Amanda Head" userId="3622ac83-72fb-4480-aaff-0580f4ad655a" providerId="ADAL" clId="{6BBF4A71-3A44-5905-A51C-0BDCE69EAF34}" dt="2026-08-26T22:57:30.483" v="353" actId="1076"/>
        <pc:sldMkLst>
          <pc:docMk/>
          <pc:sldMk cId="1255705867" sldId="441"/>
        </pc:sldMkLst>
        <pc:spChg chg="mod">
          <ac:chgData name="Amanda Head" userId="3622ac83-72fb-4480-aaff-0580f4ad655a" providerId="ADAL" clId="{6BBF4A71-3A44-5905-A51C-0BDCE69EAF34}" dt="2026-08-26T22:57:18.523" v="352" actId="20577"/>
          <ac:spMkLst>
            <pc:docMk/>
            <pc:sldMk cId="1255705867" sldId="441"/>
            <ac:spMk id="3" creationId="{EEA464B0-4368-47D8-802B-4FB5B5FAD6E7}"/>
          </ac:spMkLst>
        </pc:spChg>
        <pc:spChg chg="add mod">
          <ac:chgData name="Amanda Head" userId="3622ac83-72fb-4480-aaff-0580f4ad655a" providerId="ADAL" clId="{6BBF4A71-3A44-5905-A51C-0BDCE69EAF34}" dt="2026-08-26T22:57:30.483" v="353" actId="1076"/>
          <ac:spMkLst>
            <pc:docMk/>
            <pc:sldMk cId="1255705867" sldId="441"/>
            <ac:spMk id="5" creationId="{0DFEE420-2A33-2301-192D-C09464F2209E}"/>
          </ac:spMkLst>
        </pc:spChg>
      </pc:sldChg>
      <pc:sldChg chg="modSp mod">
        <pc:chgData name="Amanda Head" userId="3622ac83-72fb-4480-aaff-0580f4ad655a" providerId="ADAL" clId="{6BBF4A71-3A44-5905-A51C-0BDCE69EAF34}" dt="2026-08-26T23:04:05.581" v="361" actId="13926"/>
        <pc:sldMkLst>
          <pc:docMk/>
          <pc:sldMk cId="2739201518" sldId="443"/>
        </pc:sldMkLst>
        <pc:spChg chg="mod">
          <ac:chgData name="Amanda Head" userId="3622ac83-72fb-4480-aaff-0580f4ad655a" providerId="ADAL" clId="{6BBF4A71-3A44-5905-A51C-0BDCE69EAF34}" dt="2026-08-26T23:04:05.581" v="361" actId="13926"/>
          <ac:spMkLst>
            <pc:docMk/>
            <pc:sldMk cId="2739201518" sldId="443"/>
            <ac:spMk id="3" creationId="{EEA464B0-4368-47D8-802B-4FB5B5FAD6E7}"/>
          </ac:spMkLst>
        </pc:spChg>
      </pc:sldChg>
      <pc:sldChg chg="modSp mod">
        <pc:chgData name="Amanda Head" userId="3622ac83-72fb-4480-aaff-0580f4ad655a" providerId="ADAL" clId="{6BBF4A71-3A44-5905-A51C-0BDCE69EAF34}" dt="2026-08-26T23:29:44.218" v="1021" actId="1076"/>
        <pc:sldMkLst>
          <pc:docMk/>
          <pc:sldMk cId="3228668872" sldId="448"/>
        </pc:sldMkLst>
        <pc:spChg chg="mod">
          <ac:chgData name="Amanda Head" userId="3622ac83-72fb-4480-aaff-0580f4ad655a" providerId="ADAL" clId="{6BBF4A71-3A44-5905-A51C-0BDCE69EAF34}" dt="2026-08-26T23:29:44.218" v="1021" actId="1076"/>
          <ac:spMkLst>
            <pc:docMk/>
            <pc:sldMk cId="3228668872" sldId="448"/>
            <ac:spMk id="13" creationId="{B6289B7D-B7D0-3E4C-8DE1-FB6C9B9800C2}"/>
          </ac:spMkLst>
        </pc:spChg>
      </pc:sldChg>
      <pc:sldChg chg="delSp modSp mod">
        <pc:chgData name="Amanda Head" userId="3622ac83-72fb-4480-aaff-0580f4ad655a" providerId="ADAL" clId="{6BBF4A71-3A44-5905-A51C-0BDCE69EAF34}" dt="2026-08-27T00:29:01.924" v="1248" actId="20577"/>
        <pc:sldMkLst>
          <pc:docMk/>
          <pc:sldMk cId="2848483816" sldId="449"/>
        </pc:sldMkLst>
        <pc:spChg chg="mod">
          <ac:chgData name="Amanda Head" userId="3622ac83-72fb-4480-aaff-0580f4ad655a" providerId="ADAL" clId="{6BBF4A71-3A44-5905-A51C-0BDCE69EAF34}" dt="2026-08-27T00:29:01.924" v="1248" actId="20577"/>
          <ac:spMkLst>
            <pc:docMk/>
            <pc:sldMk cId="2848483816" sldId="449"/>
            <ac:spMk id="3" creationId="{EEA464B0-4368-47D8-802B-4FB5B5FAD6E7}"/>
          </ac:spMkLst>
        </pc:spChg>
        <pc:spChg chg="del">
          <ac:chgData name="Amanda Head" userId="3622ac83-72fb-4480-aaff-0580f4ad655a" providerId="ADAL" clId="{6BBF4A71-3A44-5905-A51C-0BDCE69EAF34}" dt="2026-08-27T00:22:20.429" v="1231" actId="478"/>
          <ac:spMkLst>
            <pc:docMk/>
            <pc:sldMk cId="2848483816" sldId="449"/>
            <ac:spMk id="4" creationId="{37E9999B-E372-EAF4-8284-273BB455434A}"/>
          </ac:spMkLst>
        </pc:spChg>
      </pc:sldChg>
      <pc:sldChg chg="modSp mod">
        <pc:chgData name="Amanda Head" userId="3622ac83-72fb-4480-aaff-0580f4ad655a" providerId="ADAL" clId="{6BBF4A71-3A44-5905-A51C-0BDCE69EAF34}" dt="2026-08-27T00:31:07.577" v="1349" actId="5793"/>
        <pc:sldMkLst>
          <pc:docMk/>
          <pc:sldMk cId="1140550999" sldId="450"/>
        </pc:sldMkLst>
        <pc:spChg chg="mod">
          <ac:chgData name="Amanda Head" userId="3622ac83-72fb-4480-aaff-0580f4ad655a" providerId="ADAL" clId="{6BBF4A71-3A44-5905-A51C-0BDCE69EAF34}" dt="2026-08-27T00:31:07.577" v="1349" actId="5793"/>
          <ac:spMkLst>
            <pc:docMk/>
            <pc:sldMk cId="1140550999" sldId="450"/>
            <ac:spMk id="3" creationId="{EEA464B0-4368-47D8-802B-4FB5B5FAD6E7}"/>
          </ac:spMkLst>
        </pc:spChg>
      </pc:sldChg>
      <pc:sldChg chg="modSp mod">
        <pc:chgData name="Amanda Head" userId="3622ac83-72fb-4480-aaff-0580f4ad655a" providerId="ADAL" clId="{6BBF4A71-3A44-5905-A51C-0BDCE69EAF34}" dt="2026-08-27T00:44:31.504" v="1447" actId="20577"/>
        <pc:sldMkLst>
          <pc:docMk/>
          <pc:sldMk cId="3671561817" sldId="451"/>
        </pc:sldMkLst>
        <pc:spChg chg="mod">
          <ac:chgData name="Amanda Head" userId="3622ac83-72fb-4480-aaff-0580f4ad655a" providerId="ADAL" clId="{6BBF4A71-3A44-5905-A51C-0BDCE69EAF34}" dt="2026-08-27T00:44:31.504" v="1447" actId="20577"/>
          <ac:spMkLst>
            <pc:docMk/>
            <pc:sldMk cId="3671561817" sldId="451"/>
            <ac:spMk id="3" creationId="{EEA464B0-4368-47D8-802B-4FB5B5FAD6E7}"/>
          </ac:spMkLst>
        </pc:spChg>
      </pc:sldChg>
      <pc:sldChg chg="modSp mod">
        <pc:chgData name="Amanda Head" userId="3622ac83-72fb-4480-aaff-0580f4ad655a" providerId="ADAL" clId="{6BBF4A71-3A44-5905-A51C-0BDCE69EAF34}" dt="2026-08-27T00:35:12.862" v="1351" actId="115"/>
        <pc:sldMkLst>
          <pc:docMk/>
          <pc:sldMk cId="1525437465" sldId="453"/>
        </pc:sldMkLst>
        <pc:spChg chg="mod">
          <ac:chgData name="Amanda Head" userId="3622ac83-72fb-4480-aaff-0580f4ad655a" providerId="ADAL" clId="{6BBF4A71-3A44-5905-A51C-0BDCE69EAF34}" dt="2026-08-27T00:35:12.862" v="1351" actId="115"/>
          <ac:spMkLst>
            <pc:docMk/>
            <pc:sldMk cId="1525437465" sldId="453"/>
            <ac:spMk id="3" creationId="{EEA464B0-4368-47D8-802B-4FB5B5FAD6E7}"/>
          </ac:spMkLst>
        </pc:spChg>
      </pc:sldChg>
      <pc:sldChg chg="modSp mod">
        <pc:chgData name="Amanda Head" userId="3622ac83-72fb-4480-aaff-0580f4ad655a" providerId="ADAL" clId="{6BBF4A71-3A44-5905-A51C-0BDCE69EAF34}" dt="2026-08-27T00:47:05.055" v="1454" actId="20577"/>
        <pc:sldMkLst>
          <pc:docMk/>
          <pc:sldMk cId="3701538635" sldId="454"/>
        </pc:sldMkLst>
        <pc:spChg chg="mod">
          <ac:chgData name="Amanda Head" userId="3622ac83-72fb-4480-aaff-0580f4ad655a" providerId="ADAL" clId="{6BBF4A71-3A44-5905-A51C-0BDCE69EAF34}" dt="2026-08-27T00:47:05.055" v="1454" actId="20577"/>
          <ac:spMkLst>
            <pc:docMk/>
            <pc:sldMk cId="3701538635" sldId="454"/>
            <ac:spMk id="3" creationId="{EEA464B0-4368-47D8-802B-4FB5B5FAD6E7}"/>
          </ac:spMkLst>
        </pc:spChg>
      </pc:sldChg>
      <pc:sldChg chg="addSp modSp mod">
        <pc:chgData name="Amanda Head" userId="3622ac83-72fb-4480-aaff-0580f4ad655a" providerId="ADAL" clId="{6BBF4A71-3A44-5905-A51C-0BDCE69EAF34}" dt="2026-08-27T01:06:52.525" v="1539" actId="20577"/>
        <pc:sldMkLst>
          <pc:docMk/>
          <pc:sldMk cId="190127194" sldId="458"/>
        </pc:sldMkLst>
        <pc:spChg chg="mod">
          <ac:chgData name="Amanda Head" userId="3622ac83-72fb-4480-aaff-0580f4ad655a" providerId="ADAL" clId="{6BBF4A71-3A44-5905-A51C-0BDCE69EAF34}" dt="2026-08-27T01:06:15.316" v="1536" actId="14100"/>
          <ac:spMkLst>
            <pc:docMk/>
            <pc:sldMk cId="190127194" sldId="458"/>
            <ac:spMk id="3" creationId="{EEA464B0-4368-47D8-802B-4FB5B5FAD6E7}"/>
          </ac:spMkLst>
        </pc:spChg>
        <pc:spChg chg="add mod">
          <ac:chgData name="Amanda Head" userId="3622ac83-72fb-4480-aaff-0580f4ad655a" providerId="ADAL" clId="{6BBF4A71-3A44-5905-A51C-0BDCE69EAF34}" dt="2026-08-27T01:06:52.525" v="1539" actId="20577"/>
          <ac:spMkLst>
            <pc:docMk/>
            <pc:sldMk cId="190127194" sldId="458"/>
            <ac:spMk id="4" creationId="{A3ABC658-ABA5-9498-6C8F-75AB784C716F}"/>
          </ac:spMkLst>
        </pc:spChg>
        <pc:spChg chg="add mod">
          <ac:chgData name="Amanda Head" userId="3622ac83-72fb-4480-aaff-0580f4ad655a" providerId="ADAL" clId="{6BBF4A71-3A44-5905-A51C-0BDCE69EAF34}" dt="2026-08-27T00:59:24.070" v="1477" actId="14100"/>
          <ac:spMkLst>
            <pc:docMk/>
            <pc:sldMk cId="190127194" sldId="458"/>
            <ac:spMk id="6" creationId="{DBA18E6A-0D3E-84E6-CF25-266420876F65}"/>
          </ac:spMkLst>
        </pc:spChg>
      </pc:sldChg>
      <pc:sldChg chg="modSp add del mod">
        <pc:chgData name="Amanda Head" userId="3622ac83-72fb-4480-aaff-0580f4ad655a" providerId="ADAL" clId="{6BBF4A71-3A44-5905-A51C-0BDCE69EAF34}" dt="2026-08-27T03:04:06.506" v="1540" actId="2696"/>
        <pc:sldMkLst>
          <pc:docMk/>
          <pc:sldMk cId="2895357820" sldId="459"/>
        </pc:sldMkLst>
        <pc:spChg chg="mod">
          <ac:chgData name="Amanda Head" userId="3622ac83-72fb-4480-aaff-0580f4ad655a" providerId="ADAL" clId="{6BBF4A71-3A44-5905-A51C-0BDCE69EAF34}" dt="2026-08-27T00:58:38.592" v="1467" actId="14100"/>
          <ac:spMkLst>
            <pc:docMk/>
            <pc:sldMk cId="2895357820" sldId="459"/>
            <ac:spMk id="3" creationId="{EEA464B0-4368-47D8-802B-4FB5B5FAD6E7}"/>
          </ac:spMkLst>
        </pc:spChg>
      </pc:sldChg>
      <pc:sldChg chg="modSp mod">
        <pc:chgData name="Amanda Head" userId="3622ac83-72fb-4480-aaff-0580f4ad655a" providerId="ADAL" clId="{6BBF4A71-3A44-5905-A51C-0BDCE69EAF34}" dt="2026-08-27T03:04:20.033" v="1544" actId="20577"/>
        <pc:sldMkLst>
          <pc:docMk/>
          <pc:sldMk cId="1859724395" sldId="462"/>
        </pc:sldMkLst>
        <pc:spChg chg="mod">
          <ac:chgData name="Amanda Head" userId="3622ac83-72fb-4480-aaff-0580f4ad655a" providerId="ADAL" clId="{6BBF4A71-3A44-5905-A51C-0BDCE69EAF34}" dt="2026-08-27T03:04:20.033" v="1544" actId="20577"/>
          <ac:spMkLst>
            <pc:docMk/>
            <pc:sldMk cId="1859724395" sldId="462"/>
            <ac:spMk id="3" creationId="{5185B9B2-2956-79C8-A9F9-28EFF0E31830}"/>
          </ac:spMkLst>
        </pc:spChg>
      </pc:sldChg>
      <pc:sldChg chg="modSp add mod">
        <pc:chgData name="Amanda Head" userId="3622ac83-72fb-4480-aaff-0580f4ad655a" providerId="ADAL" clId="{6BBF4A71-3A44-5905-A51C-0BDCE69EAF34}" dt="2026-08-26T23:20:36.971" v="1004" actId="20577"/>
        <pc:sldMkLst>
          <pc:docMk/>
          <pc:sldMk cId="976555419" sldId="463"/>
        </pc:sldMkLst>
        <pc:spChg chg="mod">
          <ac:chgData name="Amanda Head" userId="3622ac83-72fb-4480-aaff-0580f4ad655a" providerId="ADAL" clId="{6BBF4A71-3A44-5905-A51C-0BDCE69EAF34}" dt="2026-08-26T23:20:36.971" v="1004" actId="20577"/>
          <ac:spMkLst>
            <pc:docMk/>
            <pc:sldMk cId="976555419" sldId="463"/>
            <ac:spMk id="3" creationId="{0289FF11-0BDC-4B9E-0323-D34B02F26418}"/>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8761F64-24A3-47F5-8A3C-C1A55F2765F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a:extLst>
              <a:ext uri="{FF2B5EF4-FFF2-40B4-BE49-F238E27FC236}">
                <a16:creationId xmlns:a16="http://schemas.microsoft.com/office/drawing/2014/main" id="{8CCF9FD7-5F19-4302-897E-687657C26A5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23EFBBB-0FE0-4C79-99F2-94106FE31639}" type="datetimeFigureOut">
              <a:rPr lang="en-AU" smtClean="0"/>
              <a:t>27/8/2026</a:t>
            </a:fld>
            <a:endParaRPr lang="en-AU"/>
          </a:p>
        </p:txBody>
      </p:sp>
      <p:sp>
        <p:nvSpPr>
          <p:cNvPr id="4" name="Footer Placeholder 3">
            <a:extLst>
              <a:ext uri="{FF2B5EF4-FFF2-40B4-BE49-F238E27FC236}">
                <a16:creationId xmlns:a16="http://schemas.microsoft.com/office/drawing/2014/main" id="{96209924-3CCC-4429-B913-306C3F0A095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a:extLst>
              <a:ext uri="{FF2B5EF4-FFF2-40B4-BE49-F238E27FC236}">
                <a16:creationId xmlns:a16="http://schemas.microsoft.com/office/drawing/2014/main" id="{81EEA83F-F2DC-46D7-B696-662122F59AD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8C4DC0-EA1F-4BE8-BE5B-D0247039CF28}" type="slidenum">
              <a:rPr lang="en-AU" smtClean="0"/>
              <a:t>‹#›</a:t>
            </a:fld>
            <a:endParaRPr lang="en-AU"/>
          </a:p>
        </p:txBody>
      </p:sp>
    </p:spTree>
    <p:extLst>
      <p:ext uri="{BB962C8B-B14F-4D97-AF65-F5344CB8AC3E}">
        <p14:creationId xmlns:p14="http://schemas.microsoft.com/office/powerpoint/2010/main" val="26984105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1BC296-011A-4286-8D88-FBCD11477F2B}" type="datetimeFigureOut">
              <a:rPr lang="en-AU" smtClean="0"/>
              <a:t>27/8/2026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9142E5-A706-4C60-B43E-D82CA518B040}" type="slidenum">
              <a:rPr lang="en-AU" smtClean="0"/>
              <a:t>‹#›</a:t>
            </a:fld>
            <a:endParaRPr lang="en-AU"/>
          </a:p>
        </p:txBody>
      </p:sp>
    </p:spTree>
    <p:extLst>
      <p:ext uri="{BB962C8B-B14F-4D97-AF65-F5344CB8AC3E}">
        <p14:creationId xmlns:p14="http://schemas.microsoft.com/office/powerpoint/2010/main" val="5087404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5780AC98-8E30-490D-A639-38DF0F70C274}" type="slidenum">
              <a:rPr lang="en-AU" smtClean="0"/>
              <a:t>1</a:t>
            </a:fld>
            <a:endParaRPr lang="en-AU" dirty="0"/>
          </a:p>
        </p:txBody>
      </p:sp>
    </p:spTree>
    <p:extLst>
      <p:ext uri="{BB962C8B-B14F-4D97-AF65-F5344CB8AC3E}">
        <p14:creationId xmlns:p14="http://schemas.microsoft.com/office/powerpoint/2010/main" val="27389028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a:t>
            </a:fld>
            <a:endParaRPr lang="en-AU" dirty="0"/>
          </a:p>
        </p:txBody>
      </p:sp>
    </p:spTree>
    <p:extLst>
      <p:ext uri="{BB962C8B-B14F-4D97-AF65-F5344CB8AC3E}">
        <p14:creationId xmlns:p14="http://schemas.microsoft.com/office/powerpoint/2010/main" val="35753945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3</a:t>
            </a:fld>
            <a:endParaRPr lang="en-AU" dirty="0"/>
          </a:p>
        </p:txBody>
      </p:sp>
    </p:spTree>
    <p:extLst>
      <p:ext uri="{BB962C8B-B14F-4D97-AF65-F5344CB8AC3E}">
        <p14:creationId xmlns:p14="http://schemas.microsoft.com/office/powerpoint/2010/main" val="41972942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4</a:t>
            </a:fld>
            <a:endParaRPr lang="en-AU" dirty="0"/>
          </a:p>
        </p:txBody>
      </p:sp>
    </p:spTree>
    <p:extLst>
      <p:ext uri="{BB962C8B-B14F-4D97-AF65-F5344CB8AC3E}">
        <p14:creationId xmlns:p14="http://schemas.microsoft.com/office/powerpoint/2010/main" val="16627968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5</a:t>
            </a:fld>
            <a:endParaRPr lang="en-AU" dirty="0"/>
          </a:p>
        </p:txBody>
      </p:sp>
    </p:spTree>
    <p:extLst>
      <p:ext uri="{BB962C8B-B14F-4D97-AF65-F5344CB8AC3E}">
        <p14:creationId xmlns:p14="http://schemas.microsoft.com/office/powerpoint/2010/main" val="29240841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6</a:t>
            </a:fld>
            <a:endParaRPr lang="en-AU" dirty="0"/>
          </a:p>
        </p:txBody>
      </p:sp>
    </p:spTree>
    <p:extLst>
      <p:ext uri="{BB962C8B-B14F-4D97-AF65-F5344CB8AC3E}">
        <p14:creationId xmlns:p14="http://schemas.microsoft.com/office/powerpoint/2010/main" val="42530377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D628A-BC7C-A9DF-E613-0655DB4D2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5A2636-54AF-6A94-22BB-B7E4910DBE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4FC077-00AE-6CAE-9631-2B0DA3AE08E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a:extLst>
              <a:ext uri="{FF2B5EF4-FFF2-40B4-BE49-F238E27FC236}">
                <a16:creationId xmlns:a16="http://schemas.microsoft.com/office/drawing/2014/main" id="{E3860614-0489-3003-654A-C3303C1395AD}"/>
              </a:ext>
            </a:extLst>
          </p:cNvPr>
          <p:cNvSpPr>
            <a:spLocks noGrp="1"/>
          </p:cNvSpPr>
          <p:nvPr>
            <p:ph type="sldNum" sz="quarter" idx="5"/>
          </p:nvPr>
        </p:nvSpPr>
        <p:spPr/>
        <p:txBody>
          <a:bodyPr/>
          <a:lstStyle/>
          <a:p>
            <a:fld id="{639142E5-A706-4C60-B43E-D82CA518B040}" type="slidenum">
              <a:rPr lang="en-AU" smtClean="0"/>
              <a:t>7</a:t>
            </a:fld>
            <a:endParaRPr lang="en-AU" dirty="0"/>
          </a:p>
        </p:txBody>
      </p:sp>
    </p:spTree>
    <p:extLst>
      <p:ext uri="{BB962C8B-B14F-4D97-AF65-F5344CB8AC3E}">
        <p14:creationId xmlns:p14="http://schemas.microsoft.com/office/powerpoint/2010/main" val="25206242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8</a:t>
            </a:fld>
            <a:endParaRPr lang="en-AU"/>
          </a:p>
        </p:txBody>
      </p:sp>
    </p:spTree>
    <p:extLst>
      <p:ext uri="{BB962C8B-B14F-4D97-AF65-F5344CB8AC3E}">
        <p14:creationId xmlns:p14="http://schemas.microsoft.com/office/powerpoint/2010/main" val="18131713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9</a:t>
            </a:fld>
            <a:endParaRPr lang="en-AU"/>
          </a:p>
        </p:txBody>
      </p:sp>
    </p:spTree>
    <p:extLst>
      <p:ext uri="{BB962C8B-B14F-4D97-AF65-F5344CB8AC3E}">
        <p14:creationId xmlns:p14="http://schemas.microsoft.com/office/powerpoint/2010/main" val="2385529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10</a:t>
            </a:fld>
            <a:endParaRPr lang="en-AU"/>
          </a:p>
        </p:txBody>
      </p:sp>
    </p:spTree>
    <p:extLst>
      <p:ext uri="{BB962C8B-B14F-4D97-AF65-F5344CB8AC3E}">
        <p14:creationId xmlns:p14="http://schemas.microsoft.com/office/powerpoint/2010/main" val="38036385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11</a:t>
            </a:fld>
            <a:endParaRPr lang="en-AU"/>
          </a:p>
        </p:txBody>
      </p:sp>
    </p:spTree>
    <p:extLst>
      <p:ext uri="{BB962C8B-B14F-4D97-AF65-F5344CB8AC3E}">
        <p14:creationId xmlns:p14="http://schemas.microsoft.com/office/powerpoint/2010/main" val="42327855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12</a:t>
            </a:fld>
            <a:endParaRPr lang="en-AU"/>
          </a:p>
        </p:txBody>
      </p:sp>
    </p:spTree>
    <p:extLst>
      <p:ext uri="{BB962C8B-B14F-4D97-AF65-F5344CB8AC3E}">
        <p14:creationId xmlns:p14="http://schemas.microsoft.com/office/powerpoint/2010/main" val="10279842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13</a:t>
            </a:fld>
            <a:endParaRPr lang="en-AU"/>
          </a:p>
        </p:txBody>
      </p:sp>
    </p:spTree>
    <p:extLst>
      <p:ext uri="{BB962C8B-B14F-4D97-AF65-F5344CB8AC3E}">
        <p14:creationId xmlns:p14="http://schemas.microsoft.com/office/powerpoint/2010/main" val="19026557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14</a:t>
            </a:fld>
            <a:endParaRPr lang="en-AU"/>
          </a:p>
        </p:txBody>
      </p:sp>
    </p:spTree>
    <p:extLst>
      <p:ext uri="{BB962C8B-B14F-4D97-AF65-F5344CB8AC3E}">
        <p14:creationId xmlns:p14="http://schemas.microsoft.com/office/powerpoint/2010/main" val="11523597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15</a:t>
            </a:fld>
            <a:endParaRPr lang="en-AU"/>
          </a:p>
        </p:txBody>
      </p:sp>
    </p:spTree>
    <p:extLst>
      <p:ext uri="{BB962C8B-B14F-4D97-AF65-F5344CB8AC3E}">
        <p14:creationId xmlns:p14="http://schemas.microsoft.com/office/powerpoint/2010/main" val="6413968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E2586-8E2B-3A36-C9CE-ABED6757B5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EE9341-8B05-95B4-75F3-C57F55372C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319B68-AEB3-2788-6F3B-C324B1FF88E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a:extLst>
              <a:ext uri="{FF2B5EF4-FFF2-40B4-BE49-F238E27FC236}">
                <a16:creationId xmlns:a16="http://schemas.microsoft.com/office/drawing/2014/main" id="{7CF5F14F-BAF6-E4D7-6BAD-F47623FD1F58}"/>
              </a:ext>
            </a:extLst>
          </p:cNvPr>
          <p:cNvSpPr>
            <a:spLocks noGrp="1"/>
          </p:cNvSpPr>
          <p:nvPr>
            <p:ph type="sldNum" sz="quarter" idx="5"/>
          </p:nvPr>
        </p:nvSpPr>
        <p:spPr/>
        <p:txBody>
          <a:bodyPr/>
          <a:lstStyle/>
          <a:p>
            <a:fld id="{639142E5-A706-4C60-B43E-D82CA518B040}" type="slidenum">
              <a:rPr lang="en-AU" smtClean="0"/>
              <a:t>16</a:t>
            </a:fld>
            <a:endParaRPr lang="en-AU"/>
          </a:p>
        </p:txBody>
      </p:sp>
    </p:spTree>
    <p:extLst>
      <p:ext uri="{BB962C8B-B14F-4D97-AF65-F5344CB8AC3E}">
        <p14:creationId xmlns:p14="http://schemas.microsoft.com/office/powerpoint/2010/main" val="38052670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17</a:t>
            </a:fld>
            <a:endParaRPr lang="en-AU"/>
          </a:p>
        </p:txBody>
      </p:sp>
    </p:spTree>
    <p:extLst>
      <p:ext uri="{BB962C8B-B14F-4D97-AF65-F5344CB8AC3E}">
        <p14:creationId xmlns:p14="http://schemas.microsoft.com/office/powerpoint/2010/main" val="1897024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18</a:t>
            </a:fld>
            <a:endParaRPr lang="en-AU"/>
          </a:p>
        </p:txBody>
      </p:sp>
    </p:spTree>
    <p:extLst>
      <p:ext uri="{BB962C8B-B14F-4D97-AF65-F5344CB8AC3E}">
        <p14:creationId xmlns:p14="http://schemas.microsoft.com/office/powerpoint/2010/main" val="16225227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19</a:t>
            </a:fld>
            <a:endParaRPr lang="en-AU"/>
          </a:p>
        </p:txBody>
      </p:sp>
    </p:spTree>
    <p:extLst>
      <p:ext uri="{BB962C8B-B14F-4D97-AF65-F5344CB8AC3E}">
        <p14:creationId xmlns:p14="http://schemas.microsoft.com/office/powerpoint/2010/main" val="35104905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20</a:t>
            </a:fld>
            <a:endParaRPr lang="en-AU"/>
          </a:p>
        </p:txBody>
      </p:sp>
    </p:spTree>
    <p:extLst>
      <p:ext uri="{BB962C8B-B14F-4D97-AF65-F5344CB8AC3E}">
        <p14:creationId xmlns:p14="http://schemas.microsoft.com/office/powerpoint/2010/main" val="3177343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21</a:t>
            </a:fld>
            <a:endParaRPr lang="en-AU"/>
          </a:p>
        </p:txBody>
      </p:sp>
    </p:spTree>
    <p:extLst>
      <p:ext uri="{BB962C8B-B14F-4D97-AF65-F5344CB8AC3E}">
        <p14:creationId xmlns:p14="http://schemas.microsoft.com/office/powerpoint/2010/main" val="39273647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22</a:t>
            </a:fld>
            <a:endParaRPr lang="en-AU"/>
          </a:p>
        </p:txBody>
      </p:sp>
    </p:spTree>
    <p:extLst>
      <p:ext uri="{BB962C8B-B14F-4D97-AF65-F5344CB8AC3E}">
        <p14:creationId xmlns:p14="http://schemas.microsoft.com/office/powerpoint/2010/main" val="6560576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23</a:t>
            </a:fld>
            <a:endParaRPr lang="en-AU"/>
          </a:p>
        </p:txBody>
      </p:sp>
    </p:spTree>
    <p:extLst>
      <p:ext uri="{BB962C8B-B14F-4D97-AF65-F5344CB8AC3E}">
        <p14:creationId xmlns:p14="http://schemas.microsoft.com/office/powerpoint/2010/main" val="37896384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24</a:t>
            </a:fld>
            <a:endParaRPr lang="en-AU"/>
          </a:p>
        </p:txBody>
      </p:sp>
    </p:spTree>
    <p:extLst>
      <p:ext uri="{BB962C8B-B14F-4D97-AF65-F5344CB8AC3E}">
        <p14:creationId xmlns:p14="http://schemas.microsoft.com/office/powerpoint/2010/main" val="39599551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25</a:t>
            </a:fld>
            <a:endParaRPr lang="en-AU"/>
          </a:p>
        </p:txBody>
      </p:sp>
    </p:spTree>
    <p:extLst>
      <p:ext uri="{BB962C8B-B14F-4D97-AF65-F5344CB8AC3E}">
        <p14:creationId xmlns:p14="http://schemas.microsoft.com/office/powerpoint/2010/main" val="41946954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26</a:t>
            </a:fld>
            <a:endParaRPr lang="en-AU"/>
          </a:p>
        </p:txBody>
      </p:sp>
    </p:spTree>
    <p:extLst>
      <p:ext uri="{BB962C8B-B14F-4D97-AF65-F5344CB8AC3E}">
        <p14:creationId xmlns:p14="http://schemas.microsoft.com/office/powerpoint/2010/main" val="12573890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27</a:t>
            </a:fld>
            <a:endParaRPr lang="en-AU"/>
          </a:p>
        </p:txBody>
      </p:sp>
    </p:spTree>
    <p:extLst>
      <p:ext uri="{BB962C8B-B14F-4D97-AF65-F5344CB8AC3E}">
        <p14:creationId xmlns:p14="http://schemas.microsoft.com/office/powerpoint/2010/main" val="29682298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278FA-61EB-89EF-1CDF-6843869A00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4BC4AC-2276-0652-C0FD-B7FC91880A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37F5C9-824F-4360-4B84-EDCF6DD2DDB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a:extLst>
              <a:ext uri="{FF2B5EF4-FFF2-40B4-BE49-F238E27FC236}">
                <a16:creationId xmlns:a16="http://schemas.microsoft.com/office/drawing/2014/main" id="{5BF1C67C-1438-1469-CC6A-94DAF697A05B}"/>
              </a:ext>
            </a:extLst>
          </p:cNvPr>
          <p:cNvSpPr>
            <a:spLocks noGrp="1"/>
          </p:cNvSpPr>
          <p:nvPr>
            <p:ph type="sldNum" sz="quarter" idx="5"/>
          </p:nvPr>
        </p:nvSpPr>
        <p:spPr/>
        <p:txBody>
          <a:bodyPr/>
          <a:lstStyle/>
          <a:p>
            <a:fld id="{639142E5-A706-4C60-B43E-D82CA518B040}" type="slidenum">
              <a:rPr lang="en-AU" smtClean="0"/>
              <a:t>28</a:t>
            </a:fld>
            <a:endParaRPr lang="en-AU"/>
          </a:p>
        </p:txBody>
      </p:sp>
    </p:spTree>
    <p:extLst>
      <p:ext uri="{BB962C8B-B14F-4D97-AF65-F5344CB8AC3E}">
        <p14:creationId xmlns:p14="http://schemas.microsoft.com/office/powerpoint/2010/main" val="372553739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7" name="Rectangle 6"/>
          <p:cNvSpPr/>
          <p:nvPr/>
        </p:nvSpPr>
        <p:spPr>
          <a:xfrm>
            <a:off x="241904" y="181429"/>
            <a:ext cx="11710747" cy="6504214"/>
          </a:xfrm>
          <a:prstGeom prst="rect">
            <a:avLst/>
          </a:prstGeom>
          <a:solidFill>
            <a:srgbClr val="E6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dirty="0"/>
          </a:p>
        </p:txBody>
      </p:sp>
      <p:sp>
        <p:nvSpPr>
          <p:cNvPr id="12" name="Text Placeholder 2"/>
          <p:cNvSpPr>
            <a:spLocks noGrp="1"/>
          </p:cNvSpPr>
          <p:nvPr>
            <p:ph type="body" idx="14" hasCustomPrompt="1"/>
          </p:nvPr>
        </p:nvSpPr>
        <p:spPr>
          <a:xfrm>
            <a:off x="720000" y="2754276"/>
            <a:ext cx="6175828" cy="275580"/>
          </a:xfrm>
          <a:prstGeom prst="rect">
            <a:avLst/>
          </a:prstGeom>
          <a:ln>
            <a:noFill/>
          </a:ln>
        </p:spPr>
        <p:txBody>
          <a:bodyPr anchor="t" anchorCtr="0"/>
          <a:lstStyle>
            <a:lvl1pPr marL="0" indent="0" algn="l">
              <a:buNone/>
              <a:defRPr sz="1100" b="0">
                <a:solidFill>
                  <a:schemeClr val="tx1"/>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noProof="0" dirty="0"/>
              <a:t>DATE: 3 October 2014</a:t>
            </a:r>
          </a:p>
        </p:txBody>
      </p:sp>
      <p:sp>
        <p:nvSpPr>
          <p:cNvPr id="15" name="Title 14"/>
          <p:cNvSpPr>
            <a:spLocks noGrp="1"/>
          </p:cNvSpPr>
          <p:nvPr>
            <p:ph type="title" hasCustomPrompt="1"/>
          </p:nvPr>
        </p:nvSpPr>
        <p:spPr>
          <a:xfrm>
            <a:off x="720000" y="1484784"/>
            <a:ext cx="8544000" cy="648000"/>
          </a:xfrm>
        </p:spPr>
        <p:txBody>
          <a:bodyPr/>
          <a:lstStyle/>
          <a:p>
            <a:r>
              <a:rPr lang="en-US" dirty="0"/>
              <a:t>Click to edit master title style</a:t>
            </a:r>
            <a:endParaRPr lang="en-AU" dirty="0"/>
          </a:p>
        </p:txBody>
      </p:sp>
      <p:sp>
        <p:nvSpPr>
          <p:cNvPr id="17" name="Text Placeholder 16"/>
          <p:cNvSpPr>
            <a:spLocks noGrp="1"/>
          </p:cNvSpPr>
          <p:nvPr>
            <p:ph type="body" sz="quarter" idx="15" hasCustomPrompt="1"/>
          </p:nvPr>
        </p:nvSpPr>
        <p:spPr>
          <a:xfrm>
            <a:off x="720000" y="2133600"/>
            <a:ext cx="8542867" cy="503238"/>
          </a:xfrm>
        </p:spPr>
        <p:txBody>
          <a:bodyPr/>
          <a:lstStyle>
            <a:lvl1pPr marL="0" indent="0">
              <a:buNone/>
              <a:defRPr cap="all" baseline="0">
                <a:solidFill>
                  <a:schemeClr val="accent1"/>
                </a:solidFill>
                <a:latin typeface="+mj-lt"/>
              </a:defRPr>
            </a:lvl1pPr>
          </a:lstStyle>
          <a:p>
            <a:pPr lvl="0"/>
            <a:r>
              <a:rPr lang="en-AU" dirty="0"/>
              <a:t>Click to ADD SUBTITLE</a:t>
            </a:r>
          </a:p>
        </p:txBody>
      </p:sp>
      <p:pic>
        <p:nvPicPr>
          <p:cNvPr id="3" name="Picture 2"/>
          <p:cNvPicPr>
            <a:picLocks noChangeAspect="1"/>
          </p:cNvPicPr>
          <p:nvPr/>
        </p:nvPicPr>
        <p:blipFill rotWithShape="1">
          <a:blip r:embed="rId2" cstate="print">
            <a:extLst>
              <a:ext uri="{28A0092B-C50C-407E-A947-70E740481C1C}">
                <a14:useLocalDpi xmlns:a14="http://schemas.microsoft.com/office/drawing/2010/main" val="0"/>
              </a:ext>
            </a:extLst>
          </a:blip>
          <a:srcRect b="35463"/>
          <a:stretch/>
        </p:blipFill>
        <p:spPr>
          <a:xfrm>
            <a:off x="241904" y="3067670"/>
            <a:ext cx="11710747" cy="3611293"/>
          </a:xfrm>
          <a:prstGeom prst="rect">
            <a:avLst/>
          </a:prstGeom>
        </p:spPr>
      </p:pic>
      <p:pic>
        <p:nvPicPr>
          <p:cNvPr id="8" name="Picture 7">
            <a:extLst>
              <a:ext uri="{FF2B5EF4-FFF2-40B4-BE49-F238E27FC236}">
                <a16:creationId xmlns:a16="http://schemas.microsoft.com/office/drawing/2014/main" id="{2EF52CFF-C49E-FB47-9FC2-54AD48C78F05}"/>
              </a:ext>
            </a:extLst>
          </p:cNvPr>
          <p:cNvPicPr>
            <a:picLocks noChangeAspect="1"/>
          </p:cNvPicPr>
          <p:nvPr/>
        </p:nvPicPr>
        <p:blipFill>
          <a:blip r:embed="rId3"/>
          <a:stretch>
            <a:fillRect/>
          </a:stretch>
        </p:blipFill>
        <p:spPr>
          <a:xfrm>
            <a:off x="9673174" y="217272"/>
            <a:ext cx="2037600" cy="804766"/>
          </a:xfrm>
          <a:prstGeom prst="rect">
            <a:avLst/>
          </a:prstGeom>
        </p:spPr>
      </p:pic>
    </p:spTree>
    <p:extLst>
      <p:ext uri="{BB962C8B-B14F-4D97-AF65-F5344CB8AC3E}">
        <p14:creationId xmlns:p14="http://schemas.microsoft.com/office/powerpoint/2010/main" val="38618895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Title Slide">
    <p:spTree>
      <p:nvGrpSpPr>
        <p:cNvPr id="1" name=""/>
        <p:cNvGrpSpPr/>
        <p:nvPr/>
      </p:nvGrpSpPr>
      <p:grpSpPr>
        <a:xfrm>
          <a:off x="0" y="0"/>
          <a:ext cx="0" cy="0"/>
          <a:chOff x="0" y="0"/>
          <a:chExt cx="0" cy="0"/>
        </a:xfrm>
      </p:grpSpPr>
      <p:sp>
        <p:nvSpPr>
          <p:cNvPr id="7" name="Rectangle 6"/>
          <p:cNvSpPr/>
          <p:nvPr/>
        </p:nvSpPr>
        <p:spPr>
          <a:xfrm>
            <a:off x="241904" y="181429"/>
            <a:ext cx="11710747" cy="6504214"/>
          </a:xfrm>
          <a:prstGeom prst="rect">
            <a:avLst/>
          </a:prstGeom>
          <a:solidFill>
            <a:srgbClr val="E6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dirty="0"/>
          </a:p>
        </p:txBody>
      </p:sp>
      <p:sp>
        <p:nvSpPr>
          <p:cNvPr id="12" name="Text Placeholder 2"/>
          <p:cNvSpPr>
            <a:spLocks noGrp="1"/>
          </p:cNvSpPr>
          <p:nvPr>
            <p:ph type="body" idx="14" hasCustomPrompt="1"/>
          </p:nvPr>
        </p:nvSpPr>
        <p:spPr>
          <a:xfrm>
            <a:off x="720000" y="2754276"/>
            <a:ext cx="6175828" cy="275580"/>
          </a:xfrm>
          <a:prstGeom prst="rect">
            <a:avLst/>
          </a:prstGeom>
          <a:ln>
            <a:noFill/>
          </a:ln>
        </p:spPr>
        <p:txBody>
          <a:bodyPr anchor="t" anchorCtr="0"/>
          <a:lstStyle>
            <a:lvl1pPr marL="0" indent="0" algn="l">
              <a:buNone/>
              <a:defRPr sz="1100" b="0">
                <a:solidFill>
                  <a:schemeClr val="tx1"/>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noProof="0" dirty="0"/>
              <a:t>DATE: 3 October 2014</a:t>
            </a:r>
          </a:p>
        </p:txBody>
      </p:sp>
      <p:sp>
        <p:nvSpPr>
          <p:cNvPr id="15" name="Title 14"/>
          <p:cNvSpPr>
            <a:spLocks noGrp="1"/>
          </p:cNvSpPr>
          <p:nvPr>
            <p:ph type="title" hasCustomPrompt="1"/>
          </p:nvPr>
        </p:nvSpPr>
        <p:spPr>
          <a:xfrm>
            <a:off x="720000" y="1484784"/>
            <a:ext cx="8544000" cy="648000"/>
          </a:xfrm>
        </p:spPr>
        <p:txBody>
          <a:bodyPr/>
          <a:lstStyle/>
          <a:p>
            <a:r>
              <a:rPr lang="en-US" dirty="0"/>
              <a:t>Click to edit master title style</a:t>
            </a:r>
            <a:endParaRPr lang="en-AU" dirty="0"/>
          </a:p>
        </p:txBody>
      </p:sp>
      <p:sp>
        <p:nvSpPr>
          <p:cNvPr id="17" name="Text Placeholder 16"/>
          <p:cNvSpPr>
            <a:spLocks noGrp="1"/>
          </p:cNvSpPr>
          <p:nvPr>
            <p:ph type="body" sz="quarter" idx="15" hasCustomPrompt="1"/>
          </p:nvPr>
        </p:nvSpPr>
        <p:spPr>
          <a:xfrm>
            <a:off x="720000" y="2133600"/>
            <a:ext cx="8542867" cy="503238"/>
          </a:xfrm>
        </p:spPr>
        <p:txBody>
          <a:bodyPr/>
          <a:lstStyle>
            <a:lvl1pPr marL="0" indent="0">
              <a:buNone/>
              <a:defRPr cap="all" baseline="0">
                <a:solidFill>
                  <a:schemeClr val="accent1"/>
                </a:solidFill>
                <a:latin typeface="+mj-lt"/>
              </a:defRPr>
            </a:lvl1pPr>
          </a:lstStyle>
          <a:p>
            <a:pPr lvl="0"/>
            <a:r>
              <a:rPr lang="en-AU" dirty="0"/>
              <a:t>Click to ADD SUBTITLE</a:t>
            </a:r>
          </a:p>
        </p:txBody>
      </p:sp>
      <p:sp>
        <p:nvSpPr>
          <p:cNvPr id="2" name="Rectangle 1"/>
          <p:cNvSpPr/>
          <p:nvPr/>
        </p:nvSpPr>
        <p:spPr>
          <a:xfrm>
            <a:off x="241904" y="3062172"/>
            <a:ext cx="4722971" cy="36330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Picture Placeholder 9" descr="Section_Image.jpg"/>
          <p:cNvPicPr>
            <a:picLocks/>
          </p:cNvPicPr>
          <p:nvPr/>
        </p:nvPicPr>
        <p:blipFill rotWithShape="1">
          <a:blip r:embed="rId2">
            <a:extLst>
              <a:ext uri="{28A0092B-C50C-407E-A947-70E740481C1C}">
                <a14:useLocalDpi xmlns:a14="http://schemas.microsoft.com/office/drawing/2010/main" val="0"/>
              </a:ext>
            </a:extLst>
          </a:blip>
          <a:srcRect l="11403" t="15468" r="100" b="1049"/>
          <a:stretch/>
        </p:blipFill>
        <p:spPr>
          <a:xfrm>
            <a:off x="4964875" y="3062172"/>
            <a:ext cx="6987287" cy="3632400"/>
          </a:xfrm>
          <a:prstGeom prst="rect">
            <a:avLst/>
          </a:prstGeom>
        </p:spPr>
      </p:pic>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16959" y="3448840"/>
            <a:ext cx="1943987" cy="3239978"/>
          </a:xfrm>
          <a:prstGeom prst="rect">
            <a:avLst/>
          </a:prstGeom>
        </p:spPr>
      </p:pic>
      <p:sp>
        <p:nvSpPr>
          <p:cNvPr id="11" name="TextBox 10"/>
          <p:cNvSpPr txBox="1"/>
          <p:nvPr/>
        </p:nvSpPr>
        <p:spPr>
          <a:xfrm>
            <a:off x="8046796" y="5910035"/>
            <a:ext cx="3591442" cy="655675"/>
          </a:xfrm>
          <a:prstGeom prst="rect">
            <a:avLst/>
          </a:prstGeom>
          <a:solidFill>
            <a:schemeClr val="accent1"/>
          </a:solidFill>
        </p:spPr>
        <p:txBody>
          <a:bodyPr wrap="square" rtlCol="0" anchor="ctr" anchorCtr="0">
            <a:normAutofit fontScale="77500" lnSpcReduction="20000"/>
          </a:bodyPr>
          <a:lstStyle/>
          <a:p>
            <a:r>
              <a:rPr lang="en-AU" sz="1200" dirty="0">
                <a:solidFill>
                  <a:schemeClr val="bg1"/>
                </a:solidFill>
                <a:latin typeface="Arial"/>
                <a:cs typeface="Arial"/>
              </a:rPr>
              <a:t>Note to user: Replace this image with your own.</a:t>
            </a:r>
          </a:p>
          <a:p>
            <a:pPr marL="266700" indent="-266700">
              <a:buFont typeface="Wingdings" panose="05000000000000000000" pitchFamily="2" charset="2"/>
              <a:buChar char="§"/>
            </a:pPr>
            <a:r>
              <a:rPr lang="en-AU" sz="1200" dirty="0">
                <a:solidFill>
                  <a:schemeClr val="bg1"/>
                </a:solidFill>
                <a:latin typeface="Arial"/>
                <a:cs typeface="Arial"/>
              </a:rPr>
              <a:t>Right click on this Placeholder box</a:t>
            </a:r>
          </a:p>
          <a:p>
            <a:pPr marL="266700" lvl="2" indent="-266700">
              <a:buFont typeface="Wingdings" panose="05000000000000000000" pitchFamily="2" charset="2"/>
              <a:buChar char="§"/>
            </a:pPr>
            <a:r>
              <a:rPr lang="en-AU" sz="1200" dirty="0">
                <a:solidFill>
                  <a:schemeClr val="bg1"/>
                </a:solidFill>
                <a:latin typeface="Arial"/>
                <a:cs typeface="Arial"/>
              </a:rPr>
              <a:t>Replace image</a:t>
            </a:r>
          </a:p>
          <a:p>
            <a:pPr marL="266700" lvl="2" indent="-266700">
              <a:buFont typeface="Wingdings" panose="05000000000000000000" pitchFamily="2" charset="2"/>
              <a:buChar char="§"/>
            </a:pPr>
            <a:r>
              <a:rPr lang="en-AU" sz="1200" dirty="0">
                <a:solidFill>
                  <a:schemeClr val="bg1"/>
                </a:solidFill>
                <a:latin typeface="Arial"/>
                <a:cs typeface="Arial"/>
              </a:rPr>
              <a:t>Select image and click ‘Resize image to fit in placeholder’)</a:t>
            </a:r>
          </a:p>
        </p:txBody>
      </p:sp>
      <p:pic>
        <p:nvPicPr>
          <p:cNvPr id="13" name="Picture 12">
            <a:extLst>
              <a:ext uri="{FF2B5EF4-FFF2-40B4-BE49-F238E27FC236}">
                <a16:creationId xmlns:a16="http://schemas.microsoft.com/office/drawing/2014/main" id="{B0A9269F-011F-4649-845C-08AE05BE96C7}"/>
              </a:ext>
            </a:extLst>
          </p:cNvPr>
          <p:cNvPicPr>
            <a:picLocks noChangeAspect="1"/>
          </p:cNvPicPr>
          <p:nvPr/>
        </p:nvPicPr>
        <p:blipFill>
          <a:blip r:embed="rId4"/>
          <a:stretch>
            <a:fillRect/>
          </a:stretch>
        </p:blipFill>
        <p:spPr>
          <a:xfrm>
            <a:off x="9673174" y="217272"/>
            <a:ext cx="2037600" cy="804766"/>
          </a:xfrm>
          <a:prstGeom prst="rect">
            <a:avLst/>
          </a:prstGeom>
        </p:spPr>
      </p:pic>
    </p:spTree>
    <p:extLst>
      <p:ext uri="{BB962C8B-B14F-4D97-AF65-F5344CB8AC3E}">
        <p14:creationId xmlns:p14="http://schemas.microsoft.com/office/powerpoint/2010/main" val="38900631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sp>
        <p:nvSpPr>
          <p:cNvPr id="7" name="Rectangle 6"/>
          <p:cNvSpPr/>
          <p:nvPr/>
        </p:nvSpPr>
        <p:spPr>
          <a:xfrm>
            <a:off x="251428" y="181429"/>
            <a:ext cx="11703337" cy="6504214"/>
          </a:xfrm>
          <a:prstGeom prst="rect">
            <a:avLst/>
          </a:prstGeom>
          <a:solidFill>
            <a:srgbClr val="E6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dirty="0"/>
          </a:p>
        </p:txBody>
      </p:sp>
      <p:pic>
        <p:nvPicPr>
          <p:cNvPr id="9" name="Picture Placeholder 9" descr="Section_Image.jpg"/>
          <p:cNvPicPr>
            <a:picLocks noChangeAspect="1"/>
          </p:cNvPicPr>
          <p:nvPr/>
        </p:nvPicPr>
        <p:blipFill rotWithShape="1">
          <a:blip r:embed="rId2">
            <a:extLst>
              <a:ext uri="{28A0092B-C50C-407E-A947-70E740481C1C}">
                <a14:useLocalDpi xmlns:a14="http://schemas.microsoft.com/office/drawing/2010/main" val="0"/>
              </a:ext>
            </a:extLst>
          </a:blip>
          <a:srcRect l="561" t="15597" r="462" b="1605"/>
          <a:stretch/>
        </p:blipFill>
        <p:spPr>
          <a:xfrm>
            <a:off x="251429" y="1257301"/>
            <a:ext cx="11706850" cy="5419724"/>
          </a:xfrm>
          <a:prstGeom prst="rect">
            <a:avLst/>
          </a:prstGeom>
          <a:ln>
            <a:noFill/>
          </a:ln>
        </p:spPr>
      </p:pic>
      <p:sp>
        <p:nvSpPr>
          <p:cNvPr id="11" name="Title 1"/>
          <p:cNvSpPr>
            <a:spLocks noGrp="1"/>
          </p:cNvSpPr>
          <p:nvPr>
            <p:ph type="title"/>
          </p:nvPr>
        </p:nvSpPr>
        <p:spPr>
          <a:xfrm>
            <a:off x="720000" y="2863019"/>
            <a:ext cx="8045752" cy="608315"/>
          </a:xfrm>
        </p:spPr>
        <p:txBody>
          <a:bodyPr/>
          <a:lstStyle>
            <a:lvl1pPr>
              <a:defRPr>
                <a:solidFill>
                  <a:schemeClr val="tx1"/>
                </a:solidFill>
              </a:defRPr>
            </a:lvl1pPr>
          </a:lstStyle>
          <a:p>
            <a:r>
              <a:rPr lang="en-US"/>
              <a:t>Click to edit Master title style</a:t>
            </a:r>
            <a:endParaRPr lang="en-AU" dirty="0"/>
          </a:p>
        </p:txBody>
      </p:sp>
      <p:sp>
        <p:nvSpPr>
          <p:cNvPr id="13" name="Text Placeholder 16"/>
          <p:cNvSpPr>
            <a:spLocks noGrp="1"/>
          </p:cNvSpPr>
          <p:nvPr>
            <p:ph type="body" sz="quarter" idx="15" hasCustomPrompt="1"/>
          </p:nvPr>
        </p:nvSpPr>
        <p:spPr>
          <a:xfrm>
            <a:off x="720000" y="3485114"/>
            <a:ext cx="6407150" cy="503238"/>
          </a:xfrm>
        </p:spPr>
        <p:txBody>
          <a:bodyPr/>
          <a:lstStyle>
            <a:lvl1pPr marL="0" indent="0">
              <a:buNone/>
              <a:defRPr cap="all" baseline="0">
                <a:solidFill>
                  <a:schemeClr val="tx1"/>
                </a:solidFill>
                <a:latin typeface="+mj-lt"/>
              </a:defRPr>
            </a:lvl1pPr>
          </a:lstStyle>
          <a:p>
            <a:pPr lvl="0"/>
            <a:r>
              <a:rPr lang="en-AU" dirty="0"/>
              <a:t>Click to ADD SUBTITLE</a:t>
            </a:r>
          </a:p>
        </p:txBody>
      </p:sp>
      <p:sp>
        <p:nvSpPr>
          <p:cNvPr id="14" name="TextBox 13"/>
          <p:cNvSpPr txBox="1"/>
          <p:nvPr/>
        </p:nvSpPr>
        <p:spPr>
          <a:xfrm>
            <a:off x="342605" y="5842000"/>
            <a:ext cx="3591442" cy="655675"/>
          </a:xfrm>
          <a:prstGeom prst="rect">
            <a:avLst/>
          </a:prstGeom>
          <a:solidFill>
            <a:schemeClr val="accent1"/>
          </a:solidFill>
        </p:spPr>
        <p:txBody>
          <a:bodyPr wrap="square" rtlCol="0" anchor="ctr" anchorCtr="0">
            <a:normAutofit fontScale="77500" lnSpcReduction="20000"/>
          </a:bodyPr>
          <a:lstStyle/>
          <a:p>
            <a:r>
              <a:rPr lang="en-AU" sz="1200" dirty="0">
                <a:solidFill>
                  <a:schemeClr val="bg1"/>
                </a:solidFill>
                <a:latin typeface="Arial"/>
                <a:cs typeface="Arial"/>
              </a:rPr>
              <a:t>Note to user: Replace this image with your own.</a:t>
            </a:r>
          </a:p>
          <a:p>
            <a:pPr marL="266700" indent="-266700">
              <a:buFont typeface="Wingdings" panose="05000000000000000000" pitchFamily="2" charset="2"/>
              <a:buChar char="§"/>
            </a:pPr>
            <a:r>
              <a:rPr lang="en-AU" sz="1200" dirty="0">
                <a:solidFill>
                  <a:schemeClr val="bg1"/>
                </a:solidFill>
                <a:latin typeface="Arial"/>
                <a:cs typeface="Arial"/>
              </a:rPr>
              <a:t>Right click on this Placeholder box</a:t>
            </a:r>
          </a:p>
          <a:p>
            <a:pPr marL="266700" lvl="2" indent="-266700">
              <a:buFont typeface="Wingdings" panose="05000000000000000000" pitchFamily="2" charset="2"/>
              <a:buChar char="§"/>
            </a:pPr>
            <a:r>
              <a:rPr lang="en-AU" sz="1200" dirty="0">
                <a:solidFill>
                  <a:schemeClr val="bg1"/>
                </a:solidFill>
                <a:latin typeface="Arial"/>
                <a:cs typeface="Arial"/>
              </a:rPr>
              <a:t>Replace image</a:t>
            </a:r>
          </a:p>
          <a:p>
            <a:pPr marL="266700" lvl="2" indent="-266700">
              <a:buFont typeface="Wingdings" panose="05000000000000000000" pitchFamily="2" charset="2"/>
              <a:buChar char="§"/>
            </a:pPr>
            <a:r>
              <a:rPr lang="en-AU" sz="1200" dirty="0">
                <a:solidFill>
                  <a:schemeClr val="bg1"/>
                </a:solidFill>
                <a:latin typeface="Arial"/>
                <a:cs typeface="Arial"/>
              </a:rPr>
              <a:t>Select image and click ‘Resize image to fit in placeholder’)</a:t>
            </a: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83457" y="3502203"/>
            <a:ext cx="3174822" cy="3174822"/>
          </a:xfrm>
          <a:prstGeom prst="rect">
            <a:avLst/>
          </a:prstGeom>
        </p:spPr>
      </p:pic>
      <p:pic>
        <p:nvPicPr>
          <p:cNvPr id="16" name="Picture 15">
            <a:extLst>
              <a:ext uri="{FF2B5EF4-FFF2-40B4-BE49-F238E27FC236}">
                <a16:creationId xmlns:a16="http://schemas.microsoft.com/office/drawing/2014/main" id="{8C9B8C79-07FC-2444-B397-BBCDB3F9F22B}"/>
              </a:ext>
            </a:extLst>
          </p:cNvPr>
          <p:cNvPicPr>
            <a:picLocks noChangeAspect="1"/>
          </p:cNvPicPr>
          <p:nvPr/>
        </p:nvPicPr>
        <p:blipFill>
          <a:blip r:embed="rId4"/>
          <a:stretch>
            <a:fillRect/>
          </a:stretch>
        </p:blipFill>
        <p:spPr>
          <a:xfrm>
            <a:off x="9673174" y="217272"/>
            <a:ext cx="2037600" cy="804766"/>
          </a:xfrm>
          <a:prstGeom prst="rect">
            <a:avLst/>
          </a:prstGeom>
        </p:spPr>
      </p:pic>
    </p:spTree>
    <p:extLst>
      <p:ext uri="{BB962C8B-B14F-4D97-AF65-F5344CB8AC3E}">
        <p14:creationId xmlns:p14="http://schemas.microsoft.com/office/powerpoint/2010/main" val="2280205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14" name="Rectangle 13"/>
          <p:cNvSpPr/>
          <p:nvPr/>
        </p:nvSpPr>
        <p:spPr>
          <a:xfrm>
            <a:off x="241904" y="181429"/>
            <a:ext cx="11710800" cy="6504214"/>
          </a:xfrm>
          <a:prstGeom prst="rect">
            <a:avLst/>
          </a:prstGeom>
          <a:solidFill>
            <a:srgbClr val="E6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dirty="0"/>
          </a:p>
        </p:txBody>
      </p:sp>
      <p:sp>
        <p:nvSpPr>
          <p:cNvPr id="19" name="Text Placeholder 2"/>
          <p:cNvSpPr>
            <a:spLocks noGrp="1"/>
          </p:cNvSpPr>
          <p:nvPr>
            <p:ph type="body" idx="14" hasCustomPrompt="1"/>
          </p:nvPr>
        </p:nvSpPr>
        <p:spPr>
          <a:xfrm>
            <a:off x="5608410" y="6183276"/>
            <a:ext cx="5772668" cy="275580"/>
          </a:xfrm>
          <a:prstGeom prst="rect">
            <a:avLst/>
          </a:prstGeom>
          <a:ln>
            <a:noFill/>
          </a:ln>
        </p:spPr>
        <p:txBody>
          <a:bodyPr anchor="t" anchorCtr="0"/>
          <a:lstStyle>
            <a:lvl1pPr marL="0" indent="0" algn="l">
              <a:buNone/>
              <a:defRPr sz="1100" b="0">
                <a:solidFill>
                  <a:schemeClr val="tx1"/>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noProof="0" dirty="0"/>
              <a:t>DATE: 3 October 2014</a:t>
            </a:r>
          </a:p>
        </p:txBody>
      </p:sp>
      <p:sp>
        <p:nvSpPr>
          <p:cNvPr id="21" name="Title 20"/>
          <p:cNvSpPr>
            <a:spLocks noGrp="1"/>
          </p:cNvSpPr>
          <p:nvPr>
            <p:ph type="title" hasCustomPrompt="1"/>
          </p:nvPr>
        </p:nvSpPr>
        <p:spPr>
          <a:xfrm>
            <a:off x="5639120" y="2708920"/>
            <a:ext cx="5665556" cy="648000"/>
          </a:xfrm>
        </p:spPr>
        <p:txBody>
          <a:bodyPr/>
          <a:lstStyle>
            <a:lvl1pPr>
              <a:defRPr/>
            </a:lvl1pPr>
          </a:lstStyle>
          <a:p>
            <a:r>
              <a:rPr lang="en-US" dirty="0"/>
              <a:t>Click to add title</a:t>
            </a:r>
            <a:endParaRPr lang="en-AU" dirty="0"/>
          </a:p>
        </p:txBody>
      </p:sp>
      <p:sp>
        <p:nvSpPr>
          <p:cNvPr id="23" name="Text Placeholder 22"/>
          <p:cNvSpPr>
            <a:spLocks noGrp="1"/>
          </p:cNvSpPr>
          <p:nvPr>
            <p:ph type="body" sz="quarter" idx="15" hasCustomPrompt="1"/>
          </p:nvPr>
        </p:nvSpPr>
        <p:spPr>
          <a:xfrm>
            <a:off x="5638360" y="3357564"/>
            <a:ext cx="5666316" cy="503237"/>
          </a:xfrm>
        </p:spPr>
        <p:txBody>
          <a:bodyPr/>
          <a:lstStyle>
            <a:lvl1pPr marL="0" indent="0">
              <a:buNone/>
              <a:defRPr cap="all" baseline="0">
                <a:solidFill>
                  <a:schemeClr val="accent1"/>
                </a:solidFill>
                <a:latin typeface="+mj-lt"/>
              </a:defRPr>
            </a:lvl1pPr>
          </a:lstStyle>
          <a:p>
            <a:pPr lvl="0"/>
            <a:r>
              <a:rPr lang="en-AU" dirty="0"/>
              <a:t>Click to add subtitle</a:t>
            </a:r>
          </a:p>
        </p:txBody>
      </p:sp>
      <p:pic>
        <p:nvPicPr>
          <p:cNvPr id="9" name="Picture 8" descr="MAC21_190.5x254_PowerPoint_Images_Cov v3.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95" y="0"/>
            <a:ext cx="4383024" cy="6858000"/>
          </a:xfrm>
          <a:prstGeom prst="rect">
            <a:avLst/>
          </a:prstGeom>
        </p:spPr>
      </p:pic>
      <p:pic>
        <p:nvPicPr>
          <p:cNvPr id="10" name="Picture 9">
            <a:extLst>
              <a:ext uri="{FF2B5EF4-FFF2-40B4-BE49-F238E27FC236}">
                <a16:creationId xmlns:a16="http://schemas.microsoft.com/office/drawing/2014/main" id="{4CF0B494-A7A4-6F4C-8E15-141F578E022F}"/>
              </a:ext>
            </a:extLst>
          </p:cNvPr>
          <p:cNvPicPr>
            <a:picLocks noChangeAspect="1"/>
          </p:cNvPicPr>
          <p:nvPr/>
        </p:nvPicPr>
        <p:blipFill>
          <a:blip r:embed="rId3"/>
          <a:stretch>
            <a:fillRect/>
          </a:stretch>
        </p:blipFill>
        <p:spPr>
          <a:xfrm>
            <a:off x="9673174" y="217272"/>
            <a:ext cx="2037600" cy="804766"/>
          </a:xfrm>
          <a:prstGeom prst="rect">
            <a:avLst/>
          </a:prstGeom>
        </p:spPr>
      </p:pic>
    </p:spTree>
    <p:extLst>
      <p:ext uri="{BB962C8B-B14F-4D97-AF65-F5344CB8AC3E}">
        <p14:creationId xmlns:p14="http://schemas.microsoft.com/office/powerpoint/2010/main" val="35054278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One Column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a:lstStyle/>
          <a:p>
            <a:r>
              <a:rPr lang="en-US" dirty="0"/>
              <a:t>Click to edit master title style</a:t>
            </a:r>
            <a:endParaRPr lang="en-AU" dirty="0"/>
          </a:p>
        </p:txBody>
      </p:sp>
      <p:sp>
        <p:nvSpPr>
          <p:cNvPr id="3" name="Content Placeholder 2"/>
          <p:cNvSpPr>
            <a:spLocks noGrp="1"/>
          </p:cNvSpPr>
          <p:nvPr>
            <p:ph idx="1" hasCustomPrompt="1"/>
          </p:nvPr>
        </p:nvSpPr>
        <p:spPr>
          <a:xfrm>
            <a:off x="720000" y="1620000"/>
            <a:ext cx="10800001" cy="4525963"/>
          </a:xfrm>
        </p:spPr>
        <p:txBody>
          <a:bodyPr/>
          <a:lstStyle>
            <a:lvl1pPr marL="0" indent="0">
              <a:buNone/>
              <a:defRPr baseline="0"/>
            </a:lvl1pPr>
          </a:lstStyle>
          <a:p>
            <a:pPr lvl="0"/>
            <a:r>
              <a:rPr lang="en-AU" dirty="0"/>
              <a:t>Content no bullets</a:t>
            </a:r>
          </a:p>
        </p:txBody>
      </p:sp>
      <p:sp>
        <p:nvSpPr>
          <p:cNvPr id="5" name="Footer Placeholder 4"/>
          <p:cNvSpPr>
            <a:spLocks noGrp="1"/>
          </p:cNvSpPr>
          <p:nvPr>
            <p:ph type="ftr" sz="quarter" idx="11"/>
          </p:nvPr>
        </p:nvSpPr>
        <p:spPr>
          <a:xfrm>
            <a:off x="720000" y="6381329"/>
            <a:ext cx="5304664"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844800" cy="365125"/>
          </a:xfrm>
        </p:spPr>
        <p:txBody>
          <a:bodyPr/>
          <a:lstStyle>
            <a:lvl1pPr>
              <a:defRPr sz="1050"/>
            </a:lvl1p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475914"/>
          </a:xfrm>
        </p:spPr>
        <p:txBody>
          <a:bodyPr/>
          <a:lstStyle>
            <a:lvl1pPr marL="0" indent="0">
              <a:buNone/>
              <a:defRPr cap="all" baseline="0">
                <a:solidFill>
                  <a:schemeClr val="accent1"/>
                </a:solidFill>
                <a:latin typeface="+mj-lt"/>
              </a:defRPr>
            </a:lvl1pPr>
          </a:lstStyle>
          <a:p>
            <a:pPr lvl="0"/>
            <a:r>
              <a:rPr lang="en-AU" dirty="0"/>
              <a:t>Click to ADD SUBTITLE</a:t>
            </a:r>
          </a:p>
        </p:txBody>
      </p:sp>
    </p:spTree>
    <p:extLst>
      <p:ext uri="{BB962C8B-B14F-4D97-AF65-F5344CB8AC3E}">
        <p14:creationId xmlns:p14="http://schemas.microsoft.com/office/powerpoint/2010/main" val="31625391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One Column Bullets">
    <p:spTree>
      <p:nvGrpSpPr>
        <p:cNvPr id="1" name=""/>
        <p:cNvGrpSpPr/>
        <p:nvPr/>
      </p:nvGrpSpPr>
      <p:grpSpPr>
        <a:xfrm>
          <a:off x="0" y="0"/>
          <a:ext cx="0" cy="0"/>
          <a:chOff x="0" y="0"/>
          <a:chExt cx="0" cy="0"/>
        </a:xfrm>
      </p:grpSpPr>
      <p:sp>
        <p:nvSpPr>
          <p:cNvPr id="8" name="Content Placeholder 7"/>
          <p:cNvSpPr>
            <a:spLocks noGrp="1"/>
          </p:cNvSpPr>
          <p:nvPr>
            <p:ph sz="quarter" idx="16"/>
          </p:nvPr>
        </p:nvSpPr>
        <p:spPr>
          <a:xfrm>
            <a:off x="720000" y="1620000"/>
            <a:ext cx="10776675" cy="4524375"/>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2" name="Title 1"/>
          <p:cNvSpPr>
            <a:spLocks noGrp="1"/>
          </p:cNvSpPr>
          <p:nvPr>
            <p:ph type="title" hasCustomPrompt="1"/>
          </p:nvPr>
        </p:nvSpPr>
        <p:spPr>
          <a:xfrm>
            <a:off x="720000" y="274638"/>
            <a:ext cx="8458276" cy="648000"/>
          </a:xfrm>
        </p:spPr>
        <p:txBody>
          <a:bodyPr/>
          <a:lstStyle/>
          <a:p>
            <a:r>
              <a:rPr lang="en-US" dirty="0"/>
              <a:t>Click to edit master title style</a:t>
            </a:r>
            <a:endParaRPr lang="en-AU" dirty="0"/>
          </a:p>
        </p:txBody>
      </p:sp>
      <p:sp>
        <p:nvSpPr>
          <p:cNvPr id="5" name="Footer Placeholder 4"/>
          <p:cNvSpPr>
            <a:spLocks noGrp="1"/>
          </p:cNvSpPr>
          <p:nvPr>
            <p:ph type="ftr" sz="quarter" idx="11"/>
          </p:nvPr>
        </p:nvSpPr>
        <p:spPr>
          <a:xfrm>
            <a:off x="623392" y="6381329"/>
            <a:ext cx="5376597"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759075" cy="365125"/>
          </a:xfrm>
        </p:spPr>
        <p:txBody>
          <a:body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386680"/>
          </a:xfrm>
        </p:spPr>
        <p:txBody>
          <a:bodyPr/>
          <a:lstStyle>
            <a:lvl1pPr marL="0" indent="0">
              <a:buNone/>
              <a:defRPr cap="all" baseline="0">
                <a:solidFill>
                  <a:schemeClr val="accent1"/>
                </a:solidFill>
                <a:latin typeface="+mj-lt"/>
              </a:defRPr>
            </a:lvl1pPr>
          </a:lstStyle>
          <a:p>
            <a:pPr lvl="0"/>
            <a:r>
              <a:rPr lang="en-AU" dirty="0"/>
              <a:t>Click to ADD SUBTITLE</a:t>
            </a:r>
          </a:p>
        </p:txBody>
      </p:sp>
    </p:spTree>
    <p:extLst>
      <p:ext uri="{BB962C8B-B14F-4D97-AF65-F5344CB8AC3E}">
        <p14:creationId xmlns:p14="http://schemas.microsoft.com/office/powerpoint/2010/main" val="2028980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lumn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lIns="0" tIns="0" rIns="0" bIns="0"/>
          <a:lstStyle/>
          <a:p>
            <a:r>
              <a:rPr lang="en-US" dirty="0"/>
              <a:t>Click to edit master title style</a:t>
            </a:r>
            <a:endParaRPr lang="en-AU" dirty="0"/>
          </a:p>
        </p:txBody>
      </p:sp>
      <p:sp>
        <p:nvSpPr>
          <p:cNvPr id="3" name="Content Placeholder 2"/>
          <p:cNvSpPr>
            <a:spLocks noGrp="1"/>
          </p:cNvSpPr>
          <p:nvPr>
            <p:ph idx="1" hasCustomPrompt="1"/>
          </p:nvPr>
        </p:nvSpPr>
        <p:spPr>
          <a:xfrm>
            <a:off x="720000" y="1620000"/>
            <a:ext cx="5220000" cy="4525963"/>
          </a:xfrm>
        </p:spPr>
        <p:txBody>
          <a:bodyPr lIns="0" tIns="0" rIns="0" bIns="0" numCol="1" spcCol="144000"/>
          <a:lstStyle>
            <a:lvl1pPr marL="0" indent="0">
              <a:buNone/>
              <a:defRPr baseline="0"/>
            </a:lvl1pPr>
          </a:lstStyle>
          <a:p>
            <a:pPr lvl="0"/>
            <a:r>
              <a:rPr lang="en-AU" dirty="0"/>
              <a:t>Two Column content no bullets</a:t>
            </a:r>
          </a:p>
        </p:txBody>
      </p:sp>
      <p:sp>
        <p:nvSpPr>
          <p:cNvPr id="5" name="Footer Placeholder 4"/>
          <p:cNvSpPr>
            <a:spLocks noGrp="1"/>
          </p:cNvSpPr>
          <p:nvPr>
            <p:ph type="ftr" sz="quarter" idx="11"/>
          </p:nvPr>
        </p:nvSpPr>
        <p:spPr>
          <a:xfrm>
            <a:off x="720000" y="6381329"/>
            <a:ext cx="5376597"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844800" cy="365125"/>
          </a:xfrm>
        </p:spPr>
        <p:txBody>
          <a:body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425430"/>
          </a:xfrm>
        </p:spPr>
        <p:txBody>
          <a:bodyPr lIns="0" tIns="0" rIns="0" bIns="0"/>
          <a:lstStyle>
            <a:lvl1pPr marL="0" indent="0">
              <a:buNone/>
              <a:defRPr cap="all" baseline="0">
                <a:solidFill>
                  <a:schemeClr val="accent1"/>
                </a:solidFill>
                <a:latin typeface="+mj-lt"/>
              </a:defRPr>
            </a:lvl1pPr>
          </a:lstStyle>
          <a:p>
            <a:pPr lvl="0"/>
            <a:r>
              <a:rPr lang="en-AU" dirty="0"/>
              <a:t>Click to ADD SUBTITLE</a:t>
            </a:r>
          </a:p>
        </p:txBody>
      </p:sp>
      <p:sp>
        <p:nvSpPr>
          <p:cNvPr id="8" name="Content Placeholder 2"/>
          <p:cNvSpPr>
            <a:spLocks noGrp="1"/>
          </p:cNvSpPr>
          <p:nvPr>
            <p:ph idx="16" hasCustomPrompt="1"/>
          </p:nvPr>
        </p:nvSpPr>
        <p:spPr>
          <a:xfrm>
            <a:off x="6248400" y="1620000"/>
            <a:ext cx="5220000" cy="4525963"/>
          </a:xfrm>
        </p:spPr>
        <p:txBody>
          <a:bodyPr lIns="0" tIns="0" rIns="0" bIns="0" numCol="1" spcCol="144000"/>
          <a:lstStyle>
            <a:lvl1pPr marL="0" indent="0">
              <a:buNone/>
              <a:defRPr baseline="0"/>
            </a:lvl1pPr>
          </a:lstStyle>
          <a:p>
            <a:pPr lvl="0"/>
            <a:r>
              <a:rPr lang="en-AU" dirty="0"/>
              <a:t>Two Column content no bullets</a:t>
            </a:r>
          </a:p>
        </p:txBody>
      </p:sp>
    </p:spTree>
    <p:extLst>
      <p:ext uri="{BB962C8B-B14F-4D97-AF65-F5344CB8AC3E}">
        <p14:creationId xmlns:p14="http://schemas.microsoft.com/office/powerpoint/2010/main" val="264008"/>
      </p:ext>
    </p:extLst>
  </p:cSld>
  <p:clrMapOvr>
    <a:masterClrMapping/>
  </p:clrMapOvr>
  <p:extLst>
    <p:ext uri="{DCECCB84-F9BA-43D5-87BE-67443E8EF086}">
      <p15:sldGuideLst xmlns:p15="http://schemas.microsoft.com/office/powerpoint/2012/main">
        <p15:guide id="1" orient="horz" pos="2160">
          <p15:clr>
            <a:srgbClr val="FBAE40"/>
          </p15:clr>
        </p15:guide>
        <p15:guide id="2" pos="46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Two Column Bulle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a:lstStyle/>
          <a:p>
            <a:r>
              <a:rPr lang="en-US" dirty="0"/>
              <a:t>Click to edit master title style</a:t>
            </a:r>
            <a:endParaRPr lang="en-AU" dirty="0"/>
          </a:p>
        </p:txBody>
      </p:sp>
      <p:sp>
        <p:nvSpPr>
          <p:cNvPr id="5" name="Footer Placeholder 4"/>
          <p:cNvSpPr>
            <a:spLocks noGrp="1"/>
          </p:cNvSpPr>
          <p:nvPr>
            <p:ph type="ftr" sz="quarter" idx="11"/>
          </p:nvPr>
        </p:nvSpPr>
        <p:spPr>
          <a:xfrm>
            <a:off x="720000" y="6381329"/>
            <a:ext cx="5376597"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844800" cy="365125"/>
          </a:xfrm>
        </p:spPr>
        <p:txBody>
          <a:bodyPr/>
          <a:lstStyle>
            <a:lvl1pPr>
              <a:defRPr sz="1050"/>
            </a:lvl1p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443830"/>
          </a:xfrm>
        </p:spPr>
        <p:txBody>
          <a:bodyPr/>
          <a:lstStyle>
            <a:lvl1pPr marL="0" indent="0">
              <a:buNone/>
              <a:defRPr cap="all" baseline="0">
                <a:solidFill>
                  <a:schemeClr val="accent1"/>
                </a:solidFill>
                <a:latin typeface="+mj-lt"/>
              </a:defRPr>
            </a:lvl1pPr>
          </a:lstStyle>
          <a:p>
            <a:pPr lvl="0"/>
            <a:r>
              <a:rPr lang="en-AU" dirty="0"/>
              <a:t>Click to ADD SUBTITLE </a:t>
            </a:r>
          </a:p>
        </p:txBody>
      </p:sp>
      <p:sp>
        <p:nvSpPr>
          <p:cNvPr id="9" name="Text Placeholder 8"/>
          <p:cNvSpPr>
            <a:spLocks noGrp="1"/>
          </p:cNvSpPr>
          <p:nvPr>
            <p:ph type="body" sz="quarter" idx="17"/>
          </p:nvPr>
        </p:nvSpPr>
        <p:spPr>
          <a:xfrm>
            <a:off x="720000" y="1620000"/>
            <a:ext cx="5220000" cy="4529137"/>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0" name="Text Placeholder 8"/>
          <p:cNvSpPr>
            <a:spLocks noGrp="1"/>
          </p:cNvSpPr>
          <p:nvPr>
            <p:ph type="body" sz="quarter" idx="18"/>
          </p:nvPr>
        </p:nvSpPr>
        <p:spPr>
          <a:xfrm>
            <a:off x="6362400" y="1620000"/>
            <a:ext cx="5220000" cy="4529137"/>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26290293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a:lstStyle/>
          <a:p>
            <a:r>
              <a:rPr lang="en-US" dirty="0"/>
              <a:t>Click to edit master title style</a:t>
            </a:r>
            <a:endParaRPr lang="en-AU" dirty="0"/>
          </a:p>
        </p:txBody>
      </p:sp>
      <p:sp>
        <p:nvSpPr>
          <p:cNvPr id="5" name="Footer Placeholder 4"/>
          <p:cNvSpPr>
            <a:spLocks noGrp="1"/>
          </p:cNvSpPr>
          <p:nvPr>
            <p:ph type="ftr" sz="quarter" idx="11"/>
          </p:nvPr>
        </p:nvSpPr>
        <p:spPr>
          <a:xfrm>
            <a:off x="720000" y="6381329"/>
            <a:ext cx="5376597"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844800" cy="365125"/>
          </a:xfrm>
        </p:spPr>
        <p:txBody>
          <a:body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443830"/>
          </a:xfrm>
        </p:spPr>
        <p:txBody>
          <a:bodyPr/>
          <a:lstStyle>
            <a:lvl1pPr marL="0" indent="0">
              <a:buNone/>
              <a:defRPr cap="all" baseline="0">
                <a:solidFill>
                  <a:schemeClr val="accent1"/>
                </a:solidFill>
                <a:latin typeface="+mj-lt"/>
              </a:defRPr>
            </a:lvl1pPr>
          </a:lstStyle>
          <a:p>
            <a:pPr lvl="0"/>
            <a:r>
              <a:rPr lang="en-AU" dirty="0"/>
              <a:t>Click to ADD SUBTITLE</a:t>
            </a:r>
          </a:p>
        </p:txBody>
      </p:sp>
    </p:spTree>
    <p:extLst>
      <p:ext uri="{BB962C8B-B14F-4D97-AF65-F5344CB8AC3E}">
        <p14:creationId xmlns:p14="http://schemas.microsoft.com/office/powerpoint/2010/main" val="20601209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a:lstStyle/>
          <a:p>
            <a:r>
              <a:rPr lang="en-US" dirty="0"/>
              <a:t>Click to edit master title style</a:t>
            </a:r>
            <a:endParaRPr lang="en-AU" dirty="0"/>
          </a:p>
        </p:txBody>
      </p:sp>
      <p:sp>
        <p:nvSpPr>
          <p:cNvPr id="5" name="Footer Placeholder 4"/>
          <p:cNvSpPr>
            <a:spLocks noGrp="1"/>
          </p:cNvSpPr>
          <p:nvPr>
            <p:ph type="ftr" sz="quarter" idx="11"/>
          </p:nvPr>
        </p:nvSpPr>
        <p:spPr>
          <a:xfrm>
            <a:off x="720000" y="6381329"/>
            <a:ext cx="5376597"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844800" cy="365125"/>
          </a:xfrm>
        </p:spPr>
        <p:txBody>
          <a:body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475151"/>
          </a:xfrm>
        </p:spPr>
        <p:txBody>
          <a:bodyPr/>
          <a:lstStyle>
            <a:lvl1pPr marL="0" indent="0">
              <a:buNone/>
              <a:defRPr cap="all" baseline="0">
                <a:solidFill>
                  <a:schemeClr val="accent1"/>
                </a:solidFill>
                <a:latin typeface="+mj-lt"/>
              </a:defRPr>
            </a:lvl1pPr>
          </a:lstStyle>
          <a:p>
            <a:pPr lvl="0"/>
            <a:r>
              <a:rPr lang="en-AU" dirty="0"/>
              <a:t>Click to ADD SUBTITLE</a:t>
            </a:r>
          </a:p>
        </p:txBody>
      </p:sp>
      <p:sp>
        <p:nvSpPr>
          <p:cNvPr id="4" name="Picture Placeholder 3"/>
          <p:cNvSpPr>
            <a:spLocks noGrp="1"/>
          </p:cNvSpPr>
          <p:nvPr>
            <p:ph type="pic" sz="quarter" idx="16"/>
          </p:nvPr>
        </p:nvSpPr>
        <p:spPr>
          <a:xfrm>
            <a:off x="720000" y="1620000"/>
            <a:ext cx="10752000" cy="4525200"/>
          </a:xfrm>
        </p:spPr>
        <p:txBody>
          <a:bodyPr/>
          <a:lstStyle/>
          <a:p>
            <a:r>
              <a:rPr lang="en-US"/>
              <a:t>Click icon to add picture</a:t>
            </a:r>
            <a:endParaRPr lang="en-AU" dirty="0"/>
          </a:p>
        </p:txBody>
      </p:sp>
    </p:spTree>
    <p:extLst>
      <p:ext uri="{BB962C8B-B14F-4D97-AF65-F5344CB8AC3E}">
        <p14:creationId xmlns:p14="http://schemas.microsoft.com/office/powerpoint/2010/main" val="1859987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623392" y="6309321"/>
            <a:ext cx="5472608" cy="365125"/>
          </a:xfrm>
        </p:spPr>
        <p:txBody>
          <a:bodyPr/>
          <a:lstStyle/>
          <a:p>
            <a:endParaRPr lang="en-US"/>
          </a:p>
        </p:txBody>
      </p:sp>
      <p:sp>
        <p:nvSpPr>
          <p:cNvPr id="4" name="Slide Number Placeholder 3"/>
          <p:cNvSpPr>
            <a:spLocks noGrp="1"/>
          </p:cNvSpPr>
          <p:nvPr>
            <p:ph type="sldNum" sz="quarter" idx="12"/>
          </p:nvPr>
        </p:nvSpPr>
        <p:spPr>
          <a:xfrm>
            <a:off x="8737600" y="6309321"/>
            <a:ext cx="2844800" cy="365125"/>
          </a:xfrm>
        </p:spPr>
        <p:txBody>
          <a:bodyPr/>
          <a:lstStyle/>
          <a:p>
            <a:fld id="{A7E59BBE-8B91-6A4A-80E8-2EE021604ECB}" type="slidenum">
              <a:rPr lang="en-US" smtClean="0"/>
              <a:t>‹#›</a:t>
            </a:fld>
            <a:endParaRPr lang="en-US"/>
          </a:p>
        </p:txBody>
      </p:sp>
    </p:spTree>
    <p:extLst>
      <p:ext uri="{BB962C8B-B14F-4D97-AF65-F5344CB8AC3E}">
        <p14:creationId xmlns:p14="http://schemas.microsoft.com/office/powerpoint/2010/main" val="20913776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Box 3"/>
          <p:cNvSpPr txBox="1"/>
          <p:nvPr/>
        </p:nvSpPr>
        <p:spPr>
          <a:xfrm>
            <a:off x="10001277" y="5715016"/>
            <a:ext cx="571504" cy="369332"/>
          </a:xfrm>
          <a:prstGeom prst="rect">
            <a:avLst/>
          </a:prstGeom>
          <a:noFill/>
        </p:spPr>
        <p:txBody>
          <a:bodyPr wrap="square" rtlCol="0">
            <a:spAutoFit/>
          </a:bodyPr>
          <a:lstStyle/>
          <a:p>
            <a:endParaRPr lang="en-AU" sz="1800" dirty="0"/>
          </a:p>
        </p:txBody>
      </p:sp>
    </p:spTree>
    <p:extLst>
      <p:ext uri="{BB962C8B-B14F-4D97-AF65-F5344CB8AC3E}">
        <p14:creationId xmlns:p14="http://schemas.microsoft.com/office/powerpoint/2010/main" val="21869305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38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720000" y="274638"/>
            <a:ext cx="8458276" cy="64800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A7E59BBE-8B91-6A4A-80E8-2EE021604ECB}" type="slidenum">
              <a:rPr lang="en-US" smtClean="0"/>
              <a:t>‹#›</a:t>
            </a:fld>
            <a:endParaRPr lang="en-US"/>
          </a:p>
        </p:txBody>
      </p:sp>
      <p:sp>
        <p:nvSpPr>
          <p:cNvPr id="4" name="Date Placeholder 3"/>
          <p:cNvSpPr>
            <a:spLocks noGrp="1"/>
          </p:cNvSpPr>
          <p:nvPr>
            <p:ph type="dt" sz="half" idx="11"/>
          </p:nvPr>
        </p:nvSpPr>
        <p:spPr/>
        <p:txBody>
          <a:bodyPr/>
          <a:lstStyle>
            <a:lvl1pPr>
              <a:defRPr/>
            </a:lvl1pPr>
          </a:lstStyle>
          <a:p>
            <a:endParaRPr lang="en-US"/>
          </a:p>
        </p:txBody>
      </p:sp>
      <p:sp>
        <p:nvSpPr>
          <p:cNvPr id="5" name="Content Placeholder 4"/>
          <p:cNvSpPr>
            <a:spLocks noGrp="1"/>
          </p:cNvSpPr>
          <p:nvPr>
            <p:ph sz="quarter" idx="13" hasCustomPrompt="1"/>
          </p:nvPr>
        </p:nvSpPr>
        <p:spPr>
          <a:xfrm>
            <a:off x="720000" y="1620000"/>
            <a:ext cx="8507963" cy="4490720"/>
          </a:xfrm>
        </p:spPr>
        <p:txBody>
          <a:bodyPr>
            <a:noAutofit/>
          </a:bodyPr>
          <a:lstStyle>
            <a:lvl7pPr>
              <a:buNone/>
              <a:defRPr/>
            </a:lvl7pPr>
            <a:lvl8pPr>
              <a:buNone/>
              <a:defRPr/>
            </a:lvl8pPr>
          </a:lstStyle>
          <a:p>
            <a:r>
              <a:rPr lang="en-US" b="1" dirty="0">
                <a:solidFill>
                  <a:srgbClr val="6D0020"/>
                </a:solidFill>
              </a:rPr>
              <a:t>HEADER INFO</a:t>
            </a:r>
          </a:p>
          <a:p>
            <a:r>
              <a:rPr lang="en-US" dirty="0" err="1">
                <a:latin typeface="Georgia"/>
                <a:cs typeface="Georgia"/>
              </a:rPr>
              <a:t>Consectetur</a:t>
            </a:r>
            <a:r>
              <a:rPr lang="en-US" dirty="0">
                <a:latin typeface="Georgia"/>
                <a:cs typeface="Georgia"/>
              </a:rPr>
              <a:t>  met </a:t>
            </a:r>
            <a:r>
              <a:rPr lang="en-US" dirty="0" err="1">
                <a:latin typeface="Georgia"/>
                <a:cs typeface="Georgia"/>
              </a:rPr>
              <a:t>adipiscing</a:t>
            </a:r>
            <a:r>
              <a:rPr lang="en-US" dirty="0">
                <a:latin typeface="Georgia"/>
                <a:cs typeface="Georgia"/>
              </a:rPr>
              <a:t> </a:t>
            </a:r>
            <a:r>
              <a:rPr lang="en-US" dirty="0" err="1">
                <a:latin typeface="Georgia"/>
                <a:cs typeface="Georgia"/>
              </a:rPr>
              <a:t>elit</a:t>
            </a:r>
            <a:r>
              <a:rPr lang="en-US" dirty="0">
                <a:latin typeface="Georgia"/>
                <a:cs typeface="Georgia"/>
              </a:rPr>
              <a:t>. </a:t>
            </a:r>
            <a:r>
              <a:rPr lang="en-US" dirty="0" err="1">
                <a:latin typeface="Georgia"/>
                <a:cs typeface="Georgia"/>
              </a:rPr>
              <a:t>Aenean</a:t>
            </a:r>
            <a:r>
              <a:rPr lang="en-US" dirty="0">
                <a:latin typeface="Georgia"/>
                <a:cs typeface="Georgia"/>
              </a:rPr>
              <a:t> ac </a:t>
            </a:r>
            <a:r>
              <a:rPr lang="en-US" dirty="0" err="1">
                <a:latin typeface="Georgia"/>
                <a:cs typeface="Georgia"/>
              </a:rPr>
              <a:t>elit</a:t>
            </a:r>
            <a:r>
              <a:rPr lang="en-US" dirty="0">
                <a:latin typeface="Georgia"/>
                <a:cs typeface="Georgia"/>
              </a:rPr>
              <a:t> a </a:t>
            </a:r>
            <a:r>
              <a:rPr lang="en-US" dirty="0" err="1">
                <a:latin typeface="Georgia"/>
                <a:cs typeface="Georgia"/>
              </a:rPr>
              <a:t>felis</a:t>
            </a:r>
            <a:r>
              <a:rPr lang="en-US" dirty="0">
                <a:latin typeface="Georgia"/>
                <a:cs typeface="Georgia"/>
              </a:rPr>
              <a:t> </a:t>
            </a:r>
            <a:r>
              <a:rPr lang="en-US" dirty="0" err="1">
                <a:latin typeface="Georgia"/>
                <a:cs typeface="Georgia"/>
              </a:rPr>
              <a:t>pharetra</a:t>
            </a:r>
            <a:r>
              <a:rPr lang="en-US" dirty="0">
                <a:latin typeface="Georgia"/>
                <a:cs typeface="Georgia"/>
              </a:rPr>
              <a:t> </a:t>
            </a:r>
            <a:br>
              <a:rPr lang="en-US" dirty="0">
                <a:latin typeface="Georgia"/>
                <a:cs typeface="Georgia"/>
              </a:rPr>
            </a:br>
            <a:r>
              <a:rPr lang="en-US" dirty="0" err="1">
                <a:latin typeface="Georgia"/>
                <a:cs typeface="Georgia"/>
              </a:rPr>
              <a:t>vel</a:t>
            </a:r>
            <a:r>
              <a:rPr lang="en-US" dirty="0">
                <a:latin typeface="Georgia"/>
                <a:cs typeface="Georgia"/>
              </a:rPr>
              <a:t> </a:t>
            </a:r>
            <a:r>
              <a:rPr lang="en-US" dirty="0" err="1">
                <a:latin typeface="Georgia"/>
                <a:cs typeface="Georgia"/>
              </a:rPr>
              <a:t>Fringilla</a:t>
            </a:r>
            <a:r>
              <a:rPr lang="en-US" dirty="0">
                <a:latin typeface="Georgia"/>
                <a:cs typeface="Georgia"/>
              </a:rPr>
              <a:t> </a:t>
            </a:r>
            <a:r>
              <a:rPr lang="en-US" dirty="0" err="1">
                <a:latin typeface="Georgia"/>
                <a:cs typeface="Georgia"/>
              </a:rPr>
              <a:t>elit</a:t>
            </a:r>
            <a:r>
              <a:rPr lang="en-US" dirty="0">
                <a:latin typeface="Georgia"/>
                <a:cs typeface="Georgia"/>
              </a:rPr>
              <a:t> </a:t>
            </a:r>
            <a:r>
              <a:rPr lang="en-US" dirty="0" err="1">
                <a:latin typeface="Georgia"/>
                <a:cs typeface="Georgia"/>
              </a:rPr>
              <a:t>Duis</a:t>
            </a:r>
            <a:r>
              <a:rPr lang="en-US" dirty="0">
                <a:latin typeface="Georgia"/>
                <a:cs typeface="Georgia"/>
              </a:rPr>
              <a:t> dui </a:t>
            </a:r>
            <a:r>
              <a:rPr lang="en-US" dirty="0" err="1">
                <a:latin typeface="Georgia"/>
                <a:cs typeface="Georgia"/>
              </a:rPr>
              <a:t>arcu</a:t>
            </a:r>
            <a:r>
              <a:rPr lang="en-US" dirty="0">
                <a:latin typeface="Georgia"/>
                <a:cs typeface="Georgia"/>
              </a:rPr>
              <a:t>, </a:t>
            </a:r>
            <a:r>
              <a:rPr lang="en-US" dirty="0" err="1">
                <a:latin typeface="Georgia"/>
                <a:cs typeface="Georgia"/>
              </a:rPr>
              <a:t>amet</a:t>
            </a:r>
            <a:r>
              <a:rPr lang="en-US" dirty="0">
                <a:latin typeface="Georgia"/>
                <a:cs typeface="Georgia"/>
              </a:rPr>
              <a:t> </a:t>
            </a:r>
            <a:r>
              <a:rPr lang="en-US" dirty="0" err="1">
                <a:latin typeface="Georgia"/>
                <a:cs typeface="Georgia"/>
              </a:rPr>
              <a:t>scelerisque</a:t>
            </a:r>
            <a:r>
              <a:rPr lang="en-US" dirty="0">
                <a:latin typeface="Georgia"/>
                <a:cs typeface="Georgia"/>
              </a:rPr>
              <a:t> </a:t>
            </a:r>
            <a:r>
              <a:rPr lang="en-US" dirty="0" err="1">
                <a:latin typeface="Georgia"/>
                <a:cs typeface="Georgia"/>
              </a:rPr>
              <a:t>nec</a:t>
            </a:r>
            <a:r>
              <a:rPr lang="en-US" dirty="0">
                <a:latin typeface="Georgia"/>
                <a:cs typeface="Georgia"/>
              </a:rPr>
              <a:t> dictum </a:t>
            </a:r>
            <a:br>
              <a:rPr lang="en-US" dirty="0">
                <a:latin typeface="Georgia"/>
                <a:cs typeface="Georgia"/>
              </a:rPr>
            </a:br>
            <a:r>
              <a:rPr lang="en-US" dirty="0">
                <a:latin typeface="Georgia"/>
                <a:cs typeface="Georgia"/>
              </a:rPr>
              <a:t>ac </a:t>
            </a:r>
            <a:r>
              <a:rPr lang="en-US" dirty="0" err="1">
                <a:latin typeface="Georgia"/>
                <a:cs typeface="Georgia"/>
              </a:rPr>
              <a:t>conse</a:t>
            </a:r>
            <a:r>
              <a:rPr lang="en-US" dirty="0">
                <a:latin typeface="Georgia"/>
                <a:cs typeface="Georgia"/>
              </a:rPr>
              <a:t> </a:t>
            </a:r>
            <a:r>
              <a:rPr lang="en-US" dirty="0" err="1">
                <a:latin typeface="Georgia"/>
                <a:cs typeface="Georgia"/>
              </a:rPr>
              <a:t>eu</a:t>
            </a:r>
            <a:r>
              <a:rPr lang="en-US" dirty="0">
                <a:latin typeface="Georgia"/>
                <a:cs typeface="Georgia"/>
              </a:rPr>
              <a:t> </a:t>
            </a:r>
            <a:r>
              <a:rPr lang="en-US" dirty="0" err="1">
                <a:latin typeface="Georgia"/>
                <a:cs typeface="Georgia"/>
              </a:rPr>
              <a:t>elit</a:t>
            </a:r>
            <a:r>
              <a:rPr lang="en-US" dirty="0">
                <a:latin typeface="Georgia"/>
                <a:cs typeface="Georgia"/>
              </a:rPr>
              <a:t> </a:t>
            </a:r>
            <a:r>
              <a:rPr lang="en-US" dirty="0" err="1">
                <a:latin typeface="Georgia"/>
                <a:cs typeface="Georgia"/>
              </a:rPr>
              <a:t>Donec</a:t>
            </a:r>
            <a:r>
              <a:rPr lang="en-US" dirty="0">
                <a:latin typeface="Georgia"/>
                <a:cs typeface="Georgia"/>
              </a:rPr>
              <a:t> </a:t>
            </a:r>
            <a:r>
              <a:rPr lang="en-US" dirty="0" err="1">
                <a:latin typeface="Georgia"/>
                <a:cs typeface="Georgia"/>
              </a:rPr>
              <a:t>tincid</a:t>
            </a:r>
            <a:r>
              <a:rPr lang="en-US" dirty="0">
                <a:latin typeface="Georgia"/>
                <a:cs typeface="Georgia"/>
              </a:rPr>
              <a:t> </a:t>
            </a:r>
            <a:r>
              <a:rPr lang="en-US" dirty="0" err="1">
                <a:latin typeface="Georgia"/>
                <a:cs typeface="Georgia"/>
              </a:rPr>
              <a:t>unt</a:t>
            </a:r>
            <a:r>
              <a:rPr lang="en-US" dirty="0">
                <a:latin typeface="Georgia"/>
                <a:cs typeface="Georgia"/>
              </a:rPr>
              <a:t> </a:t>
            </a:r>
            <a:r>
              <a:rPr lang="en-US" dirty="0" err="1">
                <a:latin typeface="Georgia"/>
                <a:cs typeface="Georgia"/>
              </a:rPr>
              <a:t>enim</a:t>
            </a:r>
            <a:r>
              <a:rPr lang="en-US" dirty="0">
                <a:latin typeface="Georgia"/>
                <a:cs typeface="Georgia"/>
              </a:rPr>
              <a:t> sit </a:t>
            </a:r>
            <a:r>
              <a:rPr lang="en-US" dirty="0" err="1">
                <a:latin typeface="Georgia"/>
                <a:cs typeface="Georgia"/>
              </a:rPr>
              <a:t>amet</a:t>
            </a:r>
            <a:r>
              <a:rPr lang="en-US" dirty="0">
                <a:latin typeface="Georgia"/>
                <a:cs typeface="Georgia"/>
              </a:rPr>
              <a:t> </a:t>
            </a:r>
            <a:r>
              <a:rPr lang="en-US" dirty="0" err="1">
                <a:latin typeface="Georgia"/>
                <a:cs typeface="Georgia"/>
              </a:rPr>
              <a:t>consequat</a:t>
            </a:r>
            <a:r>
              <a:rPr lang="en-US" dirty="0">
                <a:latin typeface="Georgia"/>
                <a:cs typeface="Georgia"/>
              </a:rPr>
              <a:t>.</a:t>
            </a:r>
          </a:p>
          <a:p>
            <a:pPr>
              <a:buFont typeface="Arial"/>
              <a:buChar char="•"/>
            </a:pPr>
            <a:endParaRPr lang="en-US" dirty="0">
              <a:latin typeface="Georgia"/>
              <a:cs typeface="Georgia"/>
            </a:endParaRPr>
          </a:p>
          <a:p>
            <a:pPr>
              <a:buFont typeface="Arial"/>
              <a:buChar char="•"/>
            </a:pPr>
            <a:r>
              <a:rPr lang="en-US" dirty="0" err="1">
                <a:latin typeface="Georgia"/>
                <a:cs typeface="Georgia"/>
              </a:rPr>
              <a:t>Lorum</a:t>
            </a:r>
            <a:r>
              <a:rPr lang="en-US" dirty="0">
                <a:latin typeface="Georgia"/>
                <a:cs typeface="Georgia"/>
              </a:rPr>
              <a:t> </a:t>
            </a:r>
            <a:r>
              <a:rPr lang="en-US" dirty="0" err="1">
                <a:latin typeface="Georgia"/>
                <a:cs typeface="Georgia"/>
              </a:rPr>
              <a:t>ipsum</a:t>
            </a:r>
            <a:r>
              <a:rPr lang="en-US" dirty="0">
                <a:latin typeface="Georgia"/>
                <a:cs typeface="Georgia"/>
              </a:rPr>
              <a:t> </a:t>
            </a:r>
            <a:r>
              <a:rPr lang="en-US" dirty="0" err="1">
                <a:latin typeface="Georgia"/>
                <a:cs typeface="Georgia"/>
              </a:rPr>
              <a:t>dolore</a:t>
            </a:r>
            <a:r>
              <a:rPr lang="en-US" dirty="0">
                <a:latin typeface="Georgia"/>
                <a:cs typeface="Georgia"/>
              </a:rPr>
              <a:t> </a:t>
            </a:r>
            <a:r>
              <a:rPr lang="en-US" dirty="0" err="1">
                <a:latin typeface="Georgia"/>
                <a:cs typeface="Georgia"/>
              </a:rPr>
              <a:t>melior</a:t>
            </a:r>
            <a:r>
              <a:rPr lang="en-US" dirty="0">
                <a:latin typeface="Georgia"/>
                <a:cs typeface="Georgia"/>
              </a:rPr>
              <a:t> </a:t>
            </a:r>
            <a:r>
              <a:rPr lang="en-US" dirty="0" err="1">
                <a:latin typeface="Georgia"/>
                <a:cs typeface="Georgia"/>
              </a:rPr>
              <a:t>nonne</a:t>
            </a:r>
            <a:r>
              <a:rPr lang="en-US" dirty="0">
                <a:latin typeface="Georgia"/>
                <a:cs typeface="Georgia"/>
              </a:rPr>
              <a:t> </a:t>
            </a:r>
            <a:r>
              <a:rPr lang="en-US" dirty="0" err="1">
                <a:latin typeface="Georgia"/>
                <a:cs typeface="Georgia"/>
              </a:rPr>
              <a:t>tutte</a:t>
            </a:r>
            <a:r>
              <a:rPr lang="en-US" dirty="0">
                <a:latin typeface="Georgia"/>
                <a:cs typeface="Georgia"/>
              </a:rPr>
              <a:t> san </a:t>
            </a:r>
            <a:r>
              <a:rPr lang="en-US" dirty="0" err="1">
                <a:latin typeface="Georgia"/>
                <a:cs typeface="Georgia"/>
              </a:rPr>
              <a:t>toro</a:t>
            </a:r>
            <a:r>
              <a:rPr lang="en-US" dirty="0">
                <a:latin typeface="Georgia"/>
                <a:cs typeface="Georgia"/>
              </a:rPr>
              <a:t> velum</a:t>
            </a:r>
          </a:p>
          <a:p>
            <a:pPr marL="342900" lvl="7" indent="0"/>
            <a:r>
              <a:rPr lang="en-US" dirty="0" err="1">
                <a:latin typeface="Georgia"/>
                <a:cs typeface="Georgia"/>
              </a:rPr>
              <a:t>Lorum</a:t>
            </a:r>
            <a:r>
              <a:rPr lang="en-US" dirty="0">
                <a:latin typeface="Georgia"/>
                <a:cs typeface="Georgia"/>
              </a:rPr>
              <a:t> </a:t>
            </a:r>
            <a:r>
              <a:rPr lang="en-US" dirty="0" err="1">
                <a:latin typeface="Georgia"/>
                <a:cs typeface="Georgia"/>
              </a:rPr>
              <a:t>ipsum</a:t>
            </a:r>
            <a:r>
              <a:rPr lang="en-US" dirty="0">
                <a:latin typeface="Georgia"/>
                <a:cs typeface="Georgia"/>
              </a:rPr>
              <a:t> </a:t>
            </a:r>
            <a:r>
              <a:rPr lang="en-US" dirty="0" err="1">
                <a:latin typeface="Georgia"/>
                <a:cs typeface="Georgia"/>
              </a:rPr>
              <a:t>dolore</a:t>
            </a:r>
            <a:r>
              <a:rPr lang="en-US" dirty="0">
                <a:latin typeface="Georgia"/>
                <a:cs typeface="Georgia"/>
              </a:rPr>
              <a:t> </a:t>
            </a:r>
            <a:r>
              <a:rPr lang="en-US" dirty="0" err="1">
                <a:latin typeface="Georgia"/>
                <a:cs typeface="Georgia"/>
              </a:rPr>
              <a:t>melior</a:t>
            </a:r>
            <a:r>
              <a:rPr lang="en-US" dirty="0">
                <a:latin typeface="Georgia"/>
                <a:cs typeface="Georgia"/>
              </a:rPr>
              <a:t> </a:t>
            </a:r>
            <a:r>
              <a:rPr lang="en-US" dirty="0" err="1">
                <a:latin typeface="Georgia"/>
                <a:cs typeface="Georgia"/>
              </a:rPr>
              <a:t>nonne</a:t>
            </a:r>
            <a:r>
              <a:rPr lang="en-US" dirty="0">
                <a:latin typeface="Georgia"/>
                <a:cs typeface="Georgia"/>
              </a:rPr>
              <a:t> </a:t>
            </a:r>
            <a:r>
              <a:rPr lang="en-US" dirty="0" err="1">
                <a:latin typeface="Georgia"/>
                <a:cs typeface="Georgia"/>
              </a:rPr>
              <a:t>tutte</a:t>
            </a:r>
            <a:r>
              <a:rPr lang="en-US" dirty="0">
                <a:latin typeface="Georgia"/>
                <a:cs typeface="Georgia"/>
              </a:rPr>
              <a:t> san </a:t>
            </a:r>
            <a:r>
              <a:rPr lang="en-US" dirty="0" err="1">
                <a:latin typeface="Georgia"/>
                <a:cs typeface="Georgia"/>
              </a:rPr>
              <a:t>toro</a:t>
            </a:r>
            <a:endParaRPr lang="en-US" dirty="0">
              <a:latin typeface="Georgia"/>
              <a:cs typeface="Georgia"/>
            </a:endParaRPr>
          </a:p>
          <a:p>
            <a:pPr marL="342900" lvl="7" indent="0"/>
            <a:endParaRPr lang="en-US" dirty="0">
              <a:latin typeface="Georgia"/>
              <a:cs typeface="Georgia"/>
            </a:endParaRPr>
          </a:p>
          <a:p>
            <a:pPr>
              <a:buFont typeface="Arial"/>
              <a:buChar char="•"/>
            </a:pPr>
            <a:r>
              <a:rPr lang="en-US" dirty="0" err="1">
                <a:latin typeface="Georgia"/>
                <a:cs typeface="Georgia"/>
              </a:rPr>
              <a:t>Lorum</a:t>
            </a:r>
            <a:r>
              <a:rPr lang="en-US" dirty="0">
                <a:latin typeface="Georgia"/>
                <a:cs typeface="Georgia"/>
              </a:rPr>
              <a:t> </a:t>
            </a:r>
            <a:r>
              <a:rPr lang="en-US" dirty="0" err="1">
                <a:latin typeface="Georgia"/>
                <a:cs typeface="Georgia"/>
              </a:rPr>
              <a:t>ipsum</a:t>
            </a:r>
            <a:r>
              <a:rPr lang="en-US" dirty="0">
                <a:latin typeface="Georgia"/>
                <a:cs typeface="Georgia"/>
              </a:rPr>
              <a:t> </a:t>
            </a:r>
            <a:r>
              <a:rPr lang="en-US" dirty="0" err="1">
                <a:latin typeface="Georgia"/>
                <a:cs typeface="Georgia"/>
              </a:rPr>
              <a:t>dolore</a:t>
            </a:r>
            <a:r>
              <a:rPr lang="en-US" dirty="0">
                <a:latin typeface="Georgia"/>
                <a:cs typeface="Georgia"/>
              </a:rPr>
              <a:t> </a:t>
            </a:r>
            <a:r>
              <a:rPr lang="en-US" dirty="0" err="1">
                <a:latin typeface="Georgia"/>
                <a:cs typeface="Georgia"/>
              </a:rPr>
              <a:t>melior</a:t>
            </a:r>
            <a:r>
              <a:rPr lang="en-US" dirty="0">
                <a:latin typeface="Georgia"/>
                <a:cs typeface="Georgia"/>
              </a:rPr>
              <a:t> </a:t>
            </a:r>
            <a:r>
              <a:rPr lang="en-US" dirty="0" err="1">
                <a:latin typeface="Georgia"/>
                <a:cs typeface="Georgia"/>
              </a:rPr>
              <a:t>nonne</a:t>
            </a:r>
            <a:r>
              <a:rPr lang="en-US" dirty="0">
                <a:latin typeface="Georgia"/>
                <a:cs typeface="Georgia"/>
              </a:rPr>
              <a:t> </a:t>
            </a:r>
            <a:r>
              <a:rPr lang="en-US" dirty="0" err="1">
                <a:latin typeface="Georgia"/>
                <a:cs typeface="Georgia"/>
              </a:rPr>
              <a:t>tutte</a:t>
            </a:r>
            <a:r>
              <a:rPr lang="en-US" dirty="0">
                <a:latin typeface="Georgia"/>
                <a:cs typeface="Georgia"/>
              </a:rPr>
              <a:t> san </a:t>
            </a:r>
            <a:r>
              <a:rPr lang="en-US" dirty="0" err="1">
                <a:latin typeface="Georgia"/>
                <a:cs typeface="Georgia"/>
              </a:rPr>
              <a:t>toro</a:t>
            </a:r>
            <a:r>
              <a:rPr lang="en-US" dirty="0">
                <a:latin typeface="Georgia"/>
                <a:cs typeface="Georgia"/>
              </a:rPr>
              <a:t> velum</a:t>
            </a:r>
          </a:p>
          <a:p>
            <a:pPr marL="342900" lvl="6" indent="0"/>
            <a:r>
              <a:rPr lang="en-US" dirty="0" err="1">
                <a:latin typeface="Georgia"/>
                <a:cs typeface="Georgia"/>
              </a:rPr>
              <a:t>Lorum</a:t>
            </a:r>
            <a:r>
              <a:rPr lang="en-US" dirty="0">
                <a:latin typeface="Georgia"/>
                <a:cs typeface="Georgia"/>
              </a:rPr>
              <a:t> </a:t>
            </a:r>
            <a:r>
              <a:rPr lang="en-US" dirty="0" err="1">
                <a:latin typeface="Georgia"/>
                <a:cs typeface="Georgia"/>
              </a:rPr>
              <a:t>ipsum</a:t>
            </a:r>
            <a:r>
              <a:rPr lang="en-US" dirty="0">
                <a:latin typeface="Georgia"/>
                <a:cs typeface="Georgia"/>
              </a:rPr>
              <a:t> </a:t>
            </a:r>
            <a:r>
              <a:rPr lang="en-US" dirty="0" err="1">
                <a:latin typeface="Georgia"/>
                <a:cs typeface="Georgia"/>
              </a:rPr>
              <a:t>dolore</a:t>
            </a:r>
            <a:r>
              <a:rPr lang="en-US" dirty="0">
                <a:latin typeface="Georgia"/>
                <a:cs typeface="Georgia"/>
              </a:rPr>
              <a:t> </a:t>
            </a:r>
            <a:r>
              <a:rPr lang="en-US" dirty="0" err="1">
                <a:latin typeface="Georgia"/>
                <a:cs typeface="Georgia"/>
              </a:rPr>
              <a:t>melior</a:t>
            </a:r>
            <a:r>
              <a:rPr lang="en-US" dirty="0">
                <a:latin typeface="Georgia"/>
                <a:cs typeface="Georgia"/>
              </a:rPr>
              <a:t> </a:t>
            </a:r>
            <a:r>
              <a:rPr lang="en-US" dirty="0" err="1">
                <a:latin typeface="Georgia"/>
                <a:cs typeface="Georgia"/>
              </a:rPr>
              <a:t>nonne</a:t>
            </a:r>
            <a:r>
              <a:rPr lang="en-US" dirty="0">
                <a:latin typeface="Georgia"/>
                <a:cs typeface="Georgia"/>
              </a:rPr>
              <a:t> </a:t>
            </a:r>
            <a:r>
              <a:rPr lang="en-US" dirty="0" err="1">
                <a:latin typeface="Georgia"/>
                <a:cs typeface="Georgia"/>
              </a:rPr>
              <a:t>tutte</a:t>
            </a:r>
            <a:r>
              <a:rPr lang="en-US" dirty="0">
                <a:latin typeface="Georgia"/>
                <a:cs typeface="Georgia"/>
              </a:rPr>
              <a:t> san </a:t>
            </a:r>
            <a:r>
              <a:rPr lang="en-US" dirty="0" err="1">
                <a:latin typeface="Georgia"/>
                <a:cs typeface="Georgia"/>
              </a:rPr>
              <a:t>toro</a:t>
            </a:r>
            <a:endParaRPr lang="en-US" dirty="0">
              <a:latin typeface="Georgia"/>
              <a:cs typeface="Georgia"/>
            </a:endParaRPr>
          </a:p>
          <a:p>
            <a:endParaRPr lang="en-US" dirty="0">
              <a:latin typeface="Georgia"/>
              <a:cs typeface="Georgia"/>
            </a:endParaRPr>
          </a:p>
          <a:p>
            <a:endParaRPr lang="en-US" dirty="0"/>
          </a:p>
        </p:txBody>
      </p:sp>
      <p:sp>
        <p:nvSpPr>
          <p:cNvPr id="7" name="Text Placeholder 16"/>
          <p:cNvSpPr>
            <a:spLocks noGrp="1"/>
          </p:cNvSpPr>
          <p:nvPr>
            <p:ph type="body" sz="quarter" idx="15" hasCustomPrompt="1"/>
          </p:nvPr>
        </p:nvSpPr>
        <p:spPr>
          <a:xfrm>
            <a:off x="720000" y="908720"/>
            <a:ext cx="8458276" cy="434305"/>
          </a:xfrm>
        </p:spPr>
        <p:txBody>
          <a:bodyPr/>
          <a:lstStyle>
            <a:lvl1pPr marL="0" indent="0">
              <a:buNone/>
              <a:defRPr cap="all" baseline="0">
                <a:solidFill>
                  <a:schemeClr val="accent1"/>
                </a:solidFill>
                <a:latin typeface="+mj-lt"/>
              </a:defRPr>
            </a:lvl1pPr>
          </a:lstStyle>
          <a:p>
            <a:pPr lvl="0"/>
            <a:r>
              <a:rPr lang="en-AU" dirty="0"/>
              <a:t>Click to ADD SUBTITLE</a:t>
            </a:r>
          </a:p>
        </p:txBody>
      </p:sp>
    </p:spTree>
    <p:extLst>
      <p:ext uri="{BB962C8B-B14F-4D97-AF65-F5344CB8AC3E}">
        <p14:creationId xmlns:p14="http://schemas.microsoft.com/office/powerpoint/2010/main" val="9050793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329F5C7-1EDD-4D4F-B3EB-31F227D9F428}"/>
              </a:ext>
            </a:extLst>
          </p:cNvPr>
          <p:cNvPicPr>
            <a:picLocks noChangeAspect="1"/>
          </p:cNvPicPr>
          <p:nvPr/>
        </p:nvPicPr>
        <p:blipFill>
          <a:blip r:embed="rId15"/>
          <a:stretch>
            <a:fillRect/>
          </a:stretch>
        </p:blipFill>
        <p:spPr>
          <a:xfrm>
            <a:off x="9673174" y="217272"/>
            <a:ext cx="2037600" cy="804766"/>
          </a:xfrm>
          <a:prstGeom prst="rect">
            <a:avLst/>
          </a:prstGeom>
        </p:spPr>
      </p:pic>
      <p:sp>
        <p:nvSpPr>
          <p:cNvPr id="2" name="Title Placeholder 1"/>
          <p:cNvSpPr>
            <a:spLocks noGrp="1"/>
          </p:cNvSpPr>
          <p:nvPr>
            <p:ph type="title"/>
          </p:nvPr>
        </p:nvSpPr>
        <p:spPr>
          <a:xfrm>
            <a:off x="720000" y="274638"/>
            <a:ext cx="8458276" cy="648000"/>
          </a:xfrm>
          <a:prstGeom prst="rect">
            <a:avLst/>
          </a:prstGeom>
        </p:spPr>
        <p:txBody>
          <a:bodyPr vert="horz" lIns="0" tIns="0" rIns="0" bIns="0" rtlCol="0" anchor="t" anchorCtr="0">
            <a:normAutofit/>
          </a:bodyPr>
          <a:lstStyle/>
          <a:p>
            <a:r>
              <a:rPr lang="en-US"/>
              <a:t>Click to edit Master title style</a:t>
            </a:r>
            <a:endParaRPr lang="en-AU" dirty="0"/>
          </a:p>
        </p:txBody>
      </p:sp>
      <p:sp>
        <p:nvSpPr>
          <p:cNvPr id="3" name="Text Placeholder 2"/>
          <p:cNvSpPr>
            <a:spLocks noGrp="1"/>
          </p:cNvSpPr>
          <p:nvPr>
            <p:ph type="body" idx="1"/>
          </p:nvPr>
        </p:nvSpPr>
        <p:spPr>
          <a:xfrm>
            <a:off x="720000" y="1620000"/>
            <a:ext cx="10800001" cy="4525963"/>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5" name="Footer Placeholder 4"/>
          <p:cNvSpPr>
            <a:spLocks noGrp="1"/>
          </p:cNvSpPr>
          <p:nvPr>
            <p:ph type="ftr" sz="quarter" idx="3"/>
          </p:nvPr>
        </p:nvSpPr>
        <p:spPr>
          <a:xfrm>
            <a:off x="720000" y="6309321"/>
            <a:ext cx="5400675" cy="365125"/>
          </a:xfrm>
          <a:prstGeom prst="rect">
            <a:avLst/>
          </a:prstGeom>
        </p:spPr>
        <p:txBody>
          <a:bodyPr vert="horz" lIns="0" tIns="0" rIns="0" bIns="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51875" y="6309321"/>
            <a:ext cx="2844800" cy="365125"/>
          </a:xfrm>
          <a:prstGeom prst="rect">
            <a:avLst/>
          </a:prstGeom>
        </p:spPr>
        <p:txBody>
          <a:bodyPr vert="horz" lIns="0" tIns="0" rIns="0" bIns="0" rtlCol="0" anchor="ctr"/>
          <a:lstStyle>
            <a:lvl1pPr algn="r">
              <a:defRPr sz="1050">
                <a:solidFill>
                  <a:schemeClr val="tx1">
                    <a:tint val="75000"/>
                  </a:schemeClr>
                </a:solidFill>
              </a:defRPr>
            </a:lvl1pPr>
          </a:lstStyle>
          <a:p>
            <a:fld id="{A7E59BBE-8B91-6A4A-80E8-2EE021604ECB}" type="slidenum">
              <a:rPr lang="en-US" smtClean="0"/>
              <a:t>‹#›</a:t>
            </a:fld>
            <a:endParaRPr lang="en-US"/>
          </a:p>
        </p:txBody>
      </p:sp>
      <p:pic>
        <p:nvPicPr>
          <p:cNvPr id="1026" name="Picture 2"/>
          <p:cNvPicPr preferRelativeResize="0">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20000" y="1368000"/>
            <a:ext cx="10800000" cy="127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76000947"/>
      </p:ext>
    </p:extLst>
  </p:cSld>
  <p:clrMap bg1="lt1" tx1="dk1" bg2="lt2" tx2="dk2" accent1="accent1" accent2="accent2" accent3="accent3" accent4="accent4" accent5="accent5" accent6="accent6" hlink="hlink" folHlink="folHlink"/>
  <p:sldLayoutIdLst>
    <p:sldLayoutId id="2147484639" r:id="rId1"/>
    <p:sldLayoutId id="2147484640" r:id="rId2"/>
    <p:sldLayoutId id="2147484641" r:id="rId3"/>
    <p:sldLayoutId id="2147484642" r:id="rId4"/>
    <p:sldLayoutId id="2147484643" r:id="rId5"/>
    <p:sldLayoutId id="2147484644" r:id="rId6"/>
    <p:sldLayoutId id="2147484645" r:id="rId7"/>
    <p:sldLayoutId id="2147484646" r:id="rId8"/>
    <p:sldLayoutId id="2147484647" r:id="rId9"/>
    <p:sldLayoutId id="2147484648" r:id="rId10"/>
    <p:sldLayoutId id="2147484649" r:id="rId11"/>
    <p:sldLayoutId id="2147484650" r:id="rId12"/>
    <p:sldLayoutId id="2147484651" r:id="rId13"/>
  </p:sldLayoutIdLst>
  <p:hf hdr="0" ftr="0" dt="0"/>
  <p:txStyles>
    <p:titleStyle>
      <a:lvl1pPr algn="l" defTabSz="914400" rtl="0" eaLnBrk="1" latinLnBrk="0" hangingPunct="1">
        <a:spcBef>
          <a:spcPct val="0"/>
        </a:spcBef>
        <a:buNone/>
        <a:defRPr sz="3200" b="1"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1pPr>
      <a:lvl2pPr marL="800100" indent="-342900" algn="l" defTabSz="914400" rtl="0" eaLnBrk="1" latinLnBrk="0" hangingPunct="1">
        <a:spcBef>
          <a:spcPct val="20000"/>
        </a:spcBef>
        <a:buFont typeface="Georgia" panose="02040502050405020303" pitchFamily="18" charset="0"/>
        <a:buChar char="―"/>
        <a:defRPr sz="1600" kern="1200">
          <a:solidFill>
            <a:schemeClr val="tx1"/>
          </a:solidFill>
          <a:latin typeface="+mn-lt"/>
          <a:ea typeface="+mn-ea"/>
          <a:cs typeface="+mn-cs"/>
        </a:defRPr>
      </a:lvl2pPr>
      <a:lvl3pPr marL="1200150" indent="-285750" algn="l" defTabSz="914400" rtl="0" eaLnBrk="1" latinLnBrk="0" hangingPunct="1">
        <a:spcBef>
          <a:spcPct val="200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Font typeface="Georgia" panose="02040502050405020303" pitchFamily="18" charset="0"/>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2">
          <p15:clr>
            <a:srgbClr val="F26B43"/>
          </p15:clr>
        </p15:guide>
        <p15:guide id="2" pos="43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20000" y="836784"/>
            <a:ext cx="8544000" cy="648000"/>
          </a:xfrm>
        </p:spPr>
        <p:txBody>
          <a:bodyPr>
            <a:normAutofit fontScale="90000"/>
          </a:bodyPr>
          <a:lstStyle/>
          <a:p>
            <a:pPr algn="ctr"/>
            <a:r>
              <a:rPr lang="en-AU" sz="4000" b="1" dirty="0">
                <a:latin typeface="Times New Roman" panose="02020603050405020304" pitchFamily="18" charset="0"/>
                <a:cs typeface="Times New Roman" panose="02020603050405020304" pitchFamily="18" charset="0"/>
              </a:rPr>
              <a:t>LAWS2400 / LAWS8040 – Torts</a:t>
            </a:r>
            <a:br>
              <a:rPr lang="en-AU" sz="3600" b="1" dirty="0">
                <a:latin typeface="Times New Roman" panose="02020603050405020304" pitchFamily="18" charset="0"/>
                <a:cs typeface="Times New Roman" panose="02020603050405020304" pitchFamily="18" charset="0"/>
              </a:rPr>
            </a:br>
            <a:br>
              <a:rPr lang="en-AU" sz="3600" b="1" dirty="0">
                <a:latin typeface="Times New Roman" panose="02020603050405020304" pitchFamily="18" charset="0"/>
                <a:cs typeface="Times New Roman" panose="02020603050405020304" pitchFamily="18" charset="0"/>
              </a:rPr>
            </a:br>
            <a:r>
              <a:rPr lang="en-AU" sz="3100" b="1" dirty="0">
                <a:latin typeface="Times New Roman" panose="02020603050405020304" pitchFamily="18" charset="0"/>
                <a:cs typeface="Times New Roman" panose="02020603050405020304" pitchFamily="18" charset="0"/>
              </a:rPr>
              <a:t>Week 5 Lecture 1</a:t>
            </a:r>
            <a:br>
              <a:rPr lang="en-AU" sz="3100" b="1" dirty="0">
                <a:latin typeface="Times New Roman" panose="02020603050405020304" pitchFamily="18" charset="0"/>
                <a:cs typeface="Times New Roman" panose="02020603050405020304" pitchFamily="18" charset="0"/>
              </a:rPr>
            </a:br>
            <a:r>
              <a:rPr lang="en-AU" sz="3100" b="1" i="1" dirty="0">
                <a:latin typeface="Times New Roman" panose="02020603050405020304" pitchFamily="18" charset="0"/>
                <a:cs typeface="Times New Roman" panose="02020603050405020304" pitchFamily="18" charset="0"/>
              </a:rPr>
              <a:t>Negligence: Unpacking Duty of Care</a:t>
            </a:r>
            <a:br>
              <a:rPr lang="en-AU" sz="2900" b="1" dirty="0">
                <a:latin typeface="Times New Roman" panose="02020603050405020304" pitchFamily="18" charset="0"/>
                <a:cs typeface="Times New Roman" panose="02020603050405020304" pitchFamily="18" charset="0"/>
              </a:rPr>
            </a:br>
            <a:br>
              <a:rPr lang="en-AU" b="1" dirty="0">
                <a:latin typeface="Times New Roman" panose="02020603050405020304" pitchFamily="18" charset="0"/>
                <a:cs typeface="Times New Roman" panose="02020603050405020304" pitchFamily="18" charset="0"/>
              </a:rPr>
            </a:br>
            <a:endParaRPr lang="en-A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94760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CE700-BEAF-3248-A54C-F5BEBA340D8C}"/>
              </a:ext>
            </a:extLst>
          </p:cNvPr>
          <p:cNvSpPr>
            <a:spLocks noGrp="1"/>
          </p:cNvSpPr>
          <p:nvPr>
            <p:ph type="title"/>
          </p:nvPr>
        </p:nvSpPr>
        <p:spPr>
          <a:xfrm>
            <a:off x="720000" y="274637"/>
            <a:ext cx="8458276" cy="894943"/>
          </a:xfrm>
        </p:spPr>
        <p:txBody>
          <a:bodyPr>
            <a:normAutofit/>
          </a:bodyPr>
          <a:lstStyle/>
          <a:p>
            <a:r>
              <a:rPr lang="en-US" sz="2800" dirty="0">
                <a:solidFill>
                  <a:schemeClr val="accent3"/>
                </a:solidFill>
                <a:latin typeface="Times New Roman" panose="02020603050405020304" pitchFamily="18" charset="0"/>
                <a:cs typeface="Times New Roman" panose="02020603050405020304" pitchFamily="18" charset="0"/>
              </a:rPr>
              <a:t>Outline</a:t>
            </a:r>
            <a:endParaRPr lang="en-US" sz="2800"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40C9E6F-2A4A-EC4A-903A-6B54DA7E05C6}"/>
              </a:ext>
            </a:extLst>
          </p:cNvPr>
          <p:cNvSpPr>
            <a:spLocks noGrp="1"/>
          </p:cNvSpPr>
          <p:nvPr>
            <p:ph idx="1"/>
          </p:nvPr>
        </p:nvSpPr>
        <p:spPr>
          <a:xfrm>
            <a:off x="720000" y="1669311"/>
            <a:ext cx="11116400" cy="4822929"/>
          </a:xfrm>
        </p:spPr>
        <p:txBody>
          <a:bodyPr>
            <a:noAutofit/>
          </a:bodyPr>
          <a:lstStyle/>
          <a:p>
            <a:pPr marL="971550" lvl="1" indent="-514350">
              <a:lnSpc>
                <a:spcPct val="150000"/>
              </a:lnSpc>
              <a:buFont typeface="+mj-lt"/>
              <a:buAutoNum type="arabicPeriod"/>
            </a:pPr>
            <a:r>
              <a:rPr lang="en-HK" sz="2800" b="1" dirty="0">
                <a:latin typeface="Times New Roman" panose="02020603050405020304" pitchFamily="18" charset="0"/>
                <a:cs typeface="Times New Roman" panose="02020603050405020304" pitchFamily="18" charset="0"/>
              </a:rPr>
              <a:t>Overview (this lecture)</a:t>
            </a:r>
            <a:endParaRPr lang="en-HK" b="1" dirty="0">
              <a:latin typeface="Times New Roman" panose="02020603050405020304" pitchFamily="18" charset="0"/>
              <a:cs typeface="Times New Roman" panose="02020603050405020304" pitchFamily="18" charset="0"/>
            </a:endParaRPr>
          </a:p>
          <a:p>
            <a:pPr marL="971550" lvl="1" indent="-514350">
              <a:lnSpc>
                <a:spcPct val="150000"/>
              </a:lnSpc>
              <a:buFont typeface="+mj-lt"/>
              <a:buAutoNum type="arabicPeriod"/>
            </a:pPr>
            <a:r>
              <a:rPr lang="en-HK" sz="2800" b="1" dirty="0">
                <a:latin typeface="Times New Roman" panose="02020603050405020304" pitchFamily="18" charset="0"/>
                <a:cs typeface="Times New Roman" panose="02020603050405020304" pitchFamily="18" charset="0"/>
              </a:rPr>
              <a:t>Key elements  (this lecture)</a:t>
            </a:r>
            <a:endParaRPr lang="en-HK" b="1" dirty="0">
              <a:latin typeface="Times New Roman" panose="02020603050405020304" pitchFamily="18" charset="0"/>
              <a:cs typeface="Times New Roman" panose="02020603050405020304" pitchFamily="18" charset="0"/>
            </a:endParaRPr>
          </a:p>
          <a:p>
            <a:pPr marL="971550" lvl="1" indent="-514350">
              <a:lnSpc>
                <a:spcPct val="150000"/>
              </a:lnSpc>
              <a:buFont typeface="+mj-lt"/>
              <a:buAutoNum type="arabicPeriod"/>
            </a:pPr>
            <a:r>
              <a:rPr lang="en-HK" sz="2800" b="1" dirty="0">
                <a:latin typeface="Times New Roman" panose="02020603050405020304" pitchFamily="18" charset="0"/>
                <a:cs typeface="Times New Roman" panose="02020603050405020304" pitchFamily="18" charset="0"/>
              </a:rPr>
              <a:t>Historical origin and evolution  (this lecture)</a:t>
            </a:r>
            <a:endParaRPr lang="en-HK" b="1" dirty="0">
              <a:latin typeface="Times New Roman" panose="02020603050405020304" pitchFamily="18" charset="0"/>
              <a:cs typeface="Times New Roman" panose="02020603050405020304" pitchFamily="18" charset="0"/>
            </a:endParaRPr>
          </a:p>
          <a:p>
            <a:pPr marL="971550" lvl="1" indent="-514350">
              <a:lnSpc>
                <a:spcPct val="150000"/>
              </a:lnSpc>
              <a:buFont typeface="+mj-lt"/>
              <a:buAutoNum type="arabicPeriod"/>
            </a:pPr>
            <a:r>
              <a:rPr lang="en-HK" sz="2800" b="1" dirty="0">
                <a:latin typeface="Times New Roman" panose="02020603050405020304" pitchFamily="18" charset="0"/>
                <a:cs typeface="Times New Roman" panose="02020603050405020304" pitchFamily="18" charset="0"/>
              </a:rPr>
              <a:t>Meaning of ‘reasonable foreseeability’  (lecture 2)</a:t>
            </a:r>
          </a:p>
          <a:p>
            <a:pPr marL="971550" lvl="1" indent="-514350">
              <a:lnSpc>
                <a:spcPct val="150000"/>
              </a:lnSpc>
              <a:buFont typeface="+mj-lt"/>
              <a:buAutoNum type="arabicPeriod"/>
            </a:pPr>
            <a:r>
              <a:rPr lang="en-HK" sz="2800" b="1" dirty="0">
                <a:latin typeface="Times New Roman" panose="02020603050405020304" pitchFamily="18" charset="0"/>
                <a:cs typeface="Times New Roman" panose="02020603050405020304" pitchFamily="18" charset="0"/>
              </a:rPr>
              <a:t>Established categories of duty  (lecture 2)</a:t>
            </a:r>
          </a:p>
          <a:p>
            <a:pPr marL="971550" lvl="1" indent="-514350">
              <a:lnSpc>
                <a:spcPct val="150000"/>
              </a:lnSpc>
              <a:buFont typeface="+mj-lt"/>
              <a:buAutoNum type="arabicPeriod"/>
            </a:pPr>
            <a:r>
              <a:rPr lang="en-HK" sz="2800" b="1" dirty="0">
                <a:latin typeface="Times New Roman" panose="02020603050405020304" pitchFamily="18" charset="0"/>
                <a:cs typeface="Times New Roman" panose="02020603050405020304" pitchFamily="18" charset="0"/>
              </a:rPr>
              <a:t>Novel cases and the salient features approach (lecture 2)</a:t>
            </a:r>
          </a:p>
          <a:p>
            <a:pPr marL="457200" lvl="1" indent="0">
              <a:buNone/>
            </a:pPr>
            <a:endParaRPr lang="en-HK"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14582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dirty="0">
                <a:solidFill>
                  <a:schemeClr val="accent3"/>
                </a:solidFill>
                <a:latin typeface="Times New Roman" panose="02020603050405020304" pitchFamily="18" charset="0"/>
                <a:cs typeface="Times New Roman" panose="02020603050405020304" pitchFamily="18" charset="0"/>
              </a:rPr>
              <a:t>1. Overview </a:t>
            </a:r>
            <a:endParaRPr lang="en-AU" dirty="0">
              <a:solidFill>
                <a:schemeClr val="accent3"/>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538481" y="1508426"/>
            <a:ext cx="11155680" cy="5074936"/>
          </a:xfrm>
        </p:spPr>
        <p:txBody>
          <a:bodyPr>
            <a:noAutofit/>
          </a:bodyPr>
          <a:lstStyle/>
          <a:p>
            <a:pPr>
              <a:lnSpc>
                <a:spcPct val="150000"/>
              </a:lnSpc>
            </a:pPr>
            <a:r>
              <a:rPr lang="en-US" sz="2800" dirty="0">
                <a:latin typeface="Times New Roman" panose="02020603050405020304" pitchFamily="18" charset="0"/>
                <a:cs typeface="Times New Roman" panose="02020603050405020304" pitchFamily="18" charset="0"/>
              </a:rPr>
              <a:t>In this week, we will trace the </a:t>
            </a:r>
            <a:r>
              <a:rPr lang="en-US" sz="2800" b="1" dirty="0">
                <a:latin typeface="Times New Roman" panose="02020603050405020304" pitchFamily="18" charset="0"/>
                <a:cs typeface="Times New Roman" panose="02020603050405020304" pitchFamily="18" charset="0"/>
              </a:rPr>
              <a:t>historical evolution</a:t>
            </a:r>
            <a:r>
              <a:rPr lang="en-US" sz="2800" dirty="0">
                <a:latin typeface="Times New Roman" panose="02020603050405020304" pitchFamily="18" charset="0"/>
                <a:cs typeface="Times New Roman" panose="02020603050405020304" pitchFamily="18" charset="0"/>
              </a:rPr>
              <a:t> of negligence as a distinct tort</a:t>
            </a:r>
          </a:p>
          <a:p>
            <a:pPr>
              <a:lnSpc>
                <a:spcPct val="150000"/>
              </a:lnSpc>
            </a:pPr>
            <a:r>
              <a:rPr lang="en-US" sz="2800" dirty="0">
                <a:latin typeface="Times New Roman" panose="02020603050405020304" pitchFamily="18" charset="0"/>
                <a:cs typeface="Times New Roman" panose="02020603050405020304" pitchFamily="18" charset="0"/>
              </a:rPr>
              <a:t>How do courts </a:t>
            </a:r>
            <a:r>
              <a:rPr lang="en-US" sz="2800" b="1" dirty="0">
                <a:latin typeface="Times New Roman" panose="02020603050405020304" pitchFamily="18" charset="0"/>
                <a:cs typeface="Times New Roman" panose="02020603050405020304" pitchFamily="18" charset="0"/>
              </a:rPr>
              <a:t>determine the existence </a:t>
            </a:r>
            <a:r>
              <a:rPr lang="en-US" sz="2800" dirty="0">
                <a:latin typeface="Times New Roman" panose="02020603050405020304" pitchFamily="18" charset="0"/>
                <a:cs typeface="Times New Roman" panose="02020603050405020304" pitchFamily="18" charset="0"/>
              </a:rPr>
              <a:t>of duty of care both in </a:t>
            </a:r>
            <a:r>
              <a:rPr lang="en-US" sz="2800" i="1" dirty="0">
                <a:latin typeface="Times New Roman" panose="02020603050405020304" pitchFamily="18" charset="0"/>
                <a:cs typeface="Times New Roman" panose="02020603050405020304" pitchFamily="18" charset="0"/>
              </a:rPr>
              <a:t>established</a:t>
            </a:r>
            <a:r>
              <a:rPr lang="en-US" sz="2800" dirty="0">
                <a:latin typeface="Times New Roman" panose="02020603050405020304" pitchFamily="18" charset="0"/>
                <a:cs typeface="Times New Roman" panose="02020603050405020304" pitchFamily="18" charset="0"/>
              </a:rPr>
              <a:t> categories and in </a:t>
            </a:r>
            <a:r>
              <a:rPr lang="en-US" sz="2800" i="1" dirty="0">
                <a:latin typeface="Times New Roman" panose="02020603050405020304" pitchFamily="18" charset="0"/>
                <a:cs typeface="Times New Roman" panose="02020603050405020304" pitchFamily="18" charset="0"/>
              </a:rPr>
              <a:t>novel </a:t>
            </a:r>
            <a:r>
              <a:rPr lang="en-US" sz="2800" dirty="0">
                <a:latin typeface="Times New Roman" panose="02020603050405020304" pitchFamily="18" charset="0"/>
                <a:cs typeface="Times New Roman" panose="02020603050405020304" pitchFamily="18" charset="0"/>
              </a:rPr>
              <a:t>situations? </a:t>
            </a:r>
          </a:p>
          <a:p>
            <a:pPr>
              <a:lnSpc>
                <a:spcPct val="150000"/>
              </a:lnSpc>
            </a:pPr>
            <a:r>
              <a:rPr lang="en-US" sz="2800" dirty="0">
                <a:latin typeface="Times New Roman" panose="02020603050405020304" pitchFamily="18" charset="0"/>
                <a:cs typeface="Times New Roman" panose="02020603050405020304" pitchFamily="18" charset="0"/>
              </a:rPr>
              <a:t>Compare </a:t>
            </a:r>
            <a:r>
              <a:rPr lang="en-US" sz="2800" b="1" dirty="0">
                <a:latin typeface="Times New Roman" panose="02020603050405020304" pitchFamily="18" charset="0"/>
                <a:cs typeface="Times New Roman" panose="02020603050405020304" pitchFamily="18" charset="0"/>
              </a:rPr>
              <a:t>different approaches</a:t>
            </a:r>
            <a:r>
              <a:rPr lang="en-US" sz="2800" dirty="0">
                <a:latin typeface="Times New Roman" panose="02020603050405020304" pitchFamily="18" charset="0"/>
                <a:cs typeface="Times New Roman" panose="02020603050405020304" pitchFamily="18" charset="0"/>
              </a:rPr>
              <a:t> adopted by courts in Australia and the UK </a:t>
            </a:r>
          </a:p>
        </p:txBody>
      </p:sp>
    </p:spTree>
    <p:extLst>
      <p:ext uri="{BB962C8B-B14F-4D97-AF65-F5344CB8AC3E}">
        <p14:creationId xmlns:p14="http://schemas.microsoft.com/office/powerpoint/2010/main" val="25516805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dirty="0">
                <a:solidFill>
                  <a:schemeClr val="accent3"/>
                </a:solidFill>
                <a:latin typeface="Times New Roman" panose="02020603050405020304" pitchFamily="18" charset="0"/>
                <a:cs typeface="Times New Roman" panose="02020603050405020304" pitchFamily="18" charset="0"/>
              </a:rPr>
              <a:t>2. Key elements  </a:t>
            </a:r>
            <a:endParaRPr lang="en-AU" dirty="0">
              <a:solidFill>
                <a:schemeClr val="accent3"/>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Although negligence as a distinct tort is </a:t>
            </a:r>
            <a:r>
              <a:rPr lang="en-US" sz="2800" i="1" dirty="0">
                <a:latin typeface="Times New Roman" panose="02020603050405020304" pitchFamily="18" charset="0"/>
                <a:cs typeface="Times New Roman" panose="02020603050405020304" pitchFamily="18" charset="0"/>
              </a:rPr>
              <a:t>relatively new</a:t>
            </a:r>
            <a:r>
              <a:rPr lang="en-US" sz="2800" dirty="0">
                <a:latin typeface="Times New Roman" panose="02020603050405020304" pitchFamily="18" charset="0"/>
                <a:cs typeface="Times New Roman" panose="02020603050405020304" pitchFamily="18" charset="0"/>
              </a:rPr>
              <a:t>, this has become a very important cause of action over the years </a:t>
            </a:r>
          </a:p>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As negligence is an action on the case, </a:t>
            </a:r>
            <a:r>
              <a:rPr lang="en-US" sz="2800" b="1" dirty="0">
                <a:latin typeface="Times New Roman" panose="02020603050405020304" pitchFamily="18" charset="0"/>
                <a:cs typeface="Times New Roman" panose="02020603050405020304" pitchFamily="18" charset="0"/>
              </a:rPr>
              <a:t>damage is vital</a:t>
            </a:r>
            <a:r>
              <a:rPr lang="en-US" sz="2800" dirty="0">
                <a:latin typeface="Times New Roman" panose="02020603050405020304" pitchFamily="18" charset="0"/>
                <a:cs typeface="Times New Roman" panose="02020603050405020304" pitchFamily="18" charset="0"/>
              </a:rPr>
              <a:t> to initiate an action  </a:t>
            </a:r>
          </a:p>
        </p:txBody>
      </p:sp>
    </p:spTree>
    <p:extLst>
      <p:ext uri="{BB962C8B-B14F-4D97-AF65-F5344CB8AC3E}">
        <p14:creationId xmlns:p14="http://schemas.microsoft.com/office/powerpoint/2010/main" val="8652802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Key elements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Negligence has three key elements: </a:t>
            </a:r>
          </a:p>
          <a:p>
            <a:pPr marL="1371600" lvl="2" indent="-514350">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The defendant owed a </a:t>
            </a:r>
            <a:r>
              <a:rPr lang="en-US" sz="2000" i="1" dirty="0">
                <a:latin typeface="Times New Roman" panose="02020603050405020304" pitchFamily="18" charset="0"/>
                <a:cs typeface="Times New Roman" panose="02020603050405020304" pitchFamily="18" charset="0"/>
              </a:rPr>
              <a:t>duty of care</a:t>
            </a:r>
            <a:r>
              <a:rPr lang="en-US" sz="2000" dirty="0">
                <a:latin typeface="Times New Roman" panose="02020603050405020304" pitchFamily="18" charset="0"/>
                <a:cs typeface="Times New Roman" panose="02020603050405020304" pitchFamily="18" charset="0"/>
              </a:rPr>
              <a:t> to the plaintiff </a:t>
            </a:r>
          </a:p>
          <a:p>
            <a:pPr marL="1771650" lvl="3" indent="-514350">
              <a:lnSpc>
                <a:spcPct val="150000"/>
              </a:lnSpc>
            </a:pPr>
            <a:r>
              <a:rPr lang="en-US" sz="2000" dirty="0">
                <a:latin typeface="Times New Roman" panose="02020603050405020304" pitchFamily="18" charset="0"/>
                <a:cs typeface="Times New Roman" panose="02020603050405020304" pitchFamily="18" charset="0"/>
              </a:rPr>
              <a:t>Reasonable foreseeability (</a:t>
            </a:r>
            <a:r>
              <a:rPr lang="en-US" sz="2000" dirty="0" err="1">
                <a:latin typeface="Times New Roman" panose="02020603050405020304" pitchFamily="18" charset="0"/>
                <a:cs typeface="Times New Roman" panose="02020603050405020304" pitchFamily="18" charset="0"/>
              </a:rPr>
              <a:t>neighbour</a:t>
            </a:r>
            <a:r>
              <a:rPr lang="en-US" sz="2000" dirty="0">
                <a:latin typeface="Times New Roman" panose="02020603050405020304" pitchFamily="18" charset="0"/>
                <a:cs typeface="Times New Roman" panose="02020603050405020304" pitchFamily="18" charset="0"/>
              </a:rPr>
              <a:t> principle from </a:t>
            </a:r>
            <a:r>
              <a:rPr lang="en-US" sz="2000" i="1" dirty="0">
                <a:latin typeface="Times New Roman" panose="02020603050405020304" pitchFamily="18" charset="0"/>
                <a:cs typeface="Times New Roman" panose="02020603050405020304" pitchFamily="18" charset="0"/>
              </a:rPr>
              <a:t>Donoghue v Stevenson</a:t>
            </a:r>
            <a:r>
              <a:rPr lang="en-US" sz="2000" dirty="0">
                <a:latin typeface="Times New Roman" panose="02020603050405020304" pitchFamily="18" charset="0"/>
                <a:cs typeface="Times New Roman" panose="02020603050405020304" pitchFamily="18" charset="0"/>
              </a:rPr>
              <a:t>) is always required, but not always sufficient;</a:t>
            </a:r>
          </a:p>
          <a:p>
            <a:pPr marL="1771650" lvl="3" indent="-514350">
              <a:lnSpc>
                <a:spcPct val="150000"/>
              </a:lnSpc>
            </a:pPr>
            <a:r>
              <a:rPr lang="en-US" sz="2000" dirty="0">
                <a:latin typeface="Times New Roman" panose="02020603050405020304" pitchFamily="18" charset="0"/>
                <a:cs typeface="Times New Roman" panose="02020603050405020304" pitchFamily="18" charset="0"/>
              </a:rPr>
              <a:t>In practice, establishing a duty of care is often not controversial </a:t>
            </a:r>
          </a:p>
          <a:p>
            <a:pPr marL="1371600" lvl="2" indent="-514350">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The defendant </a:t>
            </a:r>
            <a:r>
              <a:rPr lang="en-US" sz="2000" i="1" dirty="0">
                <a:latin typeface="Times New Roman" panose="02020603050405020304" pitchFamily="18" charset="0"/>
                <a:cs typeface="Times New Roman" panose="02020603050405020304" pitchFamily="18" charset="0"/>
              </a:rPr>
              <a:t>breached</a:t>
            </a:r>
            <a:r>
              <a:rPr lang="en-US" sz="2000" dirty="0">
                <a:latin typeface="Times New Roman" panose="02020603050405020304" pitchFamily="18" charset="0"/>
                <a:cs typeface="Times New Roman" panose="02020603050405020304" pitchFamily="18" charset="0"/>
              </a:rPr>
              <a:t> that duty</a:t>
            </a:r>
          </a:p>
          <a:p>
            <a:pPr lvl="3" indent="-342900">
              <a:lnSpc>
                <a:spcPct val="150000"/>
              </a:lnSpc>
            </a:pPr>
            <a:r>
              <a:rPr lang="en-US" sz="2000" dirty="0">
                <a:latin typeface="Times New Roman" panose="02020603050405020304" pitchFamily="18" charset="0"/>
                <a:cs typeface="Times New Roman" panose="02020603050405020304" pitchFamily="18" charset="0"/>
              </a:rPr>
              <a:t>The degree of  foreseeable risk created by the defendant’s conduct</a:t>
            </a:r>
          </a:p>
          <a:p>
            <a:pPr lvl="3" indent="-342900">
              <a:lnSpc>
                <a:spcPct val="150000"/>
              </a:lnSpc>
            </a:pPr>
            <a:r>
              <a:rPr lang="en-US" sz="2000" dirty="0">
                <a:latin typeface="Times New Roman" panose="02020603050405020304" pitchFamily="18" charset="0"/>
                <a:cs typeface="Times New Roman" panose="02020603050405020304" pitchFamily="18" charset="0"/>
              </a:rPr>
              <a:t>Whether the defendant’s response to that risk was reasonable in the circumstances</a:t>
            </a:r>
          </a:p>
          <a:p>
            <a:pPr marL="1371600" lvl="2" indent="-514350">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This breach </a:t>
            </a:r>
            <a:r>
              <a:rPr lang="en-US" sz="2000" i="1" dirty="0">
                <a:latin typeface="Times New Roman" panose="02020603050405020304" pitchFamily="18" charset="0"/>
                <a:cs typeface="Times New Roman" panose="02020603050405020304" pitchFamily="18" charset="0"/>
              </a:rPr>
              <a:t>caused</a:t>
            </a:r>
            <a:r>
              <a:rPr lang="en-US" sz="2000" dirty="0">
                <a:latin typeface="Times New Roman" panose="02020603050405020304" pitchFamily="18" charset="0"/>
                <a:cs typeface="Times New Roman" panose="02020603050405020304" pitchFamily="18" charset="0"/>
              </a:rPr>
              <a:t> the </a:t>
            </a:r>
            <a:r>
              <a:rPr lang="en-US" sz="2000" i="1" dirty="0">
                <a:latin typeface="Times New Roman" panose="02020603050405020304" pitchFamily="18" charset="0"/>
                <a:cs typeface="Times New Roman" panose="02020603050405020304" pitchFamily="18" charset="0"/>
              </a:rPr>
              <a:t>damage</a:t>
            </a:r>
            <a:r>
              <a:rPr lang="en-US" sz="2000" dirty="0">
                <a:latin typeface="Times New Roman" panose="02020603050405020304" pitchFamily="18" charset="0"/>
                <a:cs typeface="Times New Roman" panose="02020603050405020304" pitchFamily="18" charset="0"/>
              </a:rPr>
              <a:t> to the plaintiff </a:t>
            </a:r>
          </a:p>
          <a:p>
            <a:pPr lvl="3" indent="-342900">
              <a:lnSpc>
                <a:spcPct val="150000"/>
              </a:lnSpc>
            </a:pPr>
            <a:r>
              <a:rPr lang="en-US" sz="2000" dirty="0">
                <a:latin typeface="Times New Roman" panose="02020603050405020304" pitchFamily="18" charset="0"/>
                <a:cs typeface="Times New Roman" panose="02020603050405020304" pitchFamily="18" charset="0"/>
              </a:rPr>
              <a:t>Factual causation and scope of liability (remoteness of harm)</a:t>
            </a:r>
          </a:p>
          <a:p>
            <a:pPr marL="0" indent="0">
              <a:lnSpc>
                <a:spcPct val="150000"/>
              </a:lnSpc>
              <a:buNone/>
            </a:pPr>
            <a:endParaRPr lang="en-US" sz="2300" dirty="0">
              <a:latin typeface="Times New Roman" panose="02020603050405020304" pitchFamily="18" charset="0"/>
              <a:cs typeface="Times New Roman" panose="02020603050405020304" pitchFamily="18" charset="0"/>
            </a:endParaRPr>
          </a:p>
          <a:p>
            <a:pPr marL="0" indent="0">
              <a:lnSpc>
                <a:spcPct val="150000"/>
              </a:lnSpc>
              <a:buNone/>
            </a:pP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78577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Key elements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Common Law and </a:t>
            </a:r>
            <a:r>
              <a:rPr lang="en-US" sz="1600" b="1" i="1" dirty="0">
                <a:latin typeface="Times New Roman" panose="02020603050405020304" pitchFamily="18" charset="0"/>
                <a:cs typeface="Times New Roman" panose="02020603050405020304" pitchFamily="18" charset="0"/>
              </a:rPr>
              <a:t>Civil Liability Act 2002 </a:t>
            </a:r>
            <a:r>
              <a:rPr lang="en-US" sz="1600" b="1" dirty="0">
                <a:latin typeface="Times New Roman" panose="02020603050405020304" pitchFamily="18" charset="0"/>
                <a:cs typeface="Times New Roman" panose="02020603050405020304" pitchFamily="18" charset="0"/>
              </a:rPr>
              <a:t>(NSW)</a:t>
            </a:r>
          </a:p>
          <a:p>
            <a:pPr>
              <a:lnSpc>
                <a:spcPct val="150000"/>
              </a:lnSpc>
            </a:pPr>
            <a:r>
              <a:rPr lang="en-AU" sz="1600" b="1" dirty="0">
                <a:latin typeface="Times New Roman" panose="02020603050405020304" pitchFamily="18" charset="0"/>
                <a:cs typeface="Times New Roman" panose="02020603050405020304" pitchFamily="18" charset="0"/>
              </a:rPr>
              <a:t>Section 5A   Application of Part: </a:t>
            </a:r>
          </a:p>
          <a:p>
            <a:pPr lvl="1">
              <a:lnSpc>
                <a:spcPct val="150000"/>
              </a:lnSpc>
            </a:pPr>
            <a:r>
              <a:rPr lang="en-AU" dirty="0">
                <a:latin typeface="Times New Roman" panose="02020603050405020304" pitchFamily="18" charset="0"/>
                <a:cs typeface="Times New Roman" panose="02020603050405020304" pitchFamily="18" charset="0"/>
              </a:rPr>
              <a:t>applies to any claim for damages for harm resulting from </a:t>
            </a:r>
            <a:r>
              <a:rPr lang="en-AU" i="1" dirty="0">
                <a:latin typeface="Times New Roman" panose="02020603050405020304" pitchFamily="18" charset="0"/>
                <a:cs typeface="Times New Roman" panose="02020603050405020304" pitchFamily="18" charset="0"/>
              </a:rPr>
              <a:t>negligence</a:t>
            </a:r>
            <a:r>
              <a:rPr lang="en-AU" dirty="0">
                <a:latin typeface="Times New Roman" panose="02020603050405020304" pitchFamily="18" charset="0"/>
                <a:cs typeface="Times New Roman" panose="02020603050405020304" pitchFamily="18" charset="0"/>
              </a:rPr>
              <a:t>. </a:t>
            </a:r>
          </a:p>
          <a:p>
            <a:pPr lvl="1">
              <a:lnSpc>
                <a:spcPct val="150000"/>
              </a:lnSpc>
            </a:pPr>
            <a:r>
              <a:rPr lang="en-AU" dirty="0">
                <a:latin typeface="Times New Roman" panose="02020603050405020304" pitchFamily="18" charset="0"/>
                <a:cs typeface="Times New Roman" panose="02020603050405020304" pitchFamily="18" charset="0"/>
              </a:rPr>
              <a:t>does not apply to civil liability that is </a:t>
            </a:r>
            <a:r>
              <a:rPr lang="en-AU" i="1" dirty="0">
                <a:latin typeface="Times New Roman" panose="02020603050405020304" pitchFamily="18" charset="0"/>
                <a:cs typeface="Times New Roman" panose="02020603050405020304" pitchFamily="18" charset="0"/>
              </a:rPr>
              <a:t>excluded by section 3B</a:t>
            </a:r>
            <a:r>
              <a:rPr lang="en-AU" dirty="0">
                <a:latin typeface="Times New Roman" panose="02020603050405020304" pitchFamily="18" charset="0"/>
                <a:cs typeface="Times New Roman" panose="02020603050405020304" pitchFamily="18" charset="0"/>
              </a:rPr>
              <a:t>.</a:t>
            </a:r>
          </a:p>
          <a:p>
            <a:pPr>
              <a:lnSpc>
                <a:spcPct val="150000"/>
              </a:lnSpc>
            </a:pPr>
            <a:r>
              <a:rPr lang="en-AU" sz="1600" b="1" dirty="0">
                <a:latin typeface="Times New Roman" panose="02020603050405020304" pitchFamily="18" charset="0"/>
                <a:cs typeface="Times New Roman" panose="02020603050405020304" pitchFamily="18" charset="0"/>
              </a:rPr>
              <a:t>Section 3B Civil liability excluded from Act</a:t>
            </a:r>
            <a:endParaRPr lang="en-AU" sz="1600" dirty="0">
              <a:latin typeface="Times New Roman" panose="02020603050405020304" pitchFamily="18" charset="0"/>
              <a:cs typeface="Times New Roman" panose="02020603050405020304" pitchFamily="18" charset="0"/>
            </a:endParaRPr>
          </a:p>
          <a:p>
            <a:pPr lvl="1">
              <a:lnSpc>
                <a:spcPct val="150000"/>
              </a:lnSpc>
            </a:pPr>
            <a:r>
              <a:rPr lang="en-AU" dirty="0">
                <a:latin typeface="Times New Roman" panose="02020603050405020304" pitchFamily="18" charset="0"/>
                <a:cs typeface="Times New Roman" panose="02020603050405020304" pitchFamily="18" charset="0"/>
              </a:rPr>
              <a:t>Civil liability excluded from the application of the CLA includes:</a:t>
            </a:r>
          </a:p>
          <a:p>
            <a:pPr lvl="2">
              <a:lnSpc>
                <a:spcPct val="150000"/>
              </a:lnSpc>
            </a:pPr>
            <a:r>
              <a:rPr lang="en-AU" sz="1600" dirty="0">
                <a:latin typeface="Times New Roman" panose="02020603050405020304" pitchFamily="18" charset="0"/>
                <a:cs typeface="Times New Roman" panose="02020603050405020304" pitchFamily="18" charset="0"/>
              </a:rPr>
              <a:t>An intentional act with the intent to cause injury or death</a:t>
            </a:r>
          </a:p>
          <a:p>
            <a:pPr lvl="2">
              <a:lnSpc>
                <a:spcPct val="150000"/>
              </a:lnSpc>
            </a:pPr>
            <a:r>
              <a:rPr lang="en-AU" sz="1600" dirty="0">
                <a:latin typeface="Times New Roman" panose="02020603050405020304" pitchFamily="18" charset="0"/>
                <a:cs typeface="Times New Roman" panose="02020603050405020304" pitchFamily="18" charset="0"/>
              </a:rPr>
              <a:t>Sexual assault or sexual misconduct</a:t>
            </a:r>
          </a:p>
          <a:p>
            <a:pPr lvl="2">
              <a:lnSpc>
                <a:spcPct val="150000"/>
              </a:lnSpc>
            </a:pPr>
            <a:r>
              <a:rPr lang="en-AU" sz="1600" dirty="0">
                <a:latin typeface="Times New Roman" panose="02020603050405020304" pitchFamily="18" charset="0"/>
                <a:cs typeface="Times New Roman" panose="02020603050405020304" pitchFamily="18" charset="0"/>
              </a:rPr>
              <a:t>Claims where workers’ compensation legislation applies</a:t>
            </a:r>
          </a:p>
          <a:p>
            <a:pPr lvl="2">
              <a:lnSpc>
                <a:spcPct val="150000"/>
              </a:lnSpc>
            </a:pPr>
            <a:r>
              <a:rPr lang="en-AU" sz="1600" dirty="0">
                <a:latin typeface="Times New Roman" panose="02020603050405020304" pitchFamily="18" charset="0"/>
                <a:cs typeface="Times New Roman" panose="02020603050405020304" pitchFamily="18" charset="0"/>
              </a:rPr>
              <a:t>Dust diseases</a:t>
            </a:r>
          </a:p>
          <a:p>
            <a:pPr>
              <a:lnSpc>
                <a:spcPct val="150000"/>
              </a:lnSpc>
              <a:buFont typeface="Wingdings" pitchFamily="2" charset="2"/>
              <a:buChar char="Ø"/>
            </a:pPr>
            <a:r>
              <a:rPr lang="en-AU" sz="1600" dirty="0">
                <a:latin typeface="Times New Roman" panose="02020603050405020304" pitchFamily="18" charset="0"/>
                <a:cs typeface="Times New Roman" panose="02020603050405020304" pitchFamily="18" charset="0"/>
              </a:rPr>
              <a:t>These areas are covered by common law and/or other legislative regimes</a:t>
            </a:r>
          </a:p>
          <a:p>
            <a:pPr>
              <a:lnSpc>
                <a:spcPct val="150000"/>
              </a:lnSpc>
              <a:buFont typeface="Wingdings" pitchFamily="2" charset="2"/>
              <a:buChar char="Ø"/>
            </a:pPr>
            <a:r>
              <a:rPr lang="en-AU" sz="1600" dirty="0">
                <a:latin typeface="Times New Roman" panose="02020603050405020304" pitchFamily="18" charset="0"/>
                <a:cs typeface="Times New Roman" panose="02020603050405020304" pitchFamily="18" charset="0"/>
              </a:rPr>
              <a:t>CLA applies, in part, for motor vehicles accidents (for this unit, assume the CLA applies for motor vehicle accidents)</a:t>
            </a:r>
          </a:p>
          <a:p>
            <a:pPr>
              <a:buFont typeface="Wingdings" pitchFamily="2" charset="2"/>
              <a:buChar char="Ø"/>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96513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A2E30-FE47-35FE-F562-40D6A0EAC3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6CCBA4-17D5-A2E9-F6A7-8F6F35250B20}"/>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Key elements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2500FFD-1D12-8B44-BB8A-8FFD88D8AAE2}"/>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Negligence: Common law modified by the CLA</a:t>
            </a:r>
          </a:p>
          <a:p>
            <a:pPr>
              <a:lnSpc>
                <a:spcPct val="150000"/>
              </a:lnSpc>
            </a:pPr>
            <a:r>
              <a:rPr lang="en-AU" b="1" dirty="0">
                <a:latin typeface="Times New Roman" panose="02020603050405020304" pitchFamily="18" charset="0"/>
                <a:cs typeface="Times New Roman" panose="02020603050405020304" pitchFamily="18" charset="0"/>
              </a:rPr>
              <a:t>Duty of Care: </a:t>
            </a:r>
            <a:r>
              <a:rPr lang="en-AU" dirty="0">
                <a:latin typeface="Times New Roman" panose="02020603050405020304" pitchFamily="18" charset="0"/>
                <a:cs typeface="Times New Roman" panose="02020603050405020304" pitchFamily="18" charset="0"/>
              </a:rPr>
              <a:t>common law applies. In some specific circumstances it is modified by the CLA: </a:t>
            </a:r>
          </a:p>
          <a:p>
            <a:pPr lvl="1">
              <a:lnSpc>
                <a:spcPct val="150000"/>
              </a:lnSpc>
            </a:pPr>
            <a:r>
              <a:rPr lang="en-AU" sz="1800" dirty="0">
                <a:latin typeface="Times New Roman" panose="02020603050405020304" pitchFamily="18" charset="0"/>
                <a:cs typeface="Times New Roman" panose="02020603050405020304" pitchFamily="18" charset="0"/>
              </a:rPr>
              <a:t>public authorities, mental harm, recreational activities, professional negligence, intoxication, criminal enterprise. </a:t>
            </a:r>
          </a:p>
          <a:p>
            <a:pPr>
              <a:lnSpc>
                <a:spcPct val="150000"/>
              </a:lnSpc>
            </a:pPr>
            <a:r>
              <a:rPr lang="en-AU" b="1" dirty="0">
                <a:latin typeface="Times New Roman" panose="02020603050405020304" pitchFamily="18" charset="0"/>
                <a:cs typeface="Times New Roman" panose="02020603050405020304" pitchFamily="18" charset="0"/>
              </a:rPr>
              <a:t>Breach and Causation</a:t>
            </a:r>
            <a:r>
              <a:rPr lang="en-AU" dirty="0">
                <a:latin typeface="Times New Roman" panose="02020603050405020304" pitchFamily="18" charset="0"/>
                <a:cs typeface="Times New Roman" panose="02020603050405020304" pitchFamily="18" charset="0"/>
              </a:rPr>
              <a:t>: the common law tests have been codified/modified by the CLA </a:t>
            </a:r>
          </a:p>
          <a:p>
            <a:pPr lvl="1">
              <a:lnSpc>
                <a:spcPct val="150000"/>
              </a:lnSpc>
            </a:pPr>
            <a:r>
              <a:rPr lang="en-AU" sz="1800" dirty="0">
                <a:latin typeface="Times New Roman" panose="02020603050405020304" pitchFamily="18" charset="0"/>
                <a:cs typeface="Times New Roman" panose="02020603050405020304" pitchFamily="18" charset="0"/>
              </a:rPr>
              <a:t>Breach: ss 5B and 5C </a:t>
            </a:r>
          </a:p>
          <a:p>
            <a:pPr lvl="1">
              <a:lnSpc>
                <a:spcPct val="150000"/>
              </a:lnSpc>
            </a:pPr>
            <a:r>
              <a:rPr lang="en-AU" sz="1800" dirty="0">
                <a:latin typeface="Times New Roman" panose="02020603050405020304" pitchFamily="18" charset="0"/>
                <a:cs typeface="Times New Roman" panose="02020603050405020304" pitchFamily="18" charset="0"/>
              </a:rPr>
              <a:t>Causation: ss 5D and 5E </a:t>
            </a:r>
          </a:p>
          <a:p>
            <a:pPr>
              <a:lnSpc>
                <a:spcPct val="150000"/>
              </a:lnSpc>
              <a:buFont typeface="Wingdings" pitchFamily="2" charset="2"/>
              <a:buChar char="Ø"/>
            </a:pPr>
            <a:r>
              <a:rPr lang="en-AU" dirty="0">
                <a:latin typeface="Times New Roman" panose="02020603050405020304" pitchFamily="18" charset="0"/>
                <a:cs typeface="Times New Roman" panose="02020603050405020304" pitchFamily="18" charset="0"/>
              </a:rPr>
              <a:t>The common law principles are still relevant in applying these sections, </a:t>
            </a:r>
          </a:p>
          <a:p>
            <a:pPr>
              <a:lnSpc>
                <a:spcPct val="150000"/>
              </a:lnSpc>
              <a:buFont typeface="Wingdings" pitchFamily="2" charset="2"/>
              <a:buChar char="Ø"/>
            </a:pPr>
            <a:r>
              <a:rPr lang="en-AU" dirty="0">
                <a:latin typeface="Times New Roman" panose="02020603050405020304" pitchFamily="18" charset="0"/>
                <a:cs typeface="Times New Roman" panose="02020603050405020304" pitchFamily="18" charset="0"/>
              </a:rPr>
              <a:t>Case law assists with statutory interpretation of particular provisions in the CLA. </a:t>
            </a:r>
          </a:p>
          <a:p>
            <a:pPr>
              <a:buFont typeface="Wingdings" pitchFamily="2" charset="2"/>
              <a:buChar char="Ø"/>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70531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dirty="0">
                <a:solidFill>
                  <a:schemeClr val="accent3"/>
                </a:solidFill>
                <a:latin typeface="Times New Roman" panose="02020603050405020304" pitchFamily="18" charset="0"/>
                <a:cs typeface="Times New Roman" panose="02020603050405020304" pitchFamily="18" charset="0"/>
              </a:rPr>
              <a:t>3. Historical origin and evolution </a:t>
            </a:r>
            <a:endParaRPr lang="en-AU" dirty="0">
              <a:solidFill>
                <a:schemeClr val="accent3"/>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The House of Lords’ ruling in </a:t>
            </a:r>
            <a:r>
              <a:rPr lang="en-US" sz="2800" i="1" dirty="0">
                <a:solidFill>
                  <a:srgbClr val="0070C0"/>
                </a:solidFill>
                <a:latin typeface="Times New Roman" panose="02020603050405020304" pitchFamily="18" charset="0"/>
                <a:cs typeface="Times New Roman" panose="02020603050405020304" pitchFamily="18" charset="0"/>
              </a:rPr>
              <a:t>Donoghue v Stevenson </a:t>
            </a:r>
            <a:r>
              <a:rPr lang="en-US" sz="2800" dirty="0">
                <a:solidFill>
                  <a:srgbClr val="0070C0"/>
                </a:solidFill>
                <a:latin typeface="Times New Roman" panose="02020603050405020304" pitchFamily="18" charset="0"/>
                <a:cs typeface="Times New Roman" panose="02020603050405020304" pitchFamily="18" charset="0"/>
              </a:rPr>
              <a:t>[1932] AC 562 </a:t>
            </a:r>
            <a:r>
              <a:rPr lang="en-US" sz="2800" dirty="0">
                <a:latin typeface="Times New Roman" panose="02020603050405020304" pitchFamily="18" charset="0"/>
                <a:cs typeface="Times New Roman" panose="02020603050405020304" pitchFamily="18" charset="0"/>
              </a:rPr>
              <a:t>remains a landmark decision to date  </a:t>
            </a:r>
            <a:endParaRPr lang="en-US" sz="2800" i="1"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It is widely regarded as one of the most important decisions of the 20</a:t>
            </a:r>
            <a:r>
              <a:rPr lang="en-US" sz="2800" baseline="30000" dirty="0">
                <a:latin typeface="Times New Roman" panose="02020603050405020304" pitchFamily="18" charset="0"/>
                <a:cs typeface="Times New Roman" panose="02020603050405020304" pitchFamily="18" charset="0"/>
              </a:rPr>
              <a:t>th</a:t>
            </a:r>
            <a:r>
              <a:rPr lang="en-US" sz="2800" dirty="0">
                <a:latin typeface="Times New Roman" panose="02020603050405020304" pitchFamily="18" charset="0"/>
                <a:cs typeface="Times New Roman" panose="02020603050405020304" pitchFamily="18" charset="0"/>
              </a:rPr>
              <a:t> century – the </a:t>
            </a:r>
            <a:r>
              <a:rPr lang="en-US" sz="2800" b="1" dirty="0">
                <a:latin typeface="Times New Roman" panose="02020603050405020304" pitchFamily="18" charset="0"/>
                <a:cs typeface="Times New Roman" panose="02020603050405020304" pitchFamily="18" charset="0"/>
              </a:rPr>
              <a:t>neighbour principle</a:t>
            </a:r>
            <a:r>
              <a:rPr lang="en-US" sz="2800" dirty="0">
                <a:latin typeface="Times New Roman" panose="02020603050405020304" pitchFamily="18" charset="0"/>
                <a:cs typeface="Times New Roman" panose="02020603050405020304" pitchFamily="18" charset="0"/>
              </a:rPr>
              <a:t> has become the </a:t>
            </a:r>
            <a:r>
              <a:rPr lang="en-US" sz="2800" i="1" dirty="0">
                <a:latin typeface="Times New Roman" panose="02020603050405020304" pitchFamily="18" charset="0"/>
                <a:cs typeface="Times New Roman" panose="02020603050405020304" pitchFamily="18" charset="0"/>
              </a:rPr>
              <a:t>lingua franca </a:t>
            </a:r>
            <a:r>
              <a:rPr lang="en-US" sz="2800" dirty="0">
                <a:latin typeface="Times New Roman" panose="02020603050405020304" pitchFamily="18" charset="0"/>
                <a:cs typeface="Times New Roman" panose="02020603050405020304" pitchFamily="18" charset="0"/>
              </a:rPr>
              <a:t>for the tort of negligence  </a:t>
            </a:r>
          </a:p>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This case also illustrates how English cases have influenced the tort law in other jurisdictions </a:t>
            </a:r>
          </a:p>
        </p:txBody>
      </p:sp>
    </p:spTree>
    <p:extLst>
      <p:ext uri="{BB962C8B-B14F-4D97-AF65-F5344CB8AC3E}">
        <p14:creationId xmlns:p14="http://schemas.microsoft.com/office/powerpoint/2010/main" val="847723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Historical origin and evolution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In August 1928, </a:t>
            </a:r>
            <a:r>
              <a:rPr lang="en-US" sz="2800" dirty="0" err="1">
                <a:latin typeface="Times New Roman" panose="02020603050405020304" pitchFamily="18" charset="0"/>
                <a:cs typeface="Times New Roman" panose="02020603050405020304" pitchFamily="18" charset="0"/>
              </a:rPr>
              <a:t>Mrs</a:t>
            </a:r>
            <a:r>
              <a:rPr lang="en-US" sz="2800" dirty="0">
                <a:latin typeface="Times New Roman" panose="02020603050405020304" pitchFamily="18" charset="0"/>
                <a:cs typeface="Times New Roman" panose="02020603050405020304" pitchFamily="18" charset="0"/>
              </a:rPr>
              <a:t> Donoghue went with a friend to a café in Scotland for an ice-cream soda </a:t>
            </a:r>
          </a:p>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Donoghue’s </a:t>
            </a:r>
            <a:r>
              <a:rPr lang="en-US" sz="2800" b="1" dirty="0">
                <a:latin typeface="Times New Roman" panose="02020603050405020304" pitchFamily="18" charset="0"/>
                <a:cs typeface="Times New Roman" panose="02020603050405020304" pitchFamily="18" charset="0"/>
              </a:rPr>
              <a:t>friend purchased</a:t>
            </a:r>
            <a:r>
              <a:rPr lang="en-US" sz="2800" dirty="0">
                <a:latin typeface="Times New Roman" panose="02020603050405020304" pitchFamily="18" charset="0"/>
                <a:cs typeface="Times New Roman" panose="02020603050405020304" pitchFamily="18" charset="0"/>
              </a:rPr>
              <a:t> an ice cream and a ginger beer for Donoghue </a:t>
            </a:r>
          </a:p>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Does it matter who paid for the ginger beer? </a:t>
            </a:r>
          </a:p>
          <a:p>
            <a:pPr marL="0" indent="0">
              <a:buNone/>
            </a:pPr>
            <a:endParaRPr lang="en-US" sz="2800" dirty="0">
              <a:latin typeface="Times New Roman" panose="02020603050405020304" pitchFamily="18" charset="0"/>
              <a:cs typeface="Times New Roman" panose="02020603050405020304" pitchFamily="18" charset="0"/>
            </a:endParaRPr>
          </a:p>
        </p:txBody>
      </p:sp>
      <p:sp>
        <p:nvSpPr>
          <p:cNvPr id="4" name="Action Button: Help 3">
            <a:hlinkClick r:id="" action="ppaction://noaction" highlightClick="1"/>
            <a:extLst>
              <a:ext uri="{FF2B5EF4-FFF2-40B4-BE49-F238E27FC236}">
                <a16:creationId xmlns:a16="http://schemas.microsoft.com/office/drawing/2014/main" id="{B7537A45-E41E-096F-209B-2C6B23495A8D}"/>
              </a:ext>
            </a:extLst>
          </p:cNvPr>
          <p:cNvSpPr/>
          <p:nvPr/>
        </p:nvSpPr>
        <p:spPr>
          <a:xfrm>
            <a:off x="8135860" y="4072257"/>
            <a:ext cx="1042416" cy="1042416"/>
          </a:xfrm>
          <a:prstGeom prst="actionButtonHelp">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HK"/>
          </a:p>
        </p:txBody>
      </p:sp>
    </p:spTree>
    <p:extLst>
      <p:ext uri="{BB962C8B-B14F-4D97-AF65-F5344CB8AC3E}">
        <p14:creationId xmlns:p14="http://schemas.microsoft.com/office/powerpoint/2010/main" val="13152253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Historical origin and evolution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The ginger beer came in an opaque glass bottle with the name of the manufacturer, David Stevenson, written on it  </a:t>
            </a:r>
          </a:p>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As the beer was poured into the tumbler, a decomposed snail floated out of the bottle </a:t>
            </a:r>
          </a:p>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Donoghue sued Stevenson for shock and severe gastro-enteritis</a:t>
            </a:r>
          </a:p>
          <a:p>
            <a:pPr>
              <a:buFont typeface="Wingdings" panose="05000000000000000000" pitchFamily="2" charset="2"/>
              <a:buChar char="§"/>
            </a:pPr>
            <a:endParaRPr 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89499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Historical origin and evolution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1" y="1508426"/>
            <a:ext cx="6159264" cy="5074936"/>
          </a:xfrm>
        </p:spPr>
        <p:txBody>
          <a:bodyPr>
            <a:noAutofit/>
          </a:bodyPr>
          <a:lstStyle/>
          <a:p>
            <a:pPr>
              <a:lnSpc>
                <a:spcPct val="150000"/>
              </a:lnSpc>
            </a:pPr>
            <a:r>
              <a:rPr lang="en-US" sz="2800" dirty="0">
                <a:latin typeface="Times New Roman" panose="02020603050405020304" pitchFamily="18" charset="0"/>
                <a:cs typeface="Times New Roman" panose="02020603050405020304" pitchFamily="18" charset="0"/>
              </a:rPr>
              <a:t>The rest is history!</a:t>
            </a:r>
          </a:p>
          <a:p>
            <a:pPr>
              <a:lnSpc>
                <a:spcPct val="150000"/>
              </a:lnSpc>
            </a:pPr>
            <a:r>
              <a:rPr lang="en-US" sz="2800" dirty="0">
                <a:latin typeface="Times New Roman" panose="02020603050405020304" pitchFamily="18" charset="0"/>
                <a:cs typeface="Times New Roman" panose="02020603050405020304" pitchFamily="18" charset="0"/>
              </a:rPr>
              <a:t>The House of Lords by a majority of 3:2 allowed Donoghue’s appeal  </a:t>
            </a:r>
          </a:p>
          <a:p>
            <a:pPr marL="0" indent="0">
              <a:lnSpc>
                <a:spcPct val="150000"/>
              </a:lnSpc>
              <a:buNone/>
            </a:pPr>
            <a:endParaRPr lang="en-US" sz="2800" dirty="0">
              <a:latin typeface="Times New Roman" panose="02020603050405020304" pitchFamily="18" charset="0"/>
              <a:cs typeface="Times New Roman" panose="02020603050405020304" pitchFamily="18" charset="0"/>
            </a:endParaRPr>
          </a:p>
          <a:p>
            <a:pPr>
              <a:lnSpc>
                <a:spcPct val="150000"/>
              </a:lnSpc>
              <a:buFont typeface="Wingdings" pitchFamily="2" charset="2"/>
              <a:buChar char="Ø"/>
            </a:pPr>
            <a:r>
              <a:rPr lang="en-US" sz="2800" dirty="0">
                <a:latin typeface="Times New Roman" panose="02020603050405020304" pitchFamily="18" charset="0"/>
                <a:cs typeface="Times New Roman" panose="02020603050405020304" pitchFamily="18" charset="0"/>
              </a:rPr>
              <a:t>Was there a snail in the bottle?</a:t>
            </a:r>
          </a:p>
        </p:txBody>
      </p:sp>
      <p:pic>
        <p:nvPicPr>
          <p:cNvPr id="4" name="Picture 3" descr="A picture containing text&#10;&#10;Description automatically generated">
            <a:extLst>
              <a:ext uri="{FF2B5EF4-FFF2-40B4-BE49-F238E27FC236}">
                <a16:creationId xmlns:a16="http://schemas.microsoft.com/office/drawing/2014/main" id="{19C9A78D-5988-B03C-9524-28055051B6DD}"/>
              </a:ext>
            </a:extLst>
          </p:cNvPr>
          <p:cNvPicPr>
            <a:picLocks noChangeAspect="1"/>
          </p:cNvPicPr>
          <p:nvPr/>
        </p:nvPicPr>
        <p:blipFill>
          <a:blip r:embed="rId3"/>
          <a:stretch>
            <a:fillRect/>
          </a:stretch>
        </p:blipFill>
        <p:spPr>
          <a:xfrm>
            <a:off x="6879265" y="1508425"/>
            <a:ext cx="4135534" cy="4881741"/>
          </a:xfrm>
          <a:prstGeom prst="rect">
            <a:avLst/>
          </a:prstGeom>
        </p:spPr>
      </p:pic>
      <p:sp>
        <p:nvSpPr>
          <p:cNvPr id="5" name="Action Button: Help 4">
            <a:hlinkClick r:id="" action="ppaction://noaction" highlightClick="1"/>
            <a:extLst>
              <a:ext uri="{FF2B5EF4-FFF2-40B4-BE49-F238E27FC236}">
                <a16:creationId xmlns:a16="http://schemas.microsoft.com/office/drawing/2014/main" id="{0DFEE420-2A33-2301-192D-C09464F2209E}"/>
              </a:ext>
            </a:extLst>
          </p:cNvPr>
          <p:cNvSpPr/>
          <p:nvPr/>
        </p:nvSpPr>
        <p:spPr>
          <a:xfrm>
            <a:off x="5836849" y="3428087"/>
            <a:ext cx="1042416" cy="1042416"/>
          </a:xfrm>
          <a:prstGeom prst="actionButtonHelp">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HK"/>
          </a:p>
        </p:txBody>
      </p:sp>
    </p:spTree>
    <p:extLst>
      <p:ext uri="{BB962C8B-B14F-4D97-AF65-F5344CB8AC3E}">
        <p14:creationId xmlns:p14="http://schemas.microsoft.com/office/powerpoint/2010/main" val="12557058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Historical origin and evolution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1" y="1508426"/>
            <a:ext cx="11103404" cy="5074936"/>
          </a:xfrm>
        </p:spPr>
        <p:txBody>
          <a:bodyPr>
            <a:noAutofit/>
          </a:bodyPr>
          <a:lstStyle/>
          <a:p>
            <a:pPr>
              <a:lnSpc>
                <a:spcPct val="150000"/>
              </a:lnSpc>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Lord Atkin reasoned: </a:t>
            </a:r>
          </a:p>
          <a:p>
            <a:pPr marL="457200" lvl="1" indent="0">
              <a:lnSpc>
                <a:spcPct val="150000"/>
              </a:lnSpc>
              <a:buNone/>
            </a:pPr>
            <a:r>
              <a:rPr lang="en-US" sz="2000" dirty="0">
                <a:latin typeface="Times New Roman" panose="02020603050405020304" pitchFamily="18" charset="0"/>
                <a:cs typeface="Times New Roman" panose="02020603050405020304" pitchFamily="18" charset="0"/>
              </a:rPr>
              <a:t>The </a:t>
            </a:r>
            <a:r>
              <a:rPr lang="en-US" sz="2000" dirty="0">
                <a:highlight>
                  <a:srgbClr val="FFFF00"/>
                </a:highlight>
                <a:latin typeface="Times New Roman" panose="02020603050405020304" pitchFamily="18" charset="0"/>
                <a:cs typeface="Times New Roman" panose="02020603050405020304" pitchFamily="18" charset="0"/>
              </a:rPr>
              <a:t>liability for negligence</a:t>
            </a:r>
            <a:r>
              <a:rPr lang="en-US" sz="2000" dirty="0">
                <a:latin typeface="Times New Roman" panose="02020603050405020304" pitchFamily="18" charset="0"/>
                <a:cs typeface="Times New Roman" panose="02020603050405020304" pitchFamily="18" charset="0"/>
              </a:rPr>
              <a:t>, whether you style it such or treat it as in other systems as a species of culpa, is no doubt </a:t>
            </a:r>
            <a:r>
              <a:rPr lang="en-US" sz="2000" dirty="0">
                <a:highlight>
                  <a:srgbClr val="FFFF00"/>
                </a:highlight>
                <a:latin typeface="Times New Roman" panose="02020603050405020304" pitchFamily="18" charset="0"/>
                <a:cs typeface="Times New Roman" panose="02020603050405020304" pitchFamily="18" charset="0"/>
              </a:rPr>
              <a:t>based upon a general public sentiment of moral wrongdoing </a:t>
            </a:r>
            <a:r>
              <a:rPr lang="en-US" sz="2000" dirty="0">
                <a:latin typeface="Times New Roman" panose="02020603050405020304" pitchFamily="18" charset="0"/>
                <a:cs typeface="Times New Roman" panose="02020603050405020304" pitchFamily="18" charset="0"/>
              </a:rPr>
              <a:t>for which the offender must pay. But acts or omissions which any </a:t>
            </a:r>
            <a:r>
              <a:rPr lang="en-US" sz="2000" i="1" dirty="0">
                <a:latin typeface="Times New Roman" panose="02020603050405020304" pitchFamily="18" charset="0"/>
                <a:cs typeface="Times New Roman" panose="02020603050405020304" pitchFamily="18" charset="0"/>
              </a:rPr>
              <a:t>moral code </a:t>
            </a:r>
            <a:r>
              <a:rPr lang="en-US" sz="2000" dirty="0">
                <a:latin typeface="Times New Roman" panose="02020603050405020304" pitchFamily="18" charset="0"/>
                <a:cs typeface="Times New Roman" panose="02020603050405020304" pitchFamily="18" charset="0"/>
              </a:rPr>
              <a:t>would censure cannot in a practical world be treated so as to give a right to every person injured by them to demand relief. In this way </a:t>
            </a:r>
            <a:r>
              <a:rPr lang="en-US" sz="2000" i="1" dirty="0">
                <a:latin typeface="Times New Roman" panose="02020603050405020304" pitchFamily="18" charset="0"/>
                <a:cs typeface="Times New Roman" panose="02020603050405020304" pitchFamily="18" charset="0"/>
              </a:rPr>
              <a:t>rules of law </a:t>
            </a:r>
            <a:r>
              <a:rPr lang="en-US" sz="2000" dirty="0">
                <a:latin typeface="Times New Roman" panose="02020603050405020304" pitchFamily="18" charset="0"/>
                <a:cs typeface="Times New Roman" panose="02020603050405020304" pitchFamily="18" charset="0"/>
              </a:rPr>
              <a:t>arise which limit the range of complainants and the extent of their remedy. </a:t>
            </a:r>
            <a:r>
              <a:rPr lang="en-US" sz="2000" b="1" dirty="0">
                <a:latin typeface="Times New Roman" panose="02020603050405020304" pitchFamily="18" charset="0"/>
                <a:cs typeface="Times New Roman" panose="02020603050405020304" pitchFamily="18" charset="0"/>
              </a:rPr>
              <a:t>The rule that you are to love your neighbour becomes in law, </a:t>
            </a:r>
            <a:r>
              <a:rPr lang="en-US" sz="2000" b="1" dirty="0">
                <a:highlight>
                  <a:srgbClr val="FFFF00"/>
                </a:highlight>
                <a:latin typeface="Times New Roman" panose="02020603050405020304" pitchFamily="18" charset="0"/>
                <a:cs typeface="Times New Roman" panose="02020603050405020304" pitchFamily="18" charset="0"/>
              </a:rPr>
              <a:t>you must not injure your neighbour</a:t>
            </a:r>
            <a:r>
              <a:rPr lang="en-US" sz="2000" dirty="0">
                <a:latin typeface="Times New Roman" panose="02020603050405020304" pitchFamily="18" charset="0"/>
                <a:cs typeface="Times New Roman" panose="02020603050405020304" pitchFamily="18" charset="0"/>
              </a:rPr>
              <a:t>; and the lawyer’s question – Who is my neighbour? – receives a restricted reply. </a:t>
            </a:r>
            <a:r>
              <a:rPr lang="en-US" sz="2000" b="1" dirty="0">
                <a:latin typeface="Times New Roman" panose="02020603050405020304" pitchFamily="18" charset="0"/>
                <a:cs typeface="Times New Roman" panose="02020603050405020304" pitchFamily="18" charset="0"/>
              </a:rPr>
              <a:t>You must take reasonable care to avoid acts or omissions which you can </a:t>
            </a:r>
            <a:r>
              <a:rPr lang="en-US" sz="2000" b="1" dirty="0">
                <a:highlight>
                  <a:srgbClr val="FFFF00"/>
                </a:highlight>
                <a:latin typeface="Times New Roman" panose="02020603050405020304" pitchFamily="18" charset="0"/>
                <a:cs typeface="Times New Roman" panose="02020603050405020304" pitchFamily="18" charset="0"/>
              </a:rPr>
              <a:t>reasonably foresee </a:t>
            </a:r>
            <a:r>
              <a:rPr lang="en-US" sz="2000" b="1" dirty="0">
                <a:latin typeface="Times New Roman" panose="02020603050405020304" pitchFamily="18" charset="0"/>
                <a:cs typeface="Times New Roman" panose="02020603050405020304" pitchFamily="18" charset="0"/>
              </a:rPr>
              <a:t>would be likely to injure your </a:t>
            </a:r>
            <a:r>
              <a:rPr lang="en-US" sz="2000" b="1" dirty="0" err="1">
                <a:latin typeface="Times New Roman" panose="02020603050405020304" pitchFamily="18" charset="0"/>
                <a:cs typeface="Times New Roman" panose="02020603050405020304" pitchFamily="18" charset="0"/>
              </a:rPr>
              <a:t>neighbour</a:t>
            </a:r>
            <a:r>
              <a:rPr lang="en-US"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7392015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Historical origin and evolution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1" y="1508426"/>
            <a:ext cx="11103404" cy="5074936"/>
          </a:xfrm>
        </p:spPr>
        <p:txBody>
          <a:bodyPr>
            <a:noAutofit/>
          </a:bodyPr>
          <a:lstStyle/>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Lord Atkin continued to explain who is a neighbour:</a:t>
            </a:r>
          </a:p>
          <a:p>
            <a:pPr marL="0" indent="0">
              <a:lnSpc>
                <a:spcPct val="150000"/>
              </a:lnSpc>
              <a:buNone/>
            </a:pPr>
            <a:endParaRPr lang="en-US" sz="1000" dirty="0">
              <a:latin typeface="Times New Roman" panose="02020603050405020304" pitchFamily="18" charset="0"/>
              <a:cs typeface="Times New Roman" panose="02020603050405020304" pitchFamily="18" charset="0"/>
            </a:endParaRPr>
          </a:p>
          <a:p>
            <a:pPr marL="457200" lvl="1" indent="0">
              <a:lnSpc>
                <a:spcPct val="150000"/>
              </a:lnSpc>
              <a:buNone/>
            </a:pPr>
            <a:r>
              <a:rPr lang="en-US" sz="2600" dirty="0">
                <a:latin typeface="Times New Roman" panose="02020603050405020304" pitchFamily="18" charset="0"/>
                <a:cs typeface="Times New Roman" panose="02020603050405020304" pitchFamily="18" charset="0"/>
              </a:rPr>
              <a:t>Who, then, in law is my neighbour? The answer seems to be – </a:t>
            </a:r>
            <a:r>
              <a:rPr lang="en-US" sz="2600" i="1" dirty="0">
                <a:latin typeface="Times New Roman" panose="02020603050405020304" pitchFamily="18" charset="0"/>
                <a:cs typeface="Times New Roman" panose="02020603050405020304" pitchFamily="18" charset="0"/>
              </a:rPr>
              <a:t>persons who are so closely and directly affected </a:t>
            </a:r>
            <a:r>
              <a:rPr lang="en-US" sz="2600" dirty="0">
                <a:latin typeface="Times New Roman" panose="02020603050405020304" pitchFamily="18" charset="0"/>
                <a:cs typeface="Times New Roman" panose="02020603050405020304" pitchFamily="18" charset="0"/>
              </a:rPr>
              <a:t>by my act that </a:t>
            </a:r>
            <a:r>
              <a:rPr lang="en-US" sz="2600" i="1" dirty="0">
                <a:latin typeface="Times New Roman" panose="02020603050405020304" pitchFamily="18" charset="0"/>
                <a:cs typeface="Times New Roman" panose="02020603050405020304" pitchFamily="18" charset="0"/>
              </a:rPr>
              <a:t>I ought reasonably to have them in contemplation</a:t>
            </a:r>
            <a:r>
              <a:rPr lang="en-US" sz="2600" dirty="0">
                <a:latin typeface="Times New Roman" panose="02020603050405020304" pitchFamily="18" charset="0"/>
                <a:cs typeface="Times New Roman" panose="02020603050405020304" pitchFamily="18" charset="0"/>
              </a:rPr>
              <a:t> as being so affected when I am directing my mind to the acts or omissions which are called in question.</a:t>
            </a:r>
          </a:p>
        </p:txBody>
      </p:sp>
    </p:spTree>
    <p:extLst>
      <p:ext uri="{BB962C8B-B14F-4D97-AF65-F5344CB8AC3E}">
        <p14:creationId xmlns:p14="http://schemas.microsoft.com/office/powerpoint/2010/main" val="38606683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Historical origin and evolution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The neighbour principle was applied in </a:t>
            </a:r>
            <a:r>
              <a:rPr lang="en-US" sz="2800" i="1" dirty="0">
                <a:solidFill>
                  <a:srgbClr val="0070C0"/>
                </a:solidFill>
                <a:latin typeface="Times New Roman" panose="02020603050405020304" pitchFamily="18" charset="0"/>
                <a:cs typeface="Times New Roman" panose="02020603050405020304" pitchFamily="18" charset="0"/>
              </a:rPr>
              <a:t>Grant v Australian Knitting Mills </a:t>
            </a:r>
            <a:r>
              <a:rPr lang="en-US" sz="2800" dirty="0">
                <a:solidFill>
                  <a:srgbClr val="0070C0"/>
                </a:solidFill>
                <a:latin typeface="Times New Roman" panose="02020603050405020304" pitchFamily="18" charset="0"/>
                <a:cs typeface="Times New Roman" panose="02020603050405020304" pitchFamily="18" charset="0"/>
              </a:rPr>
              <a:t>[1936] AC 85</a:t>
            </a:r>
            <a:r>
              <a:rPr lang="en-US" sz="2800" dirty="0">
                <a:latin typeface="Times New Roman" panose="02020603050405020304" pitchFamily="18" charset="0"/>
                <a:cs typeface="Times New Roman" panose="02020603050405020304" pitchFamily="18" charset="0"/>
              </a:rPr>
              <a:t> </a:t>
            </a:r>
            <a:r>
              <a:rPr lang="en-US" sz="2800" dirty="0">
                <a:solidFill>
                  <a:srgbClr val="7030A0"/>
                </a:solidFill>
                <a:latin typeface="Times New Roman" panose="02020603050405020304" pitchFamily="18" charset="0"/>
                <a:cs typeface="Times New Roman" panose="02020603050405020304" pitchFamily="18" charset="0"/>
              </a:rPr>
              <a:t>(Dr Grant bought underpants from a retailer who had purchased these from the defendant; the underpants caused severe dermatitis; the underpants had free </a:t>
            </a:r>
            <a:r>
              <a:rPr lang="en-US" sz="2800" dirty="0" err="1">
                <a:solidFill>
                  <a:srgbClr val="7030A0"/>
                </a:solidFill>
                <a:latin typeface="Times New Roman" panose="02020603050405020304" pitchFamily="18" charset="0"/>
                <a:cs typeface="Times New Roman" panose="02020603050405020304" pitchFamily="18" charset="0"/>
              </a:rPr>
              <a:t>sulphites</a:t>
            </a:r>
            <a:r>
              <a:rPr lang="en-US" sz="2800" dirty="0">
                <a:solidFill>
                  <a:srgbClr val="7030A0"/>
                </a:solidFill>
                <a:latin typeface="Times New Roman" panose="02020603050405020304" pitchFamily="18" charset="0"/>
                <a:cs typeface="Times New Roman" panose="02020603050405020304" pitchFamily="18" charset="0"/>
              </a:rPr>
              <a:t> which might have caused dermatitis) </a:t>
            </a:r>
            <a:endParaRPr lang="en-US" sz="28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The Privy Council held that the damage suffered by Grant was caused by “the negligent or improper way in which the manufacturers made the garments”  </a:t>
            </a:r>
          </a:p>
        </p:txBody>
      </p:sp>
    </p:spTree>
    <p:extLst>
      <p:ext uri="{BB962C8B-B14F-4D97-AF65-F5344CB8AC3E}">
        <p14:creationId xmlns:p14="http://schemas.microsoft.com/office/powerpoint/2010/main" val="41530235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Historical origin and evolution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The Privy Council concluded that the facts of this case fell within the </a:t>
            </a:r>
            <a:r>
              <a:rPr lang="en-US" sz="2800" i="1" dirty="0">
                <a:solidFill>
                  <a:srgbClr val="0070C0"/>
                </a:solidFill>
                <a:latin typeface="Times New Roman" panose="02020603050405020304" pitchFamily="18" charset="0"/>
                <a:cs typeface="Times New Roman" panose="02020603050405020304" pitchFamily="18" charset="0"/>
              </a:rPr>
              <a:t>Donoghue</a:t>
            </a:r>
            <a:r>
              <a:rPr lang="en-US" sz="2800" dirty="0">
                <a:latin typeface="Times New Roman" panose="02020603050405020304" pitchFamily="18" charset="0"/>
                <a:cs typeface="Times New Roman" panose="02020603050405020304" pitchFamily="18" charset="0"/>
              </a:rPr>
              <a:t> principle </a:t>
            </a:r>
          </a:p>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It, however, clarified that the principle can </a:t>
            </a:r>
            <a:r>
              <a:rPr lang="en-US" sz="2800" i="1" dirty="0">
                <a:latin typeface="Times New Roman" panose="02020603050405020304" pitchFamily="18" charset="0"/>
                <a:cs typeface="Times New Roman" panose="02020603050405020304" pitchFamily="18" charset="0"/>
              </a:rPr>
              <a:t>only</a:t>
            </a:r>
            <a:r>
              <a:rPr lang="en-US" sz="2800" dirty="0">
                <a:latin typeface="Times New Roman" panose="02020603050405020304" pitchFamily="18" charset="0"/>
                <a:cs typeface="Times New Roman" panose="02020603050405020304" pitchFamily="18" charset="0"/>
              </a:rPr>
              <a:t> be applied where the defect is “hidden and unknown to the consumer, otherwise the directness of cause and effect is absent”   </a:t>
            </a:r>
          </a:p>
        </p:txBody>
      </p:sp>
    </p:spTree>
    <p:extLst>
      <p:ext uri="{BB962C8B-B14F-4D97-AF65-F5344CB8AC3E}">
        <p14:creationId xmlns:p14="http://schemas.microsoft.com/office/powerpoint/2010/main" val="25583675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0ED08-DE72-E290-2BAE-BF620F739D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A4A8A4-1A86-ADCB-81DB-E70773B1AA5B}"/>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Historical origin and evolution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289FF11-0BDC-4B9E-0323-D34B02F26418}"/>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 paradigm case in negligence:</a:t>
            </a:r>
          </a:p>
          <a:p>
            <a:pPr marL="457200" lvl="1" indent="0">
              <a:lnSpc>
                <a:spcPct val="150000"/>
              </a:lnSpc>
              <a:buNone/>
            </a:pPr>
            <a:r>
              <a:rPr lang="en-US" sz="2200" b="1" dirty="0">
                <a:latin typeface="Times New Roman" panose="02020603050405020304" pitchFamily="18" charset="0"/>
                <a:cs typeface="Times New Roman" panose="02020603050405020304" pitchFamily="18" charset="0"/>
              </a:rPr>
              <a:t>An act causing physical injury or property damage</a:t>
            </a:r>
          </a:p>
          <a:p>
            <a:pPr>
              <a:lnSpc>
                <a:spcPct val="15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If there is nothing ‘special’ about the plaintiff or the defendant, then, generally speaking, all that is required is reasonable foreseeability (</a:t>
            </a:r>
            <a:r>
              <a:rPr lang="en-US" sz="2400" dirty="0" err="1">
                <a:latin typeface="Times New Roman" panose="02020603050405020304" pitchFamily="18" charset="0"/>
                <a:cs typeface="Times New Roman" panose="02020603050405020304" pitchFamily="18" charset="0"/>
              </a:rPr>
              <a:t>neighbour</a:t>
            </a:r>
            <a:r>
              <a:rPr lang="en-US" sz="2400" dirty="0">
                <a:latin typeface="Times New Roman" panose="02020603050405020304" pitchFamily="18" charset="0"/>
                <a:cs typeface="Times New Roman" panose="02020603050405020304" pitchFamily="18" charset="0"/>
              </a:rPr>
              <a:t> principle)</a:t>
            </a:r>
          </a:p>
          <a:p>
            <a:pPr>
              <a:lnSpc>
                <a:spcPct val="15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For omissions, initial harm that is not physical injury or property damage, or where there are special parties, more than reasonable foreseeability is usually required.</a:t>
            </a:r>
          </a:p>
          <a:p>
            <a:pPr>
              <a:lnSpc>
                <a:spcPct val="15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What more? </a:t>
            </a:r>
          </a:p>
          <a:p>
            <a:pPr lvl="1">
              <a:lnSpc>
                <a:spcPct val="150000"/>
              </a:lnSpc>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We refer to cases (common law) that have been decided.</a:t>
            </a:r>
          </a:p>
        </p:txBody>
      </p:sp>
    </p:spTree>
    <p:extLst>
      <p:ext uri="{BB962C8B-B14F-4D97-AF65-F5344CB8AC3E}">
        <p14:creationId xmlns:p14="http://schemas.microsoft.com/office/powerpoint/2010/main" val="9765554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Historical origin and evolution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marL="0" indent="0">
              <a:lnSpc>
                <a:spcPct val="150000"/>
              </a:lnSpc>
              <a:buNone/>
            </a:pPr>
            <a:r>
              <a:rPr lang="en-US" sz="2800" u="sng" dirty="0">
                <a:solidFill>
                  <a:srgbClr val="008000"/>
                </a:solidFill>
                <a:latin typeface="Times New Roman" panose="02020603050405020304" pitchFamily="18" charset="0"/>
                <a:cs typeface="Times New Roman" panose="02020603050405020304" pitchFamily="18" charset="0"/>
              </a:rPr>
              <a:t>Evolution of the duty of care </a:t>
            </a:r>
            <a:endParaRPr lang="en-US" sz="10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The 1960s onwards, courts began to expand the tort of negligence to new situations such as pure economic loss and liability of public authorities </a:t>
            </a:r>
          </a:p>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For example, the decision in </a:t>
            </a:r>
            <a:r>
              <a:rPr lang="en-US" sz="2800" i="1" dirty="0">
                <a:solidFill>
                  <a:srgbClr val="0070C0"/>
                </a:solidFill>
                <a:latin typeface="Times New Roman" panose="02020603050405020304" pitchFamily="18" charset="0"/>
                <a:cs typeface="Times New Roman" panose="02020603050405020304" pitchFamily="18" charset="0"/>
              </a:rPr>
              <a:t>Hedley Byrne v Heller </a:t>
            </a:r>
            <a:r>
              <a:rPr lang="en-US" sz="2800" dirty="0">
                <a:solidFill>
                  <a:srgbClr val="0070C0"/>
                </a:solidFill>
                <a:latin typeface="Times New Roman" panose="02020603050405020304" pitchFamily="18" charset="0"/>
                <a:cs typeface="Times New Roman" panose="02020603050405020304" pitchFamily="18" charset="0"/>
              </a:rPr>
              <a:t>[1964] AC 465 </a:t>
            </a:r>
            <a:r>
              <a:rPr lang="en-US" sz="2800" dirty="0">
                <a:latin typeface="Times New Roman" panose="02020603050405020304" pitchFamily="18" charset="0"/>
                <a:cs typeface="Times New Roman" panose="02020603050405020304" pitchFamily="18" charset="0"/>
              </a:rPr>
              <a:t>concluded that even </a:t>
            </a:r>
            <a:r>
              <a:rPr lang="en-US" sz="2800" b="1" dirty="0">
                <a:latin typeface="Times New Roman" panose="02020603050405020304" pitchFamily="18" charset="0"/>
                <a:cs typeface="Times New Roman" panose="02020603050405020304" pitchFamily="18" charset="0"/>
              </a:rPr>
              <a:t>pure economic loss </a:t>
            </a:r>
            <a:r>
              <a:rPr lang="en-US" sz="2800" dirty="0">
                <a:latin typeface="Times New Roman" panose="02020603050405020304" pitchFamily="18" charset="0"/>
                <a:cs typeface="Times New Roman" panose="02020603050405020304" pitchFamily="18" charset="0"/>
              </a:rPr>
              <a:t>(i.e., economic loss not derived from personal injury or property damage) </a:t>
            </a:r>
            <a:r>
              <a:rPr lang="en-US" sz="2800" i="1" dirty="0">
                <a:latin typeface="Times New Roman" panose="02020603050405020304" pitchFamily="18" charset="0"/>
                <a:cs typeface="Times New Roman" panose="02020603050405020304" pitchFamily="18" charset="0"/>
              </a:rPr>
              <a:t>caused by</a:t>
            </a:r>
            <a:r>
              <a:rPr lang="en-US" sz="2800" dirty="0">
                <a:latin typeface="Times New Roman" panose="02020603050405020304" pitchFamily="18" charset="0"/>
                <a:cs typeface="Times New Roman" panose="02020603050405020304" pitchFamily="18" charset="0"/>
              </a:rPr>
              <a:t> </a:t>
            </a:r>
            <a:r>
              <a:rPr lang="en-US" sz="2800" u="sng" dirty="0">
                <a:latin typeface="Times New Roman" panose="02020603050405020304" pitchFamily="18" charset="0"/>
                <a:cs typeface="Times New Roman" panose="02020603050405020304" pitchFamily="18" charset="0"/>
              </a:rPr>
              <a:t>negligent words </a:t>
            </a:r>
            <a:r>
              <a:rPr lang="en-US" sz="2800" dirty="0">
                <a:latin typeface="Times New Roman" panose="02020603050405020304" pitchFamily="18" charset="0"/>
                <a:cs typeface="Times New Roman" panose="02020603050405020304" pitchFamily="18" charset="0"/>
              </a:rPr>
              <a:t>may be recoverable</a:t>
            </a:r>
          </a:p>
        </p:txBody>
      </p:sp>
    </p:spTree>
    <p:extLst>
      <p:ext uri="{BB962C8B-B14F-4D97-AF65-F5344CB8AC3E}">
        <p14:creationId xmlns:p14="http://schemas.microsoft.com/office/powerpoint/2010/main" val="39596339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Historical origin and evolution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Facts of </a:t>
            </a:r>
            <a:r>
              <a:rPr lang="en-US" sz="2800" i="1" dirty="0">
                <a:solidFill>
                  <a:srgbClr val="0070C0"/>
                </a:solidFill>
                <a:latin typeface="Times New Roman" panose="02020603050405020304" pitchFamily="18" charset="0"/>
                <a:cs typeface="Times New Roman" panose="02020603050405020304" pitchFamily="18" charset="0"/>
              </a:rPr>
              <a:t>Hedley Byrne </a:t>
            </a:r>
            <a:endParaRPr lang="en-US" sz="2800" dirty="0">
              <a:latin typeface="Times New Roman" panose="02020603050405020304" pitchFamily="18" charset="0"/>
              <a:cs typeface="Times New Roman" panose="02020603050405020304" pitchFamily="18" charset="0"/>
            </a:endParaRPr>
          </a:p>
        </p:txBody>
      </p:sp>
      <p:sp>
        <p:nvSpPr>
          <p:cNvPr id="5" name="Oval 4">
            <a:extLst>
              <a:ext uri="{FF2B5EF4-FFF2-40B4-BE49-F238E27FC236}">
                <a16:creationId xmlns:a16="http://schemas.microsoft.com/office/drawing/2014/main" id="{BA11284F-398E-79E3-8410-D3A34D20C888}"/>
              </a:ext>
            </a:extLst>
          </p:cNvPr>
          <p:cNvSpPr/>
          <p:nvPr/>
        </p:nvSpPr>
        <p:spPr>
          <a:xfrm>
            <a:off x="2855640" y="2279273"/>
            <a:ext cx="1656184" cy="914400"/>
          </a:xfrm>
          <a:prstGeom prst="ellipse">
            <a:avLst/>
          </a:prstGeom>
          <a:solidFill>
            <a:srgbClr val="FFFFFF"/>
          </a:solidFill>
          <a:ln w="25400" cap="flat" cmpd="sng" algn="ctr">
            <a:solidFill>
              <a:srgbClr val="00CC99">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C00000"/>
                </a:solidFill>
                <a:effectLst/>
                <a:uLnTx/>
                <a:uFillTx/>
                <a:latin typeface="Times New Roman"/>
                <a:ea typeface="+mn-ea"/>
                <a:cs typeface="+mn-cs"/>
              </a:rPr>
              <a:t>Hedley Byrne</a:t>
            </a:r>
            <a:endParaRPr kumimoji="0" lang="en-GB" sz="2400" b="0" i="0" u="none" strike="noStrike" kern="0" cap="none" spc="0" normalizeH="0" baseline="0" noProof="0" dirty="0">
              <a:ln>
                <a:noFill/>
              </a:ln>
              <a:solidFill>
                <a:srgbClr val="C00000"/>
              </a:solidFill>
              <a:effectLst/>
              <a:uLnTx/>
              <a:uFillTx/>
              <a:latin typeface="Times New Roman"/>
              <a:ea typeface="+mn-ea"/>
              <a:cs typeface="+mn-cs"/>
            </a:endParaRPr>
          </a:p>
        </p:txBody>
      </p:sp>
      <p:sp>
        <p:nvSpPr>
          <p:cNvPr id="6" name="Flowchart: Alternate Process 5">
            <a:extLst>
              <a:ext uri="{FF2B5EF4-FFF2-40B4-BE49-F238E27FC236}">
                <a16:creationId xmlns:a16="http://schemas.microsoft.com/office/drawing/2014/main" id="{69692E6A-10EA-87F2-5C13-DAC81AA60971}"/>
              </a:ext>
            </a:extLst>
          </p:cNvPr>
          <p:cNvSpPr/>
          <p:nvPr/>
        </p:nvSpPr>
        <p:spPr>
          <a:xfrm>
            <a:off x="3965944" y="5004777"/>
            <a:ext cx="1584176" cy="936104"/>
          </a:xfrm>
          <a:prstGeom prst="flowChartAlternateProcess">
            <a:avLst/>
          </a:prstGeom>
          <a:solidFill>
            <a:srgbClr val="FFFFFF"/>
          </a:solidFill>
          <a:ln w="25400" cap="flat" cmpd="sng" algn="ctr">
            <a:solidFill>
              <a:srgbClr val="00CC99">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FF0066"/>
                </a:solidFill>
                <a:effectLst/>
                <a:uLnTx/>
                <a:uFillTx/>
                <a:latin typeface="Times New Roman"/>
                <a:ea typeface="+mn-ea"/>
                <a:cs typeface="+mn-cs"/>
              </a:rPr>
              <a:t>NP Bank</a:t>
            </a:r>
            <a:endParaRPr kumimoji="0" lang="en-GB" sz="2400" b="0" i="0" u="none" strike="noStrike" kern="0" cap="none" spc="0" normalizeH="0" baseline="0" noProof="0" dirty="0">
              <a:ln>
                <a:noFill/>
              </a:ln>
              <a:solidFill>
                <a:srgbClr val="FF0066"/>
              </a:solidFill>
              <a:effectLst/>
              <a:uLnTx/>
              <a:uFillTx/>
              <a:latin typeface="Times New Roman"/>
              <a:ea typeface="+mn-ea"/>
              <a:cs typeface="+mn-cs"/>
            </a:endParaRPr>
          </a:p>
        </p:txBody>
      </p:sp>
      <p:sp>
        <p:nvSpPr>
          <p:cNvPr id="7" name="Oval 6">
            <a:extLst>
              <a:ext uri="{FF2B5EF4-FFF2-40B4-BE49-F238E27FC236}">
                <a16:creationId xmlns:a16="http://schemas.microsoft.com/office/drawing/2014/main" id="{1BD0D079-A364-4A3A-37C0-0785B87088B2}"/>
              </a:ext>
            </a:extLst>
          </p:cNvPr>
          <p:cNvSpPr/>
          <p:nvPr/>
        </p:nvSpPr>
        <p:spPr>
          <a:xfrm>
            <a:off x="7471058" y="2331565"/>
            <a:ext cx="2232248" cy="914400"/>
          </a:xfrm>
          <a:prstGeom prst="ellipse">
            <a:avLst/>
          </a:prstGeom>
          <a:solidFill>
            <a:srgbClr val="FFFFFF"/>
          </a:solidFill>
          <a:ln w="25400" cap="flat" cmpd="sng" algn="ctr">
            <a:solidFill>
              <a:srgbClr val="00CC99">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err="1">
                <a:ln>
                  <a:noFill/>
                </a:ln>
                <a:solidFill>
                  <a:srgbClr val="008000"/>
                </a:solidFill>
                <a:effectLst/>
                <a:uLnTx/>
                <a:uFillTx/>
                <a:latin typeface="Times New Roman"/>
                <a:ea typeface="+mn-ea"/>
                <a:cs typeface="+mn-cs"/>
              </a:rPr>
              <a:t>Easipower</a:t>
            </a:r>
            <a:r>
              <a:rPr kumimoji="0" lang="en-US" sz="2400" b="0" i="0" u="none" strike="noStrike" kern="0" cap="none" spc="0" normalizeH="0" baseline="0" noProof="0" dirty="0">
                <a:ln>
                  <a:noFill/>
                </a:ln>
                <a:solidFill>
                  <a:srgbClr val="008000"/>
                </a:solidFill>
                <a:effectLst/>
                <a:uLnTx/>
                <a:uFillTx/>
                <a:latin typeface="Times New Roman"/>
                <a:ea typeface="+mn-ea"/>
                <a:cs typeface="+mn-cs"/>
              </a:rPr>
              <a:t> Ltd</a:t>
            </a:r>
            <a:endParaRPr kumimoji="0" lang="en-GB" sz="2400" b="0" i="0" u="none" strike="noStrike" kern="0" cap="none" spc="0" normalizeH="0" baseline="0" noProof="0" dirty="0">
              <a:ln>
                <a:noFill/>
              </a:ln>
              <a:solidFill>
                <a:srgbClr val="008000"/>
              </a:solidFill>
              <a:effectLst/>
              <a:uLnTx/>
              <a:uFillTx/>
              <a:latin typeface="Times New Roman"/>
              <a:ea typeface="+mn-ea"/>
              <a:cs typeface="+mn-cs"/>
            </a:endParaRPr>
          </a:p>
        </p:txBody>
      </p:sp>
      <p:sp>
        <p:nvSpPr>
          <p:cNvPr id="8" name="Flowchart: Alternate Process 7">
            <a:extLst>
              <a:ext uri="{FF2B5EF4-FFF2-40B4-BE49-F238E27FC236}">
                <a16:creationId xmlns:a16="http://schemas.microsoft.com/office/drawing/2014/main" id="{5B17B57D-0FAB-15BB-B18E-1A65ED15870A}"/>
              </a:ext>
            </a:extLst>
          </p:cNvPr>
          <p:cNvSpPr/>
          <p:nvPr/>
        </p:nvSpPr>
        <p:spPr>
          <a:xfrm>
            <a:off x="7868713" y="5027621"/>
            <a:ext cx="1584176" cy="936104"/>
          </a:xfrm>
          <a:prstGeom prst="flowChartAlternateProcess">
            <a:avLst/>
          </a:prstGeom>
          <a:solidFill>
            <a:srgbClr val="FFFFFF"/>
          </a:solidFill>
          <a:ln w="25400" cap="flat" cmpd="sng" algn="ctr">
            <a:solidFill>
              <a:srgbClr val="00CC99">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FF0066"/>
                </a:solidFill>
                <a:effectLst/>
                <a:uLnTx/>
                <a:uFillTx/>
                <a:latin typeface="Times New Roman"/>
                <a:ea typeface="+mn-ea"/>
                <a:cs typeface="+mn-cs"/>
              </a:rPr>
              <a:t>Heller Ltd</a:t>
            </a:r>
            <a:endParaRPr kumimoji="0" lang="en-GB" sz="2400" b="0" i="0" u="none" strike="noStrike" kern="0" cap="none" spc="0" normalizeH="0" baseline="0" noProof="0" dirty="0">
              <a:ln>
                <a:noFill/>
              </a:ln>
              <a:solidFill>
                <a:srgbClr val="FF0066"/>
              </a:solidFill>
              <a:effectLst/>
              <a:uLnTx/>
              <a:uFillTx/>
              <a:latin typeface="Times New Roman"/>
              <a:ea typeface="+mn-ea"/>
              <a:cs typeface="+mn-cs"/>
            </a:endParaRPr>
          </a:p>
        </p:txBody>
      </p:sp>
      <p:cxnSp>
        <p:nvCxnSpPr>
          <p:cNvPr id="9" name="Straight Arrow Connector 8">
            <a:extLst>
              <a:ext uri="{FF2B5EF4-FFF2-40B4-BE49-F238E27FC236}">
                <a16:creationId xmlns:a16="http://schemas.microsoft.com/office/drawing/2014/main" id="{1F0ED481-8627-009E-B7DD-33AD29367A81}"/>
              </a:ext>
            </a:extLst>
          </p:cNvPr>
          <p:cNvCxnSpPr/>
          <p:nvPr/>
        </p:nvCxnSpPr>
        <p:spPr>
          <a:xfrm>
            <a:off x="5079042" y="2788765"/>
            <a:ext cx="2011602" cy="0"/>
          </a:xfrm>
          <a:prstGeom prst="straightConnector1">
            <a:avLst/>
          </a:prstGeom>
          <a:noFill/>
          <a:ln w="25400" cap="flat" cmpd="sng" algn="ctr">
            <a:solidFill>
              <a:srgbClr val="000000"/>
            </a:solidFill>
            <a:prstDash val="solid"/>
            <a:headEnd type="arrow"/>
            <a:tailEnd type="arrow"/>
          </a:ln>
          <a:effectLst/>
        </p:spPr>
      </p:cxnSp>
      <p:cxnSp>
        <p:nvCxnSpPr>
          <p:cNvPr id="10" name="Straight Arrow Connector 9">
            <a:extLst>
              <a:ext uri="{FF2B5EF4-FFF2-40B4-BE49-F238E27FC236}">
                <a16:creationId xmlns:a16="http://schemas.microsoft.com/office/drawing/2014/main" id="{245BD661-C54F-97C6-3611-BFA4AAEDD2F0}"/>
              </a:ext>
            </a:extLst>
          </p:cNvPr>
          <p:cNvCxnSpPr>
            <a:cxnSpLocks/>
          </p:cNvCxnSpPr>
          <p:nvPr/>
        </p:nvCxnSpPr>
        <p:spPr>
          <a:xfrm>
            <a:off x="3965944" y="3400301"/>
            <a:ext cx="676516" cy="1285209"/>
          </a:xfrm>
          <a:prstGeom prst="straightConnector1">
            <a:avLst/>
          </a:prstGeom>
          <a:noFill/>
          <a:ln w="25400" cap="flat" cmpd="sng" algn="ctr">
            <a:solidFill>
              <a:srgbClr val="000000"/>
            </a:solidFill>
            <a:prstDash val="solid"/>
            <a:headEnd type="arrow"/>
            <a:tailEnd type="arrow"/>
          </a:ln>
          <a:effectLst/>
        </p:spPr>
      </p:cxnSp>
      <p:cxnSp>
        <p:nvCxnSpPr>
          <p:cNvPr id="11" name="Straight Arrow Connector 10">
            <a:extLst>
              <a:ext uri="{FF2B5EF4-FFF2-40B4-BE49-F238E27FC236}">
                <a16:creationId xmlns:a16="http://schemas.microsoft.com/office/drawing/2014/main" id="{EAC7A320-C9C6-7B05-F78C-25725DD05E93}"/>
              </a:ext>
            </a:extLst>
          </p:cNvPr>
          <p:cNvCxnSpPr>
            <a:cxnSpLocks/>
          </p:cNvCxnSpPr>
          <p:nvPr/>
        </p:nvCxnSpPr>
        <p:spPr>
          <a:xfrm>
            <a:off x="5858540" y="5495673"/>
            <a:ext cx="1760764" cy="0"/>
          </a:xfrm>
          <a:prstGeom prst="straightConnector1">
            <a:avLst/>
          </a:prstGeom>
          <a:noFill/>
          <a:ln w="25400" cap="flat" cmpd="sng" algn="ctr">
            <a:solidFill>
              <a:srgbClr val="000000"/>
            </a:solidFill>
            <a:prstDash val="solid"/>
            <a:headEnd type="arrow"/>
            <a:tailEnd type="arrow"/>
          </a:ln>
          <a:effectLst/>
        </p:spPr>
      </p:cxnSp>
      <p:cxnSp>
        <p:nvCxnSpPr>
          <p:cNvPr id="12" name="Straight Arrow Connector 11">
            <a:extLst>
              <a:ext uri="{FF2B5EF4-FFF2-40B4-BE49-F238E27FC236}">
                <a16:creationId xmlns:a16="http://schemas.microsoft.com/office/drawing/2014/main" id="{B80166CF-E316-17AC-33B3-EBBB270F88FE}"/>
              </a:ext>
            </a:extLst>
          </p:cNvPr>
          <p:cNvCxnSpPr>
            <a:cxnSpLocks/>
          </p:cNvCxnSpPr>
          <p:nvPr/>
        </p:nvCxnSpPr>
        <p:spPr>
          <a:xfrm>
            <a:off x="8673655" y="3429000"/>
            <a:ext cx="0" cy="1295792"/>
          </a:xfrm>
          <a:prstGeom prst="straightConnector1">
            <a:avLst/>
          </a:prstGeom>
          <a:noFill/>
          <a:ln w="25400" cap="flat" cmpd="sng" algn="ctr">
            <a:solidFill>
              <a:srgbClr val="000000"/>
            </a:solidFill>
            <a:prstDash val="solid"/>
            <a:headEnd type="arrow"/>
            <a:tailEnd type="arrow"/>
          </a:ln>
          <a:effectLst/>
        </p:spPr>
      </p:cxnSp>
      <p:sp>
        <p:nvSpPr>
          <p:cNvPr id="13" name="TextBox 12">
            <a:extLst>
              <a:ext uri="{FF2B5EF4-FFF2-40B4-BE49-F238E27FC236}">
                <a16:creationId xmlns:a16="http://schemas.microsoft.com/office/drawing/2014/main" id="{B6289B7D-B7D0-3E4C-8DE1-FB6C9B9800C2}"/>
              </a:ext>
            </a:extLst>
          </p:cNvPr>
          <p:cNvSpPr txBox="1"/>
          <p:nvPr/>
        </p:nvSpPr>
        <p:spPr>
          <a:xfrm>
            <a:off x="769429" y="3400301"/>
            <a:ext cx="2252730" cy="1785104"/>
          </a:xfrm>
          <a:prstGeom prst="rect">
            <a:avLst/>
          </a:prstGeom>
          <a:noFill/>
        </p:spPr>
        <p:txBody>
          <a:bodyPr wrap="square" rtlCol="0">
            <a:spAutoFit/>
          </a:bodyPr>
          <a:lstStyle/>
          <a:p>
            <a:r>
              <a:rPr lang="en-GB" sz="2200" dirty="0">
                <a:solidFill>
                  <a:srgbClr val="000000"/>
                </a:solidFill>
                <a:latin typeface="Times New Roman"/>
              </a:rPr>
              <a:t>HB asked their bank (NP) to check the credit status of EL with its bank, Heller</a:t>
            </a:r>
          </a:p>
        </p:txBody>
      </p:sp>
      <p:cxnSp>
        <p:nvCxnSpPr>
          <p:cNvPr id="14" name="Straight Connector 13">
            <a:extLst>
              <a:ext uri="{FF2B5EF4-FFF2-40B4-BE49-F238E27FC236}">
                <a16:creationId xmlns:a16="http://schemas.microsoft.com/office/drawing/2014/main" id="{04D04400-4892-303B-7EBE-BBD58D8D751F}"/>
              </a:ext>
            </a:extLst>
          </p:cNvPr>
          <p:cNvCxnSpPr>
            <a:cxnSpLocks/>
          </p:cNvCxnSpPr>
          <p:nvPr/>
        </p:nvCxnSpPr>
        <p:spPr>
          <a:xfrm flipH="1" flipV="1">
            <a:off x="4439816" y="3234440"/>
            <a:ext cx="3290054" cy="1709700"/>
          </a:xfrm>
          <a:prstGeom prst="line">
            <a:avLst/>
          </a:prstGeom>
          <a:noFill/>
          <a:ln w="25400" cap="flat" cmpd="sng" algn="ctr">
            <a:solidFill>
              <a:srgbClr val="FF0000"/>
            </a:solidFill>
            <a:prstDash val="dash"/>
          </a:ln>
          <a:effectLst/>
        </p:spPr>
      </p:cxnSp>
    </p:spTree>
    <p:extLst>
      <p:ext uri="{BB962C8B-B14F-4D97-AF65-F5344CB8AC3E}">
        <p14:creationId xmlns:p14="http://schemas.microsoft.com/office/powerpoint/2010/main" val="32286688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Historical origin and evolution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marL="0" indent="0">
              <a:lnSpc>
                <a:spcPct val="150000"/>
              </a:lnSpc>
              <a:buNone/>
            </a:pPr>
            <a:r>
              <a:rPr lang="en-US" sz="2400" dirty="0">
                <a:latin typeface="Times New Roman" panose="02020603050405020304" pitchFamily="18" charset="0"/>
                <a:cs typeface="Times New Roman" panose="02020603050405020304" pitchFamily="18" charset="0"/>
              </a:rPr>
              <a:t>Lord Reid observed that: </a:t>
            </a:r>
          </a:p>
          <a:p>
            <a:pPr marL="457200" lvl="1" indent="0">
              <a:lnSpc>
                <a:spcPct val="150000"/>
              </a:lnSpc>
              <a:buNone/>
            </a:pPr>
            <a:r>
              <a:rPr lang="en-US" sz="2200" dirty="0">
                <a:latin typeface="Times New Roman" panose="02020603050405020304" pitchFamily="18" charset="0"/>
                <a:cs typeface="Times New Roman" panose="02020603050405020304" pitchFamily="18" charset="0"/>
              </a:rPr>
              <a:t>where it is plain that the party seeking information or advice was </a:t>
            </a:r>
            <a:r>
              <a:rPr lang="en-US" sz="2200" u="sng" dirty="0">
                <a:latin typeface="Times New Roman" panose="02020603050405020304" pitchFamily="18" charset="0"/>
                <a:cs typeface="Times New Roman" panose="02020603050405020304" pitchFamily="18" charset="0"/>
              </a:rPr>
              <a:t>trusting the other</a:t>
            </a:r>
            <a:r>
              <a:rPr lang="en-US" sz="2200" dirty="0">
                <a:latin typeface="Times New Roman" panose="02020603050405020304" pitchFamily="18" charset="0"/>
                <a:cs typeface="Times New Roman" panose="02020603050405020304" pitchFamily="18" charset="0"/>
              </a:rPr>
              <a:t> to exercise such a degree of care as the circumstances required, where it was </a:t>
            </a:r>
            <a:r>
              <a:rPr lang="en-US" sz="2200" u="sng" dirty="0">
                <a:latin typeface="Times New Roman" panose="02020603050405020304" pitchFamily="18" charset="0"/>
                <a:cs typeface="Times New Roman" panose="02020603050405020304" pitchFamily="18" charset="0"/>
              </a:rPr>
              <a:t>reasonable</a:t>
            </a:r>
            <a:r>
              <a:rPr lang="en-US" sz="2200" dirty="0">
                <a:latin typeface="Times New Roman" panose="02020603050405020304" pitchFamily="18" charset="0"/>
                <a:cs typeface="Times New Roman" panose="02020603050405020304" pitchFamily="18" charset="0"/>
              </a:rPr>
              <a:t> for him to do that, and where the other gave the information or advice when he knew or ought to have known that the inquirer was </a:t>
            </a:r>
            <a:r>
              <a:rPr lang="en-US" sz="2200" u="sng" dirty="0">
                <a:latin typeface="Times New Roman" panose="02020603050405020304" pitchFamily="18" charset="0"/>
                <a:cs typeface="Times New Roman" panose="02020603050405020304" pitchFamily="18" charset="0"/>
              </a:rPr>
              <a:t>relying on him</a:t>
            </a:r>
            <a:r>
              <a:rPr lang="en-US" sz="2200" dirty="0">
                <a:latin typeface="Times New Roman" panose="02020603050405020304" pitchFamily="18" charset="0"/>
                <a:cs typeface="Times New Roman" panose="02020603050405020304" pitchFamily="18" charset="0"/>
              </a:rPr>
              <a:t>.</a:t>
            </a:r>
          </a:p>
          <a:p>
            <a:pPr>
              <a:lnSpc>
                <a:spcPct val="15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Lord Morris noted: </a:t>
            </a:r>
          </a:p>
          <a:p>
            <a:pPr marL="457200" lvl="1" indent="0">
              <a:lnSpc>
                <a:spcPct val="150000"/>
              </a:lnSpc>
              <a:buNone/>
            </a:pPr>
            <a:r>
              <a:rPr lang="en-US" sz="2200" dirty="0">
                <a:latin typeface="Times New Roman" panose="02020603050405020304" pitchFamily="18" charset="0"/>
                <a:cs typeface="Times New Roman" panose="02020603050405020304" pitchFamily="18" charset="0"/>
              </a:rPr>
              <a:t>It should now be regarded as settled that if someone possessed of a </a:t>
            </a:r>
            <a:r>
              <a:rPr lang="en-US" sz="2200" u="sng" dirty="0">
                <a:latin typeface="Times New Roman" panose="02020603050405020304" pitchFamily="18" charset="0"/>
                <a:cs typeface="Times New Roman" panose="02020603050405020304" pitchFamily="18" charset="0"/>
              </a:rPr>
              <a:t>special skill</a:t>
            </a:r>
            <a:r>
              <a:rPr lang="en-US" sz="2200" dirty="0">
                <a:latin typeface="Times New Roman" panose="02020603050405020304" pitchFamily="18" charset="0"/>
                <a:cs typeface="Times New Roman" panose="02020603050405020304" pitchFamily="18" charset="0"/>
              </a:rPr>
              <a:t> undertakes, quite irrespective of contract, to </a:t>
            </a:r>
            <a:r>
              <a:rPr lang="en-US" sz="2200" u="sng" dirty="0">
                <a:latin typeface="Times New Roman" panose="02020603050405020304" pitchFamily="18" charset="0"/>
                <a:cs typeface="Times New Roman" panose="02020603050405020304" pitchFamily="18" charset="0"/>
              </a:rPr>
              <a:t>apply that skill for the assistance</a:t>
            </a:r>
            <a:r>
              <a:rPr lang="en-US" sz="2200" dirty="0">
                <a:latin typeface="Times New Roman" panose="02020603050405020304" pitchFamily="18" charset="0"/>
                <a:cs typeface="Times New Roman" panose="02020603050405020304" pitchFamily="18" charset="0"/>
              </a:rPr>
              <a:t> of another person who </a:t>
            </a:r>
            <a:r>
              <a:rPr lang="en-US" sz="2200" u="sng" dirty="0">
                <a:latin typeface="Times New Roman" panose="02020603050405020304" pitchFamily="18" charset="0"/>
                <a:cs typeface="Times New Roman" panose="02020603050405020304" pitchFamily="18" charset="0"/>
              </a:rPr>
              <a:t>relies</a:t>
            </a:r>
            <a:r>
              <a:rPr lang="en-US" sz="2200" dirty="0">
                <a:latin typeface="Times New Roman" panose="02020603050405020304" pitchFamily="18" charset="0"/>
                <a:cs typeface="Times New Roman" panose="02020603050405020304" pitchFamily="18" charset="0"/>
              </a:rPr>
              <a:t> upon such skills, a duty of care will arise.</a:t>
            </a:r>
          </a:p>
          <a:p>
            <a:pPr marL="457200" lvl="1" indent="0">
              <a:lnSpc>
                <a:spcPct val="150000"/>
              </a:lnSpc>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84838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Historical origin and evolution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The </a:t>
            </a:r>
            <a:r>
              <a:rPr lang="en-US" sz="2200" i="1" dirty="0">
                <a:solidFill>
                  <a:srgbClr val="0070C0"/>
                </a:solidFill>
                <a:latin typeface="Times New Roman" panose="02020603050405020304" pitchFamily="18" charset="0"/>
                <a:cs typeface="Times New Roman" panose="02020603050405020304" pitchFamily="18" charset="0"/>
              </a:rPr>
              <a:t>Hedley Byrne </a:t>
            </a:r>
            <a:r>
              <a:rPr lang="en-US" sz="2200" dirty="0">
                <a:latin typeface="Times New Roman" panose="02020603050405020304" pitchFamily="18" charset="0"/>
                <a:cs typeface="Times New Roman" panose="02020603050405020304" pitchFamily="18" charset="0"/>
              </a:rPr>
              <a:t>principle requires (in addition to reasonable foreseeability): </a:t>
            </a:r>
          </a:p>
          <a:p>
            <a:pPr marL="457200" lvl="1" indent="0">
              <a:lnSpc>
                <a:spcPct val="150000"/>
              </a:lnSpc>
              <a:buNone/>
            </a:pP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a special relationship between the parties, </a:t>
            </a:r>
          </a:p>
          <a:p>
            <a:pPr marL="457200" lvl="1" indent="0">
              <a:lnSpc>
                <a:spcPct val="150000"/>
              </a:lnSpc>
              <a:buNone/>
            </a:pPr>
            <a:r>
              <a:rPr lang="en-US" sz="2000" dirty="0">
                <a:latin typeface="Times New Roman" panose="02020603050405020304" pitchFamily="18" charset="0"/>
                <a:cs typeface="Times New Roman" panose="02020603050405020304" pitchFamily="18" charset="0"/>
              </a:rPr>
              <a:t>(ii) a voluntary assumption of responsibility by the party providing the advice, </a:t>
            </a:r>
          </a:p>
          <a:p>
            <a:pPr marL="457200" lvl="1" indent="0">
              <a:lnSpc>
                <a:spcPct val="150000"/>
              </a:lnSpc>
              <a:buNone/>
            </a:pPr>
            <a:r>
              <a:rPr lang="en-US" sz="2000" dirty="0">
                <a:latin typeface="Times New Roman" panose="02020603050405020304" pitchFamily="18" charset="0"/>
                <a:cs typeface="Times New Roman" panose="02020603050405020304" pitchFamily="18" charset="0"/>
              </a:rPr>
              <a:t>(iii) the other party’s reliance on the advice, and </a:t>
            </a:r>
          </a:p>
          <a:p>
            <a:pPr marL="457200" lvl="1" indent="0">
              <a:lnSpc>
                <a:spcPct val="150000"/>
              </a:lnSpc>
              <a:buNone/>
            </a:pPr>
            <a:r>
              <a:rPr lang="en-US" sz="2000" dirty="0">
                <a:latin typeface="Times New Roman" panose="02020603050405020304" pitchFamily="18" charset="0"/>
                <a:cs typeface="Times New Roman" panose="02020603050405020304" pitchFamily="18" charset="0"/>
              </a:rPr>
              <a:t>(iv) reasonableness of such reliance</a:t>
            </a:r>
          </a:p>
          <a:p>
            <a:pPr>
              <a:lnSpc>
                <a:spcPct val="150000"/>
              </a:lnSpc>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The House of Lords held that a duty of care can arise where the loss is a pure economic loss. </a:t>
            </a:r>
          </a:p>
          <a:p>
            <a:pPr>
              <a:lnSpc>
                <a:spcPct val="150000"/>
              </a:lnSpc>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However, Hedley Byrne lost. Why? </a:t>
            </a:r>
          </a:p>
          <a:p>
            <a:pPr lvl="1">
              <a:lnSpc>
                <a:spcPct val="150000"/>
              </a:lnSpc>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Because Heller gave the reference ‘without responsibility’</a:t>
            </a:r>
          </a:p>
          <a:p>
            <a:pPr>
              <a:lnSpc>
                <a:spcPct val="150000"/>
              </a:lnSpc>
              <a:buFont typeface="Wingdings" panose="05000000000000000000" pitchFamily="2" charset="2"/>
              <a:buChar cha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05509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Historical origin and evolution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Then came the decision in </a:t>
            </a:r>
            <a:r>
              <a:rPr lang="en-US" sz="2800" i="1" dirty="0">
                <a:solidFill>
                  <a:srgbClr val="0070C0"/>
                </a:solidFill>
                <a:latin typeface="Times New Roman" panose="02020603050405020304" pitchFamily="18" charset="0"/>
                <a:cs typeface="Times New Roman" panose="02020603050405020304" pitchFamily="18" charset="0"/>
              </a:rPr>
              <a:t>Home Office v Dorset Yacht Co Ltd </a:t>
            </a:r>
            <a:r>
              <a:rPr lang="en-US" sz="2800" dirty="0">
                <a:solidFill>
                  <a:srgbClr val="0070C0"/>
                </a:solidFill>
                <a:latin typeface="Times New Roman" panose="02020603050405020304" pitchFamily="18" charset="0"/>
                <a:cs typeface="Times New Roman" panose="02020603050405020304" pitchFamily="18" charset="0"/>
              </a:rPr>
              <a:t>[1970] AC 1004 </a:t>
            </a:r>
            <a:r>
              <a:rPr lang="en-US" sz="2800" dirty="0">
                <a:solidFill>
                  <a:srgbClr val="7030A0"/>
                </a:solidFill>
                <a:latin typeface="Times New Roman" panose="02020603050405020304" pitchFamily="18" charset="0"/>
                <a:cs typeface="Times New Roman" panose="02020603050405020304" pitchFamily="18" charset="0"/>
              </a:rPr>
              <a:t>(seven boys, in juvenile detention, were working on an island under the supervision of three officers; the boys escaped and boarded a yacht, which collided with the yacht owned by the respondent) </a:t>
            </a:r>
            <a:endParaRPr lang="en-US" sz="28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The House of Lords held that the Home Office </a:t>
            </a:r>
            <a:r>
              <a:rPr lang="en-US" sz="2800" b="1" dirty="0">
                <a:latin typeface="Times New Roman" panose="02020603050405020304" pitchFamily="18" charset="0"/>
                <a:cs typeface="Times New Roman" panose="02020603050405020304" pitchFamily="18" charset="0"/>
              </a:rPr>
              <a:t>owed a duty of care</a:t>
            </a:r>
            <a:r>
              <a:rPr lang="en-US" sz="2800" dirty="0">
                <a:latin typeface="Times New Roman" panose="02020603050405020304" pitchFamily="18" charset="0"/>
                <a:cs typeface="Times New Roman" panose="02020603050405020304" pitchFamily="18" charset="0"/>
              </a:rPr>
              <a:t> as it was </a:t>
            </a:r>
            <a:r>
              <a:rPr lang="en-US" sz="2800" i="1" dirty="0">
                <a:latin typeface="Times New Roman" panose="02020603050405020304" pitchFamily="18" charset="0"/>
                <a:cs typeface="Times New Roman" panose="02020603050405020304" pitchFamily="18" charset="0"/>
              </a:rPr>
              <a:t>foreseeable</a:t>
            </a:r>
            <a:r>
              <a:rPr lang="en-US" sz="2800" dirty="0">
                <a:latin typeface="Times New Roman" panose="02020603050405020304" pitchFamily="18" charset="0"/>
                <a:cs typeface="Times New Roman" panose="02020603050405020304" pitchFamily="18" charset="0"/>
              </a:rPr>
              <a:t> that yachts in the vicinity were at risk if the boys escaped custody, the Home Office had control of the boys and knowledge of the escape risk</a:t>
            </a:r>
          </a:p>
        </p:txBody>
      </p:sp>
    </p:spTree>
    <p:extLst>
      <p:ext uri="{BB962C8B-B14F-4D97-AF65-F5344CB8AC3E}">
        <p14:creationId xmlns:p14="http://schemas.microsoft.com/office/powerpoint/2010/main" val="36715618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Historical origin and evolution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In </a:t>
            </a:r>
            <a:r>
              <a:rPr lang="en-US" sz="2600" i="1" dirty="0">
                <a:solidFill>
                  <a:srgbClr val="0070C0"/>
                </a:solidFill>
                <a:latin typeface="Times New Roman" panose="02020603050405020304" pitchFamily="18" charset="0"/>
                <a:cs typeface="Times New Roman" panose="02020603050405020304" pitchFamily="18" charset="0"/>
              </a:rPr>
              <a:t>Anns v Merton London Borough Council </a:t>
            </a:r>
            <a:r>
              <a:rPr lang="en-US" sz="2600" dirty="0">
                <a:solidFill>
                  <a:srgbClr val="0070C0"/>
                </a:solidFill>
                <a:latin typeface="Times New Roman" panose="02020603050405020304" pitchFamily="18" charset="0"/>
                <a:cs typeface="Times New Roman" panose="02020603050405020304" pitchFamily="18" charset="0"/>
              </a:rPr>
              <a:t>[1978] AC 728</a:t>
            </a:r>
            <a:r>
              <a:rPr lang="en-US" sz="2600" dirty="0">
                <a:latin typeface="Times New Roman" panose="02020603050405020304" pitchFamily="18" charset="0"/>
                <a:cs typeface="Times New Roman" panose="02020603050405020304" pitchFamily="18" charset="0"/>
              </a:rPr>
              <a:t>, the House of Lords laid down a </a:t>
            </a:r>
            <a:r>
              <a:rPr lang="en-US" sz="2600" u="sng" dirty="0">
                <a:latin typeface="Times New Roman" panose="02020603050405020304" pitchFamily="18" charset="0"/>
                <a:cs typeface="Times New Roman" panose="02020603050405020304" pitchFamily="18" charset="0"/>
              </a:rPr>
              <a:t>two-stage test</a:t>
            </a:r>
            <a:r>
              <a:rPr lang="en-US" sz="2600" dirty="0">
                <a:latin typeface="Times New Roman" panose="02020603050405020304" pitchFamily="18" charset="0"/>
                <a:cs typeface="Times New Roman" panose="02020603050405020304" pitchFamily="18" charset="0"/>
              </a:rPr>
              <a:t> to establish a duty of care: </a:t>
            </a:r>
          </a:p>
          <a:p>
            <a:pPr marL="1371600" lvl="2" indent="-514350">
              <a:lnSpc>
                <a:spcPct val="150000"/>
              </a:lnSpc>
              <a:buFont typeface="+mj-lt"/>
              <a:buAutoNum type="arabicPeriod"/>
            </a:pPr>
            <a:r>
              <a:rPr lang="en-US" sz="2600" dirty="0">
                <a:latin typeface="Times New Roman" panose="02020603050405020304" pitchFamily="18" charset="0"/>
                <a:cs typeface="Times New Roman" panose="02020603050405020304" pitchFamily="18" charset="0"/>
              </a:rPr>
              <a:t>was there a sufficient relationship of proximity or </a:t>
            </a:r>
            <a:r>
              <a:rPr lang="en-US" sz="2600" dirty="0" err="1">
                <a:latin typeface="Times New Roman" panose="02020603050405020304" pitchFamily="18" charset="0"/>
                <a:cs typeface="Times New Roman" panose="02020603050405020304" pitchFamily="18" charset="0"/>
              </a:rPr>
              <a:t>neighbourhood</a:t>
            </a:r>
            <a:r>
              <a:rPr lang="en-US" sz="2600" dirty="0">
                <a:latin typeface="Times New Roman" panose="02020603050405020304" pitchFamily="18" charset="0"/>
                <a:cs typeface="Times New Roman" panose="02020603050405020304" pitchFamily="18" charset="0"/>
              </a:rPr>
              <a:t> between the parties? </a:t>
            </a:r>
          </a:p>
          <a:p>
            <a:pPr marL="1371600" lvl="2" indent="-514350">
              <a:lnSpc>
                <a:spcPct val="150000"/>
              </a:lnSpc>
              <a:buFont typeface="+mj-lt"/>
              <a:buAutoNum type="arabicPeriod"/>
            </a:pPr>
            <a:r>
              <a:rPr lang="en-US" sz="2600" dirty="0">
                <a:latin typeface="Times New Roman" panose="02020603050405020304" pitchFamily="18" charset="0"/>
                <a:cs typeface="Times New Roman" panose="02020603050405020304" pitchFamily="18" charset="0"/>
              </a:rPr>
              <a:t>are there any considerations which ought to negative or limit the scope of the duty of care?  </a:t>
            </a:r>
          </a:p>
          <a:p>
            <a:pPr marL="0" indent="0">
              <a:lnSpc>
                <a:spcPct val="150000"/>
              </a:lnSpc>
              <a:buNone/>
            </a:pPr>
            <a:r>
              <a:rPr lang="en-US" sz="2600" dirty="0">
                <a:latin typeface="Times New Roman" panose="02020603050405020304" pitchFamily="18" charset="0"/>
                <a:cs typeface="Times New Roman" panose="02020603050405020304" pitchFamily="18" charset="0"/>
              </a:rPr>
              <a:t>	Note that courts in Australia did </a:t>
            </a:r>
            <a:r>
              <a:rPr lang="en-US" sz="2600" u="sng" dirty="0">
                <a:latin typeface="Times New Roman" panose="02020603050405020304" pitchFamily="18" charset="0"/>
                <a:cs typeface="Times New Roman" panose="02020603050405020304" pitchFamily="18" charset="0"/>
              </a:rPr>
              <a:t>not</a:t>
            </a:r>
            <a:r>
              <a:rPr lang="en-US" sz="2600" dirty="0">
                <a:latin typeface="Times New Roman" panose="02020603050405020304" pitchFamily="18" charset="0"/>
                <a:cs typeface="Times New Roman" panose="02020603050405020304" pitchFamily="18" charset="0"/>
              </a:rPr>
              <a:t> follow the </a:t>
            </a:r>
            <a:r>
              <a:rPr lang="en-US" sz="2600" i="1" dirty="0">
                <a:solidFill>
                  <a:srgbClr val="0070C0"/>
                </a:solidFill>
                <a:latin typeface="Times New Roman" panose="02020603050405020304" pitchFamily="18" charset="0"/>
                <a:cs typeface="Times New Roman" panose="02020603050405020304" pitchFamily="18" charset="0"/>
              </a:rPr>
              <a:t>Anns</a:t>
            </a:r>
            <a:r>
              <a:rPr lang="en-US" sz="2600" dirty="0">
                <a:latin typeface="Times New Roman" panose="02020603050405020304" pitchFamily="18" charset="0"/>
                <a:cs typeface="Times New Roman" panose="02020603050405020304" pitchFamily="18" charset="0"/>
              </a:rPr>
              <a:t> test – see 	</a:t>
            </a:r>
            <a:r>
              <a:rPr lang="en-US" sz="2600" i="1" dirty="0">
                <a:solidFill>
                  <a:srgbClr val="0070C0"/>
                </a:solidFill>
                <a:latin typeface="Times New Roman" panose="02020603050405020304" pitchFamily="18" charset="0"/>
                <a:cs typeface="Times New Roman" panose="02020603050405020304" pitchFamily="18" charset="0"/>
              </a:rPr>
              <a:t>Sutherland Shire Council v Heyman </a:t>
            </a:r>
            <a:r>
              <a:rPr lang="en-US" sz="2600" dirty="0">
                <a:solidFill>
                  <a:srgbClr val="0070C0"/>
                </a:solidFill>
                <a:latin typeface="Times New Roman" panose="02020603050405020304" pitchFamily="18" charset="0"/>
                <a:cs typeface="Times New Roman" panose="02020603050405020304" pitchFamily="18" charset="0"/>
              </a:rPr>
              <a:t>(1985) 157 CLR 424</a:t>
            </a:r>
          </a:p>
        </p:txBody>
      </p:sp>
      <p:sp>
        <p:nvSpPr>
          <p:cNvPr id="5" name="Arrow: Right 4">
            <a:extLst>
              <a:ext uri="{FF2B5EF4-FFF2-40B4-BE49-F238E27FC236}">
                <a16:creationId xmlns:a16="http://schemas.microsoft.com/office/drawing/2014/main" id="{34EF59AC-D4DA-742B-9EE1-3724100DB099}"/>
              </a:ext>
            </a:extLst>
          </p:cNvPr>
          <p:cNvSpPr/>
          <p:nvPr/>
        </p:nvSpPr>
        <p:spPr>
          <a:xfrm>
            <a:off x="372033" y="5454502"/>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2770362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Historical origin and evolution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Later, in </a:t>
            </a:r>
            <a:r>
              <a:rPr lang="en-US" sz="2600" i="1" dirty="0">
                <a:solidFill>
                  <a:srgbClr val="0070C0"/>
                </a:solidFill>
                <a:latin typeface="Times New Roman" panose="02020603050405020304" pitchFamily="18" charset="0"/>
                <a:cs typeface="Times New Roman" panose="02020603050405020304" pitchFamily="18" charset="0"/>
              </a:rPr>
              <a:t>Caparo Industries plc v Dickman </a:t>
            </a:r>
            <a:r>
              <a:rPr lang="en-US" sz="2600" dirty="0">
                <a:solidFill>
                  <a:srgbClr val="0070C0"/>
                </a:solidFill>
                <a:latin typeface="Times New Roman" panose="02020603050405020304" pitchFamily="18" charset="0"/>
                <a:cs typeface="Times New Roman" panose="02020603050405020304" pitchFamily="18" charset="0"/>
              </a:rPr>
              <a:t>[1990] 2 AC 605</a:t>
            </a:r>
            <a:r>
              <a:rPr lang="en-US" sz="2600" dirty="0">
                <a:latin typeface="Times New Roman" panose="02020603050405020304" pitchFamily="18" charset="0"/>
                <a:cs typeface="Times New Roman" panose="02020603050405020304" pitchFamily="18" charset="0"/>
              </a:rPr>
              <a:t>, the House of Lords proposed a </a:t>
            </a:r>
            <a:r>
              <a:rPr lang="en-US" sz="2600" u="sng" dirty="0">
                <a:latin typeface="Times New Roman" panose="02020603050405020304" pitchFamily="18" charset="0"/>
                <a:cs typeface="Times New Roman" panose="02020603050405020304" pitchFamily="18" charset="0"/>
              </a:rPr>
              <a:t>three-stage test</a:t>
            </a:r>
            <a:r>
              <a:rPr lang="en-US" sz="2600" dirty="0">
                <a:latin typeface="Times New Roman" panose="02020603050405020304" pitchFamily="18" charset="0"/>
                <a:cs typeface="Times New Roman" panose="02020603050405020304" pitchFamily="18" charset="0"/>
              </a:rPr>
              <a:t>: </a:t>
            </a:r>
          </a:p>
          <a:p>
            <a:pPr marL="1371600" lvl="2" indent="-514350">
              <a:lnSpc>
                <a:spcPct val="150000"/>
              </a:lnSpc>
              <a:buFont typeface="+mj-lt"/>
              <a:buAutoNum type="arabicPeriod"/>
            </a:pPr>
            <a:r>
              <a:rPr lang="en-US" sz="2600" dirty="0">
                <a:latin typeface="Times New Roman" panose="02020603050405020304" pitchFamily="18" charset="0"/>
                <a:cs typeface="Times New Roman" panose="02020603050405020304" pitchFamily="18" charset="0"/>
              </a:rPr>
              <a:t>the harm was </a:t>
            </a:r>
            <a:r>
              <a:rPr lang="en-US" sz="2600" b="1" dirty="0">
                <a:latin typeface="Times New Roman" panose="02020603050405020304" pitchFamily="18" charset="0"/>
                <a:cs typeface="Times New Roman" panose="02020603050405020304" pitchFamily="18" charset="0"/>
              </a:rPr>
              <a:t>reasonably foreseeable</a:t>
            </a:r>
            <a:r>
              <a:rPr lang="en-US" sz="2600" dirty="0">
                <a:latin typeface="Times New Roman" panose="02020603050405020304" pitchFamily="18" charset="0"/>
                <a:cs typeface="Times New Roman" panose="02020603050405020304" pitchFamily="18" charset="0"/>
              </a:rPr>
              <a:t> </a:t>
            </a:r>
          </a:p>
          <a:p>
            <a:pPr marL="1371600" lvl="2" indent="-514350">
              <a:lnSpc>
                <a:spcPct val="150000"/>
              </a:lnSpc>
              <a:buFont typeface="+mj-lt"/>
              <a:buAutoNum type="arabicPeriod"/>
            </a:pPr>
            <a:r>
              <a:rPr lang="en-US" sz="2600" dirty="0">
                <a:latin typeface="Times New Roman" panose="02020603050405020304" pitchFamily="18" charset="0"/>
                <a:cs typeface="Times New Roman" panose="02020603050405020304" pitchFamily="18" charset="0"/>
              </a:rPr>
              <a:t>there was a relationship of </a:t>
            </a:r>
            <a:r>
              <a:rPr lang="en-US" sz="2600" b="1" dirty="0">
                <a:latin typeface="Times New Roman" panose="02020603050405020304" pitchFamily="18" charset="0"/>
                <a:cs typeface="Times New Roman" panose="02020603050405020304" pitchFamily="18" charset="0"/>
              </a:rPr>
              <a:t>proximity </a:t>
            </a:r>
            <a:endParaRPr lang="en-US" sz="2600" dirty="0">
              <a:latin typeface="Times New Roman" panose="02020603050405020304" pitchFamily="18" charset="0"/>
              <a:cs typeface="Times New Roman" panose="02020603050405020304" pitchFamily="18" charset="0"/>
            </a:endParaRPr>
          </a:p>
          <a:p>
            <a:pPr marL="1371600" lvl="2" indent="-514350">
              <a:lnSpc>
                <a:spcPct val="150000"/>
              </a:lnSpc>
              <a:buFont typeface="+mj-lt"/>
              <a:buAutoNum type="arabicPeriod"/>
            </a:pPr>
            <a:r>
              <a:rPr lang="en-US" sz="2600" dirty="0">
                <a:latin typeface="Times New Roman" panose="02020603050405020304" pitchFamily="18" charset="0"/>
                <a:cs typeface="Times New Roman" panose="02020603050405020304" pitchFamily="18" charset="0"/>
              </a:rPr>
              <a:t>it is </a:t>
            </a:r>
            <a:r>
              <a:rPr lang="en-US" sz="2600" b="1" dirty="0">
                <a:latin typeface="Times New Roman" panose="02020603050405020304" pitchFamily="18" charset="0"/>
                <a:cs typeface="Times New Roman" panose="02020603050405020304" pitchFamily="18" charset="0"/>
              </a:rPr>
              <a:t>fair and reasonable </a:t>
            </a:r>
            <a:r>
              <a:rPr lang="en-US" sz="2600" dirty="0">
                <a:latin typeface="Times New Roman" panose="02020603050405020304" pitchFamily="18" charset="0"/>
                <a:cs typeface="Times New Roman" panose="02020603050405020304" pitchFamily="18" charset="0"/>
              </a:rPr>
              <a:t>to impose a duty in the given circumstances </a:t>
            </a:r>
          </a:p>
          <a:p>
            <a:pPr marL="457200" lvl="1" indent="0">
              <a:lnSpc>
                <a:spcPct val="150000"/>
              </a:lnSpc>
              <a:buNone/>
            </a:pPr>
            <a:r>
              <a:rPr lang="en-US" sz="2800" b="1" dirty="0">
                <a:latin typeface="Times New Roman" panose="02020603050405020304" pitchFamily="18" charset="0"/>
                <a:cs typeface="Times New Roman" panose="02020603050405020304" pitchFamily="18" charset="0"/>
              </a:rPr>
              <a:t>Note: The </a:t>
            </a:r>
            <a:r>
              <a:rPr lang="en-US" sz="2800" b="1" i="1" dirty="0">
                <a:latin typeface="Times New Roman" panose="02020603050405020304" pitchFamily="18" charset="0"/>
                <a:cs typeface="Times New Roman" panose="02020603050405020304" pitchFamily="18" charset="0"/>
              </a:rPr>
              <a:t>Caparo</a:t>
            </a:r>
            <a:r>
              <a:rPr lang="en-US" sz="2800" b="1" dirty="0">
                <a:latin typeface="Times New Roman" panose="02020603050405020304" pitchFamily="18" charset="0"/>
                <a:cs typeface="Times New Roman" panose="02020603050405020304" pitchFamily="18" charset="0"/>
              </a:rPr>
              <a:t> test has </a:t>
            </a:r>
            <a:r>
              <a:rPr lang="en-US" sz="2800" b="1" u="sng" dirty="0">
                <a:latin typeface="Times New Roman" panose="02020603050405020304" pitchFamily="18" charset="0"/>
                <a:cs typeface="Times New Roman" panose="02020603050405020304" pitchFamily="18" charset="0"/>
              </a:rPr>
              <a:t>NEVER</a:t>
            </a:r>
            <a:r>
              <a:rPr lang="en-US" sz="2800" b="1" dirty="0">
                <a:latin typeface="Times New Roman" panose="02020603050405020304" pitchFamily="18" charset="0"/>
                <a:cs typeface="Times New Roman" panose="02020603050405020304" pitchFamily="18" charset="0"/>
              </a:rPr>
              <a:t> been incorporated into Australian negligence law. </a:t>
            </a:r>
          </a:p>
        </p:txBody>
      </p:sp>
    </p:spTree>
    <p:extLst>
      <p:ext uri="{BB962C8B-B14F-4D97-AF65-F5344CB8AC3E}">
        <p14:creationId xmlns:p14="http://schemas.microsoft.com/office/powerpoint/2010/main" val="15254374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Historical origin and evolution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In the 1980s, courts in Australia used the </a:t>
            </a:r>
            <a:r>
              <a:rPr lang="en-US" sz="2800" b="1" dirty="0">
                <a:latin typeface="Times New Roman" panose="02020603050405020304" pitchFamily="18" charset="0"/>
                <a:cs typeface="Times New Roman" panose="02020603050405020304" pitchFamily="18" charset="0"/>
              </a:rPr>
              <a:t>proximity-as-principle  </a:t>
            </a:r>
            <a:endParaRPr lang="en-US" sz="28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The first step was still reasonable foreseeability of the harm – then proximity was used as a limiting factor  </a:t>
            </a:r>
          </a:p>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Deane J in </a:t>
            </a:r>
            <a:r>
              <a:rPr lang="en-US" sz="2800" i="1" dirty="0">
                <a:solidFill>
                  <a:srgbClr val="0070C0"/>
                </a:solidFill>
                <a:latin typeface="Times New Roman" panose="02020603050405020304" pitchFamily="18" charset="0"/>
                <a:cs typeface="Times New Roman" panose="02020603050405020304" pitchFamily="18" charset="0"/>
              </a:rPr>
              <a:t>Sutherland Shire Council </a:t>
            </a:r>
            <a:r>
              <a:rPr lang="en-US" sz="2800" dirty="0">
                <a:latin typeface="Times New Roman" panose="02020603050405020304" pitchFamily="18" charset="0"/>
                <a:cs typeface="Times New Roman" panose="02020603050405020304" pitchFamily="18" charset="0"/>
              </a:rPr>
              <a:t>noted:</a:t>
            </a:r>
            <a:endParaRPr lang="en-US" sz="1000" dirty="0">
              <a:latin typeface="Times New Roman" panose="02020603050405020304" pitchFamily="18" charset="0"/>
              <a:cs typeface="Times New Roman" panose="02020603050405020304" pitchFamily="18" charset="0"/>
            </a:endParaRPr>
          </a:p>
          <a:p>
            <a:pPr marL="457200" lvl="1" indent="0">
              <a:lnSpc>
                <a:spcPct val="150000"/>
              </a:lnSpc>
              <a:buNone/>
            </a:pPr>
            <a:r>
              <a:rPr lang="en-US" sz="2600" dirty="0">
                <a:latin typeface="Times New Roman" panose="02020603050405020304" pitchFamily="18" charset="0"/>
                <a:cs typeface="Times New Roman" panose="02020603050405020304" pitchFamily="18" charset="0"/>
              </a:rPr>
              <a:t>The requirement of a relationship of proximity serves as a </a:t>
            </a:r>
            <a:r>
              <a:rPr lang="en-US" sz="2600" i="1" dirty="0">
                <a:latin typeface="Times New Roman" panose="02020603050405020304" pitchFamily="18" charset="0"/>
                <a:cs typeface="Times New Roman" panose="02020603050405020304" pitchFamily="18" charset="0"/>
              </a:rPr>
              <a:t>touchstone and control </a:t>
            </a:r>
            <a:r>
              <a:rPr lang="en-US" sz="2600" dirty="0">
                <a:latin typeface="Times New Roman" panose="02020603050405020304" pitchFamily="18" charset="0"/>
                <a:cs typeface="Times New Roman" panose="02020603050405020304" pitchFamily="18" charset="0"/>
              </a:rPr>
              <a:t>of the categories of case in which the common law will adjudge that a duty of care is owed. </a:t>
            </a:r>
          </a:p>
          <a:p>
            <a:pPr marL="0" indent="0">
              <a:buNone/>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15386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Historical origin and evolution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What is meant by proximity? How is this different from the </a:t>
            </a:r>
            <a:r>
              <a:rPr lang="en-US" sz="2800" i="1" dirty="0">
                <a:latin typeface="Times New Roman" panose="02020603050405020304" pitchFamily="18" charset="0"/>
                <a:cs typeface="Times New Roman" panose="02020603050405020304" pitchFamily="18" charset="0"/>
              </a:rPr>
              <a:t>Caparo</a:t>
            </a:r>
            <a:r>
              <a:rPr lang="en-US" sz="2800" dirty="0">
                <a:latin typeface="Times New Roman" panose="02020603050405020304" pitchFamily="18" charset="0"/>
                <a:cs typeface="Times New Roman" panose="02020603050405020304" pitchFamily="18" charset="0"/>
              </a:rPr>
              <a:t>’s second stage test? </a:t>
            </a:r>
          </a:p>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Deane J elaborated:</a:t>
            </a:r>
            <a:endParaRPr lang="en-US" sz="1000" dirty="0">
              <a:latin typeface="Times New Roman" panose="02020603050405020304" pitchFamily="18" charset="0"/>
              <a:cs typeface="Times New Roman" panose="02020603050405020304" pitchFamily="18" charset="0"/>
            </a:endParaRPr>
          </a:p>
          <a:p>
            <a:pPr marL="457200" lvl="1" indent="0">
              <a:lnSpc>
                <a:spcPct val="150000"/>
              </a:lnSpc>
              <a:buNone/>
            </a:pPr>
            <a:r>
              <a:rPr lang="en-US" sz="2600" dirty="0">
                <a:latin typeface="Times New Roman" panose="02020603050405020304" pitchFamily="18" charset="0"/>
                <a:cs typeface="Times New Roman" panose="02020603050405020304" pitchFamily="18" charset="0"/>
              </a:rPr>
              <a:t>The requirement of proximity is directed to the relationship between the parties in so far as it is relevant to the allegedly negligent act or omission of the defendant and the loss or injury sustained by the plaintiff.</a:t>
            </a:r>
          </a:p>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The </a:t>
            </a:r>
            <a:r>
              <a:rPr lang="en-US" sz="2800" u="sng" dirty="0">
                <a:latin typeface="Times New Roman" panose="02020603050405020304" pitchFamily="18" charset="0"/>
                <a:cs typeface="Times New Roman" panose="02020603050405020304" pitchFamily="18" charset="0"/>
              </a:rPr>
              <a:t>proximity indicators</a:t>
            </a:r>
            <a:r>
              <a:rPr lang="en-US" sz="2800" dirty="0">
                <a:latin typeface="Times New Roman" panose="02020603050405020304" pitchFamily="18" charset="0"/>
                <a:cs typeface="Times New Roman" panose="02020603050405020304" pitchFamily="18" charset="0"/>
              </a:rPr>
              <a:t> included  physical or circumstantial proximity, reliance, assumption of responsibility, control etc.  </a:t>
            </a:r>
          </a:p>
          <a:p>
            <a:pPr marL="0" indent="0">
              <a:buNone/>
            </a:pPr>
            <a:endParaRPr lang="en-US" sz="2800" dirty="0">
              <a:latin typeface="Times New Roman" panose="02020603050405020304" pitchFamily="18" charset="0"/>
              <a:cs typeface="Times New Roman" panose="02020603050405020304" pitchFamily="18" charset="0"/>
            </a:endParaRPr>
          </a:p>
        </p:txBody>
      </p:sp>
      <p:sp>
        <p:nvSpPr>
          <p:cNvPr id="4" name="Action Button: Help 3">
            <a:hlinkClick r:id="" action="ppaction://noaction" highlightClick="1"/>
            <a:extLst>
              <a:ext uri="{FF2B5EF4-FFF2-40B4-BE49-F238E27FC236}">
                <a16:creationId xmlns:a16="http://schemas.microsoft.com/office/drawing/2014/main" id="{8486B257-1179-EBAB-C1AF-86872FBA2ADD}"/>
              </a:ext>
            </a:extLst>
          </p:cNvPr>
          <p:cNvSpPr/>
          <p:nvPr/>
        </p:nvSpPr>
        <p:spPr>
          <a:xfrm>
            <a:off x="5061968" y="2272413"/>
            <a:ext cx="778555" cy="627321"/>
          </a:xfrm>
          <a:prstGeom prst="actionButtonHelp">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HK"/>
          </a:p>
        </p:txBody>
      </p:sp>
    </p:spTree>
    <p:extLst>
      <p:ext uri="{BB962C8B-B14F-4D97-AF65-F5344CB8AC3E}">
        <p14:creationId xmlns:p14="http://schemas.microsoft.com/office/powerpoint/2010/main" val="3775698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Historical origin and evolution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However, since the late 1990s, the High Court of Australia has been following the “</a:t>
            </a:r>
            <a:r>
              <a:rPr lang="en-US" sz="2800" b="1" dirty="0">
                <a:latin typeface="Times New Roman" panose="02020603050405020304" pitchFamily="18" charset="0"/>
                <a:cs typeface="Times New Roman" panose="02020603050405020304" pitchFamily="18" charset="0"/>
              </a:rPr>
              <a:t>salient factors</a:t>
            </a:r>
            <a:r>
              <a:rPr lang="en-US" sz="2800" dirty="0">
                <a:latin typeface="Times New Roman" panose="02020603050405020304" pitchFamily="18" charset="0"/>
                <a:cs typeface="Times New Roman" panose="02020603050405020304" pitchFamily="18" charset="0"/>
              </a:rPr>
              <a:t>” approach </a:t>
            </a:r>
          </a:p>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Courts still begin with the test of reasonable foreseeability, but then apply the salient factors approach to decide whether a duty of care should arise or not </a:t>
            </a:r>
          </a:p>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The High Court has </a:t>
            </a:r>
            <a:r>
              <a:rPr lang="en-US" sz="2800" dirty="0" err="1">
                <a:latin typeface="Times New Roman" panose="02020603050405020304" pitchFamily="18" charset="0"/>
                <a:cs typeface="Times New Roman" panose="02020603050405020304" pitchFamily="18" charset="0"/>
              </a:rPr>
              <a:t>emphasised</a:t>
            </a:r>
            <a:r>
              <a:rPr lang="en-US" sz="2800" dirty="0">
                <a:latin typeface="Times New Roman" panose="02020603050405020304" pitchFamily="18" charset="0"/>
                <a:cs typeface="Times New Roman" panose="02020603050405020304" pitchFamily="18" charset="0"/>
              </a:rPr>
              <a:t> that a duty of care is </a:t>
            </a:r>
            <a:r>
              <a:rPr lang="en-US" sz="2800" u="sng" dirty="0">
                <a:latin typeface="Times New Roman" panose="02020603050405020304" pitchFamily="18" charset="0"/>
                <a:cs typeface="Times New Roman" panose="02020603050405020304" pitchFamily="18" charset="0"/>
              </a:rPr>
              <a:t>not</a:t>
            </a:r>
            <a:r>
              <a:rPr lang="en-US" sz="2800" dirty="0">
                <a:latin typeface="Times New Roman" panose="02020603050405020304" pitchFamily="18" charset="0"/>
                <a:cs typeface="Times New Roman" panose="02020603050405020304" pitchFamily="18" charset="0"/>
              </a:rPr>
              <a:t> a general duty – rather it is a </a:t>
            </a:r>
            <a:r>
              <a:rPr lang="en-US" sz="2800" i="1" dirty="0">
                <a:latin typeface="Times New Roman" panose="02020603050405020304" pitchFamily="18" charset="0"/>
                <a:cs typeface="Times New Roman" panose="02020603050405020304" pitchFamily="18" charset="0"/>
              </a:rPr>
              <a:t>contextual</a:t>
            </a:r>
            <a:r>
              <a:rPr lang="en-US" sz="2800" dirty="0">
                <a:latin typeface="Times New Roman" panose="02020603050405020304" pitchFamily="18" charset="0"/>
                <a:cs typeface="Times New Roman" panose="02020603050405020304" pitchFamily="18" charset="0"/>
              </a:rPr>
              <a:t> duty  </a:t>
            </a:r>
          </a:p>
        </p:txBody>
      </p:sp>
    </p:spTree>
    <p:extLst>
      <p:ext uri="{BB962C8B-B14F-4D97-AF65-F5344CB8AC3E}">
        <p14:creationId xmlns:p14="http://schemas.microsoft.com/office/powerpoint/2010/main" val="9952378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Historical origin and evolution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96199" y="2550636"/>
            <a:ext cx="5865857" cy="4002564"/>
          </a:xfrm>
        </p:spPr>
        <p:txBody>
          <a:bodyPr>
            <a:noAutofit/>
          </a:bodyPr>
          <a:lstStyle/>
          <a:p>
            <a:pPr lvl="1">
              <a:lnSpc>
                <a:spcPct val="150000"/>
              </a:lnSpc>
              <a:buFont typeface="Wingdings" pitchFamily="2" charset="2"/>
              <a:buChar char="v"/>
              <a:defRPr/>
            </a:pPr>
            <a:r>
              <a:rPr kumimoji="0" lang="en-AU"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Foreseeability of the harm</a:t>
            </a:r>
          </a:p>
          <a:p>
            <a:pPr lvl="1">
              <a:lnSpc>
                <a:spcPct val="150000"/>
              </a:lnSpc>
              <a:buFont typeface="Wingdings" pitchFamily="2" charset="2"/>
              <a:buChar char="v"/>
              <a:defRPr/>
            </a:pPr>
            <a:r>
              <a:rPr kumimoji="0" lang="en-AU"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Nature of harm alleged</a:t>
            </a:r>
          </a:p>
          <a:p>
            <a:pPr lvl="1">
              <a:lnSpc>
                <a:spcPct val="150000"/>
              </a:lnSpc>
              <a:buFont typeface="Wingdings" pitchFamily="2" charset="2"/>
              <a:buChar char="v"/>
              <a:defRPr/>
            </a:pPr>
            <a:r>
              <a:rPr kumimoji="0" lang="en-AU"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Degree/nature of control by the defendant</a:t>
            </a:r>
          </a:p>
          <a:p>
            <a:pPr lvl="1">
              <a:lnSpc>
                <a:spcPct val="150000"/>
              </a:lnSpc>
              <a:buFont typeface="Wingdings" pitchFamily="2" charset="2"/>
              <a:buChar char="v"/>
              <a:defRPr/>
            </a:pPr>
            <a:r>
              <a:rPr kumimoji="0" lang="en-AU"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Vulnerability of the plaintiff</a:t>
            </a:r>
          </a:p>
          <a:p>
            <a:pPr lvl="1">
              <a:lnSpc>
                <a:spcPct val="150000"/>
              </a:lnSpc>
              <a:buFont typeface="Wingdings" pitchFamily="2" charset="2"/>
              <a:buChar char="v"/>
              <a:defRPr/>
            </a:pPr>
            <a:r>
              <a:rPr kumimoji="0" lang="en-AU"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Degree of reliance by the plaintiff</a:t>
            </a:r>
          </a:p>
          <a:p>
            <a:pPr lvl="1">
              <a:lnSpc>
                <a:spcPct val="150000"/>
              </a:lnSpc>
              <a:buFont typeface="Wingdings" pitchFamily="2" charset="2"/>
              <a:buChar char="v"/>
              <a:defRPr/>
            </a:pPr>
            <a:r>
              <a:rPr kumimoji="0" lang="en-AU"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Assumption of responsibility by the defendant</a:t>
            </a:r>
          </a:p>
          <a:p>
            <a:pPr lvl="1">
              <a:lnSpc>
                <a:spcPct val="150000"/>
              </a:lnSpc>
              <a:buFont typeface="Wingdings" pitchFamily="2" charset="2"/>
              <a:buChar char="v"/>
              <a:defRPr/>
            </a:pPr>
            <a:r>
              <a:rPr kumimoji="0" lang="en-AU"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Proximity of the plaintiff to the defendant</a:t>
            </a:r>
          </a:p>
          <a:p>
            <a:pPr lvl="1">
              <a:lnSpc>
                <a:spcPct val="150000"/>
              </a:lnSpc>
              <a:buFont typeface="Wingdings" pitchFamily="2" charset="2"/>
              <a:buChar char="v"/>
              <a:defRPr/>
            </a:pPr>
            <a:r>
              <a:rPr kumimoji="0" lang="en-AU"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Category of relationship between the defendant and the plaintiff</a:t>
            </a:r>
          </a:p>
          <a:p>
            <a:pPr lvl="1">
              <a:lnSpc>
                <a:spcPct val="150000"/>
              </a:lnSpc>
              <a:buFont typeface="Wingdings" pitchFamily="2" charset="2"/>
              <a:buChar char="v"/>
              <a:defRPr/>
            </a:pPr>
            <a:r>
              <a:rPr lang="en-AU" dirty="0">
                <a:solidFill>
                  <a:prstClr val="black"/>
                </a:solidFill>
                <a:latin typeface="Times New Roman" panose="02020603050405020304" pitchFamily="18" charset="0"/>
                <a:cs typeface="Times New Roman" panose="02020603050405020304" pitchFamily="18" charset="0"/>
              </a:rPr>
              <a:t>Nature of the defendant’s activity</a:t>
            </a:r>
          </a:p>
          <a:p>
            <a:pPr lvl="1">
              <a:lnSpc>
                <a:spcPct val="150000"/>
              </a:lnSpc>
              <a:buFont typeface="Wingdings" pitchFamily="2" charset="2"/>
              <a:buChar char="v"/>
              <a:defRPr/>
            </a:pPr>
            <a:endParaRPr kumimoji="0" lang="en-AU"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lvl="1">
              <a:lnSpc>
                <a:spcPct val="150000"/>
              </a:lnSpc>
              <a:buFont typeface="Wingdings" pitchFamily="2" charset="2"/>
              <a:buChar char="v"/>
              <a:defRPr/>
            </a:pPr>
            <a:endParaRPr kumimoji="0" lang="en-AU"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A3ABC658-ABA5-9498-6C8F-75AB784C716F}"/>
              </a:ext>
            </a:extLst>
          </p:cNvPr>
          <p:cNvSpPr txBox="1">
            <a:spLocks/>
          </p:cNvSpPr>
          <p:nvPr/>
        </p:nvSpPr>
        <p:spPr>
          <a:xfrm>
            <a:off x="6468504" y="2550636"/>
            <a:ext cx="5419544" cy="4198921"/>
          </a:xfrm>
          <a:prstGeom prst="rect">
            <a:avLst/>
          </a:prstGeom>
        </p:spPr>
        <p:txBody>
          <a:bodyPr vert="horz" lIns="0" tIns="0" rIns="0" bIns="0" rtlCol="0">
            <a:noAutofit/>
          </a:bodyPr>
          <a:lstStyle>
            <a:lvl1pPr marL="342900" indent="-3429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1pPr>
            <a:lvl2pPr marL="800100" indent="-342900" algn="l" defTabSz="914400" rtl="0" eaLnBrk="1" latinLnBrk="0" hangingPunct="1">
              <a:spcBef>
                <a:spcPct val="20000"/>
              </a:spcBef>
              <a:buFont typeface="Georgia" panose="02040502050405020303" pitchFamily="18" charset="0"/>
              <a:buChar char="―"/>
              <a:defRPr sz="1600" kern="1200">
                <a:solidFill>
                  <a:schemeClr val="tx1"/>
                </a:solidFill>
                <a:latin typeface="+mn-lt"/>
                <a:ea typeface="+mn-ea"/>
                <a:cs typeface="+mn-cs"/>
              </a:defRPr>
            </a:lvl2pPr>
            <a:lvl3pPr marL="1200150" indent="-285750" algn="l" defTabSz="914400" rtl="0" eaLnBrk="1" latinLnBrk="0" hangingPunct="1">
              <a:spcBef>
                <a:spcPct val="200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Font typeface="Georgia" panose="02040502050405020303" pitchFamily="18" charset="0"/>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1">
              <a:lnSpc>
                <a:spcPct val="150000"/>
              </a:lnSpc>
              <a:buFont typeface="Wingdings" pitchFamily="2" charset="2"/>
              <a:buChar char="v"/>
              <a:defRPr/>
            </a:pPr>
            <a:r>
              <a:rPr lang="en-AU" dirty="0">
                <a:solidFill>
                  <a:prstClr val="black"/>
                </a:solidFill>
                <a:latin typeface="Times New Roman" panose="02020603050405020304" pitchFamily="18" charset="0"/>
                <a:cs typeface="Times New Roman" panose="02020603050405020304" pitchFamily="18" charset="0"/>
              </a:rPr>
              <a:t>Degree of danger from the defendant’s conduct</a:t>
            </a:r>
          </a:p>
          <a:p>
            <a:pPr lvl="1">
              <a:lnSpc>
                <a:spcPct val="150000"/>
              </a:lnSpc>
              <a:buFont typeface="Wingdings" pitchFamily="2" charset="2"/>
              <a:buChar char="v"/>
              <a:defRPr/>
            </a:pPr>
            <a:r>
              <a:rPr lang="en-AU" sz="1600" dirty="0">
                <a:solidFill>
                  <a:prstClr val="black"/>
                </a:solidFill>
                <a:latin typeface="Times New Roman" panose="02020603050405020304" pitchFamily="18" charset="0"/>
                <a:cs typeface="Times New Roman" panose="02020603050405020304" pitchFamily="18" charset="0"/>
              </a:rPr>
              <a:t>The defendant’s knowledge that conduct will harm the plaintiff</a:t>
            </a:r>
          </a:p>
          <a:p>
            <a:pPr lvl="1">
              <a:lnSpc>
                <a:spcPct val="150000"/>
              </a:lnSpc>
              <a:buFont typeface="Wingdings" pitchFamily="2" charset="2"/>
              <a:buChar char="v"/>
              <a:defRPr/>
            </a:pPr>
            <a:r>
              <a:rPr lang="en-AU" sz="1600" dirty="0">
                <a:solidFill>
                  <a:prstClr val="black"/>
                </a:solidFill>
                <a:latin typeface="Times New Roman" panose="02020603050405020304" pitchFamily="18" charset="0"/>
                <a:cs typeface="Times New Roman" panose="02020603050405020304" pitchFamily="18" charset="0"/>
              </a:rPr>
              <a:t>Indeterminacy of liability</a:t>
            </a:r>
          </a:p>
          <a:p>
            <a:pPr lvl="1">
              <a:lnSpc>
                <a:spcPct val="150000"/>
              </a:lnSpc>
              <a:buFont typeface="Wingdings" pitchFamily="2" charset="2"/>
              <a:buChar char="v"/>
              <a:defRPr/>
            </a:pPr>
            <a:r>
              <a:rPr lang="en-AU" sz="1600" dirty="0">
                <a:solidFill>
                  <a:prstClr val="black"/>
                </a:solidFill>
                <a:latin typeface="Times New Roman" panose="02020603050405020304" pitchFamily="18" charset="0"/>
                <a:cs typeface="Times New Roman" panose="02020603050405020304" pitchFamily="18" charset="0"/>
              </a:rPr>
              <a:t>Nature/consequences of potential action to avoid harm</a:t>
            </a:r>
          </a:p>
          <a:p>
            <a:pPr lvl="1">
              <a:lnSpc>
                <a:spcPct val="150000"/>
              </a:lnSpc>
              <a:buFont typeface="Wingdings" pitchFamily="2" charset="2"/>
              <a:buChar char="v"/>
              <a:defRPr/>
            </a:pPr>
            <a:r>
              <a:rPr lang="en-AU" sz="1600" dirty="0">
                <a:solidFill>
                  <a:prstClr val="black"/>
                </a:solidFill>
                <a:latin typeface="Times New Roman" panose="02020603050405020304" pitchFamily="18" charset="0"/>
                <a:cs typeface="Times New Roman" panose="02020603050405020304" pitchFamily="18" charset="0"/>
              </a:rPr>
              <a:t>Imposition on individual autonomy</a:t>
            </a:r>
          </a:p>
          <a:p>
            <a:pPr lvl="1">
              <a:lnSpc>
                <a:spcPct val="150000"/>
              </a:lnSpc>
              <a:buFont typeface="Wingdings" pitchFamily="2" charset="2"/>
              <a:buChar char="v"/>
              <a:defRPr/>
            </a:pPr>
            <a:r>
              <a:rPr lang="en-AU" sz="1600" dirty="0">
                <a:solidFill>
                  <a:prstClr val="black"/>
                </a:solidFill>
                <a:latin typeface="Times New Roman" panose="02020603050405020304" pitchFamily="18" charset="0"/>
                <a:cs typeface="Times New Roman" panose="02020603050405020304" pitchFamily="18" charset="0"/>
              </a:rPr>
              <a:t>Conflicting duties</a:t>
            </a:r>
          </a:p>
          <a:p>
            <a:pPr lvl="1">
              <a:lnSpc>
                <a:spcPct val="150000"/>
              </a:lnSpc>
              <a:buFont typeface="Wingdings" pitchFamily="2" charset="2"/>
              <a:buChar char="v"/>
              <a:defRPr/>
            </a:pPr>
            <a:r>
              <a:rPr lang="en-AU" sz="1600" dirty="0">
                <a:solidFill>
                  <a:prstClr val="black"/>
                </a:solidFill>
                <a:latin typeface="Times New Roman" panose="02020603050405020304" pitchFamily="18" charset="0"/>
                <a:cs typeface="Times New Roman" panose="02020603050405020304" pitchFamily="18" charset="0"/>
              </a:rPr>
              <a:t>Consistency with relevant statutes</a:t>
            </a:r>
          </a:p>
          <a:p>
            <a:pPr lvl="1">
              <a:lnSpc>
                <a:spcPct val="150000"/>
              </a:lnSpc>
              <a:buFont typeface="Wingdings" pitchFamily="2" charset="2"/>
              <a:buChar char="v"/>
              <a:defRPr/>
            </a:pPr>
            <a:r>
              <a:rPr lang="en-AU" sz="1600" dirty="0">
                <a:solidFill>
                  <a:prstClr val="black"/>
                </a:solidFill>
                <a:latin typeface="Times New Roman" panose="02020603050405020304" pitchFamily="18" charset="0"/>
                <a:cs typeface="Times New Roman" panose="02020603050405020304" pitchFamily="18" charset="0"/>
              </a:rPr>
              <a:t>Coherence in the common law</a:t>
            </a:r>
          </a:p>
        </p:txBody>
      </p:sp>
      <p:sp>
        <p:nvSpPr>
          <p:cNvPr id="6" name="TextBox 5">
            <a:extLst>
              <a:ext uri="{FF2B5EF4-FFF2-40B4-BE49-F238E27FC236}">
                <a16:creationId xmlns:a16="http://schemas.microsoft.com/office/drawing/2014/main" id="{DBA18E6A-0D3E-84E6-CF25-266420876F65}"/>
              </a:ext>
            </a:extLst>
          </p:cNvPr>
          <p:cNvSpPr txBox="1"/>
          <p:nvPr/>
        </p:nvSpPr>
        <p:spPr>
          <a:xfrm>
            <a:off x="796199" y="1312353"/>
            <a:ext cx="10884171" cy="960328"/>
          </a:xfrm>
          <a:prstGeom prst="rect">
            <a:avLst/>
          </a:prstGeom>
          <a:noFill/>
        </p:spPr>
        <p:txBody>
          <a:bodyPr wrap="square">
            <a:spAutoFit/>
          </a:bodyPr>
          <a:lstStyle/>
          <a:p>
            <a:pPr>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In </a:t>
            </a:r>
            <a:r>
              <a:rPr lang="en-US" sz="2000" i="1" dirty="0">
                <a:solidFill>
                  <a:srgbClr val="0070C0"/>
                </a:solidFill>
                <a:latin typeface="Times New Roman" panose="02020603050405020304" pitchFamily="18" charset="0"/>
                <a:cs typeface="Times New Roman" panose="02020603050405020304" pitchFamily="18" charset="0"/>
              </a:rPr>
              <a:t>Caltex Refineries (Qld) Pty Ltd v </a:t>
            </a:r>
            <a:r>
              <a:rPr lang="en-US" sz="2000" i="1" dirty="0" err="1">
                <a:solidFill>
                  <a:srgbClr val="0070C0"/>
                </a:solidFill>
                <a:latin typeface="Times New Roman" panose="02020603050405020304" pitchFamily="18" charset="0"/>
                <a:cs typeface="Times New Roman" panose="02020603050405020304" pitchFamily="18" charset="0"/>
              </a:rPr>
              <a:t>Stavar</a:t>
            </a:r>
            <a:r>
              <a:rPr lang="en-US" sz="2000" i="1" dirty="0">
                <a:solidFill>
                  <a:srgbClr val="0070C0"/>
                </a:solidFill>
                <a:latin typeface="Times New Roman" panose="02020603050405020304" pitchFamily="18" charset="0"/>
                <a:cs typeface="Times New Roman" panose="02020603050405020304" pitchFamily="18" charset="0"/>
              </a:rPr>
              <a:t> (</a:t>
            </a:r>
            <a:r>
              <a:rPr lang="en-US" sz="2000" dirty="0">
                <a:solidFill>
                  <a:srgbClr val="0070C0"/>
                </a:solidFill>
                <a:latin typeface="Times New Roman" panose="02020603050405020304" pitchFamily="18" charset="0"/>
                <a:cs typeface="Times New Roman" panose="02020603050405020304" pitchFamily="18" charset="0"/>
              </a:rPr>
              <a:t>2009) 75 NSWLR 649</a:t>
            </a:r>
            <a:r>
              <a:rPr lang="en-US" sz="2000" dirty="0">
                <a:latin typeface="Times New Roman" panose="02020603050405020304" pitchFamily="18" charset="0"/>
                <a:cs typeface="Times New Roman" panose="02020603050405020304" pitchFamily="18" charset="0"/>
              </a:rPr>
              <a:t>, the NSW Court of Appeal observed that the salient factors include: </a:t>
            </a:r>
          </a:p>
        </p:txBody>
      </p:sp>
    </p:spTree>
    <p:extLst>
      <p:ext uri="{BB962C8B-B14F-4D97-AF65-F5344CB8AC3E}">
        <p14:creationId xmlns:p14="http://schemas.microsoft.com/office/powerpoint/2010/main" val="1901271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30443-922B-1F93-FA65-7663AFCFDF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2AD1AA-FC8E-780E-4A93-E8839C5347A8}"/>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Historical origin and evolution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185B9B2-2956-79C8-A9F9-28EFF0E31830}"/>
              </a:ext>
            </a:extLst>
          </p:cNvPr>
          <p:cNvSpPr>
            <a:spLocks noGrp="1"/>
          </p:cNvSpPr>
          <p:nvPr>
            <p:ph idx="1"/>
          </p:nvPr>
        </p:nvSpPr>
        <p:spPr>
          <a:xfrm>
            <a:off x="720000" y="1508426"/>
            <a:ext cx="10800001" cy="5074936"/>
          </a:xfrm>
        </p:spPr>
        <p:txBody>
          <a:bodyPr>
            <a:noAutofit/>
          </a:bodyPr>
          <a:lstStyle/>
          <a:p>
            <a:pPr>
              <a:lnSpc>
                <a:spcPct val="150000"/>
              </a:lnSpc>
              <a:buFont typeface="Wingdings" pitchFamily="2" charset="2"/>
              <a:buChar char="Ø"/>
            </a:pPr>
            <a:r>
              <a:rPr lang="en-AU" sz="2400" b="1" dirty="0">
                <a:latin typeface="Times New Roman" panose="02020603050405020304" pitchFamily="18" charset="0"/>
                <a:cs typeface="Times New Roman" panose="02020603050405020304" pitchFamily="18" charset="0"/>
              </a:rPr>
              <a:t>The salient factors test is NOT the general test for duty of care. </a:t>
            </a:r>
          </a:p>
          <a:p>
            <a:pPr>
              <a:lnSpc>
                <a:spcPct val="150000"/>
              </a:lnSpc>
              <a:buFont typeface="Wingdings" pitchFamily="2" charset="2"/>
              <a:buChar char="Ø"/>
            </a:pPr>
            <a:r>
              <a:rPr lang="en-AU" sz="2400" b="1" dirty="0">
                <a:latin typeface="Times New Roman" panose="02020603050405020304" pitchFamily="18" charset="0"/>
                <a:cs typeface="Times New Roman" panose="02020603050405020304" pitchFamily="18" charset="0"/>
              </a:rPr>
              <a:t>It is a tool used only in specific circumstances.</a:t>
            </a:r>
            <a:endParaRPr lang="en-AU" sz="2400" dirty="0">
              <a:latin typeface="Times New Roman" panose="02020603050405020304" pitchFamily="18" charset="0"/>
              <a:cs typeface="Times New Roman" panose="02020603050405020304" pitchFamily="18" charset="0"/>
            </a:endParaRPr>
          </a:p>
          <a:p>
            <a:pPr>
              <a:lnSpc>
                <a:spcPct val="150000"/>
              </a:lnSpc>
            </a:pPr>
            <a:r>
              <a:rPr lang="en-AU" sz="2200" dirty="0">
                <a:latin typeface="Times New Roman" panose="02020603050405020304" pitchFamily="18" charset="0"/>
                <a:cs typeface="Times New Roman" panose="02020603050405020304" pitchFamily="18" charset="0"/>
              </a:rPr>
              <a:t>When do we use salient factors?</a:t>
            </a:r>
          </a:p>
          <a:p>
            <a:pPr lvl="1">
              <a:lnSpc>
                <a:spcPct val="150000"/>
              </a:lnSpc>
            </a:pPr>
            <a:r>
              <a:rPr lang="en-AU" sz="2200" dirty="0">
                <a:latin typeface="Times New Roman" panose="02020603050405020304" pitchFamily="18" charset="0"/>
                <a:cs typeface="Times New Roman" panose="02020603050405020304" pitchFamily="18" charset="0"/>
              </a:rPr>
              <a:t>Novel cases (for </a:t>
            </a:r>
            <a:r>
              <a:rPr lang="en-AU" sz="2200" dirty="0" err="1">
                <a:latin typeface="Times New Roman" panose="02020603050405020304" pitchFamily="18" charset="0"/>
                <a:cs typeface="Times New Roman" panose="02020603050405020304" pitchFamily="18" charset="0"/>
              </a:rPr>
              <a:t>eg</a:t>
            </a:r>
            <a:r>
              <a:rPr lang="en-AU" sz="2200" dirty="0">
                <a:latin typeface="Times New Roman" panose="02020603050405020304" pitchFamily="18" charset="0"/>
                <a:cs typeface="Times New Roman" panose="02020603050405020304" pitchFamily="18" charset="0"/>
              </a:rPr>
              <a:t>, harm from climate change)</a:t>
            </a:r>
          </a:p>
          <a:p>
            <a:pPr lvl="1">
              <a:lnSpc>
                <a:spcPct val="150000"/>
              </a:lnSpc>
            </a:pPr>
            <a:r>
              <a:rPr lang="en-AU" sz="2200" dirty="0">
                <a:latin typeface="Times New Roman" panose="02020603050405020304" pitchFamily="18" charset="0"/>
                <a:cs typeface="Times New Roman" panose="02020603050405020304" pitchFamily="18" charset="0"/>
              </a:rPr>
              <a:t>As we will see, specific factors are used for establishing a duty of care in circumstances that are NOT the paradigm case of an act causing physical injury or property damage (omissions, pure mental harm, pure economic loss, </a:t>
            </a:r>
            <a:r>
              <a:rPr lang="en-AU" sz="2200">
                <a:latin typeface="Times New Roman" panose="02020603050405020304" pitchFamily="18" charset="0"/>
                <a:cs typeface="Times New Roman" panose="02020603050405020304" pitchFamily="18" charset="0"/>
              </a:rPr>
              <a:t>public authorities etc)</a:t>
            </a:r>
            <a:endParaRPr lang="en-AU" sz="2200" dirty="0">
              <a:latin typeface="Times New Roman" panose="02020603050405020304" pitchFamily="18" charset="0"/>
              <a:cs typeface="Times New Roman" panose="02020603050405020304" pitchFamily="18" charset="0"/>
            </a:endParaRPr>
          </a:p>
          <a:p>
            <a:pPr>
              <a:lnSpc>
                <a:spcPct val="150000"/>
              </a:lnSpc>
              <a:buFont typeface="Wingdings" pitchFamily="2" charset="2"/>
              <a:buChar char="Ø"/>
            </a:pPr>
            <a:r>
              <a:rPr lang="en-AU" sz="2200" dirty="0">
                <a:latin typeface="Times New Roman" panose="02020603050405020304" pitchFamily="18" charset="0"/>
                <a:cs typeface="Times New Roman" panose="02020603050405020304" pitchFamily="18" charset="0"/>
              </a:rPr>
              <a:t>In practice, most negligence cases involve established categories where law to establish a duty of care is settled.</a:t>
            </a:r>
          </a:p>
          <a:p>
            <a:pPr>
              <a:buFont typeface="Wingdings" panose="05000000000000000000" pitchFamily="2" charset="2"/>
              <a:buChar char="§"/>
            </a:pPr>
            <a:endParaRPr kumimoji="0" lang="en-AU" sz="2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9724395"/>
      </p:ext>
    </p:extLst>
  </p:cSld>
  <p:clrMapOvr>
    <a:masterClrMapping/>
  </p:clrMapOvr>
</p:sld>
</file>

<file path=ppt/theme/theme1.xml><?xml version="1.0" encoding="utf-8"?>
<a:theme xmlns:a="http://schemas.openxmlformats.org/drawingml/2006/main" name="MAC UNI BASIC_Round 1 Draft for feedback">
  <a:themeElements>
    <a:clrScheme name="MQU Colours">
      <a:dk1>
        <a:sysClr val="windowText" lastClr="000000"/>
      </a:dk1>
      <a:lt1>
        <a:sysClr val="window" lastClr="FFFFFF"/>
      </a:lt1>
      <a:dk2>
        <a:srgbClr val="D6D2C4"/>
      </a:dk2>
      <a:lt2>
        <a:srgbClr val="E6E4DC"/>
      </a:lt2>
      <a:accent1>
        <a:srgbClr val="A6192E"/>
      </a:accent1>
      <a:accent2>
        <a:srgbClr val="76232F"/>
      </a:accent2>
      <a:accent3>
        <a:srgbClr val="D6001C"/>
      </a:accent3>
      <a:accent4>
        <a:srgbClr val="C6007E"/>
      </a:accent4>
      <a:accent5>
        <a:srgbClr val="80225F"/>
      </a:accent5>
      <a:accent6>
        <a:srgbClr val="373A36"/>
      </a:accent6>
      <a:hlink>
        <a:srgbClr val="A6192E"/>
      </a:hlink>
      <a:folHlink>
        <a:srgbClr val="954F72"/>
      </a:folHlink>
    </a:clrScheme>
    <a:fontScheme name="MQU">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MU-INT 16x9 Template _2016" id="{260B2EA1-E29E-8F43-8CD0-19C5943E9B3E}" vid="{17EFAF55-AA0F-074F-B88C-D92FD2EB114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82c514c1-a717-4087-be06-d40d2070ad52}" enabled="0" method="" siteId="{82c514c1-a717-4087-be06-d40d2070ad52}" removed="1"/>
</clbl:labelList>
</file>

<file path=docProps/app.xml><?xml version="1.0" encoding="utf-8"?>
<Properties xmlns="http://schemas.openxmlformats.org/officeDocument/2006/extended-properties" xmlns:vt="http://schemas.openxmlformats.org/officeDocument/2006/docPropsVTypes">
  <Template/>
  <TotalTime>18408</TotalTime>
  <Words>2272</Words>
  <Application>Microsoft Macintosh PowerPoint</Application>
  <PresentationFormat>Widescreen</PresentationFormat>
  <Paragraphs>270</Paragraphs>
  <Slides>28</Slides>
  <Notes>28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Georgia</vt:lpstr>
      <vt:lpstr>Times New Roman</vt:lpstr>
      <vt:lpstr>Wingdings</vt:lpstr>
      <vt:lpstr>MAC UNI BASIC_Round 1 Draft for feedback</vt:lpstr>
      <vt:lpstr>LAWS2400 / LAWS8040 – Torts  Week 5 Lecture 1 Negligence: Unpacking Duty of Care  </vt:lpstr>
      <vt:lpstr>Outline</vt:lpstr>
      <vt:lpstr>1. Overview </vt:lpstr>
      <vt:lpstr>2. Key elements  </vt:lpstr>
      <vt:lpstr>Key elements Contd.</vt:lpstr>
      <vt:lpstr>Key elements Contd.</vt:lpstr>
      <vt:lpstr>Key elements Contd.</vt:lpstr>
      <vt:lpstr>3. Historical origin and evolution </vt:lpstr>
      <vt:lpstr>Historical origin and evolution Contd.</vt:lpstr>
      <vt:lpstr>Historical origin and evolution Contd.</vt:lpstr>
      <vt:lpstr>Historical origin and evolution Contd.</vt:lpstr>
      <vt:lpstr>Historical origin and evolution Contd.</vt:lpstr>
      <vt:lpstr>Historical origin and evolution Contd.</vt:lpstr>
      <vt:lpstr>Historical origin and evolution Contd.</vt:lpstr>
      <vt:lpstr>Historical origin and evolution Contd.</vt:lpstr>
      <vt:lpstr>Historical origin and evolution Contd.</vt:lpstr>
      <vt:lpstr>Historical origin and evolution Contd.</vt:lpstr>
      <vt:lpstr>Historical origin and evolution Contd.</vt:lpstr>
      <vt:lpstr>Historical origin and evolution Contd.</vt:lpstr>
      <vt:lpstr>Historical origin and evolution Contd.</vt:lpstr>
      <vt:lpstr>Historical origin and evolution Contd.</vt:lpstr>
      <vt:lpstr>Historical origin and evolution Contd.</vt:lpstr>
      <vt:lpstr>Historical origin and evolution Contd.</vt:lpstr>
      <vt:lpstr>Historical origin and evolution Contd.</vt:lpstr>
      <vt:lpstr>Historical origin and evolution Contd.</vt:lpstr>
      <vt:lpstr>Historical origin and evolution Contd.</vt:lpstr>
      <vt:lpstr>Historical origin and evolution Contd.</vt:lpstr>
      <vt:lpstr>Historical origin and evolution Contd.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Amanda Head</cp:lastModifiedBy>
  <cp:revision>1510</cp:revision>
  <dcterms:created xsi:type="dcterms:W3CDTF">2019-01-24T02:12:19Z</dcterms:created>
  <dcterms:modified xsi:type="dcterms:W3CDTF">2026-08-27T03:04:26Z</dcterms:modified>
</cp:coreProperties>
</file>