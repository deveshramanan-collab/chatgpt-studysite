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36"/>
  </p:notesMasterIdLst>
  <p:handoutMasterIdLst>
    <p:handoutMasterId r:id="rId37"/>
  </p:handoutMasterIdLst>
  <p:sldIdLst>
    <p:sldId id="303" r:id="rId2"/>
    <p:sldId id="258" r:id="rId3"/>
    <p:sldId id="480" r:id="rId4"/>
    <p:sldId id="481" r:id="rId5"/>
    <p:sldId id="496" r:id="rId6"/>
    <p:sldId id="502" r:id="rId7"/>
    <p:sldId id="503" r:id="rId8"/>
    <p:sldId id="504" r:id="rId9"/>
    <p:sldId id="495" r:id="rId10"/>
    <p:sldId id="505" r:id="rId11"/>
    <p:sldId id="506" r:id="rId12"/>
    <p:sldId id="497" r:id="rId13"/>
    <p:sldId id="508" r:id="rId14"/>
    <p:sldId id="509" r:id="rId15"/>
    <p:sldId id="498" r:id="rId16"/>
    <p:sldId id="510" r:id="rId17"/>
    <p:sldId id="340" r:id="rId18"/>
    <p:sldId id="476" r:id="rId19"/>
    <p:sldId id="511" r:id="rId20"/>
    <p:sldId id="512" r:id="rId21"/>
    <p:sldId id="513" r:id="rId22"/>
    <p:sldId id="341" r:id="rId23"/>
    <p:sldId id="521" r:id="rId24"/>
    <p:sldId id="369" r:id="rId25"/>
    <p:sldId id="514" r:id="rId26"/>
    <p:sldId id="515" r:id="rId27"/>
    <p:sldId id="516" r:id="rId28"/>
    <p:sldId id="517" r:id="rId29"/>
    <p:sldId id="518" r:id="rId30"/>
    <p:sldId id="519" r:id="rId31"/>
    <p:sldId id="520" r:id="rId32"/>
    <p:sldId id="522" r:id="rId33"/>
    <p:sldId id="523" r:id="rId34"/>
    <p:sldId id="52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E23E55"/>
    <a:srgbClr val="EF99A5"/>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DCDC7-ECD4-4B4B-B97C-A4AE07BD74E8}" v="2" dt="2024-09-08T04:08:12.9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29" autoAdjust="0"/>
    <p:restoredTop sz="93447" autoAdjust="0"/>
  </p:normalViewPr>
  <p:slideViewPr>
    <p:cSldViewPr snapToGrid="0" snapToObjects="1">
      <p:cViewPr varScale="1">
        <p:scale>
          <a:sx n="121" d="100"/>
          <a:sy n="121" d="100"/>
        </p:scale>
        <p:origin x="176" y="312"/>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Deva" userId="7fc89188-b279-4464-aad4-6bcc30702912" providerId="ADAL" clId="{37BDCDC7-ECD4-4B4B-B97C-A4AE07BD74E8}"/>
    <pc:docChg chg="modSld">
      <pc:chgData name="Surya Deva" userId="7fc89188-b279-4464-aad4-6bcc30702912" providerId="ADAL" clId="{37BDCDC7-ECD4-4B4B-B97C-A4AE07BD74E8}" dt="2024-09-08T04:08:12.938" v="1" actId="20577"/>
      <pc:docMkLst>
        <pc:docMk/>
      </pc:docMkLst>
      <pc:sldChg chg="modSp">
        <pc:chgData name="Surya Deva" userId="7fc89188-b279-4464-aad4-6bcc30702912" providerId="ADAL" clId="{37BDCDC7-ECD4-4B4B-B97C-A4AE07BD74E8}" dt="2024-09-08T04:08:12.938" v="1" actId="20577"/>
        <pc:sldMkLst>
          <pc:docMk/>
          <pc:sldMk cId="2731709618" sldId="489"/>
        </pc:sldMkLst>
        <pc:graphicFrameChg chg="mod">
          <ac:chgData name="Surya Deva" userId="7fc89188-b279-4464-aad4-6bcc30702912" providerId="ADAL" clId="{37BDCDC7-ECD4-4B4B-B97C-A4AE07BD74E8}" dt="2024-09-08T04:08:12.938" v="1" actId="20577"/>
          <ac:graphicFrameMkLst>
            <pc:docMk/>
            <pc:sldMk cId="2731709618" sldId="489"/>
            <ac:graphicFrameMk id="4" creationId="{FAA951C2-9459-0493-70EE-40FC1DFE2D5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8/10/2026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8/10/2026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dirty="0"/>
          </a:p>
        </p:txBody>
      </p:sp>
    </p:spTree>
    <p:extLst>
      <p:ext uri="{BB962C8B-B14F-4D97-AF65-F5344CB8AC3E}">
        <p14:creationId xmlns:p14="http://schemas.microsoft.com/office/powerpoint/2010/main" val="3420959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dirty="0"/>
          </a:p>
        </p:txBody>
      </p:sp>
    </p:spTree>
    <p:extLst>
      <p:ext uri="{BB962C8B-B14F-4D97-AF65-F5344CB8AC3E}">
        <p14:creationId xmlns:p14="http://schemas.microsoft.com/office/powerpoint/2010/main" val="103784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a:p>
        </p:txBody>
      </p:sp>
    </p:spTree>
    <p:extLst>
      <p:ext uri="{BB962C8B-B14F-4D97-AF65-F5344CB8AC3E}">
        <p14:creationId xmlns:p14="http://schemas.microsoft.com/office/powerpoint/2010/main" val="1249909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a:p>
        </p:txBody>
      </p:sp>
    </p:spTree>
    <p:extLst>
      <p:ext uri="{BB962C8B-B14F-4D97-AF65-F5344CB8AC3E}">
        <p14:creationId xmlns:p14="http://schemas.microsoft.com/office/powerpoint/2010/main" val="3996942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a:p>
        </p:txBody>
      </p:sp>
    </p:spTree>
    <p:extLst>
      <p:ext uri="{BB962C8B-B14F-4D97-AF65-F5344CB8AC3E}">
        <p14:creationId xmlns:p14="http://schemas.microsoft.com/office/powerpoint/2010/main" val="2530781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1843604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777490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4050376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3745563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2760782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1626232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1154457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221095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3853712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2732789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1390714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2311460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4124539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2732282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a:p>
        </p:txBody>
      </p:sp>
    </p:spTree>
    <p:extLst>
      <p:ext uri="{BB962C8B-B14F-4D97-AF65-F5344CB8AC3E}">
        <p14:creationId xmlns:p14="http://schemas.microsoft.com/office/powerpoint/2010/main" val="1560858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FF648-9AEB-E220-AD98-462027C79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31DD9-BD50-E7B8-C228-42CB6D1FA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8127D7-311C-A460-8AE0-393E4B56F3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E338F30D-3F40-9052-1BDA-08AAEB0DF875}"/>
              </a:ext>
            </a:extLst>
          </p:cNvPr>
          <p:cNvSpPr>
            <a:spLocks noGrp="1"/>
          </p:cNvSpPr>
          <p:nvPr>
            <p:ph type="sldNum" sz="quarter" idx="5"/>
          </p:nvPr>
        </p:nvSpPr>
        <p:spPr/>
        <p:txBody>
          <a:bodyPr/>
          <a:lstStyle/>
          <a:p>
            <a:fld id="{639142E5-A706-4C60-B43E-D82CA518B040}" type="slidenum">
              <a:rPr lang="en-AU" smtClean="0"/>
              <a:t>23</a:t>
            </a:fld>
            <a:endParaRPr lang="en-AU"/>
          </a:p>
        </p:txBody>
      </p:sp>
    </p:spTree>
    <p:extLst>
      <p:ext uri="{BB962C8B-B14F-4D97-AF65-F5344CB8AC3E}">
        <p14:creationId xmlns:p14="http://schemas.microsoft.com/office/powerpoint/2010/main" val="3697731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24</a:t>
            </a:fld>
            <a:endParaRPr lang="en-AU"/>
          </a:p>
        </p:txBody>
      </p:sp>
    </p:spTree>
    <p:extLst>
      <p:ext uri="{BB962C8B-B14F-4D97-AF65-F5344CB8AC3E}">
        <p14:creationId xmlns:p14="http://schemas.microsoft.com/office/powerpoint/2010/main" val="1923510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25</a:t>
            </a:fld>
            <a:endParaRPr lang="en-AU"/>
          </a:p>
        </p:txBody>
      </p:sp>
    </p:spTree>
    <p:extLst>
      <p:ext uri="{BB962C8B-B14F-4D97-AF65-F5344CB8AC3E}">
        <p14:creationId xmlns:p14="http://schemas.microsoft.com/office/powerpoint/2010/main" val="1475016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26</a:t>
            </a:fld>
            <a:endParaRPr lang="en-AU"/>
          </a:p>
        </p:txBody>
      </p:sp>
    </p:spTree>
    <p:extLst>
      <p:ext uri="{BB962C8B-B14F-4D97-AF65-F5344CB8AC3E}">
        <p14:creationId xmlns:p14="http://schemas.microsoft.com/office/powerpoint/2010/main" val="827085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27</a:t>
            </a:fld>
            <a:endParaRPr lang="en-AU"/>
          </a:p>
        </p:txBody>
      </p:sp>
    </p:spTree>
    <p:extLst>
      <p:ext uri="{BB962C8B-B14F-4D97-AF65-F5344CB8AC3E}">
        <p14:creationId xmlns:p14="http://schemas.microsoft.com/office/powerpoint/2010/main" val="1030741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28</a:t>
            </a:fld>
            <a:endParaRPr lang="en-AU"/>
          </a:p>
        </p:txBody>
      </p:sp>
    </p:spTree>
    <p:extLst>
      <p:ext uri="{BB962C8B-B14F-4D97-AF65-F5344CB8AC3E}">
        <p14:creationId xmlns:p14="http://schemas.microsoft.com/office/powerpoint/2010/main" val="9592933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29</a:t>
            </a:fld>
            <a:endParaRPr lang="en-AU"/>
          </a:p>
        </p:txBody>
      </p:sp>
    </p:spTree>
    <p:extLst>
      <p:ext uri="{BB962C8B-B14F-4D97-AF65-F5344CB8AC3E}">
        <p14:creationId xmlns:p14="http://schemas.microsoft.com/office/powerpoint/2010/main" val="3775734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30</a:t>
            </a:fld>
            <a:endParaRPr lang="en-AU"/>
          </a:p>
        </p:txBody>
      </p:sp>
    </p:spTree>
    <p:extLst>
      <p:ext uri="{BB962C8B-B14F-4D97-AF65-F5344CB8AC3E}">
        <p14:creationId xmlns:p14="http://schemas.microsoft.com/office/powerpoint/2010/main" val="2297059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31</a:t>
            </a:fld>
            <a:endParaRPr lang="en-AU"/>
          </a:p>
        </p:txBody>
      </p:sp>
    </p:spTree>
    <p:extLst>
      <p:ext uri="{BB962C8B-B14F-4D97-AF65-F5344CB8AC3E}">
        <p14:creationId xmlns:p14="http://schemas.microsoft.com/office/powerpoint/2010/main" val="2125850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872C-035D-16B1-89A7-34ABBC5E0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A0308-B7CD-10DE-F749-3B1163CFB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91AB8-BBC6-E9AF-B900-25898E4312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A3E1EB7D-EC97-EE49-6252-2EDF67B58AD9}"/>
              </a:ext>
            </a:extLst>
          </p:cNvPr>
          <p:cNvSpPr>
            <a:spLocks noGrp="1"/>
          </p:cNvSpPr>
          <p:nvPr>
            <p:ph type="sldNum" sz="quarter" idx="5"/>
          </p:nvPr>
        </p:nvSpPr>
        <p:spPr/>
        <p:txBody>
          <a:bodyPr/>
          <a:lstStyle/>
          <a:p>
            <a:fld id="{639142E5-A706-4C60-B43E-D82CA518B040}" type="slidenum">
              <a:rPr lang="en-AU" smtClean="0"/>
              <a:t>32</a:t>
            </a:fld>
            <a:endParaRPr lang="en-AU"/>
          </a:p>
        </p:txBody>
      </p:sp>
    </p:spTree>
    <p:extLst>
      <p:ext uri="{BB962C8B-B14F-4D97-AF65-F5344CB8AC3E}">
        <p14:creationId xmlns:p14="http://schemas.microsoft.com/office/powerpoint/2010/main" val="1073327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BE6BB-3039-FB82-9F53-406593A4A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FC4AE-D52E-7379-0EE1-C1E2D9914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F9DAE-36F5-6809-A09F-AA2B071EDE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646CA691-F6B3-AAC1-AB52-13CB56B80B02}"/>
              </a:ext>
            </a:extLst>
          </p:cNvPr>
          <p:cNvSpPr>
            <a:spLocks noGrp="1"/>
          </p:cNvSpPr>
          <p:nvPr>
            <p:ph type="sldNum" sz="quarter" idx="5"/>
          </p:nvPr>
        </p:nvSpPr>
        <p:spPr/>
        <p:txBody>
          <a:bodyPr/>
          <a:lstStyle/>
          <a:p>
            <a:fld id="{639142E5-A706-4C60-B43E-D82CA518B040}" type="slidenum">
              <a:rPr lang="en-AU" smtClean="0"/>
              <a:t>33</a:t>
            </a:fld>
            <a:endParaRPr lang="en-AU"/>
          </a:p>
        </p:txBody>
      </p:sp>
    </p:spTree>
    <p:extLst>
      <p:ext uri="{BB962C8B-B14F-4D97-AF65-F5344CB8AC3E}">
        <p14:creationId xmlns:p14="http://schemas.microsoft.com/office/powerpoint/2010/main" val="1909452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001AA-2BF1-47E2-C3A6-DBCD1FE79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2FAEE-C8AA-7759-9D12-85EB5E6D9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E6927-46C5-04E1-EDBE-0C1BFB8F65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28922CA6-907C-7261-8250-1AEB854B4365}"/>
              </a:ext>
            </a:extLst>
          </p:cNvPr>
          <p:cNvSpPr>
            <a:spLocks noGrp="1"/>
          </p:cNvSpPr>
          <p:nvPr>
            <p:ph type="sldNum" sz="quarter" idx="5"/>
          </p:nvPr>
        </p:nvSpPr>
        <p:spPr/>
        <p:txBody>
          <a:bodyPr/>
          <a:lstStyle/>
          <a:p>
            <a:fld id="{639142E5-A706-4C60-B43E-D82CA518B040}" type="slidenum">
              <a:rPr lang="en-AU" smtClean="0"/>
              <a:t>34</a:t>
            </a:fld>
            <a:endParaRPr lang="en-AU"/>
          </a:p>
        </p:txBody>
      </p:sp>
    </p:spTree>
    <p:extLst>
      <p:ext uri="{BB962C8B-B14F-4D97-AF65-F5344CB8AC3E}">
        <p14:creationId xmlns:p14="http://schemas.microsoft.com/office/powerpoint/2010/main" val="32902659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jade.io/article/1263919" TargetMode="External"/><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Week </a:t>
            </a:r>
            <a:r>
              <a:rPr lang="en-AU" sz="3100" dirty="0">
                <a:latin typeface="Times New Roman" panose="02020603050405020304" pitchFamily="18" charset="0"/>
                <a:cs typeface="Times New Roman" panose="02020603050405020304" pitchFamily="18" charset="0"/>
              </a:rPr>
              <a:t>9 – Lecture 2 </a:t>
            </a:r>
            <a:br>
              <a:rPr lang="en-AU" sz="3100" b="1" dirty="0">
                <a:latin typeface="Times New Roman" panose="02020603050405020304" pitchFamily="18" charset="0"/>
                <a:cs typeface="Times New Roman" panose="02020603050405020304" pitchFamily="18" charset="0"/>
              </a:rPr>
            </a:br>
            <a:r>
              <a:rPr lang="en-HK" sz="3100" b="1" i="1" dirty="0">
                <a:latin typeface="Times New Roman" panose="02020603050405020304" pitchFamily="18" charset="0"/>
                <a:cs typeface="Times New Roman" panose="02020603050405020304" pitchFamily="18" charset="0"/>
              </a:rPr>
              <a:t>Standard of Care and Breach of Duty</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509823"/>
            <a:ext cx="11116400" cy="4982417"/>
          </a:xfrm>
        </p:spPr>
        <p:txBody>
          <a:bodyPr>
            <a:noAutofit/>
          </a:bodyPr>
          <a:lstStyle/>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Overview – Lecture 1</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General principles governing breach of duty  – Lecture 1</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Responding to the foreseeable risk  - Lecture 1 + 2  </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Obvious versus inherent risks   - Lecture 2  </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Unpacking the “reasonable person” - Lecture 2  </a:t>
            </a:r>
          </a:p>
          <a:p>
            <a:pPr marL="971550" lvl="1" indent="-514350">
              <a:buFont typeface="+mj-lt"/>
              <a:buAutoNum type="arabicPeriod"/>
            </a:pPr>
            <a:endParaRPr lang="en-HK" sz="2800" b="1" dirty="0">
              <a:latin typeface="Times New Roman" panose="02020603050405020304" pitchFamily="18" charset="0"/>
              <a:cs typeface="Times New Roman" panose="02020603050405020304" pitchFamily="18" charset="0"/>
            </a:endParaRPr>
          </a:p>
          <a:p>
            <a:pPr marL="457200" lvl="1" indent="0">
              <a:buNone/>
            </a:pPr>
            <a:endParaRPr lang="en-HK"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Recap from Lecture 1</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Section 5B(1) of the CLA provides: </a:t>
            </a:r>
          </a:p>
          <a:p>
            <a:pPr>
              <a:buFont typeface="Wingdings" panose="05000000000000000000" pitchFamily="2" charset="2"/>
              <a:buChar char="Ø"/>
            </a:pPr>
            <a:endParaRPr lang="en-US" sz="1000" dirty="0">
              <a:latin typeface="Times New Roman" panose="02020603050405020304" pitchFamily="18" charset="0"/>
              <a:cs typeface="Times New Roman" panose="02020603050405020304" pitchFamily="18" charset="0"/>
            </a:endParaRPr>
          </a:p>
          <a:p>
            <a:pPr marL="0" indent="0" algn="l">
              <a:buNone/>
            </a:pPr>
            <a:r>
              <a:rPr lang="en-US" sz="2800" b="0" i="0" u="none" strike="noStrike" baseline="0" dirty="0">
                <a:latin typeface="TimesNewRomanPSMT"/>
              </a:rPr>
              <a:t>“A person is </a:t>
            </a:r>
            <a:r>
              <a:rPr lang="en-US" sz="2800" b="1" i="0" strike="noStrike" baseline="0" dirty="0">
                <a:latin typeface="TimesNewRomanPSMT"/>
              </a:rPr>
              <a:t>not</a:t>
            </a:r>
            <a:r>
              <a:rPr lang="en-US" sz="2800" b="0" i="0" u="none" strike="noStrike" baseline="0" dirty="0">
                <a:latin typeface="TimesNewRomanPSMT"/>
              </a:rPr>
              <a:t> </a:t>
            </a:r>
            <a:r>
              <a:rPr lang="en-US" sz="2800" b="1" i="0" u="none" strike="noStrike" baseline="0" dirty="0">
                <a:latin typeface="TimesNewRomanPSMT"/>
              </a:rPr>
              <a:t>negligent</a:t>
            </a:r>
            <a:r>
              <a:rPr lang="en-US" sz="2800" b="0" i="0" u="none" strike="noStrike" baseline="0" dirty="0">
                <a:latin typeface="TimesNewRomanPSMT"/>
              </a:rPr>
              <a:t> in failing to take precautions against a risk of harm </a:t>
            </a:r>
            <a:r>
              <a:rPr lang="en-US" sz="2800" b="0" i="0" u="sng" strike="noStrike" baseline="0" dirty="0">
                <a:latin typeface="TimesNewRomanPSMT"/>
              </a:rPr>
              <a:t>unless</a:t>
            </a:r>
            <a:r>
              <a:rPr lang="en-US" sz="2800" b="0" i="0" u="none" strike="noStrike" baseline="0" dirty="0">
                <a:latin typeface="TimesNewRomanPSMT"/>
              </a:rPr>
              <a:t>—</a:t>
            </a:r>
          </a:p>
          <a:p>
            <a:pPr marL="0" indent="0" algn="l">
              <a:buNone/>
            </a:pPr>
            <a:r>
              <a:rPr lang="en-US" sz="2800" b="0" i="0" u="none" strike="noStrike" baseline="0" dirty="0">
                <a:latin typeface="TimesNewRomanPSMT"/>
              </a:rPr>
              <a:t>	(a) the </a:t>
            </a:r>
            <a:r>
              <a:rPr lang="en-US" sz="2800" b="0" i="1" u="none" strike="noStrike" baseline="0" dirty="0">
                <a:latin typeface="TimesNewRomanPSMT"/>
              </a:rPr>
              <a:t>risk was foreseeable </a:t>
            </a:r>
            <a:r>
              <a:rPr lang="en-US" sz="2800" b="0" i="0" u="none" strike="noStrike" baseline="0" dirty="0">
                <a:latin typeface="TimesNewRomanPSMT"/>
              </a:rPr>
              <a:t>(that is, it is a risk of which the person 	knew or ought to have </a:t>
            </a:r>
            <a:r>
              <a:rPr lang="en-GB" sz="2800" b="0" i="0" u="none" strike="noStrike" baseline="0" dirty="0">
                <a:latin typeface="TimesNewRomanPSMT"/>
              </a:rPr>
              <a:t>known), and</a:t>
            </a:r>
          </a:p>
          <a:p>
            <a:pPr marL="0" indent="0" algn="l">
              <a:buNone/>
            </a:pPr>
            <a:r>
              <a:rPr lang="en-US" sz="2800" b="0" i="0" u="none" strike="noStrike" baseline="0" dirty="0">
                <a:latin typeface="TimesNewRomanPSMT"/>
              </a:rPr>
              <a:t>	(b) the risk was </a:t>
            </a:r>
            <a:r>
              <a:rPr lang="en-US" sz="2800" b="0" i="1" u="none" strike="noStrike" baseline="0" dirty="0">
                <a:latin typeface="TimesNewRomanPSMT"/>
              </a:rPr>
              <a:t>not insignificant</a:t>
            </a:r>
            <a:r>
              <a:rPr lang="en-US" sz="2800" b="0" i="0" u="none" strike="noStrike" baseline="0" dirty="0">
                <a:latin typeface="TimesNewRomanPSMT"/>
              </a:rPr>
              <a:t>, and</a:t>
            </a:r>
          </a:p>
          <a:p>
            <a:pPr marL="0" indent="0" algn="l">
              <a:buNone/>
            </a:pPr>
            <a:r>
              <a:rPr lang="en-US" sz="2800" b="0" i="0" u="none" strike="noStrike" baseline="0" dirty="0">
                <a:latin typeface="TimesNewRomanPSMT"/>
              </a:rPr>
              <a:t>	(c) in the circumstances, a reasonable person in the person’s position 	</a:t>
            </a:r>
            <a:r>
              <a:rPr lang="en-US" sz="2800" b="0" i="1" u="none" strike="noStrike" baseline="0" dirty="0">
                <a:latin typeface="TimesNewRomanPSMT"/>
              </a:rPr>
              <a:t>would have taken those </a:t>
            </a:r>
            <a:r>
              <a:rPr lang="en-GB" sz="2800" b="0" i="1" u="none" strike="noStrike" baseline="0" dirty="0">
                <a:latin typeface="TimesNewRomanPSMT"/>
              </a:rPr>
              <a:t>precautions</a:t>
            </a:r>
            <a:r>
              <a:rPr lang="en-GB" sz="2800" b="0" i="0" u="none" strike="noStrike" baseline="0" dirty="0">
                <a:latin typeface="TimesNewRomanPSMT"/>
              </a:rPr>
              <a:t>.” </a:t>
            </a:r>
            <a:endParaRPr lang="en-US" sz="2800" dirty="0">
              <a:latin typeface="Times New Roman" panose="02020603050405020304" pitchFamily="18" charset="0"/>
              <a:cs typeface="Times New Roman" panose="02020603050405020304" pitchFamily="18" charset="0"/>
            </a:endParaRPr>
          </a:p>
        </p:txBody>
      </p:sp>
      <p:sp>
        <p:nvSpPr>
          <p:cNvPr id="4" name="Pentagon 3">
            <a:extLst>
              <a:ext uri="{FF2B5EF4-FFF2-40B4-BE49-F238E27FC236}">
                <a16:creationId xmlns:a16="http://schemas.microsoft.com/office/drawing/2014/main" id="{48C4677A-2BE6-0355-4225-195B6E9C4CF3}"/>
              </a:ext>
            </a:extLst>
          </p:cNvPr>
          <p:cNvSpPr/>
          <p:nvPr/>
        </p:nvSpPr>
        <p:spPr>
          <a:xfrm>
            <a:off x="5276192" y="5580992"/>
            <a:ext cx="6620283" cy="127700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concept of “standard of care” is implicit here…. s5B is asking what standard of care (</a:t>
            </a:r>
            <a:r>
              <a:rPr lang="en-US" dirty="0" err="1"/>
              <a:t>ie</a:t>
            </a:r>
            <a:r>
              <a:rPr lang="en-US" dirty="0"/>
              <a:t> what precautions) would a reasonable person have taken in the circumstances?</a:t>
            </a:r>
          </a:p>
        </p:txBody>
      </p:sp>
    </p:spTree>
    <p:extLst>
      <p:ext uri="{BB962C8B-B14F-4D97-AF65-F5344CB8AC3E}">
        <p14:creationId xmlns:p14="http://schemas.microsoft.com/office/powerpoint/2010/main" val="3286865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Section 5B(2) : </a:t>
            </a:r>
          </a:p>
          <a:p>
            <a:pPr>
              <a:buFont typeface="Wingdings" panose="05000000000000000000" pitchFamily="2" charset="2"/>
              <a:buChar char="Ø"/>
            </a:pPr>
            <a:endParaRPr lang="en-US" sz="1000" dirty="0">
              <a:latin typeface="Times New Roman" panose="02020603050405020304" pitchFamily="18" charset="0"/>
              <a:cs typeface="Times New Roman" panose="02020603050405020304" pitchFamily="18" charset="0"/>
            </a:endParaRPr>
          </a:p>
          <a:p>
            <a:pPr marL="0" indent="0" algn="l">
              <a:buNone/>
            </a:pPr>
            <a:r>
              <a:rPr lang="en-US" sz="2800" b="0" i="0" u="none" strike="noStrike" baseline="0" dirty="0">
                <a:latin typeface="TimesNewRomanPSMT"/>
              </a:rPr>
              <a:t>“In determining whether a reasonable person would have taken </a:t>
            </a:r>
            <a:r>
              <a:rPr lang="en-US" sz="2800" b="1" i="0" u="none" strike="noStrike" baseline="0" dirty="0">
                <a:latin typeface="TimesNewRomanPSMT"/>
              </a:rPr>
              <a:t>precautions</a:t>
            </a:r>
            <a:r>
              <a:rPr lang="en-US" sz="2800" b="0" i="0" u="none" strike="noStrike" baseline="0" dirty="0">
                <a:latin typeface="TimesNewRomanPSMT"/>
              </a:rPr>
              <a:t> against a risk of harm, the court is to consider the following (</a:t>
            </a:r>
            <a:r>
              <a:rPr lang="en-US" sz="2800" b="0" i="1" u="none" strike="noStrike" baseline="0" dirty="0">
                <a:latin typeface="TimesNewRomanPSMT"/>
              </a:rPr>
              <a:t>amongst other relevant things</a:t>
            </a:r>
            <a:r>
              <a:rPr lang="en-US" sz="2800" b="0" i="0" u="none" strike="noStrike" baseline="0" dirty="0">
                <a:latin typeface="TimesNewRomanPSMT"/>
              </a:rPr>
              <a:t>)—</a:t>
            </a:r>
          </a:p>
          <a:p>
            <a:pPr marL="0" indent="0" algn="l">
              <a:buNone/>
            </a:pPr>
            <a:r>
              <a:rPr lang="en-US" sz="2800" b="0" i="0" u="none" strike="noStrike" baseline="0" dirty="0">
                <a:latin typeface="TimesNewRomanPSMT"/>
              </a:rPr>
              <a:t>	(a) the </a:t>
            </a:r>
            <a:r>
              <a:rPr lang="en-US" sz="2800" b="0" i="0" u="sng" strike="noStrike" baseline="0" dirty="0">
                <a:latin typeface="TimesNewRomanPSMT"/>
              </a:rPr>
              <a:t>probability</a:t>
            </a:r>
            <a:r>
              <a:rPr lang="en-US" sz="2800" b="0" i="0" u="none" strike="noStrike" baseline="0" dirty="0">
                <a:latin typeface="TimesNewRomanPSMT"/>
              </a:rPr>
              <a:t> that the harm would occur if care were not taken,</a:t>
            </a:r>
          </a:p>
          <a:p>
            <a:pPr marL="0" indent="0" algn="l">
              <a:buNone/>
            </a:pPr>
            <a:r>
              <a:rPr lang="en-US" sz="2800" b="0" i="0" u="none" strike="noStrike" baseline="0" dirty="0">
                <a:latin typeface="TimesNewRomanPSMT"/>
              </a:rPr>
              <a:t>	(b) the likely </a:t>
            </a:r>
            <a:r>
              <a:rPr lang="en-US" sz="2800" b="0" i="0" u="sng" strike="noStrike" baseline="0" dirty="0">
                <a:latin typeface="TimesNewRomanPSMT"/>
              </a:rPr>
              <a:t>seriousness</a:t>
            </a:r>
            <a:r>
              <a:rPr lang="en-US" sz="2800" b="0" i="0" u="none" strike="noStrike" baseline="0" dirty="0">
                <a:latin typeface="TimesNewRomanPSMT"/>
              </a:rPr>
              <a:t> of the harm,</a:t>
            </a:r>
          </a:p>
          <a:p>
            <a:pPr marL="0" indent="0" algn="l">
              <a:buNone/>
            </a:pPr>
            <a:r>
              <a:rPr lang="en-US" sz="2800" b="0" i="0" u="none" strike="noStrike" baseline="0" dirty="0">
                <a:latin typeface="TimesNewRomanPSMT"/>
              </a:rPr>
              <a:t>	(c) the </a:t>
            </a:r>
            <a:r>
              <a:rPr lang="en-US" sz="2800" b="0" i="0" u="sng" strike="noStrike" baseline="0" dirty="0">
                <a:latin typeface="TimesNewRomanPSMT"/>
              </a:rPr>
              <a:t>burden</a:t>
            </a:r>
            <a:r>
              <a:rPr lang="en-US" sz="2800" b="0" i="0" u="none" strike="noStrike" baseline="0" dirty="0">
                <a:latin typeface="TimesNewRomanPSMT"/>
              </a:rPr>
              <a:t> of taking precautions to avoid the risk of harm,</a:t>
            </a:r>
          </a:p>
          <a:p>
            <a:pPr marL="0" indent="0" algn="l">
              <a:buNone/>
            </a:pPr>
            <a:r>
              <a:rPr lang="en-US" sz="2800" b="0" i="0" u="none" strike="noStrike" baseline="0" dirty="0">
                <a:latin typeface="TimesNewRomanPSMT"/>
              </a:rPr>
              <a:t>	(d) the </a:t>
            </a:r>
            <a:r>
              <a:rPr lang="en-US" sz="2800" b="0" i="0" u="sng" strike="noStrike" baseline="0" dirty="0">
                <a:latin typeface="TimesNewRomanPSMT"/>
              </a:rPr>
              <a:t>social utility</a:t>
            </a:r>
            <a:r>
              <a:rPr lang="en-US" sz="2800" b="0" i="0" u="none" strike="noStrike" baseline="0" dirty="0">
                <a:latin typeface="TimesNewRomanPSMT"/>
              </a:rPr>
              <a:t> of the activity that creates the risk of harm.”</a:t>
            </a:r>
            <a:endParaRPr lang="en-US" sz="2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E75F394-AEF7-84A3-A59F-C383D44E0EB5}"/>
              </a:ext>
            </a:extLst>
          </p:cNvPr>
          <p:cNvSpPr txBox="1">
            <a:spLocks/>
          </p:cNvSpPr>
          <p:nvPr/>
        </p:nvSpPr>
        <p:spPr>
          <a:xfrm>
            <a:off x="872400" y="538798"/>
            <a:ext cx="8458276" cy="648000"/>
          </a:xfrm>
          <a:prstGeom prst="rect">
            <a:avLst/>
          </a:prstGeom>
        </p:spPr>
        <p:txBody>
          <a:bodyPr vert="horz" lIns="0" tIns="0" rIns="0" bIns="0" rtlCol="0" anchor="t" anchorCtr="0">
            <a:normAutofit/>
          </a:bodyPr>
          <a:lstStyle>
            <a:lvl1pPr algn="l" defTabSz="914400" rtl="0" eaLnBrk="1" latinLnBrk="0" hangingPunct="1">
              <a:spcBef>
                <a:spcPct val="0"/>
              </a:spcBef>
              <a:buNone/>
              <a:defRPr sz="3200" b="1" kern="1200">
                <a:solidFill>
                  <a:schemeClr val="tx1"/>
                </a:solidFill>
                <a:latin typeface="+mj-lt"/>
                <a:ea typeface="+mj-ea"/>
                <a:cs typeface="+mj-cs"/>
              </a:defRPr>
            </a:lvl1pPr>
          </a:lstStyle>
          <a:p>
            <a:r>
              <a:rPr lang="en-US" sz="2000">
                <a:solidFill>
                  <a:schemeClr val="accent3"/>
                </a:solidFill>
                <a:latin typeface="Times New Roman" panose="02020603050405020304" pitchFamily="18" charset="0"/>
                <a:cs typeface="Times New Roman" panose="02020603050405020304" pitchFamily="18" charset="0"/>
              </a:rPr>
              <a:t>Recap from Lecture 1</a:t>
            </a:r>
            <a:endParaRPr lang="en-AU" sz="2000" i="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9610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Probability of harm </a:t>
            </a:r>
          </a:p>
          <a:p>
            <a:pPr marL="0" indent="0">
              <a:buNone/>
            </a:pPr>
            <a:endParaRPr lang="en-US" sz="1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On this issue, consider the decision in </a:t>
            </a:r>
            <a:r>
              <a:rPr lang="en-US" sz="2800" i="1" dirty="0">
                <a:solidFill>
                  <a:srgbClr val="0070C0"/>
                </a:solidFill>
                <a:latin typeface="Times New Roman" panose="02020603050405020304" pitchFamily="18" charset="0"/>
                <a:cs typeface="Times New Roman" panose="02020603050405020304" pitchFamily="18" charset="0"/>
              </a:rPr>
              <a:t>RTA v </a:t>
            </a:r>
            <a:r>
              <a:rPr lang="en-US" sz="2800" i="1" dirty="0" err="1">
                <a:solidFill>
                  <a:srgbClr val="0070C0"/>
                </a:solidFill>
                <a:latin typeface="Times New Roman" panose="02020603050405020304" pitchFamily="18" charset="0"/>
                <a:cs typeface="Times New Roman" panose="02020603050405020304" pitchFamily="18" charset="0"/>
              </a:rPr>
              <a:t>Dederer</a:t>
            </a:r>
            <a:r>
              <a:rPr lang="en-US" sz="2800" i="1" dirty="0">
                <a:solidFill>
                  <a:srgbClr val="0070C0"/>
                </a:solidFill>
                <a:latin typeface="Times New Roman" panose="02020603050405020304" pitchFamily="18" charset="0"/>
                <a:cs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(2007) 324 CLR 330 </a:t>
            </a:r>
            <a:r>
              <a:rPr lang="en-US" sz="2800" dirty="0">
                <a:solidFill>
                  <a:srgbClr val="7030A0"/>
                </a:solidFill>
                <a:latin typeface="Times New Roman" panose="02020603050405020304" pitchFamily="18" charset="0"/>
                <a:cs typeface="Times New Roman" panose="02020603050405020304" pitchFamily="18" charset="0"/>
              </a:rPr>
              <a:t>(a 14-year-old boy jumped off a bridge and injured himself; he had seen people jumping off this bridge with no harm caused; there were signs of “fishing and climbing prohibited” + “no diving” pictograms on the bridge; RTA knew of people jumping and also of riverbed levels being continually altered; in 1992, new safety standards required vertical rather horizontal bars for bridge railings, but no such modifications were made) </a:t>
            </a:r>
          </a:p>
        </p:txBody>
      </p:sp>
    </p:spTree>
    <p:extLst>
      <p:ext uri="{BB962C8B-B14F-4D97-AF65-F5344CB8AC3E}">
        <p14:creationId xmlns:p14="http://schemas.microsoft.com/office/powerpoint/2010/main" val="3779628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plaintiff </a:t>
            </a:r>
            <a:r>
              <a:rPr lang="en-US" sz="2800" u="sng" dirty="0">
                <a:latin typeface="Times New Roman" panose="02020603050405020304" pitchFamily="18" charset="0"/>
                <a:cs typeface="Times New Roman" panose="02020603050405020304" pitchFamily="18" charset="0"/>
              </a:rPr>
              <a:t>argued</a:t>
            </a:r>
            <a:r>
              <a:rPr lang="en-US" sz="2800" dirty="0">
                <a:latin typeface="Times New Roman" panose="02020603050405020304" pitchFamily="18" charset="0"/>
                <a:cs typeface="Times New Roman" panose="02020603050405020304" pitchFamily="18" charset="0"/>
              </a:rPr>
              <a:t> that RTA should have provided information on the signs about the danger created by shifting sands beneath the bridge and replaced horizontal railings with veridical railings etc. </a:t>
            </a: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High Court by a majority of 3:2 held that the RTA </a:t>
            </a:r>
            <a:r>
              <a:rPr lang="en-US" sz="2800" b="1" dirty="0">
                <a:latin typeface="Times New Roman" panose="02020603050405020304" pitchFamily="18" charset="0"/>
                <a:cs typeface="Times New Roman" panose="02020603050405020304" pitchFamily="18" charset="0"/>
              </a:rPr>
              <a:t>did not breach </a:t>
            </a:r>
            <a:r>
              <a:rPr lang="en-US" sz="2800" dirty="0">
                <a:latin typeface="Times New Roman" panose="02020603050405020304" pitchFamily="18" charset="0"/>
                <a:cs typeface="Times New Roman" panose="02020603050405020304" pitchFamily="18" charset="0"/>
              </a:rPr>
              <a:t>its duty of care </a:t>
            </a:r>
          </a:p>
        </p:txBody>
      </p:sp>
    </p:spTree>
    <p:extLst>
      <p:ext uri="{BB962C8B-B14F-4D97-AF65-F5344CB8AC3E}">
        <p14:creationId xmlns:p14="http://schemas.microsoft.com/office/powerpoint/2010/main" val="3400096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err="1">
                <a:latin typeface="Times New Roman" panose="02020603050405020304" pitchFamily="18" charset="0"/>
                <a:cs typeface="Times New Roman" panose="02020603050405020304" pitchFamily="18" charset="0"/>
              </a:rPr>
              <a:t>Gummow</a:t>
            </a:r>
            <a:r>
              <a:rPr lang="en-US" sz="2800" dirty="0">
                <a:latin typeface="Times New Roman" panose="02020603050405020304" pitchFamily="18" charset="0"/>
                <a:cs typeface="Times New Roman" panose="02020603050405020304" pitchFamily="18" charset="0"/>
              </a:rPr>
              <a:t> J made several important points: </a:t>
            </a:r>
          </a:p>
          <a:p>
            <a:pPr marL="0" indent="0">
              <a:buNone/>
            </a:pPr>
            <a:endParaRPr lang="en-US" sz="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an obligation to </a:t>
            </a:r>
            <a:r>
              <a:rPr lang="en-US" sz="2800" u="sng" dirty="0">
                <a:latin typeface="Times New Roman" panose="02020603050405020304" pitchFamily="18" charset="0"/>
                <a:cs typeface="Times New Roman" panose="02020603050405020304" pitchFamily="18" charset="0"/>
              </a:rPr>
              <a:t>exercise reasonable care</a:t>
            </a:r>
            <a:r>
              <a:rPr lang="en-US" sz="2800" dirty="0">
                <a:latin typeface="Times New Roman" panose="02020603050405020304" pitchFamily="18" charset="0"/>
                <a:cs typeface="Times New Roman" panose="02020603050405020304" pitchFamily="18" charset="0"/>
              </a:rPr>
              <a:t> must be contrasted with an obligation to </a:t>
            </a:r>
            <a:r>
              <a:rPr lang="en-US" sz="2800" u="sng" dirty="0">
                <a:latin typeface="Times New Roman" panose="02020603050405020304" pitchFamily="18" charset="0"/>
                <a:cs typeface="Times New Roman" panose="02020603050405020304" pitchFamily="18" charset="0"/>
              </a:rPr>
              <a:t>prevent harm</a:t>
            </a:r>
            <a:r>
              <a:rPr lang="en-US" sz="2800" dirty="0">
                <a:latin typeface="Times New Roman" panose="02020603050405020304" pitchFamily="18" charset="0"/>
                <a:cs typeface="Times New Roman" panose="02020603050405020304" pitchFamily="18" charset="0"/>
              </a:rPr>
              <a:t> occurring to others – “If the TA exercised reasonable care, it would not be liable even if the risk-taking conduct continued.” </a:t>
            </a:r>
          </a:p>
          <a:p>
            <a:pPr marL="914400" lvl="2" indent="0">
              <a:buNone/>
            </a:pPr>
            <a:endParaRPr lang="en-US" sz="2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the </a:t>
            </a:r>
            <a:r>
              <a:rPr lang="en-US" sz="2800" u="sng" dirty="0">
                <a:latin typeface="Times New Roman" panose="02020603050405020304" pitchFamily="18" charset="0"/>
                <a:cs typeface="Times New Roman" panose="02020603050405020304" pitchFamily="18" charset="0"/>
              </a:rPr>
              <a:t>correct identification of the risk</a:t>
            </a:r>
            <a:r>
              <a:rPr lang="en-US" sz="2800" dirty="0">
                <a:latin typeface="Times New Roman" panose="02020603050405020304" pitchFamily="18" charset="0"/>
                <a:cs typeface="Times New Roman" panose="02020603050405020304" pitchFamily="18" charset="0"/>
              </a:rPr>
              <a:t> is critical – it was improper for NSWCA to </a:t>
            </a:r>
            <a:r>
              <a:rPr lang="en-US" sz="2800" dirty="0" err="1">
                <a:latin typeface="Times New Roman" panose="02020603050405020304" pitchFamily="18" charset="0"/>
                <a:cs typeface="Times New Roman" panose="02020603050405020304" pitchFamily="18" charset="0"/>
              </a:rPr>
              <a:t>characterise</a:t>
            </a:r>
            <a:r>
              <a:rPr lang="en-US" sz="2800" dirty="0">
                <a:latin typeface="Times New Roman" panose="02020603050405020304" pitchFamily="18" charset="0"/>
                <a:cs typeface="Times New Roman" panose="02020603050405020304" pitchFamily="18" charset="0"/>
              </a:rPr>
              <a:t> the risk as being “serious spinal injury flowing from the act of diving off the bridge” and a risk that arose due to RTA erecting the bridge  – but risk was not caused by erection of bridge alone</a:t>
            </a:r>
          </a:p>
        </p:txBody>
      </p:sp>
    </p:spTree>
    <p:extLst>
      <p:ext uri="{BB962C8B-B14F-4D97-AF65-F5344CB8AC3E}">
        <p14:creationId xmlns:p14="http://schemas.microsoft.com/office/powerpoint/2010/main" val="2237729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the </a:t>
            </a:r>
            <a:r>
              <a:rPr lang="en-US" sz="2800" u="sng" dirty="0">
                <a:latin typeface="Times New Roman" panose="02020603050405020304" pitchFamily="18" charset="0"/>
                <a:cs typeface="Times New Roman" panose="02020603050405020304" pitchFamily="18" charset="0"/>
              </a:rPr>
              <a:t>probability should be judged prospectively</a:t>
            </a:r>
            <a:r>
              <a:rPr lang="en-US" sz="2800" dirty="0">
                <a:latin typeface="Times New Roman" panose="02020603050405020304" pitchFamily="18" charset="0"/>
                <a:cs typeface="Times New Roman" panose="02020603050405020304" pitchFamily="18" charset="0"/>
              </a:rPr>
              <a:t> (i.e., at the time of alleged negligence) not retrospectively </a:t>
            </a:r>
          </a:p>
          <a:p>
            <a:pPr lvl="2">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while the magnitude of risk was grave, the </a:t>
            </a:r>
            <a:r>
              <a:rPr lang="en-US" sz="2800" u="sng" dirty="0">
                <a:latin typeface="Times New Roman" panose="02020603050405020304" pitchFamily="18" charset="0"/>
                <a:cs typeface="Times New Roman" panose="02020603050405020304" pitchFamily="18" charset="0"/>
              </a:rPr>
              <a:t>probability of that injury occurring was low</a:t>
            </a:r>
            <a:r>
              <a:rPr lang="en-US" sz="2800" dirty="0">
                <a:latin typeface="Times New Roman" panose="02020603050405020304" pitchFamily="18" charset="0"/>
                <a:cs typeface="Times New Roman" panose="02020603050405020304" pitchFamily="18" charset="0"/>
              </a:rPr>
              <a:t> despite the frequency of jumping and diving (Dederer was first to be injured)</a:t>
            </a:r>
          </a:p>
          <a:p>
            <a:pPr marL="914400" lvl="2" indent="0">
              <a:buNone/>
            </a:pPr>
            <a:endParaRPr lang="en-US" sz="2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considering the </a:t>
            </a:r>
            <a:r>
              <a:rPr lang="en-US" sz="2800" u="sng" dirty="0">
                <a:latin typeface="Times New Roman" panose="02020603050405020304" pitchFamily="18" charset="0"/>
                <a:cs typeface="Times New Roman" panose="02020603050405020304" pitchFamily="18" charset="0"/>
              </a:rPr>
              <a:t>expense, difficulty and inconvenience</a:t>
            </a:r>
            <a:r>
              <a:rPr lang="en-US" sz="2800" dirty="0">
                <a:latin typeface="Times New Roman" panose="02020603050405020304" pitchFamily="18" charset="0"/>
                <a:cs typeface="Times New Roman" panose="02020603050405020304" pitchFamily="18" charset="0"/>
              </a:rPr>
              <a:t>, a reasonable response did not demand the measures suggested by </a:t>
            </a:r>
            <a:r>
              <a:rPr lang="en-US" sz="2800" dirty="0" err="1">
                <a:latin typeface="Times New Roman" panose="02020603050405020304" pitchFamily="18" charset="0"/>
                <a:cs typeface="Times New Roman" panose="02020603050405020304" pitchFamily="18" charset="0"/>
              </a:rPr>
              <a:t>Dereder</a:t>
            </a:r>
            <a:r>
              <a:rPr lang="en-US" sz="2800" dirty="0">
                <a:latin typeface="Times New Roman" panose="02020603050405020304" pitchFamily="18" charset="0"/>
                <a:cs typeface="Times New Roman" panose="02020603050405020304" pitchFamily="18" charset="0"/>
              </a:rPr>
              <a:t> – RTA had taken reasonable steps </a:t>
            </a:r>
            <a:r>
              <a:rPr lang="en-US" sz="2800" dirty="0" err="1">
                <a:latin typeface="Times New Roman" panose="02020603050405020304" pitchFamily="18" charset="0"/>
                <a:cs typeface="Times New Roman" panose="02020603050405020304" pitchFamily="18" charset="0"/>
              </a:rPr>
              <a:t>eg</a:t>
            </a:r>
            <a:r>
              <a:rPr lang="en-US" sz="2800" dirty="0">
                <a:latin typeface="Times New Roman" panose="02020603050405020304" pitchFamily="18" charset="0"/>
                <a:cs typeface="Times New Roman" panose="02020603050405020304" pitchFamily="18" charset="0"/>
              </a:rPr>
              <a:t> warning signs </a:t>
            </a:r>
          </a:p>
        </p:txBody>
      </p:sp>
    </p:spTree>
    <p:extLst>
      <p:ext uri="{BB962C8B-B14F-4D97-AF65-F5344CB8AC3E}">
        <p14:creationId xmlns:p14="http://schemas.microsoft.com/office/powerpoint/2010/main" val="3823482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Seriousness of the harm </a:t>
            </a:r>
          </a:p>
          <a:p>
            <a:pPr marL="0" indent="0">
              <a:buNone/>
            </a:pPr>
            <a:endParaRPr lang="en-US" sz="1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standard of care will increase with the seriousness of harm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For example, if the defendant knows of the plaintiff’s </a:t>
            </a:r>
            <a:r>
              <a:rPr lang="en-US" sz="2800" b="1" dirty="0">
                <a:latin typeface="Times New Roman" panose="02020603050405020304" pitchFamily="18" charset="0"/>
                <a:cs typeface="Times New Roman" panose="02020603050405020304" pitchFamily="18" charset="0"/>
              </a:rPr>
              <a:t>particular vulnerability to greater injury</a:t>
            </a:r>
            <a:r>
              <a:rPr lang="en-US" sz="2800" dirty="0">
                <a:latin typeface="Times New Roman" panose="02020603050405020304" pitchFamily="18" charset="0"/>
                <a:cs typeface="Times New Roman" panose="02020603050405020304" pitchFamily="18" charset="0"/>
              </a:rPr>
              <a:t>, a higher standard of care will be expected    </a:t>
            </a:r>
          </a:p>
        </p:txBody>
      </p:sp>
    </p:spTree>
    <p:extLst>
      <p:ext uri="{BB962C8B-B14F-4D97-AF65-F5344CB8AC3E}">
        <p14:creationId xmlns:p14="http://schemas.microsoft.com/office/powerpoint/2010/main" val="2803442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Consider the decision in </a:t>
            </a:r>
            <a:r>
              <a:rPr lang="en-US" sz="2800" i="1" dirty="0">
                <a:solidFill>
                  <a:srgbClr val="0070C0"/>
                </a:solidFill>
                <a:latin typeface="Times New Roman" panose="02020603050405020304" pitchFamily="18" charset="0"/>
                <a:cs typeface="Times New Roman" panose="02020603050405020304" pitchFamily="18" charset="0"/>
              </a:rPr>
              <a:t>Paris v Stephney Borough Council </a:t>
            </a:r>
            <a:r>
              <a:rPr lang="en-US" sz="2800" dirty="0">
                <a:solidFill>
                  <a:srgbClr val="0070C0"/>
                </a:solidFill>
                <a:latin typeface="Times New Roman" panose="02020603050405020304" pitchFamily="18" charset="0"/>
                <a:cs typeface="Times New Roman" panose="02020603050405020304" pitchFamily="18" charset="0"/>
              </a:rPr>
              <a:t>[1951] AC 367</a:t>
            </a:r>
            <a:r>
              <a:rPr lang="en-US" sz="2800" dirty="0">
                <a:latin typeface="Times New Roman" panose="02020603050405020304" pitchFamily="18" charset="0"/>
                <a:cs typeface="Times New Roman" panose="02020603050405020304" pitchFamily="18" charset="0"/>
              </a:rPr>
              <a:t> </a:t>
            </a:r>
            <a:r>
              <a:rPr lang="en-US" sz="2800" dirty="0">
                <a:solidFill>
                  <a:srgbClr val="7030A0"/>
                </a:solidFill>
                <a:latin typeface="Times New Roman" panose="02020603050405020304" pitchFamily="18" charset="0"/>
                <a:cs typeface="Times New Roman" panose="02020603050405020304" pitchFamily="18" charset="0"/>
              </a:rPr>
              <a:t>(the plaintiff, who worked in a garage, injured his only good eye hit by a piece of metal; the employer knew about this special condition, but still did not provide safety goggles to him; it was not an ordinary industry practice to provide such goggles during that time)</a:t>
            </a:r>
            <a:r>
              <a:rPr lang="en-US" sz="2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House of Lords by a majority held that the </a:t>
            </a:r>
            <a:r>
              <a:rPr lang="en-US" sz="2800" b="1" dirty="0">
                <a:latin typeface="Times New Roman" panose="02020603050405020304" pitchFamily="18" charset="0"/>
                <a:cs typeface="Times New Roman" panose="02020603050405020304" pitchFamily="18" charset="0"/>
              </a:rPr>
              <a:t>duty of care was breached</a:t>
            </a:r>
            <a:r>
              <a:rPr lang="en-US" sz="2800" dirty="0">
                <a:latin typeface="Times New Roman" panose="02020603050405020304" pitchFamily="18" charset="0"/>
                <a:cs typeface="Times New Roman" panose="02020603050405020304" pitchFamily="18" charset="0"/>
              </a:rPr>
              <a:t> by not supplying the goggles </a:t>
            </a:r>
          </a:p>
        </p:txBody>
      </p:sp>
    </p:spTree>
    <p:extLst>
      <p:ext uri="{BB962C8B-B14F-4D97-AF65-F5344CB8AC3E}">
        <p14:creationId xmlns:p14="http://schemas.microsoft.com/office/powerpoint/2010/main" val="2247714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Lord </a:t>
            </a:r>
            <a:r>
              <a:rPr lang="en-US" sz="2800" dirty="0" err="1">
                <a:latin typeface="Times New Roman" panose="02020603050405020304" pitchFamily="18" charset="0"/>
                <a:cs typeface="Times New Roman" panose="02020603050405020304" pitchFamily="18" charset="0"/>
              </a:rPr>
              <a:t>Macdermott</a:t>
            </a:r>
            <a:r>
              <a:rPr lang="en-US" sz="2800" dirty="0">
                <a:latin typeface="Times New Roman" panose="02020603050405020304" pitchFamily="18" charset="0"/>
                <a:cs typeface="Times New Roman" panose="02020603050405020304" pitchFamily="18" charset="0"/>
              </a:rPr>
              <a:t> reasoned that: </a:t>
            </a:r>
          </a:p>
          <a:p>
            <a:pPr>
              <a:buFont typeface="Wingdings" panose="05000000000000000000" pitchFamily="2" charset="2"/>
              <a:buChar char="§"/>
            </a:pPr>
            <a:endParaRPr lang="en-US" sz="12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known circumstance</a:t>
            </a:r>
            <a:r>
              <a:rPr lang="en-US" sz="2800" dirty="0">
                <a:latin typeface="Times New Roman" panose="02020603050405020304" pitchFamily="18" charset="0"/>
                <a:cs typeface="Times New Roman" panose="02020603050405020304" pitchFamily="18" charset="0"/>
              </a:rPr>
              <a:t> that a </a:t>
            </a:r>
            <a:r>
              <a:rPr lang="en-US" sz="2800" i="1" dirty="0">
                <a:latin typeface="Times New Roman" panose="02020603050405020304" pitchFamily="18" charset="0"/>
                <a:cs typeface="Times New Roman" panose="02020603050405020304" pitchFamily="18" charset="0"/>
              </a:rPr>
              <a:t>particular workman is likely to suffer a graver injury than his fellows </a:t>
            </a:r>
            <a:r>
              <a:rPr lang="en-US" sz="2800" dirty="0">
                <a:latin typeface="Times New Roman" panose="02020603050405020304" pitchFamily="18" charset="0"/>
                <a:cs typeface="Times New Roman" panose="02020603050405020304" pitchFamily="18" charset="0"/>
              </a:rPr>
              <a:t>from the happening of a given event is one which must be taken into consideration in assessing the nature of the employer’s obligation to that workman.” </a:t>
            </a: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is also worth noting that the standard of care is </a:t>
            </a:r>
            <a:r>
              <a:rPr lang="en-US" sz="2800" u="sng" dirty="0">
                <a:latin typeface="Times New Roman" panose="02020603050405020304" pitchFamily="18" charset="0"/>
                <a:cs typeface="Times New Roman" panose="02020603050405020304" pitchFamily="18" charset="0"/>
              </a:rPr>
              <a:t>not affected</a:t>
            </a:r>
            <a:r>
              <a:rPr lang="en-US" sz="2800" dirty="0">
                <a:latin typeface="Times New Roman" panose="02020603050405020304" pitchFamily="18" charset="0"/>
                <a:cs typeface="Times New Roman" panose="02020603050405020304" pitchFamily="18" charset="0"/>
              </a:rPr>
              <a:t> by </a:t>
            </a:r>
            <a:r>
              <a:rPr lang="en-US" sz="2800" i="1" dirty="0">
                <a:latin typeface="Times New Roman" panose="02020603050405020304" pitchFamily="18" charset="0"/>
                <a:cs typeface="Times New Roman" panose="02020603050405020304" pitchFamily="18" charset="0"/>
              </a:rPr>
              <a:t>the plaintiff’s intoxication</a:t>
            </a:r>
            <a:r>
              <a:rPr lang="en-US" sz="2800" dirty="0">
                <a:latin typeface="Times New Roman" panose="02020603050405020304" pitchFamily="18" charset="0"/>
                <a:cs typeface="Times New Roman" panose="02020603050405020304" pitchFamily="18" charset="0"/>
              </a:rPr>
              <a:t> – see Section 49(1) of the CLA </a:t>
            </a:r>
          </a:p>
        </p:txBody>
      </p:sp>
    </p:spTree>
    <p:extLst>
      <p:ext uri="{BB962C8B-B14F-4D97-AF65-F5344CB8AC3E}">
        <p14:creationId xmlns:p14="http://schemas.microsoft.com/office/powerpoint/2010/main" val="153943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Burden of taking precautions </a:t>
            </a:r>
          </a:p>
          <a:p>
            <a:pPr marL="0" indent="0">
              <a:buNone/>
            </a:pPr>
            <a:endParaRPr lang="en-US" sz="1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assessing the expected standard of care and whether it was breached, courts also consider the </a:t>
            </a:r>
            <a:r>
              <a:rPr lang="en-US" sz="2800" b="1" dirty="0">
                <a:latin typeface="Times New Roman" panose="02020603050405020304" pitchFamily="18" charset="0"/>
                <a:cs typeface="Times New Roman" panose="02020603050405020304" pitchFamily="18" charset="0"/>
              </a:rPr>
              <a:t>burden of taking precautions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Such burden may relate to </a:t>
            </a:r>
            <a:r>
              <a:rPr lang="en-US" sz="2800" u="sng" dirty="0">
                <a:latin typeface="Times New Roman" panose="02020603050405020304" pitchFamily="18" charset="0"/>
                <a:cs typeface="Times New Roman" panose="02020603050405020304" pitchFamily="18" charset="0"/>
              </a:rPr>
              <a:t>cost</a:t>
            </a:r>
            <a:r>
              <a:rPr lang="en-US" sz="2800" dirty="0">
                <a:latin typeface="Times New Roman" panose="02020603050405020304" pitchFamily="18" charset="0"/>
                <a:cs typeface="Times New Roman" panose="02020603050405020304" pitchFamily="18" charset="0"/>
              </a:rPr>
              <a:t> or other practical considerations such as the </a:t>
            </a:r>
            <a:r>
              <a:rPr lang="en-US" sz="2800" u="sng" dirty="0">
                <a:latin typeface="Times New Roman" panose="02020603050405020304" pitchFamily="18" charset="0"/>
                <a:cs typeface="Times New Roman" panose="02020603050405020304" pitchFamily="18" charset="0"/>
              </a:rPr>
              <a:t>availability of safety equipment</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convenience</a:t>
            </a:r>
            <a:r>
              <a:rPr lang="en-US" sz="2800" dirty="0">
                <a:latin typeface="Times New Roman" panose="02020603050405020304" pitchFamily="18" charset="0"/>
                <a:cs typeface="Times New Roman" panose="02020603050405020304" pitchFamily="18" charset="0"/>
              </a:rPr>
              <a:t> etc. </a:t>
            </a:r>
          </a:p>
        </p:txBody>
      </p:sp>
    </p:spTree>
    <p:extLst>
      <p:ext uri="{BB962C8B-B14F-4D97-AF65-F5344CB8AC3E}">
        <p14:creationId xmlns:p14="http://schemas.microsoft.com/office/powerpoint/2010/main" val="1460921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Consider the decision in </a:t>
            </a:r>
            <a:r>
              <a:rPr lang="en-US" sz="2800" i="1" dirty="0">
                <a:solidFill>
                  <a:srgbClr val="0070C0"/>
                </a:solidFill>
                <a:latin typeface="Times New Roman" panose="02020603050405020304" pitchFamily="18" charset="0"/>
                <a:cs typeface="Times New Roman" panose="02020603050405020304" pitchFamily="18" charset="0"/>
              </a:rPr>
              <a:t>Woods v Multi-Sport Holdings </a:t>
            </a:r>
            <a:r>
              <a:rPr lang="en-US" sz="2800" dirty="0">
                <a:solidFill>
                  <a:srgbClr val="0070C0"/>
                </a:solidFill>
                <a:latin typeface="Times New Roman" panose="02020603050405020304" pitchFamily="18" charset="0"/>
                <a:cs typeface="Times New Roman" panose="02020603050405020304" pitchFamily="18" charset="0"/>
              </a:rPr>
              <a:t>(2002) 208 CLR 460</a:t>
            </a:r>
            <a:r>
              <a:rPr lang="en-US" sz="2800" dirty="0">
                <a:latin typeface="Times New Roman" panose="02020603050405020304" pitchFamily="18" charset="0"/>
                <a:cs typeface="Times New Roman" panose="02020603050405020304" pitchFamily="18" charset="0"/>
              </a:rPr>
              <a:t> </a:t>
            </a:r>
            <a:r>
              <a:rPr lang="en-US" sz="2800" dirty="0">
                <a:solidFill>
                  <a:srgbClr val="7030A0"/>
                </a:solidFill>
                <a:latin typeface="Times New Roman" panose="02020603050405020304" pitchFamily="18" charset="0"/>
                <a:cs typeface="Times New Roman" panose="02020603050405020304" pitchFamily="18" charset="0"/>
              </a:rPr>
              <a:t>(Woods suffered serious injury to one eye while playing indoor cricket; the game was </a:t>
            </a:r>
            <a:r>
              <a:rPr lang="en-US" sz="2800" dirty="0" err="1">
                <a:solidFill>
                  <a:srgbClr val="7030A0"/>
                </a:solidFill>
                <a:latin typeface="Times New Roman" panose="02020603050405020304" pitchFamily="18" charset="0"/>
                <a:cs typeface="Times New Roman" panose="02020603050405020304" pitchFamily="18" charset="0"/>
              </a:rPr>
              <a:t>organised</a:t>
            </a:r>
            <a:r>
              <a:rPr lang="en-US" sz="2800" dirty="0">
                <a:solidFill>
                  <a:srgbClr val="7030A0"/>
                </a:solidFill>
                <a:latin typeface="Times New Roman" panose="02020603050405020304" pitchFamily="18" charset="0"/>
                <a:cs typeface="Times New Roman" panose="02020603050405020304" pitchFamily="18" charset="0"/>
              </a:rPr>
              <a:t> by the defendant, who did not provide any helmets as part of the supplied equipment)</a:t>
            </a:r>
            <a:r>
              <a:rPr lang="en-US" sz="2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defendant </a:t>
            </a:r>
            <a:r>
              <a:rPr lang="en-US" sz="2800" u="sng" dirty="0">
                <a:latin typeface="Times New Roman" panose="02020603050405020304" pitchFamily="18" charset="0"/>
                <a:cs typeface="Times New Roman" panose="02020603050405020304" pitchFamily="18" charset="0"/>
              </a:rPr>
              <a:t>argued</a:t>
            </a:r>
            <a:r>
              <a:rPr lang="en-US" sz="2800" dirty="0">
                <a:latin typeface="Times New Roman" panose="02020603050405020304" pitchFamily="18" charset="0"/>
                <a:cs typeface="Times New Roman" panose="02020603050405020304" pitchFamily="18" charset="0"/>
              </a:rPr>
              <a:t> that there are no specific helmets for indoor cricket and that the rules of the game did not require wearing helmets </a:t>
            </a: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High Court by a majority held that the </a:t>
            </a:r>
            <a:r>
              <a:rPr lang="en-US" sz="2800" b="1" dirty="0">
                <a:latin typeface="Times New Roman" panose="02020603050405020304" pitchFamily="18" charset="0"/>
                <a:cs typeface="Times New Roman" panose="02020603050405020304" pitchFamily="18" charset="0"/>
              </a:rPr>
              <a:t>duty was not breached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316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Taking the sport context into account, Gleeson CJ observed that the plaintiff was an </a:t>
            </a:r>
            <a:r>
              <a:rPr lang="en-US" sz="2800" u="sng" dirty="0">
                <a:latin typeface="Times New Roman" panose="02020603050405020304" pitchFamily="18" charset="0"/>
                <a:cs typeface="Times New Roman" panose="02020603050405020304" pitchFamily="18" charset="0"/>
              </a:rPr>
              <a:t>adult</a:t>
            </a:r>
            <a:r>
              <a:rPr lang="en-US" sz="2800" dirty="0">
                <a:latin typeface="Times New Roman" panose="02020603050405020304" pitchFamily="18" charset="0"/>
                <a:cs typeface="Times New Roman" panose="02020603050405020304" pitchFamily="18" charset="0"/>
              </a:rPr>
              <a:t> and that the risk of some </a:t>
            </a:r>
            <a:r>
              <a:rPr lang="en-US" sz="2800" u="sng" dirty="0">
                <a:latin typeface="Times New Roman" panose="02020603050405020304" pitchFamily="18" charset="0"/>
                <a:cs typeface="Times New Roman" panose="02020603050405020304" pitchFamily="18" charset="0"/>
              </a:rPr>
              <a:t>injury was likely</a:t>
            </a:r>
            <a:r>
              <a:rPr lang="en-US" sz="2800" dirty="0">
                <a:latin typeface="Times New Roman" panose="02020603050405020304" pitchFamily="18" charset="0"/>
                <a:cs typeface="Times New Roman" panose="02020603050405020304" pitchFamily="18" charset="0"/>
              </a:rPr>
              <a:t> – though </a:t>
            </a:r>
            <a:r>
              <a:rPr lang="en-US" sz="2800" u="sng" dirty="0">
                <a:latin typeface="Times New Roman" panose="02020603050405020304" pitchFamily="18" charset="0"/>
                <a:cs typeface="Times New Roman" panose="02020603050405020304" pitchFamily="18" charset="0"/>
              </a:rPr>
              <a:t>only two serious eye injuries per year</a:t>
            </a:r>
            <a:r>
              <a:rPr lang="en-US" sz="2800" dirty="0">
                <a:latin typeface="Times New Roman" panose="02020603050405020304" pitchFamily="18" charset="0"/>
                <a:cs typeface="Times New Roman" panose="02020603050405020304" pitchFamily="18" charset="0"/>
              </a:rPr>
              <a:t> were reported out of 12,500 person playing indoor cricket in WA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"burden of taking precautions" limb of the breach calculus is not confined to the financial cost of a precaution but extends to practical considerations such as the availability of suitable safety equipment, convenience and safety — here, protective headgear had not been designed for indoor cricket, was not worn by players elsewhere, was not required by the rules, and raised its own convenience and safety concerns, so a reasonable provider was not required to supply it</a:t>
            </a:r>
          </a:p>
        </p:txBody>
      </p:sp>
    </p:spTree>
    <p:extLst>
      <p:ext uri="{BB962C8B-B14F-4D97-AF65-F5344CB8AC3E}">
        <p14:creationId xmlns:p14="http://schemas.microsoft.com/office/powerpoint/2010/main" val="5379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Social utility of the risk-taking activity</a:t>
            </a:r>
          </a:p>
          <a:p>
            <a:pPr marL="0" indent="0">
              <a:buNone/>
            </a:pPr>
            <a:endParaRPr lang="en-US" sz="1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Courts do consider </a:t>
            </a:r>
            <a:r>
              <a:rPr lang="en-US" sz="2800" b="1" dirty="0">
                <a:latin typeface="Times New Roman" panose="02020603050405020304" pitchFamily="18" charset="0"/>
                <a:cs typeface="Times New Roman" panose="02020603050405020304" pitchFamily="18" charset="0"/>
              </a:rPr>
              <a:t>social utility</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public benefits</a:t>
            </a:r>
            <a:r>
              <a:rPr lang="en-US" sz="2800" dirty="0">
                <a:latin typeface="Times New Roman" panose="02020603050405020304" pitchFamily="18" charset="0"/>
                <a:cs typeface="Times New Roman" panose="02020603050405020304" pitchFamily="18" charset="0"/>
              </a:rPr>
              <a:t> of activities that create risk of harm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Emergency vehicles are a case in point</a:t>
            </a:r>
          </a:p>
        </p:txBody>
      </p:sp>
    </p:spTree>
    <p:extLst>
      <p:ext uri="{BB962C8B-B14F-4D97-AF65-F5344CB8AC3E}">
        <p14:creationId xmlns:p14="http://schemas.microsoft.com/office/powerpoint/2010/main" val="168933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Responding to the foreseeable risk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Consider </a:t>
            </a:r>
            <a:r>
              <a:rPr lang="en-US" sz="2800" i="1" dirty="0">
                <a:solidFill>
                  <a:srgbClr val="0070C0"/>
                </a:solidFill>
                <a:latin typeface="Times New Roman" panose="02020603050405020304" pitchFamily="18" charset="0"/>
                <a:cs typeface="Times New Roman" panose="02020603050405020304" pitchFamily="18" charset="0"/>
              </a:rPr>
              <a:t>E v Australian Red Cross Society </a:t>
            </a:r>
            <a:r>
              <a:rPr lang="en-US" sz="2800" dirty="0">
                <a:solidFill>
                  <a:srgbClr val="0070C0"/>
                </a:solidFill>
                <a:latin typeface="Times New Roman" panose="02020603050405020304" pitchFamily="18" charset="0"/>
                <a:cs typeface="Times New Roman" panose="02020603050405020304" pitchFamily="18" charset="0"/>
              </a:rPr>
              <a:t>(1991) 27 </a:t>
            </a:r>
            <a:r>
              <a:rPr lang="en-US" sz="2800" dirty="0" err="1">
                <a:solidFill>
                  <a:srgbClr val="0070C0"/>
                </a:solidFill>
                <a:latin typeface="Times New Roman" panose="02020603050405020304" pitchFamily="18" charset="0"/>
                <a:cs typeface="Times New Roman" panose="02020603050405020304" pitchFamily="18" charset="0"/>
              </a:rPr>
              <a:t>FCR</a:t>
            </a:r>
            <a:r>
              <a:rPr lang="en-US" sz="2800" dirty="0">
                <a:solidFill>
                  <a:srgbClr val="0070C0"/>
                </a:solidFill>
                <a:latin typeface="Times New Roman" panose="02020603050405020304" pitchFamily="18" charset="0"/>
                <a:cs typeface="Times New Roman" panose="02020603050405020304" pitchFamily="18" charset="0"/>
              </a:rPr>
              <a:t> 310 </a:t>
            </a:r>
            <a:r>
              <a:rPr lang="en-US" sz="2800" dirty="0">
                <a:solidFill>
                  <a:srgbClr val="7030A0"/>
                </a:solidFill>
                <a:latin typeface="Times New Roman" panose="02020603050405020304" pitchFamily="18" charset="0"/>
                <a:cs typeface="Times New Roman" panose="02020603050405020304" pitchFamily="18" charset="0"/>
              </a:rPr>
              <a:t>(the plaintiff got infected with AIDS in a blood transfusion)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key issue was whether the defendant took adequate steps (including introducing Hepatitis B surrogate testing) to screen donors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Federal Court held that </a:t>
            </a:r>
            <a:r>
              <a:rPr lang="en-US" sz="2800" b="1" dirty="0">
                <a:latin typeface="Times New Roman" panose="02020603050405020304" pitchFamily="18" charset="0"/>
                <a:cs typeface="Times New Roman" panose="02020603050405020304" pitchFamily="18" charset="0"/>
              </a:rPr>
              <a:t>no duty was breached</a:t>
            </a:r>
            <a:r>
              <a:rPr lang="en-US" sz="2800" dirty="0">
                <a:latin typeface="Times New Roman" panose="02020603050405020304" pitchFamily="18" charset="0"/>
                <a:cs typeface="Times New Roman" panose="02020603050405020304" pitchFamily="18" charset="0"/>
              </a:rPr>
              <a:t> by not introducing the test earlier than 1984 – it considered that while the test might not reduce the risk of infection, it would have meant the likely loss of 5% of all blood donations </a:t>
            </a:r>
          </a:p>
        </p:txBody>
      </p:sp>
    </p:spTree>
    <p:extLst>
      <p:ext uri="{BB962C8B-B14F-4D97-AF65-F5344CB8AC3E}">
        <p14:creationId xmlns:p14="http://schemas.microsoft.com/office/powerpoint/2010/main" val="1224821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563526" y="386398"/>
            <a:ext cx="8803758"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4. Obvious versus inherent risks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At common law, courts considered whether the risk was inherent or obvious to determine the breach of the duty of care   </a:t>
            </a:r>
          </a:p>
          <a:p>
            <a:pPr marL="0" indent="0">
              <a:buNone/>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Obvious</a:t>
            </a:r>
            <a:r>
              <a:rPr lang="en-US" sz="2800" dirty="0">
                <a:latin typeface="Times New Roman" panose="02020603050405020304" pitchFamily="18" charset="0"/>
                <a:cs typeface="Times New Roman" panose="02020603050405020304" pitchFamily="18" charset="0"/>
              </a:rPr>
              <a:t> risks refer to risks which should be obvious to any reasonable person  (see Section 5F of the CLA)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Inherent</a:t>
            </a:r>
            <a:r>
              <a:rPr lang="en-US" sz="2800" dirty="0">
                <a:latin typeface="Times New Roman" panose="02020603050405020304" pitchFamily="18" charset="0"/>
                <a:cs typeface="Times New Roman" panose="02020603050405020304" pitchFamily="18" charset="0"/>
              </a:rPr>
              <a:t> risks are those risks which cannot be avoided by taking reasonable care (see Section 5I of the CLA)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290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Obvious versus inherent risks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When the risk is obvious, courts may regard this relevant to the </a:t>
            </a:r>
            <a:r>
              <a:rPr lang="en-US" sz="2800" u="sng" dirty="0">
                <a:latin typeface="Times New Roman" panose="02020603050405020304" pitchFamily="18" charset="0"/>
                <a:cs typeface="Times New Roman" panose="02020603050405020304" pitchFamily="18" charset="0"/>
              </a:rPr>
              <a:t>scope</a:t>
            </a:r>
            <a:r>
              <a:rPr lang="en-US" sz="2800" dirty="0">
                <a:latin typeface="Times New Roman" panose="02020603050405020304" pitchFamily="18" charset="0"/>
                <a:cs typeface="Times New Roman" panose="02020603050405020304" pitchFamily="18" charset="0"/>
              </a:rPr>
              <a:t> of the duty of care, e.g., Kirby J in </a:t>
            </a:r>
            <a:r>
              <a:rPr lang="en-US" sz="2800" i="1" dirty="0">
                <a:solidFill>
                  <a:srgbClr val="0070C0"/>
                </a:solidFill>
                <a:latin typeface="Times New Roman" panose="02020603050405020304" pitchFamily="18" charset="0"/>
                <a:cs typeface="Times New Roman" panose="02020603050405020304" pitchFamily="18" charset="0"/>
              </a:rPr>
              <a:t>Romeo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Later courts regarded it relevant to the </a:t>
            </a:r>
            <a:r>
              <a:rPr lang="en-US" sz="2800" u="sng" dirty="0">
                <a:latin typeface="Times New Roman" panose="02020603050405020304" pitchFamily="18" charset="0"/>
                <a:cs typeface="Times New Roman" panose="02020603050405020304" pitchFamily="18" charset="0"/>
              </a:rPr>
              <a:t>breach</a:t>
            </a:r>
            <a:r>
              <a:rPr lang="en-US" sz="2800" dirty="0">
                <a:latin typeface="Times New Roman" panose="02020603050405020304" pitchFamily="18" charset="0"/>
                <a:cs typeface="Times New Roman" panose="02020603050405020304" pitchFamily="18" charset="0"/>
              </a:rPr>
              <a:t> of duty – recreational activities are a typical example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Now CLA provisions have a direct bearing on this issue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84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Obvious versus inherent risks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Section 5G of the CLA provides:</a:t>
            </a:r>
          </a:p>
          <a:p>
            <a:pP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“(1) In proceedings relating to liability for negligence, a person who suffers harm is </a:t>
            </a:r>
            <a:r>
              <a:rPr lang="en-US" sz="2800" b="1" dirty="0">
                <a:latin typeface="Times New Roman" panose="02020603050405020304" pitchFamily="18" charset="0"/>
                <a:cs typeface="Times New Roman" panose="02020603050405020304" pitchFamily="18" charset="0"/>
              </a:rPr>
              <a:t>presumed to have been aware of the risk of harm if it was an obvious risk</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unless</a:t>
            </a:r>
            <a:r>
              <a:rPr lang="en-US" sz="2800" dirty="0">
                <a:latin typeface="Times New Roman" panose="02020603050405020304" pitchFamily="18" charset="0"/>
                <a:cs typeface="Times New Roman" panose="02020603050405020304" pitchFamily="18" charset="0"/>
              </a:rPr>
              <a:t> the person proves on the balance of probabilities that he or she was not aware of the risk.</a:t>
            </a:r>
          </a:p>
          <a:p>
            <a:pPr marL="0" indent="0">
              <a:buNone/>
            </a:pPr>
            <a:r>
              <a:rPr lang="en-US" sz="2800" dirty="0">
                <a:latin typeface="Times New Roman" panose="02020603050405020304" pitchFamily="18" charset="0"/>
                <a:cs typeface="Times New Roman" panose="02020603050405020304" pitchFamily="18" charset="0"/>
              </a:rPr>
              <a:t>(2) For the purposes of this section, a person is aware of a risk if the person is aware of </a:t>
            </a:r>
            <a:r>
              <a:rPr lang="en-US" sz="2800" i="1" dirty="0">
                <a:latin typeface="Times New Roman" panose="02020603050405020304" pitchFamily="18" charset="0"/>
                <a:cs typeface="Times New Roman" panose="02020603050405020304" pitchFamily="18" charset="0"/>
              </a:rPr>
              <a:t>the type or kind of risk</a:t>
            </a:r>
            <a:r>
              <a:rPr lang="en-US" sz="2800" dirty="0">
                <a:latin typeface="Times New Roman" panose="02020603050405020304" pitchFamily="18" charset="0"/>
                <a:cs typeface="Times New Roman" panose="02020603050405020304" pitchFamily="18" charset="0"/>
              </a:rPr>
              <a:t>, even if the person is not aware of the precise nature, extent or manner of occurrence of the risk.”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570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Obvious versus inherent risks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Moreover, Section 5H of the CLA provides that there is </a:t>
            </a:r>
            <a:r>
              <a:rPr lang="en-US" sz="2800" b="1" dirty="0">
                <a:latin typeface="Times New Roman" panose="02020603050405020304" pitchFamily="18" charset="0"/>
                <a:cs typeface="Times New Roman" panose="02020603050405020304" pitchFamily="18" charset="0"/>
              </a:rPr>
              <a:t>no duty to warn </a:t>
            </a:r>
            <a:r>
              <a:rPr lang="en-US" sz="2800" dirty="0">
                <a:latin typeface="Times New Roman" panose="02020603050405020304" pitchFamily="18" charset="0"/>
                <a:cs typeface="Times New Roman" panose="02020603050405020304" pitchFamily="18" charset="0"/>
              </a:rPr>
              <a:t>of obvious risks </a:t>
            </a:r>
            <a:r>
              <a:rPr lang="en-US" sz="2800" u="sng" dirty="0">
                <a:latin typeface="Times New Roman" panose="02020603050405020304" pitchFamily="18" charset="0"/>
                <a:cs typeface="Times New Roman" panose="02020603050405020304" pitchFamily="18" charset="0"/>
              </a:rPr>
              <a:t>unless</a:t>
            </a:r>
            <a:r>
              <a:rPr lang="en-US" sz="2800" dirty="0">
                <a:latin typeface="Times New Roman" panose="02020603050405020304" pitchFamily="18" charset="0"/>
                <a:cs typeface="Times New Roman" panose="02020603050405020304" pitchFamily="18" charset="0"/>
              </a:rPr>
              <a:t> one of the exceptions is engaged – e.g., the plaintiff requested the information about the risk from the defendant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Section 5L excludes liability for harm as a result of the </a:t>
            </a:r>
            <a:r>
              <a:rPr lang="en-US" sz="2800" dirty="0" err="1">
                <a:latin typeface="Times New Roman" panose="02020603050405020304" pitchFamily="18" charset="0"/>
                <a:cs typeface="Times New Roman" panose="02020603050405020304" pitchFamily="18" charset="0"/>
              </a:rPr>
              <a:t>materialisation</a:t>
            </a:r>
            <a:r>
              <a:rPr lang="en-US" sz="2800" dirty="0">
                <a:latin typeface="Times New Roman" panose="02020603050405020304" pitchFamily="18" charset="0"/>
                <a:cs typeface="Times New Roman" panose="02020603050405020304" pitchFamily="18" charset="0"/>
              </a:rPr>
              <a:t> of an </a:t>
            </a:r>
            <a:r>
              <a:rPr lang="en-US" sz="2800" u="sng" dirty="0">
                <a:latin typeface="Times New Roman" panose="02020603050405020304" pitchFamily="18" charset="0"/>
                <a:cs typeface="Times New Roman" panose="02020603050405020304" pitchFamily="18" charset="0"/>
              </a:rPr>
              <a:t>obvious risk</a:t>
            </a:r>
            <a:r>
              <a:rPr lang="en-US" sz="2800" dirty="0">
                <a:latin typeface="Times New Roman" panose="02020603050405020304" pitchFamily="18" charset="0"/>
                <a:cs typeface="Times New Roman" panose="02020603050405020304" pitchFamily="18" charset="0"/>
              </a:rPr>
              <a:t> of a </a:t>
            </a:r>
            <a:r>
              <a:rPr lang="en-US" sz="2800" i="1" dirty="0">
                <a:latin typeface="Times New Roman" panose="02020603050405020304" pitchFamily="18" charset="0"/>
                <a:cs typeface="Times New Roman" panose="02020603050405020304" pitchFamily="18" charset="0"/>
              </a:rPr>
              <a:t>dangerous recreational activity </a:t>
            </a:r>
            <a:r>
              <a:rPr lang="en-US" sz="2800" dirty="0">
                <a:latin typeface="Times New Roman" panose="02020603050405020304" pitchFamily="18" charset="0"/>
                <a:cs typeface="Times New Roman" panose="02020603050405020304" pitchFamily="18" charset="0"/>
              </a:rPr>
              <a:t>engaged in by the plaintiff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321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Obvious versus inherent risks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Section 5I of the CLA provides that a person “is </a:t>
            </a:r>
            <a:r>
              <a:rPr lang="en-US" sz="2800" u="sng" dirty="0">
                <a:latin typeface="Times New Roman" panose="02020603050405020304" pitchFamily="18" charset="0"/>
                <a:cs typeface="Times New Roman" panose="02020603050405020304" pitchFamily="18" charset="0"/>
              </a:rPr>
              <a:t>not liable</a:t>
            </a:r>
            <a:r>
              <a:rPr lang="en-US" sz="2800" dirty="0">
                <a:latin typeface="Times New Roman" panose="02020603050405020304" pitchFamily="18" charset="0"/>
                <a:cs typeface="Times New Roman" panose="02020603050405020304" pitchFamily="18" charset="0"/>
              </a:rPr>
              <a:t> in negligence for harm suffered by another person as a result of the </a:t>
            </a:r>
            <a:r>
              <a:rPr lang="en-US" sz="2800" b="1" dirty="0" err="1">
                <a:latin typeface="Times New Roman" panose="02020603050405020304" pitchFamily="18" charset="0"/>
                <a:cs typeface="Times New Roman" panose="02020603050405020304" pitchFamily="18" charset="0"/>
              </a:rPr>
              <a:t>materialisation</a:t>
            </a:r>
            <a:r>
              <a:rPr lang="en-US" sz="2800" b="1" dirty="0">
                <a:latin typeface="Times New Roman" panose="02020603050405020304" pitchFamily="18" charset="0"/>
                <a:cs typeface="Times New Roman" panose="02020603050405020304" pitchFamily="18" charset="0"/>
              </a:rPr>
              <a:t> of an inherent risk</a:t>
            </a:r>
            <a:r>
              <a:rPr lang="en-US" sz="2800" dirty="0">
                <a:latin typeface="Times New Roman" panose="02020603050405020304" pitchFamily="18" charset="0"/>
                <a:cs typeface="Times New Roman" panose="02020603050405020304" pitchFamily="18" charset="0"/>
              </a:rPr>
              <a:t>”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Whether something is an inherent risk or not is a question of fact </a:t>
            </a:r>
            <a:endParaRPr lang="en-US" sz="2600" dirty="0">
              <a:latin typeface="Times New Roman" panose="02020603050405020304" pitchFamily="18" charset="0"/>
              <a:cs typeface="Times New Roman" panose="02020603050405020304" pitchFamily="18" charset="0"/>
            </a:endParaRPr>
          </a:p>
        </p:txBody>
      </p:sp>
      <p:sp>
        <p:nvSpPr>
          <p:cNvPr id="4" name="Thought Bubble: Cloud 3">
            <a:extLst>
              <a:ext uri="{FF2B5EF4-FFF2-40B4-BE49-F238E27FC236}">
                <a16:creationId xmlns:a16="http://schemas.microsoft.com/office/drawing/2014/main" id="{3EF14CF1-6328-CFB5-716E-FBFF9251049F}"/>
              </a:ext>
            </a:extLst>
          </p:cNvPr>
          <p:cNvSpPr/>
          <p:nvPr/>
        </p:nvSpPr>
        <p:spPr>
          <a:xfrm>
            <a:off x="5295014" y="2753833"/>
            <a:ext cx="3519377" cy="1722474"/>
          </a:xfrm>
          <a:prstGeom prst="cloudCallout">
            <a:avLst>
              <a:gd name="adj1" fmla="val -39843"/>
              <a:gd name="adj2" fmla="val 8713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E23E55"/>
                </a:solidFill>
                <a:latin typeface="Times New Roman" panose="02020603050405020304" pitchFamily="18" charset="0"/>
                <a:cs typeface="Times New Roman" panose="02020603050405020304" pitchFamily="18" charset="0"/>
              </a:rPr>
              <a:t>But the duty to warn of a risk remains! </a:t>
            </a:r>
          </a:p>
        </p:txBody>
      </p:sp>
    </p:spTree>
    <p:extLst>
      <p:ext uri="{BB962C8B-B14F-4D97-AF65-F5344CB8AC3E}">
        <p14:creationId xmlns:p14="http://schemas.microsoft.com/office/powerpoint/2010/main" val="4174677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5. Unpacking the reasonable person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6697D77-10AE-2DC7-A8CF-D7465F29A1D1}"/>
              </a:ext>
            </a:extLst>
          </p:cNvPr>
          <p:cNvSpPr/>
          <p:nvPr/>
        </p:nvSpPr>
        <p:spPr>
          <a:xfrm>
            <a:off x="472966" y="3174124"/>
            <a:ext cx="11172496" cy="357351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Courts assess the defendant’s conduct regarding the breach of duty vis-à-vis the standard of the “reasonable person” </a:t>
            </a:r>
          </a:p>
          <a:p>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400" dirty="0">
                <a:highlight>
                  <a:srgbClr val="FFFF00"/>
                </a:highlight>
                <a:latin typeface="Times New Roman" panose="02020603050405020304" pitchFamily="18" charset="0"/>
                <a:cs typeface="Times New Roman" panose="02020603050405020304" pitchFamily="18" charset="0"/>
              </a:rPr>
              <a:t>Recap! </a:t>
            </a:r>
            <a:r>
              <a:rPr lang="en-US" sz="2400" dirty="0">
                <a:latin typeface="Times New Roman" panose="02020603050405020304" pitchFamily="18" charset="0"/>
                <a:cs typeface="Times New Roman" panose="02020603050405020304" pitchFamily="18" charset="0"/>
              </a:rPr>
              <a:t>Section 5B(1) of the CLA provides: </a:t>
            </a:r>
          </a:p>
          <a:p>
            <a:pPr>
              <a:buFont typeface="Wingdings" panose="05000000000000000000" pitchFamily="2" charset="2"/>
              <a:buChar char="Ø"/>
            </a:pPr>
            <a:endParaRPr lang="en-US" sz="900" dirty="0">
              <a:latin typeface="Times New Roman" panose="02020603050405020304" pitchFamily="18" charset="0"/>
              <a:cs typeface="Times New Roman" panose="02020603050405020304" pitchFamily="18" charset="0"/>
            </a:endParaRPr>
          </a:p>
          <a:p>
            <a:pPr marL="0" indent="0">
              <a:buNone/>
            </a:pPr>
            <a:r>
              <a:rPr lang="en-US" sz="2400" dirty="0">
                <a:latin typeface="TimesNewRomanPSMT"/>
              </a:rPr>
              <a:t>“A person is </a:t>
            </a:r>
            <a:r>
              <a:rPr lang="en-US" sz="2400" b="1" dirty="0">
                <a:latin typeface="TimesNewRomanPSMT"/>
              </a:rPr>
              <a:t>not</a:t>
            </a:r>
            <a:r>
              <a:rPr lang="en-US" sz="2400" dirty="0">
                <a:latin typeface="TimesNewRomanPSMT"/>
              </a:rPr>
              <a:t> </a:t>
            </a:r>
            <a:r>
              <a:rPr lang="en-US" sz="2400" b="1" dirty="0">
                <a:latin typeface="TimesNewRomanPSMT"/>
              </a:rPr>
              <a:t>negligent</a:t>
            </a:r>
            <a:r>
              <a:rPr lang="en-US" sz="2400" dirty="0">
                <a:latin typeface="TimesNewRomanPSMT"/>
              </a:rPr>
              <a:t> in failing to take precautions against a risk of harm </a:t>
            </a:r>
            <a:r>
              <a:rPr lang="en-US" sz="2400" u="sng" dirty="0">
                <a:latin typeface="TimesNewRomanPSMT"/>
              </a:rPr>
              <a:t>unless</a:t>
            </a:r>
            <a:r>
              <a:rPr lang="en-US" sz="2400" dirty="0">
                <a:latin typeface="TimesNewRomanPSMT"/>
              </a:rPr>
              <a:t>—</a:t>
            </a:r>
          </a:p>
          <a:p>
            <a:pPr marL="0" indent="0">
              <a:buNone/>
            </a:pPr>
            <a:r>
              <a:rPr lang="en-US" sz="2400" dirty="0">
                <a:latin typeface="TimesNewRomanPSMT"/>
              </a:rPr>
              <a:t>	(a) the </a:t>
            </a:r>
            <a:r>
              <a:rPr lang="en-US" sz="2400" i="1" dirty="0">
                <a:latin typeface="TimesNewRomanPSMT"/>
              </a:rPr>
              <a:t>risk was foreseeable </a:t>
            </a:r>
            <a:r>
              <a:rPr lang="en-US" sz="2400" dirty="0">
                <a:latin typeface="TimesNewRomanPSMT"/>
              </a:rPr>
              <a:t>(that is, it is a risk of which the person 	knew or ought to have </a:t>
            </a:r>
            <a:r>
              <a:rPr lang="en-GB" sz="2400" dirty="0">
                <a:latin typeface="TimesNewRomanPSMT"/>
              </a:rPr>
              <a:t>known), and</a:t>
            </a:r>
          </a:p>
          <a:p>
            <a:pPr marL="0" indent="0">
              <a:buNone/>
            </a:pPr>
            <a:r>
              <a:rPr lang="en-US" sz="2400" dirty="0">
                <a:latin typeface="TimesNewRomanPSMT"/>
              </a:rPr>
              <a:t>	(b) the risk was </a:t>
            </a:r>
            <a:r>
              <a:rPr lang="en-US" sz="2400" i="1" dirty="0">
                <a:latin typeface="TimesNewRomanPSMT"/>
              </a:rPr>
              <a:t>not insignificant</a:t>
            </a:r>
            <a:r>
              <a:rPr lang="en-US" sz="2400" dirty="0">
                <a:latin typeface="TimesNewRomanPSMT"/>
              </a:rPr>
              <a:t>, and</a:t>
            </a:r>
          </a:p>
          <a:p>
            <a:pPr marL="0" indent="0">
              <a:buNone/>
            </a:pPr>
            <a:r>
              <a:rPr lang="en-US" sz="2400" dirty="0">
                <a:latin typeface="TimesNewRomanPSMT"/>
              </a:rPr>
              <a:t>	(c) in the circumstances, </a:t>
            </a:r>
            <a:r>
              <a:rPr lang="en-US" sz="2400" dirty="0">
                <a:highlight>
                  <a:srgbClr val="FFFF00"/>
                </a:highlight>
                <a:latin typeface="TimesNewRomanPSMT"/>
              </a:rPr>
              <a:t>a reasonable person </a:t>
            </a:r>
            <a:r>
              <a:rPr lang="en-US" sz="2400" dirty="0">
                <a:latin typeface="TimesNewRomanPSMT"/>
              </a:rPr>
              <a:t>in the person’s position 	</a:t>
            </a:r>
            <a:r>
              <a:rPr lang="en-US" sz="2400" i="1" dirty="0">
                <a:latin typeface="TimesNewRomanPSMT"/>
              </a:rPr>
              <a:t>would have taken those </a:t>
            </a:r>
            <a:r>
              <a:rPr lang="en-GB" sz="2400" i="1" dirty="0">
                <a:latin typeface="TimesNewRomanPSMT"/>
              </a:rPr>
              <a:t>precautions</a:t>
            </a:r>
            <a:r>
              <a:rPr lang="en-GB" sz="2400" dirty="0">
                <a:latin typeface="TimesNewRomanPSMT"/>
              </a:rPr>
              <a:t>.” </a:t>
            </a:r>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3225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4B51-4BB9-7A22-C047-F83E730C9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56A55-4944-D43D-63FF-34EB6C18EBA7}"/>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5. Unpacking the reasonable person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123C94-0718-7B8D-D49F-7C697B872963}"/>
              </a:ext>
            </a:extLst>
          </p:cNvPr>
          <p:cNvSpPr>
            <a:spLocks noGrp="1"/>
          </p:cNvSpPr>
          <p:nvPr>
            <p:ph idx="1"/>
          </p:nvPr>
        </p:nvSpPr>
        <p:spPr>
          <a:xfrm>
            <a:off x="720000" y="1508426"/>
            <a:ext cx="10800001" cy="5074936"/>
          </a:xfrm>
        </p:spPr>
        <p:txBody>
          <a:bodyPr>
            <a:no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reasonable person is a legal fiction created by judges to apply the </a:t>
            </a:r>
            <a:r>
              <a:rPr lang="en-US" sz="2800" b="1" dirty="0">
                <a:latin typeface="Times New Roman" panose="02020603050405020304" pitchFamily="18" charset="0"/>
                <a:cs typeface="Times New Roman" panose="02020603050405020304" pitchFamily="18" charset="0"/>
              </a:rPr>
              <a:t>objective test</a:t>
            </a:r>
            <a:r>
              <a:rPr lang="en-US" sz="2800" dirty="0">
                <a:latin typeface="Times New Roman" panose="02020603050405020304" pitchFamily="18" charset="0"/>
                <a:cs typeface="Times New Roman" panose="02020603050405020304" pitchFamily="18" charset="0"/>
              </a:rPr>
              <a:t> – because there are too many subjective variables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concept first appeared in </a:t>
            </a:r>
            <a:r>
              <a:rPr lang="en-US" sz="2800" i="1" dirty="0">
                <a:solidFill>
                  <a:srgbClr val="0070C0"/>
                </a:solidFill>
                <a:latin typeface="Times New Roman" panose="02020603050405020304" pitchFamily="18" charset="0"/>
                <a:cs typeface="Times New Roman" panose="02020603050405020304" pitchFamily="18" charset="0"/>
              </a:rPr>
              <a:t>Vaughan v </a:t>
            </a:r>
            <a:r>
              <a:rPr lang="en-US" sz="2800" i="1" dirty="0" err="1">
                <a:solidFill>
                  <a:srgbClr val="0070C0"/>
                </a:solidFill>
                <a:latin typeface="Times New Roman" panose="02020603050405020304" pitchFamily="18" charset="0"/>
                <a:cs typeface="Times New Roman" panose="02020603050405020304" pitchFamily="18" charset="0"/>
              </a:rPr>
              <a:t>Menlove</a:t>
            </a:r>
            <a:r>
              <a:rPr lang="en-US" sz="2800" i="1" dirty="0">
                <a:solidFill>
                  <a:srgbClr val="0070C0"/>
                </a:solidFill>
                <a:latin typeface="Times New Roman" panose="02020603050405020304" pitchFamily="18" charset="0"/>
                <a:cs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(1837) </a:t>
            </a:r>
            <a:r>
              <a:rPr lang="en-US" sz="2800" dirty="0">
                <a:latin typeface="Times New Roman" panose="02020603050405020304" pitchFamily="18" charset="0"/>
                <a:cs typeface="Times New Roman" panose="02020603050405020304" pitchFamily="18" charset="0"/>
              </a:rPr>
              <a:t>as “the man of ordinary prudence”</a:t>
            </a:r>
          </a:p>
        </p:txBody>
      </p:sp>
    </p:spTree>
    <p:extLst>
      <p:ext uri="{BB962C8B-B14F-4D97-AF65-F5344CB8AC3E}">
        <p14:creationId xmlns:p14="http://schemas.microsoft.com/office/powerpoint/2010/main" val="684520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However, is the test entirely objective? Is the </a:t>
            </a:r>
            <a:r>
              <a:rPr lang="en-US" sz="2800" dirty="0" err="1">
                <a:latin typeface="Times New Roman" panose="02020603050405020304" pitchFamily="18" charset="0"/>
                <a:cs typeface="Times New Roman" panose="02020603050405020304" pitchFamily="18" charset="0"/>
              </a:rPr>
              <a:t>conceptualisation</a:t>
            </a:r>
            <a:r>
              <a:rPr lang="en-US" sz="2800" dirty="0">
                <a:latin typeface="Times New Roman" panose="02020603050405020304" pitchFamily="18" charset="0"/>
                <a:cs typeface="Times New Roman" panose="02020603050405020304" pitchFamily="18" charset="0"/>
              </a:rPr>
              <a:t> not influenced by the attributes of a given judge?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Also, the earlier formulation of the reasonable person as a “reasonable man” has been heavily </a:t>
            </a:r>
            <a:r>
              <a:rPr lang="en-US" sz="2800" dirty="0" err="1">
                <a:latin typeface="Times New Roman" panose="02020603050405020304" pitchFamily="18" charset="0"/>
                <a:cs typeface="Times New Roman" panose="02020603050405020304" pitchFamily="18" charset="0"/>
              </a:rPr>
              <a:t>criticised</a:t>
            </a:r>
            <a:r>
              <a:rPr lang="en-US" sz="2800" dirty="0">
                <a:latin typeface="Times New Roman" panose="02020603050405020304" pitchFamily="18" charset="0"/>
                <a:cs typeface="Times New Roman" panose="02020603050405020304" pitchFamily="18" charset="0"/>
              </a:rPr>
              <a:t> by feminist scholars: </a:t>
            </a:r>
          </a:p>
          <a:p>
            <a:endParaRPr lang="en-US" sz="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judges invariably have a man in mind when applying the test of reasonableness </a:t>
            </a: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 predominantly male judiciary </a:t>
            </a:r>
          </a:p>
          <a:p>
            <a:pPr lvl="2">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male attributes are picked (e.g., emotions are ignored)    </a:t>
            </a:r>
          </a:p>
        </p:txBody>
      </p:sp>
    </p:spTree>
    <p:extLst>
      <p:ext uri="{BB962C8B-B14F-4D97-AF65-F5344CB8AC3E}">
        <p14:creationId xmlns:p14="http://schemas.microsoft.com/office/powerpoint/2010/main" val="2440430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Particular characteristics of the reasonable person  </a:t>
            </a:r>
          </a:p>
          <a:p>
            <a:pPr marL="0" indent="0">
              <a:buNone/>
            </a:pPr>
            <a:endParaRPr lang="en-US" sz="10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judicial construction of the reasonable person is not completely devoid of particular characteristics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Courts, for example, consider the </a:t>
            </a:r>
            <a:r>
              <a:rPr lang="en-US" sz="2800" b="1" dirty="0">
                <a:latin typeface="Times New Roman" panose="02020603050405020304" pitchFamily="18" charset="0"/>
                <a:cs typeface="Times New Roman" panose="02020603050405020304" pitchFamily="18" charset="0"/>
              </a:rPr>
              <a:t>age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mental ability</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professional expertise </a:t>
            </a:r>
          </a:p>
        </p:txBody>
      </p:sp>
    </p:spTree>
    <p:extLst>
      <p:ext uri="{BB962C8B-B14F-4D97-AF65-F5344CB8AC3E}">
        <p14:creationId xmlns:p14="http://schemas.microsoft.com/office/powerpoint/2010/main" val="640984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The High Court considered the age issue in </a:t>
            </a:r>
            <a:r>
              <a:rPr lang="en-US" sz="2800" i="1" dirty="0">
                <a:solidFill>
                  <a:srgbClr val="0070C0"/>
                </a:solidFill>
                <a:latin typeface="Times New Roman" panose="02020603050405020304" pitchFamily="18" charset="0"/>
                <a:cs typeface="Times New Roman" panose="02020603050405020304" pitchFamily="18" charset="0"/>
              </a:rPr>
              <a:t>McHale v Watson </a:t>
            </a:r>
            <a:r>
              <a:rPr lang="en-US" sz="2800" dirty="0">
                <a:solidFill>
                  <a:srgbClr val="0070C0"/>
                </a:solidFill>
                <a:latin typeface="Times New Roman" panose="02020603050405020304" pitchFamily="18" charset="0"/>
                <a:cs typeface="Times New Roman" panose="02020603050405020304" pitchFamily="18" charset="0"/>
              </a:rPr>
              <a:t>(1966) 115 CLR 199 </a:t>
            </a:r>
            <a:r>
              <a:rPr lang="en-US" sz="2800" dirty="0">
                <a:solidFill>
                  <a:srgbClr val="7030A0"/>
                </a:solidFill>
                <a:latin typeface="Times New Roman" panose="02020603050405020304" pitchFamily="18" charset="0"/>
                <a:cs typeface="Times New Roman" panose="02020603050405020304" pitchFamily="18" charset="0"/>
              </a:rPr>
              <a:t>(Watson, a 12-year-old boy, threw a sharpened piece of scrap metal at tree; it bounced off and injured McHale’s eye)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Court had to consider whether the standard of reasonable care in this case should be appropriate to a 12-year-old child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High Court by majority held that the standard of care </a:t>
            </a:r>
            <a:r>
              <a:rPr lang="en-US" sz="2800" b="1" dirty="0">
                <a:latin typeface="Times New Roman" panose="02020603050405020304" pitchFamily="18" charset="0"/>
                <a:cs typeface="Times New Roman" panose="02020603050405020304" pitchFamily="18" charset="0"/>
              </a:rPr>
              <a:t>for children </a:t>
            </a:r>
            <a:r>
              <a:rPr lang="en-US" sz="2800" dirty="0">
                <a:latin typeface="Times New Roman" panose="02020603050405020304" pitchFamily="18" charset="0"/>
                <a:cs typeface="Times New Roman" panose="02020603050405020304" pitchFamily="18" charset="0"/>
              </a:rPr>
              <a:t>is that of </a:t>
            </a:r>
            <a:r>
              <a:rPr lang="en-US" sz="2800" u="sng" dirty="0">
                <a:latin typeface="Times New Roman" panose="02020603050405020304" pitchFamily="18" charset="0"/>
                <a:cs typeface="Times New Roman" panose="02020603050405020304" pitchFamily="18" charset="0"/>
              </a:rPr>
              <a:t>a normal child of comparable age</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99725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err="1">
                <a:latin typeface="Times New Roman" panose="02020603050405020304" pitchFamily="18" charset="0"/>
                <a:cs typeface="Times New Roman" panose="02020603050405020304" pitchFamily="18" charset="0"/>
              </a:rPr>
              <a:t>McTiernan</a:t>
            </a:r>
            <a:r>
              <a:rPr lang="en-US" sz="2800" dirty="0">
                <a:latin typeface="Times New Roman" panose="02020603050405020304" pitchFamily="18" charset="0"/>
                <a:cs typeface="Times New Roman" panose="02020603050405020304" pitchFamily="18" charset="0"/>
              </a:rPr>
              <a:t> ACJ noted that </a:t>
            </a:r>
            <a:r>
              <a:rPr lang="en-US" sz="2800" b="1" dirty="0">
                <a:solidFill>
                  <a:schemeClr val="accent1"/>
                </a:solidFill>
                <a:latin typeface="Times New Roman" panose="02020603050405020304" pitchFamily="18" charset="0"/>
                <a:cs typeface="Times New Roman" panose="02020603050405020304" pitchFamily="18" charset="0"/>
              </a:rPr>
              <a:t>it is appropriate to consider the age of the defendant </a:t>
            </a:r>
            <a:r>
              <a:rPr lang="en-US" sz="2800" dirty="0">
                <a:latin typeface="Times New Roman" panose="02020603050405020304" pitchFamily="18" charset="0"/>
                <a:cs typeface="Times New Roman" panose="02020603050405020304" pitchFamily="18" charset="0"/>
              </a:rPr>
              <a:t>to determine the standard of care </a:t>
            </a:r>
          </a:p>
          <a:p>
            <a:endParaRPr lang="en-US" sz="2800" dirty="0">
              <a:latin typeface="Times New Roman" panose="02020603050405020304" pitchFamily="18" charset="0"/>
              <a:cs typeface="Times New Roman" panose="02020603050405020304" pitchFamily="18" charset="0"/>
            </a:endParaRPr>
          </a:p>
          <a:p>
            <a:r>
              <a:rPr lang="en-US" sz="2800" dirty="0" err="1">
                <a:latin typeface="Times New Roman" panose="02020603050405020304" pitchFamily="18" charset="0"/>
                <a:cs typeface="Times New Roman" panose="02020603050405020304" pitchFamily="18" charset="0"/>
              </a:rPr>
              <a:t>Kitto</a:t>
            </a:r>
            <a:r>
              <a:rPr lang="en-US" sz="2800" dirty="0">
                <a:latin typeface="Times New Roman" panose="02020603050405020304" pitchFamily="18" charset="0"/>
                <a:cs typeface="Times New Roman" panose="02020603050405020304" pitchFamily="18" charset="0"/>
              </a:rPr>
              <a:t> J reasoned: </a:t>
            </a:r>
          </a:p>
          <a:p>
            <a:pPr marL="0" indent="0">
              <a:buNone/>
            </a:pPr>
            <a:endParaRPr lang="en-US" sz="10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“The standard of care being </a:t>
            </a:r>
            <a:r>
              <a:rPr lang="en-US" sz="2800" b="1" dirty="0">
                <a:latin typeface="Times New Roman" panose="02020603050405020304" pitchFamily="18" charset="0"/>
                <a:cs typeface="Times New Roman" panose="02020603050405020304" pitchFamily="18" charset="0"/>
              </a:rPr>
              <a:t>objective</a:t>
            </a:r>
            <a:r>
              <a:rPr lang="en-US" sz="2800" dirty="0">
                <a:latin typeface="Times New Roman" panose="02020603050405020304" pitchFamily="18" charset="0"/>
                <a:cs typeface="Times New Roman" panose="02020603050405020304" pitchFamily="18" charset="0"/>
              </a:rPr>
              <a:t>, it is no answer for him, any more than it is for an adult, to say that the harm he caused was due to his being abnormally slow-witted, quick-tempered, absent-minded, or inexperienced. </a:t>
            </a:r>
            <a:r>
              <a:rPr lang="en-US" sz="2800" i="1" dirty="0">
                <a:latin typeface="Times New Roman" panose="02020603050405020304" pitchFamily="18" charset="0"/>
                <a:cs typeface="Times New Roman" panose="02020603050405020304" pitchFamily="18" charset="0"/>
              </a:rPr>
              <a:t>But</a:t>
            </a:r>
            <a:r>
              <a:rPr lang="en-US" sz="2800" dirty="0">
                <a:latin typeface="Times New Roman" panose="02020603050405020304" pitchFamily="18" charset="0"/>
                <a:cs typeface="Times New Roman" panose="02020603050405020304" pitchFamily="18" charset="0"/>
              </a:rPr>
              <a:t> it does not follow that he cannot rely in his </a:t>
            </a:r>
            <a:r>
              <a:rPr lang="en-US" sz="2800" dirty="0" err="1">
                <a:latin typeface="Times New Roman" panose="02020603050405020304" pitchFamily="18" charset="0"/>
                <a:cs typeface="Times New Roman" panose="02020603050405020304" pitchFamily="18" charset="0"/>
              </a:rPr>
              <a:t>defence</a:t>
            </a:r>
            <a:r>
              <a:rPr lang="en-US" sz="2800" dirty="0">
                <a:latin typeface="Times New Roman" panose="02020603050405020304" pitchFamily="18" charset="0"/>
                <a:cs typeface="Times New Roman" panose="02020603050405020304" pitchFamily="18" charset="0"/>
              </a:rPr>
              <a:t> upon a limitation upon the </a:t>
            </a:r>
            <a:r>
              <a:rPr lang="en-US" sz="2800" u="sng" dirty="0">
                <a:latin typeface="Times New Roman" panose="02020603050405020304" pitchFamily="18" charset="0"/>
                <a:cs typeface="Times New Roman" panose="02020603050405020304" pitchFamily="18" charset="0"/>
              </a:rPr>
              <a:t>capacity for foresight or prudence</a:t>
            </a:r>
            <a:r>
              <a:rPr lang="en-US" sz="2800" dirty="0">
                <a:latin typeface="Times New Roman" panose="02020603050405020304" pitchFamily="18" charset="0"/>
                <a:cs typeface="Times New Roman" panose="02020603050405020304" pitchFamily="18" charset="0"/>
              </a:rPr>
              <a:t> … </a:t>
            </a:r>
            <a:r>
              <a:rPr lang="en-US" sz="2800" u="sng" dirty="0">
                <a:latin typeface="Times New Roman" panose="02020603050405020304" pitchFamily="18" charset="0"/>
                <a:cs typeface="Times New Roman" panose="02020603050405020304" pitchFamily="18" charset="0"/>
              </a:rPr>
              <a:t>being characteristic of humanity at his stage of development</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09795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What if the defendant is a person with mental illness or disability?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Consider the decision in </a:t>
            </a:r>
            <a:r>
              <a:rPr lang="en-US" sz="2800" i="1" dirty="0">
                <a:solidFill>
                  <a:srgbClr val="0070C0"/>
                </a:solidFill>
                <a:latin typeface="Times New Roman" panose="02020603050405020304" pitchFamily="18" charset="0"/>
                <a:cs typeface="Times New Roman" panose="02020603050405020304" pitchFamily="18" charset="0"/>
              </a:rPr>
              <a:t>Carrier v Bonham </a:t>
            </a:r>
            <a:r>
              <a:rPr lang="en-US" sz="2800" dirty="0">
                <a:solidFill>
                  <a:srgbClr val="0070C0"/>
                </a:solidFill>
                <a:latin typeface="Times New Roman" panose="02020603050405020304" pitchFamily="18" charset="0"/>
                <a:cs typeface="Times New Roman" panose="02020603050405020304" pitchFamily="18" charset="0"/>
              </a:rPr>
              <a:t>[2002] 1 </a:t>
            </a:r>
            <a:r>
              <a:rPr lang="en-US" sz="2800" dirty="0" err="1">
                <a:solidFill>
                  <a:srgbClr val="0070C0"/>
                </a:solidFill>
                <a:latin typeface="Times New Roman" panose="02020603050405020304" pitchFamily="18" charset="0"/>
                <a:cs typeface="Times New Roman" panose="02020603050405020304" pitchFamily="18" charset="0"/>
              </a:rPr>
              <a:t>Qd</a:t>
            </a:r>
            <a:r>
              <a:rPr lang="en-US" sz="2800" dirty="0">
                <a:solidFill>
                  <a:srgbClr val="0070C0"/>
                </a:solidFill>
                <a:latin typeface="Times New Roman" panose="02020603050405020304" pitchFamily="18" charset="0"/>
                <a:cs typeface="Times New Roman" panose="02020603050405020304" pitchFamily="18" charset="0"/>
              </a:rPr>
              <a:t> R 474 </a:t>
            </a:r>
            <a:r>
              <a:rPr lang="en-US" sz="2800" dirty="0">
                <a:solidFill>
                  <a:srgbClr val="7030A0"/>
                </a:solidFill>
                <a:latin typeface="Times New Roman" panose="02020603050405020304" pitchFamily="18" charset="0"/>
                <a:cs typeface="Times New Roman" panose="02020603050405020304" pitchFamily="18" charset="0"/>
              </a:rPr>
              <a:t>(Bonham, a psychiatric patient with schizophrenia, escaped from the hospital and intentionally jumped in front of a bus driven by Carrier; Carrier braked but was unable to avoid hitting and injuring Bonham; Carrier suffered nervous shock and could not continue working as a bus driver)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Queensland Court of Appeal held that the defendant’s </a:t>
            </a:r>
            <a:r>
              <a:rPr lang="en-US" sz="2800" b="1" dirty="0">
                <a:latin typeface="Times New Roman" panose="02020603050405020304" pitchFamily="18" charset="0"/>
                <a:cs typeface="Times New Roman" panose="02020603050405020304" pitchFamily="18" charset="0"/>
              </a:rPr>
              <a:t>mental condition had no effect on the standard of care</a:t>
            </a:r>
            <a:r>
              <a:rPr lang="en-US" sz="2800" dirty="0">
                <a:latin typeface="Times New Roman" panose="02020603050405020304" pitchFamily="18" charset="0"/>
                <a:cs typeface="Times New Roman" panose="02020603050405020304" pitchFamily="18" charset="0"/>
              </a:rPr>
              <a:t> expected </a:t>
            </a:r>
          </a:p>
        </p:txBody>
      </p:sp>
    </p:spTree>
    <p:extLst>
      <p:ext uri="{BB962C8B-B14F-4D97-AF65-F5344CB8AC3E}">
        <p14:creationId xmlns:p14="http://schemas.microsoft.com/office/powerpoint/2010/main" val="1675878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McPherson JA observed that “it would be </a:t>
            </a:r>
            <a:r>
              <a:rPr lang="en-US" sz="2800" u="sng" dirty="0">
                <a:latin typeface="Times New Roman" panose="02020603050405020304" pitchFamily="18" charset="0"/>
                <a:cs typeface="Times New Roman" panose="02020603050405020304" pitchFamily="18" charset="0"/>
              </a:rPr>
              <a:t>impossible to devise a standard </a:t>
            </a:r>
            <a:r>
              <a:rPr lang="en-US" sz="2800" dirty="0">
                <a:latin typeface="Times New Roman" panose="02020603050405020304" pitchFamily="18" charset="0"/>
                <a:cs typeface="Times New Roman" panose="02020603050405020304" pitchFamily="18" charset="0"/>
              </a:rPr>
              <a:t>by which the tortious liability of such persons could be judged as a class”</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He drew a </a:t>
            </a:r>
            <a:r>
              <a:rPr lang="en-US" sz="2800" b="1" dirty="0">
                <a:latin typeface="Times New Roman" panose="02020603050405020304" pitchFamily="18" charset="0"/>
                <a:cs typeface="Times New Roman" panose="02020603050405020304" pitchFamily="18" charset="0"/>
              </a:rPr>
              <a:t>distinction between children and persons of unsound mind </a:t>
            </a:r>
            <a:r>
              <a:rPr lang="en-US" sz="2800" dirty="0">
                <a:latin typeface="Times New Roman" panose="02020603050405020304" pitchFamily="18" charset="0"/>
                <a:cs typeface="Times New Roman" panose="02020603050405020304" pitchFamily="18" charset="0"/>
              </a:rPr>
              <a:t>and noted: </a:t>
            </a:r>
          </a:p>
          <a:p>
            <a:endParaRPr lang="en-US" sz="10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“Unsoundness of mind is not a normal condition in most people, and it is not a stage of development through which all humanity is destined to pass. There is no such thing as a ‘normal’ condition of unsound mind in those who suffer that affliction.” </a:t>
            </a:r>
          </a:p>
        </p:txBody>
      </p:sp>
    </p:spTree>
    <p:extLst>
      <p:ext uri="{BB962C8B-B14F-4D97-AF65-F5344CB8AC3E}">
        <p14:creationId xmlns:p14="http://schemas.microsoft.com/office/powerpoint/2010/main" val="14037030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Similarly, the standard of care for a </a:t>
            </a:r>
            <a:r>
              <a:rPr lang="en-US" sz="2800" b="1" dirty="0">
                <a:latin typeface="Times New Roman" panose="02020603050405020304" pitchFamily="18" charset="0"/>
                <a:cs typeface="Times New Roman" panose="02020603050405020304" pitchFamily="18" charset="0"/>
              </a:rPr>
              <a:t>learner driver</a:t>
            </a:r>
            <a:r>
              <a:rPr lang="en-US" sz="2800" dirty="0">
                <a:latin typeface="Times New Roman" panose="02020603050405020304" pitchFamily="18" charset="0"/>
                <a:cs typeface="Times New Roman" panose="02020603050405020304" pitchFamily="18" charset="0"/>
              </a:rPr>
              <a:t> is the same as the licensed driver – </a:t>
            </a:r>
            <a:r>
              <a:rPr lang="en-US" sz="2800" i="1" dirty="0" err="1">
                <a:solidFill>
                  <a:srgbClr val="0070C0"/>
                </a:solidFill>
                <a:latin typeface="Times New Roman" panose="02020603050405020304" pitchFamily="18" charset="0"/>
                <a:cs typeface="Times New Roman" panose="02020603050405020304" pitchFamily="18" charset="0"/>
              </a:rPr>
              <a:t>Imbree</a:t>
            </a:r>
            <a:r>
              <a:rPr lang="en-US" sz="2800" i="1" dirty="0">
                <a:solidFill>
                  <a:srgbClr val="0070C0"/>
                </a:solidFill>
                <a:latin typeface="Times New Roman" panose="02020603050405020304" pitchFamily="18" charset="0"/>
                <a:cs typeface="Times New Roman" panose="02020603050405020304" pitchFamily="18" charset="0"/>
              </a:rPr>
              <a:t> v McNeilly </a:t>
            </a:r>
            <a:r>
              <a:rPr lang="en-US" sz="2800" dirty="0">
                <a:solidFill>
                  <a:srgbClr val="0070C0"/>
                </a:solidFill>
                <a:latin typeface="Times New Roman" panose="02020603050405020304" pitchFamily="18" charset="0"/>
                <a:cs typeface="Times New Roman" panose="02020603050405020304" pitchFamily="18" charset="0"/>
              </a:rPr>
              <a:t>[2008] HCA 40 </a:t>
            </a:r>
          </a:p>
          <a:p>
            <a:r>
              <a:rPr lang="en-US" sz="2800" dirty="0">
                <a:latin typeface="Times New Roman" panose="02020603050405020304" pitchFamily="18" charset="0"/>
                <a:cs typeface="Times New Roman" panose="02020603050405020304" pitchFamily="18" charset="0"/>
              </a:rPr>
              <a:t>The standard is objective and impersonal: it does not vary with the particular driver's experience</a:t>
            </a:r>
          </a:p>
          <a:p>
            <a:r>
              <a:rPr lang="en-US" sz="2800" dirty="0">
                <a:latin typeface="Times New Roman" panose="02020603050405020304" pitchFamily="18" charset="0"/>
                <a:cs typeface="Times New Roman" panose="02020603050405020304" pitchFamily="18" charset="0"/>
              </a:rPr>
              <a:t>It would be unworkable to apply a different standard to different drivers based on their experience level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What about the standard of care for </a:t>
            </a:r>
            <a:r>
              <a:rPr lang="en-US" sz="2800" b="1" dirty="0">
                <a:latin typeface="Times New Roman" panose="02020603050405020304" pitchFamily="18" charset="0"/>
                <a:cs typeface="Times New Roman" panose="02020603050405020304" pitchFamily="18" charset="0"/>
              </a:rPr>
              <a:t>professionals</a:t>
            </a:r>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072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The High Court considered this issue in </a:t>
            </a:r>
            <a:r>
              <a:rPr lang="en-US" sz="2800" i="1" dirty="0">
                <a:solidFill>
                  <a:srgbClr val="0070C0"/>
                </a:solidFill>
                <a:latin typeface="Times New Roman" panose="02020603050405020304" pitchFamily="18" charset="0"/>
                <a:cs typeface="Times New Roman" panose="02020603050405020304" pitchFamily="18" charset="0"/>
              </a:rPr>
              <a:t>Rogers v Whitaker </a:t>
            </a:r>
            <a:r>
              <a:rPr lang="en-US" sz="2800" dirty="0">
                <a:solidFill>
                  <a:srgbClr val="0070C0"/>
                </a:solidFill>
                <a:latin typeface="Times New Roman" panose="02020603050405020304" pitchFamily="18" charset="0"/>
                <a:cs typeface="Times New Roman" panose="02020603050405020304" pitchFamily="18" charset="0"/>
              </a:rPr>
              <a:t>(1992) 175 CLR 479</a:t>
            </a:r>
            <a:r>
              <a:rPr lang="en-US" sz="2800" dirty="0">
                <a:latin typeface="Times New Roman" panose="02020603050405020304" pitchFamily="18" charset="0"/>
                <a:cs typeface="Times New Roman" panose="02020603050405020304" pitchFamily="18" charset="0"/>
              </a:rPr>
              <a:t> </a:t>
            </a:r>
            <a:r>
              <a:rPr lang="en-US" sz="2800" dirty="0">
                <a:solidFill>
                  <a:srgbClr val="7030A0"/>
                </a:solidFill>
                <a:latin typeface="Times New Roman" panose="02020603050405020304" pitchFamily="18" charset="0"/>
                <a:cs typeface="Times New Roman" panose="02020603050405020304" pitchFamily="18" charset="0"/>
              </a:rPr>
              <a:t>(an eye surgeon failed to give warning about a complication in one in 14,000 cases)</a:t>
            </a:r>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High Court held that that standard of care “is that of ordinary skilled person exercising and professing to have that special skill”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It rejected the </a:t>
            </a:r>
            <a:r>
              <a:rPr lang="en-US" sz="2800" i="1" dirty="0">
                <a:latin typeface="Times New Roman" panose="02020603050405020304" pitchFamily="18" charset="0"/>
                <a:cs typeface="Times New Roman" panose="02020603050405020304" pitchFamily="18" charset="0"/>
              </a:rPr>
              <a:t>Bolam </a:t>
            </a:r>
            <a:r>
              <a:rPr lang="en-US" sz="2800" dirty="0">
                <a:latin typeface="Times New Roman" panose="02020603050405020304" pitchFamily="18" charset="0"/>
                <a:cs typeface="Times New Roman" panose="02020603050405020304" pitchFamily="18" charset="0"/>
              </a:rPr>
              <a:t>principle (that the standard of care is determined in line with the medical practice)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50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B35D-1500-30F0-D761-8A6FD64BD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CE719-BEB5-0A70-EC16-37D347DC99C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D8B84D-055F-5328-762B-BA21B1C6C478}"/>
              </a:ext>
            </a:extLst>
          </p:cNvPr>
          <p:cNvSpPr>
            <a:spLocks noGrp="1"/>
          </p:cNvSpPr>
          <p:nvPr>
            <p:ph idx="1"/>
          </p:nvPr>
        </p:nvSpPr>
        <p:spPr>
          <a:xfrm>
            <a:off x="720000" y="1508426"/>
            <a:ext cx="2566125" cy="5074936"/>
          </a:xfrm>
        </p:spPr>
        <p:txBody>
          <a:bodyPr>
            <a:noAutofit/>
          </a:bodyPr>
          <a:lstStyle/>
          <a:p>
            <a:r>
              <a:rPr lang="en-US" sz="2000" dirty="0">
                <a:latin typeface="Times New Roman" panose="02020603050405020304" pitchFamily="18" charset="0"/>
                <a:cs typeface="Times New Roman" panose="02020603050405020304" pitchFamily="18" charset="0"/>
              </a:rPr>
              <a:t>However, note the </a:t>
            </a:r>
            <a:r>
              <a:rPr lang="en-US" sz="2000" b="1" dirty="0">
                <a:latin typeface="Times New Roman" panose="02020603050405020304" pitchFamily="18" charset="0"/>
                <a:cs typeface="Times New Roman" panose="02020603050405020304" pitchFamily="18" charset="0"/>
              </a:rPr>
              <a:t>effect of the CLA </a:t>
            </a:r>
            <a:r>
              <a:rPr lang="en-US" sz="2000" dirty="0">
                <a:latin typeface="Times New Roman" panose="02020603050405020304" pitchFamily="18" charset="0"/>
                <a:cs typeface="Times New Roman" panose="02020603050405020304" pitchFamily="18" charset="0"/>
              </a:rPr>
              <a:t>on the ruling in </a:t>
            </a:r>
            <a:r>
              <a:rPr lang="en-US" sz="2000" i="1" dirty="0">
                <a:solidFill>
                  <a:srgbClr val="0070C0"/>
                </a:solidFill>
                <a:latin typeface="Times New Roman" panose="02020603050405020304" pitchFamily="18" charset="0"/>
                <a:cs typeface="Times New Roman" panose="02020603050405020304" pitchFamily="18" charset="0"/>
              </a:rPr>
              <a:t>Rogers</a:t>
            </a:r>
            <a:r>
              <a:rPr lang="en-US" sz="2000" dirty="0">
                <a:latin typeface="Times New Roman" panose="02020603050405020304" pitchFamily="18" charset="0"/>
                <a:cs typeface="Times New Roman" panose="02020603050405020304" pitchFamily="18" charset="0"/>
              </a:rPr>
              <a:t> – Section 5O incorporates a modified version of the </a:t>
            </a:r>
            <a:r>
              <a:rPr lang="en-US" sz="2000" i="1" dirty="0">
                <a:latin typeface="Times New Roman" panose="02020603050405020304" pitchFamily="18" charset="0"/>
                <a:cs typeface="Times New Roman" panose="02020603050405020304" pitchFamily="18" charset="0"/>
              </a:rPr>
              <a:t>Bolam </a:t>
            </a:r>
            <a:r>
              <a:rPr lang="en-US" sz="2000" dirty="0">
                <a:latin typeface="Times New Roman" panose="02020603050405020304" pitchFamily="18" charset="0"/>
                <a:cs typeface="Times New Roman" panose="02020603050405020304" pitchFamily="18" charset="0"/>
              </a:rPr>
              <a:t>principle</a:t>
            </a:r>
          </a:p>
          <a:p>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EA0E52F-838C-5078-D95D-2151515A14DF}"/>
              </a:ext>
            </a:extLst>
          </p:cNvPr>
          <p:cNvPicPr>
            <a:picLocks noChangeAspect="1"/>
          </p:cNvPicPr>
          <p:nvPr/>
        </p:nvPicPr>
        <p:blipFill>
          <a:blip r:embed="rId3"/>
          <a:stretch>
            <a:fillRect/>
          </a:stretch>
        </p:blipFill>
        <p:spPr>
          <a:xfrm>
            <a:off x="3699600" y="1580528"/>
            <a:ext cx="7772400" cy="4891074"/>
          </a:xfrm>
          <a:prstGeom prst="rect">
            <a:avLst/>
          </a:prstGeom>
          <a:ln w="28575">
            <a:solidFill>
              <a:schemeClr val="tx1"/>
            </a:solidFill>
          </a:ln>
        </p:spPr>
      </p:pic>
    </p:spTree>
    <p:extLst>
      <p:ext uri="{BB962C8B-B14F-4D97-AF65-F5344CB8AC3E}">
        <p14:creationId xmlns:p14="http://schemas.microsoft.com/office/powerpoint/2010/main" val="3743697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B8A98-7F13-009E-D3A8-87E7BB9AA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EE97C-F0BF-7554-FB9A-173DF8644A07}"/>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Unpacking the reasonable person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1BBBC8-29C4-3FBB-838D-3C3740CFBFF9}"/>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How do we work out whether a professional has breached their DOC? Do we use s5B or s5O or both?</a:t>
            </a:r>
          </a:p>
          <a:p>
            <a:r>
              <a:rPr lang="en-US" sz="2800" dirty="0">
                <a:latin typeface="Times New Roman" panose="02020603050405020304" pitchFamily="18" charset="0"/>
                <a:cs typeface="Times New Roman" panose="02020603050405020304" pitchFamily="18" charset="0"/>
              </a:rPr>
              <a:t>Recent case gives us the answer! (excerpt in next slide)</a:t>
            </a:r>
          </a:p>
          <a:p>
            <a:pPr lvl="1"/>
            <a:r>
              <a:rPr lang="en-US" sz="2600" dirty="0">
                <a:latin typeface="Times New Roman" panose="02020603050405020304" pitchFamily="18" charset="0"/>
                <a:cs typeface="Times New Roman" panose="02020603050405020304" pitchFamily="18" charset="0"/>
              </a:rPr>
              <a:t>s5O is a </a:t>
            </a:r>
            <a:r>
              <a:rPr lang="en-US" sz="2600" dirty="0" err="1">
                <a:latin typeface="Times New Roman" panose="02020603050405020304" pitchFamily="18" charset="0"/>
                <a:cs typeface="Times New Roman" panose="02020603050405020304" pitchFamily="18" charset="0"/>
              </a:rPr>
              <a:t>defence</a:t>
            </a:r>
            <a:r>
              <a:rPr lang="en-US" sz="2600" dirty="0">
                <a:latin typeface="Times New Roman" panose="02020603050405020304" pitchFamily="18" charset="0"/>
                <a:cs typeface="Times New Roman" panose="02020603050405020304" pitchFamily="18" charset="0"/>
              </a:rPr>
              <a:t> </a:t>
            </a:r>
          </a:p>
          <a:p>
            <a:pPr lvl="1"/>
            <a:r>
              <a:rPr lang="en-US" sz="2600" dirty="0">
                <a:latin typeface="Times New Roman" panose="02020603050405020304" pitchFamily="18" charset="0"/>
                <a:cs typeface="Times New Roman" panose="02020603050405020304" pitchFamily="18" charset="0"/>
              </a:rPr>
              <a:t>Where s5O is pleaded by the defendant, apply s5O first:</a:t>
            </a:r>
          </a:p>
          <a:p>
            <a:pPr lvl="2"/>
            <a:r>
              <a:rPr lang="en-US" sz="2400" dirty="0">
                <a:latin typeface="Times New Roman" panose="02020603050405020304" pitchFamily="18" charset="0"/>
                <a:cs typeface="Times New Roman" panose="02020603050405020304" pitchFamily="18" charset="0"/>
              </a:rPr>
              <a:t>If s5O is made out then it supplants the analysis required by s5B. The defendant has not breached their DOC.</a:t>
            </a:r>
          </a:p>
          <a:p>
            <a:pPr lvl="2"/>
            <a:r>
              <a:rPr lang="en-US" sz="2400" dirty="0">
                <a:latin typeface="Times New Roman" panose="02020603050405020304" pitchFamily="18" charset="0"/>
                <a:cs typeface="Times New Roman" panose="02020603050405020304" pitchFamily="18" charset="0"/>
              </a:rPr>
              <a:t>But if the s5O </a:t>
            </a:r>
            <a:r>
              <a:rPr lang="en-US" sz="2400" dirty="0" err="1">
                <a:latin typeface="Times New Roman" panose="02020603050405020304" pitchFamily="18" charset="0"/>
                <a:cs typeface="Times New Roman" panose="02020603050405020304" pitchFamily="18" charset="0"/>
              </a:rPr>
              <a:t>defence</a:t>
            </a:r>
            <a:r>
              <a:rPr lang="en-US" sz="2400" dirty="0">
                <a:latin typeface="Times New Roman" panose="02020603050405020304" pitchFamily="18" charset="0"/>
                <a:cs typeface="Times New Roman" panose="02020603050405020304" pitchFamily="18" charset="0"/>
              </a:rPr>
              <a:t> fails, then the plaintiff needs to satisfy s5B to establish breach.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009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6269-915D-1DA4-41DE-87DF983BF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B996D-8A93-BD51-8072-A95C463C0E5F}"/>
              </a:ext>
            </a:extLst>
          </p:cNvPr>
          <p:cNvSpPr>
            <a:spLocks noGrp="1"/>
          </p:cNvSpPr>
          <p:nvPr>
            <p:ph type="title"/>
          </p:nvPr>
        </p:nvSpPr>
        <p:spPr>
          <a:xfrm>
            <a:off x="720000" y="386398"/>
            <a:ext cx="8458276" cy="648000"/>
          </a:xfrm>
        </p:spPr>
        <p:txBody>
          <a:bodyPr>
            <a:normAutofit/>
          </a:bodyPr>
          <a:lstStyle/>
          <a:p>
            <a:r>
              <a:rPr lang="en-AU" sz="2400" i="1" dirty="0">
                <a:hlinkClick r:id="rId3"/>
              </a:rPr>
              <a:t>Peterkin v Tadros </a:t>
            </a:r>
            <a:r>
              <a:rPr lang="en-AU" sz="2400" dirty="0"/>
              <a:t>[2026] NSWSC 1185 [151]-[154]</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302B68-D704-9ABD-A370-D792230A4D86}"/>
              </a:ext>
            </a:extLst>
          </p:cNvPr>
          <p:cNvSpPr>
            <a:spLocks noGrp="1"/>
          </p:cNvSpPr>
          <p:nvPr>
            <p:ph idx="1"/>
          </p:nvPr>
        </p:nvSpPr>
        <p:spPr>
          <a:xfrm>
            <a:off x="720000" y="1508426"/>
            <a:ext cx="10800001" cy="5074936"/>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[151] Section 5O of the CLA operates as a </a:t>
            </a:r>
            <a:r>
              <a:rPr lang="en-US" dirty="0" err="1">
                <a:latin typeface="Times New Roman" panose="02020603050405020304" pitchFamily="18" charset="0"/>
                <a:cs typeface="Times New Roman" panose="02020603050405020304" pitchFamily="18" charset="0"/>
              </a:rPr>
              <a:t>defence</a:t>
            </a:r>
            <a:r>
              <a:rPr lang="en-US" dirty="0">
                <a:latin typeface="Times New Roman" panose="02020603050405020304" pitchFamily="18" charset="0"/>
                <a:cs typeface="Times New Roman" panose="02020603050405020304" pitchFamily="18" charset="0"/>
              </a:rPr>
              <a:t> in so far as it is a complete answer to a negligence claim under the CLA. Subject to the rationality requirement in subsection (2), the applicable standard of care is a matter for medical judgment, not the Court..</a:t>
            </a:r>
          </a:p>
          <a:p>
            <a:pPr marL="0" indent="0">
              <a:buNone/>
            </a:pPr>
            <a:r>
              <a:rPr lang="en-US" dirty="0">
                <a:latin typeface="Times New Roman" panose="02020603050405020304" pitchFamily="18" charset="0"/>
                <a:cs typeface="Times New Roman" panose="02020603050405020304" pitchFamily="18" charset="0"/>
              </a:rPr>
              <a:t>The Defendant bears the onus of establishing the preconditions in s 5O of the CLA. Those preconditions are, first, that the Defendant was </a:t>
            </a:r>
            <a:r>
              <a:rPr lang="en-US" dirty="0" err="1">
                <a:latin typeface="Times New Roman" panose="02020603050405020304" pitchFamily="18" charset="0"/>
                <a:cs typeface="Times New Roman" panose="02020603050405020304" pitchFamily="18" charset="0"/>
              </a:rPr>
              <a:t>practising</a:t>
            </a:r>
            <a:r>
              <a:rPr lang="en-US" dirty="0">
                <a:latin typeface="Times New Roman" panose="02020603050405020304" pitchFamily="18" charset="0"/>
                <a:cs typeface="Times New Roman" panose="02020603050405020304" pitchFamily="18" charset="0"/>
              </a:rPr>
              <a:t> in a profession and, secondly, that he was doing so in a manner that was widely accepted in Australia by peer professional opinion as competent professional practice.</a:t>
            </a:r>
          </a:p>
          <a:p>
            <a:pPr marL="0" indent="0">
              <a:buNone/>
            </a:pPr>
            <a:r>
              <a:rPr lang="en-US" b="1" dirty="0">
                <a:latin typeface="Times New Roman" panose="02020603050405020304" pitchFamily="18" charset="0"/>
                <a:cs typeface="Times New Roman" panose="02020603050405020304" pitchFamily="18" charset="0"/>
              </a:rPr>
              <a:t>Section 5O(2): Rationality</a:t>
            </a:r>
          </a:p>
          <a:p>
            <a:pPr marL="0" indent="0">
              <a:buNone/>
            </a:pPr>
            <a:r>
              <a:rPr lang="en-US" dirty="0">
                <a:latin typeface="Times New Roman" panose="02020603050405020304" pitchFamily="18" charset="0"/>
                <a:cs typeface="Times New Roman" panose="02020603050405020304" pitchFamily="18" charset="0"/>
              </a:rPr>
              <a:t>The Plaintiff in this matter has not suggested that any peer professional opinion on which the Defendant relies is irrational for the purposes of s 5O(2) of the CLA. I add that the fact that the parties’ competing experts disagree does not cause any problems in this regard, as the peer professional opinion in question need only be widely, not universally, accepted: s 5O(4) of the CLA.</a:t>
            </a:r>
          </a:p>
          <a:p>
            <a:pPr marL="0" indent="0">
              <a:buNone/>
            </a:pPr>
            <a:r>
              <a:rPr lang="en-US" b="1" dirty="0">
                <a:latin typeface="Times New Roman" panose="02020603050405020304" pitchFamily="18" charset="0"/>
                <a:cs typeface="Times New Roman" panose="02020603050405020304" pitchFamily="18" charset="0"/>
              </a:rPr>
              <a:t>Determination</a:t>
            </a:r>
          </a:p>
          <a:p>
            <a:pPr marL="0" indent="0">
              <a:buNone/>
            </a:pPr>
            <a:r>
              <a:rPr lang="en-US" i="1" dirty="0">
                <a:solidFill>
                  <a:schemeClr val="accent1"/>
                </a:solidFill>
                <a:latin typeface="Times New Roman" panose="02020603050405020304" pitchFamily="18" charset="0"/>
                <a:cs typeface="Times New Roman" panose="02020603050405020304" pitchFamily="18" charset="0"/>
              </a:rPr>
              <a:t>Where s 5O of the CLA is made out, it supplants the analysis otherwise required by s 5B and there is no reason to require the evaluation of the professional’s conduct against two separate standards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South-Western Sydney Local Health District v Gould</a:t>
            </a:r>
            <a:r>
              <a:rPr lang="en-US" dirty="0">
                <a:latin typeface="Times New Roman" panose="02020603050405020304" pitchFamily="18" charset="0"/>
                <a:cs typeface="Times New Roman" panose="02020603050405020304" pitchFamily="18" charset="0"/>
              </a:rPr>
              <a:t> (2018) 97 NSWLR 513; [2018] NSWCA 69 (Gould) at 539, 540[127], [129] (Leeming JA, Basten and Meagher JJA agreeing). </a:t>
            </a:r>
            <a:r>
              <a:rPr lang="en-US" i="1" dirty="0">
                <a:solidFill>
                  <a:schemeClr val="accent1"/>
                </a:solidFill>
                <a:latin typeface="Times New Roman" panose="02020603050405020304" pitchFamily="18" charset="0"/>
                <a:cs typeface="Times New Roman" panose="02020603050405020304" pitchFamily="18" charset="0"/>
              </a:rPr>
              <a:t>If those preconditions are not established, then ss 5B and 5C are to be applied</a:t>
            </a:r>
            <a:r>
              <a:rPr lang="en-US" dirty="0">
                <a:latin typeface="Times New Roman" panose="02020603050405020304" pitchFamily="18" charset="0"/>
                <a:cs typeface="Times New Roman" panose="02020603050405020304" pitchFamily="18" charset="0"/>
              </a:rPr>
              <a:t>: Gould at 539 [123]… (emphasis added)</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214419"/>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20250</TotalTime>
  <Words>3006</Words>
  <Application>Microsoft Macintosh PowerPoint</Application>
  <PresentationFormat>Widescreen</PresentationFormat>
  <Paragraphs>335</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Courier New</vt:lpstr>
      <vt:lpstr>Georgia</vt:lpstr>
      <vt:lpstr>Times New Roman</vt:lpstr>
      <vt:lpstr>TimesNewRomanPSMT</vt:lpstr>
      <vt:lpstr>Wingdings</vt:lpstr>
      <vt:lpstr>MAC UNI BASIC_Round 1 Draft for feedback</vt:lpstr>
      <vt:lpstr>LAWS2400 / LAWS8040 – Torts  Week 9 – Lecture 2  Standard of Care and Breach of Duty  </vt:lpstr>
      <vt:lpstr>Outline</vt:lpstr>
      <vt:lpstr>Recap from Lecture 1</vt:lpstr>
      <vt:lpstr>PowerPoint Presentation</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Responding to the foreseeable risk Contd.</vt:lpstr>
      <vt:lpstr>4. Obvious versus inherent risks </vt:lpstr>
      <vt:lpstr>Obvious versus inherent risks Contd.</vt:lpstr>
      <vt:lpstr>Obvious versus inherent risks Contd.</vt:lpstr>
      <vt:lpstr>Obvious versus inherent risks Contd.</vt:lpstr>
      <vt:lpstr>Obvious versus inherent risks Contd.</vt:lpstr>
      <vt:lpstr>5. Unpacking the reasonable person </vt:lpstr>
      <vt:lpstr>5. Unpacking the reasonable person </vt:lpstr>
      <vt:lpstr>Unpacking the reasonable person Contd.</vt:lpstr>
      <vt:lpstr>Unpacking the reasonable person Contd.</vt:lpstr>
      <vt:lpstr>Unpacking the reasonable person Contd.</vt:lpstr>
      <vt:lpstr>Unpacking the reasonable person Contd.</vt:lpstr>
      <vt:lpstr>Unpacking the reasonable person Contd.</vt:lpstr>
      <vt:lpstr>Unpacking the reasonable person Contd.</vt:lpstr>
      <vt:lpstr>Unpacking the reasonable person Contd.</vt:lpstr>
      <vt:lpstr>Unpacking the reasonable person Contd.</vt:lpstr>
      <vt:lpstr>Unpacking the reasonable person Contd.</vt:lpstr>
      <vt:lpstr>Unpacking the reasonable person Contd.</vt:lpstr>
      <vt:lpstr>Peterkin v Tadros [2026] NSWSC 1185 [151]-[154]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Ebony Birchall</cp:lastModifiedBy>
  <cp:revision>2448</cp:revision>
  <dcterms:created xsi:type="dcterms:W3CDTF">2019-01-24T02:12:19Z</dcterms:created>
  <dcterms:modified xsi:type="dcterms:W3CDTF">2026-10-08T02:59:40Z</dcterms:modified>
</cp:coreProperties>
</file>