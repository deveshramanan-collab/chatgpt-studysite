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22"/>
  </p:notesMasterIdLst>
  <p:handoutMasterIdLst>
    <p:handoutMasterId r:id="rId23"/>
  </p:handoutMasterIdLst>
  <p:sldIdLst>
    <p:sldId id="303" r:id="rId2"/>
    <p:sldId id="258" r:id="rId3"/>
    <p:sldId id="337" r:id="rId4"/>
    <p:sldId id="442" r:id="rId5"/>
    <p:sldId id="473" r:id="rId6"/>
    <p:sldId id="474" r:id="rId7"/>
    <p:sldId id="475" r:id="rId8"/>
    <p:sldId id="340" r:id="rId9"/>
    <p:sldId id="486" r:id="rId10"/>
    <p:sldId id="402" r:id="rId11"/>
    <p:sldId id="444" r:id="rId12"/>
    <p:sldId id="443" r:id="rId13"/>
    <p:sldId id="481" r:id="rId14"/>
    <p:sldId id="482" r:id="rId15"/>
    <p:sldId id="483" r:id="rId16"/>
    <p:sldId id="484" r:id="rId17"/>
    <p:sldId id="485" r:id="rId18"/>
    <p:sldId id="487" r:id="rId19"/>
    <p:sldId id="489" r:id="rId20"/>
    <p:sldId id="4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45" autoAdjust="0"/>
    <p:restoredTop sz="93447" autoAdjust="0"/>
  </p:normalViewPr>
  <p:slideViewPr>
    <p:cSldViewPr snapToGrid="0" snapToObjects="1">
      <p:cViewPr varScale="1">
        <p:scale>
          <a:sx n="115" d="100"/>
          <a:sy n="115" d="100"/>
        </p:scale>
        <p:origin x="328" y="192"/>
      </p:cViewPr>
      <p:guideLst/>
    </p:cSldViewPr>
  </p:slideViewPr>
  <p:outlineViewPr>
    <p:cViewPr>
      <p:scale>
        <a:sx n="33" d="100"/>
        <a:sy n="33" d="100"/>
      </p:scale>
      <p:origin x="0" y="-5233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120" d="100"/>
          <a:sy n="120" d="100"/>
        </p:scale>
        <p:origin x="2544" y="-19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a Deva" userId="7fc89188-b279-4464-aad4-6bcc30702912" providerId="ADAL" clId="{CF2652B1-3E29-4F87-A5C5-501F49802C8F}"/>
    <pc:docChg chg="modSld">
      <pc:chgData name="Surya Deva" userId="7fc89188-b279-4464-aad4-6bcc30702912" providerId="ADAL" clId="{CF2652B1-3E29-4F87-A5C5-501F49802C8F}" dt="2024-08-18T01:35:10.722" v="1" actId="113"/>
      <pc:docMkLst>
        <pc:docMk/>
      </pc:docMkLst>
      <pc:sldChg chg="modSp mod">
        <pc:chgData name="Surya Deva" userId="7fc89188-b279-4464-aad4-6bcc30702912" providerId="ADAL" clId="{CF2652B1-3E29-4F87-A5C5-501F49802C8F}" dt="2024-08-18T01:35:10.722" v="1" actId="113"/>
        <pc:sldMkLst>
          <pc:docMk/>
          <pc:sldMk cId="1147857787" sldId="335"/>
        </pc:sldMkLst>
        <pc:spChg chg="mod">
          <ac:chgData name="Surya Deva" userId="7fc89188-b279-4464-aad4-6bcc30702912" providerId="ADAL" clId="{CF2652B1-3E29-4F87-A5C5-501F49802C8F}" dt="2024-08-18T01:35:10.722" v="1" actId="113"/>
          <ac:spMkLst>
            <pc:docMk/>
            <pc:sldMk cId="1147857787" sldId="335"/>
            <ac:spMk id="3" creationId="{EEA464B0-4368-47D8-802B-4FB5B5FAD6E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14/9/2026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14/9/2026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dirty="0"/>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a:t>
            </a:fld>
            <a:endParaRPr lang="en-AU" dirty="0"/>
          </a:p>
        </p:txBody>
      </p:sp>
    </p:spTree>
    <p:extLst>
      <p:ext uri="{BB962C8B-B14F-4D97-AF65-F5344CB8AC3E}">
        <p14:creationId xmlns:p14="http://schemas.microsoft.com/office/powerpoint/2010/main" val="357539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a:p>
        </p:txBody>
      </p:sp>
    </p:spTree>
    <p:extLst>
      <p:ext uri="{BB962C8B-B14F-4D97-AF65-F5344CB8AC3E}">
        <p14:creationId xmlns:p14="http://schemas.microsoft.com/office/powerpoint/2010/main" val="1813171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a:p>
        </p:txBody>
      </p:sp>
    </p:spTree>
    <p:extLst>
      <p:ext uri="{BB962C8B-B14F-4D97-AF65-F5344CB8AC3E}">
        <p14:creationId xmlns:p14="http://schemas.microsoft.com/office/powerpoint/2010/main" val="3089438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a:p>
        </p:txBody>
      </p:sp>
    </p:spTree>
    <p:extLst>
      <p:ext uri="{BB962C8B-B14F-4D97-AF65-F5344CB8AC3E}">
        <p14:creationId xmlns:p14="http://schemas.microsoft.com/office/powerpoint/2010/main" val="1112711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6</a:t>
            </a:fld>
            <a:endParaRPr lang="en-AU"/>
          </a:p>
        </p:txBody>
      </p:sp>
    </p:spTree>
    <p:extLst>
      <p:ext uri="{BB962C8B-B14F-4D97-AF65-F5344CB8AC3E}">
        <p14:creationId xmlns:p14="http://schemas.microsoft.com/office/powerpoint/2010/main" val="410458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7</a:t>
            </a:fld>
            <a:endParaRPr lang="en-AU"/>
          </a:p>
        </p:txBody>
      </p:sp>
    </p:spTree>
    <p:extLst>
      <p:ext uri="{BB962C8B-B14F-4D97-AF65-F5344CB8AC3E}">
        <p14:creationId xmlns:p14="http://schemas.microsoft.com/office/powerpoint/2010/main" val="3439387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8</a:t>
            </a:fld>
            <a:endParaRPr lang="en-AU"/>
          </a:p>
        </p:txBody>
      </p:sp>
    </p:spTree>
    <p:extLst>
      <p:ext uri="{BB962C8B-B14F-4D97-AF65-F5344CB8AC3E}">
        <p14:creationId xmlns:p14="http://schemas.microsoft.com/office/powerpoint/2010/main" val="2732789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C0C4F-36F4-DF9E-093E-466B456B9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F63AD-8688-CBB8-EB98-333F7AD1D5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36574-3B14-FC12-190F-9D9CB5639F8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2559F617-F8F6-2BD2-B0A3-A4D67E279C0D}"/>
              </a:ext>
            </a:extLst>
          </p:cNvPr>
          <p:cNvSpPr>
            <a:spLocks noGrp="1"/>
          </p:cNvSpPr>
          <p:nvPr>
            <p:ph type="sldNum" sz="quarter" idx="5"/>
          </p:nvPr>
        </p:nvSpPr>
        <p:spPr/>
        <p:txBody>
          <a:bodyPr/>
          <a:lstStyle/>
          <a:p>
            <a:fld id="{639142E5-A706-4C60-B43E-D82CA518B040}" type="slidenum">
              <a:rPr lang="en-AU" smtClean="0"/>
              <a:t>9</a:t>
            </a:fld>
            <a:endParaRPr lang="en-AU"/>
          </a:p>
        </p:txBody>
      </p:sp>
    </p:spTree>
    <p:extLst>
      <p:ext uri="{BB962C8B-B14F-4D97-AF65-F5344CB8AC3E}">
        <p14:creationId xmlns:p14="http://schemas.microsoft.com/office/powerpoint/2010/main" val="2674704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10</a:t>
            </a:fld>
            <a:endParaRPr lang="en-AU"/>
          </a:p>
        </p:txBody>
      </p:sp>
    </p:spTree>
    <p:extLst>
      <p:ext uri="{BB962C8B-B14F-4D97-AF65-F5344CB8AC3E}">
        <p14:creationId xmlns:p14="http://schemas.microsoft.com/office/powerpoint/2010/main" val="2320972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11</a:t>
            </a:fld>
            <a:endParaRPr lang="en-AU"/>
          </a:p>
        </p:txBody>
      </p:sp>
    </p:spTree>
    <p:extLst>
      <p:ext uri="{BB962C8B-B14F-4D97-AF65-F5344CB8AC3E}">
        <p14:creationId xmlns:p14="http://schemas.microsoft.com/office/powerpoint/2010/main" val="1724475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12</a:t>
            </a:fld>
            <a:endParaRPr lang="en-AU"/>
          </a:p>
        </p:txBody>
      </p:sp>
    </p:spTree>
    <p:extLst>
      <p:ext uri="{BB962C8B-B14F-4D97-AF65-F5344CB8AC3E}">
        <p14:creationId xmlns:p14="http://schemas.microsoft.com/office/powerpoint/2010/main" val="4151307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13</a:t>
            </a:fld>
            <a:endParaRPr lang="en-AU"/>
          </a:p>
        </p:txBody>
      </p:sp>
    </p:spTree>
    <p:extLst>
      <p:ext uri="{BB962C8B-B14F-4D97-AF65-F5344CB8AC3E}">
        <p14:creationId xmlns:p14="http://schemas.microsoft.com/office/powerpoint/2010/main" val="40069853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14</a:t>
            </a:fld>
            <a:endParaRPr lang="en-AU"/>
          </a:p>
        </p:txBody>
      </p:sp>
    </p:spTree>
    <p:extLst>
      <p:ext uri="{BB962C8B-B14F-4D97-AF65-F5344CB8AC3E}">
        <p14:creationId xmlns:p14="http://schemas.microsoft.com/office/powerpoint/2010/main" val="4277295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15</a:t>
            </a:fld>
            <a:endParaRPr lang="en-AU"/>
          </a:p>
        </p:txBody>
      </p:sp>
    </p:spTree>
    <p:extLst>
      <p:ext uri="{BB962C8B-B14F-4D97-AF65-F5344CB8AC3E}">
        <p14:creationId xmlns:p14="http://schemas.microsoft.com/office/powerpoint/2010/main" val="10798424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16</a:t>
            </a:fld>
            <a:endParaRPr lang="en-AU"/>
          </a:p>
        </p:txBody>
      </p:sp>
    </p:spTree>
    <p:extLst>
      <p:ext uri="{BB962C8B-B14F-4D97-AF65-F5344CB8AC3E}">
        <p14:creationId xmlns:p14="http://schemas.microsoft.com/office/powerpoint/2010/main" val="1253636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2E984-AFF4-825B-74F6-EF6B72C27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08B2A-C854-91FA-6421-476BF6911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2E3E8B-F1E7-4A10-58F9-C3D61BDFCA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2819FFFD-1499-1081-16D7-E558E900D47C}"/>
              </a:ext>
            </a:extLst>
          </p:cNvPr>
          <p:cNvSpPr>
            <a:spLocks noGrp="1"/>
          </p:cNvSpPr>
          <p:nvPr>
            <p:ph type="sldNum" sz="quarter" idx="5"/>
          </p:nvPr>
        </p:nvSpPr>
        <p:spPr/>
        <p:txBody>
          <a:bodyPr/>
          <a:lstStyle/>
          <a:p>
            <a:fld id="{639142E5-A706-4C60-B43E-D82CA518B040}" type="slidenum">
              <a:rPr lang="en-AU" smtClean="0"/>
              <a:t>17</a:t>
            </a:fld>
            <a:endParaRPr lang="en-AU"/>
          </a:p>
        </p:txBody>
      </p:sp>
    </p:spTree>
    <p:extLst>
      <p:ext uri="{BB962C8B-B14F-4D97-AF65-F5344CB8AC3E}">
        <p14:creationId xmlns:p14="http://schemas.microsoft.com/office/powerpoint/2010/main" val="42936307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B5CE9-C78C-8F72-E53D-F8A923893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365DC-9C8C-4203-4883-85CD2022E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5D998-DA08-975D-74A9-3A9E442651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3A5A7501-1A24-1380-879D-3123B5E12774}"/>
              </a:ext>
            </a:extLst>
          </p:cNvPr>
          <p:cNvSpPr>
            <a:spLocks noGrp="1"/>
          </p:cNvSpPr>
          <p:nvPr>
            <p:ph type="sldNum" sz="quarter" idx="5"/>
          </p:nvPr>
        </p:nvSpPr>
        <p:spPr/>
        <p:txBody>
          <a:bodyPr/>
          <a:lstStyle/>
          <a:p>
            <a:fld id="{639142E5-A706-4C60-B43E-D82CA518B040}" type="slidenum">
              <a:rPr lang="en-AU" smtClean="0"/>
              <a:t>18</a:t>
            </a:fld>
            <a:endParaRPr lang="en-AU"/>
          </a:p>
        </p:txBody>
      </p:sp>
    </p:spTree>
    <p:extLst>
      <p:ext uri="{BB962C8B-B14F-4D97-AF65-F5344CB8AC3E}">
        <p14:creationId xmlns:p14="http://schemas.microsoft.com/office/powerpoint/2010/main" val="3828034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7A3C7-B1BA-5654-F051-3DD326224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B97A4-2769-392D-C9ED-8C781CA65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3EE1A-2A0B-73FB-CDDC-56D0776DF1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BB94DE8D-2C4A-28EA-CDF1-053360CF43ED}"/>
              </a:ext>
            </a:extLst>
          </p:cNvPr>
          <p:cNvSpPr>
            <a:spLocks noGrp="1"/>
          </p:cNvSpPr>
          <p:nvPr>
            <p:ph type="sldNum" sz="quarter" idx="5"/>
          </p:nvPr>
        </p:nvSpPr>
        <p:spPr/>
        <p:txBody>
          <a:bodyPr/>
          <a:lstStyle/>
          <a:p>
            <a:fld id="{639142E5-A706-4C60-B43E-D82CA518B040}" type="slidenum">
              <a:rPr lang="en-AU" smtClean="0"/>
              <a:t>19</a:t>
            </a:fld>
            <a:endParaRPr lang="en-AU"/>
          </a:p>
        </p:txBody>
      </p:sp>
    </p:spTree>
    <p:extLst>
      <p:ext uri="{BB962C8B-B14F-4D97-AF65-F5344CB8AC3E}">
        <p14:creationId xmlns:p14="http://schemas.microsoft.com/office/powerpoint/2010/main" val="37592770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9FECF-CA14-403D-1517-8097B3F67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39A41-FD7B-C563-B087-D70F8978C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732E1-30D4-685D-C661-E19B304CAF5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21DA7556-2EAB-A111-510C-75E70CB1B1CB}"/>
              </a:ext>
            </a:extLst>
          </p:cNvPr>
          <p:cNvSpPr>
            <a:spLocks noGrp="1"/>
          </p:cNvSpPr>
          <p:nvPr>
            <p:ph type="sldNum" sz="quarter" idx="5"/>
          </p:nvPr>
        </p:nvSpPr>
        <p:spPr/>
        <p:txBody>
          <a:bodyPr/>
          <a:lstStyle/>
          <a:p>
            <a:fld id="{639142E5-A706-4C60-B43E-D82CA518B040}" type="slidenum">
              <a:rPr lang="en-AU" smtClean="0"/>
              <a:t>20</a:t>
            </a:fld>
            <a:endParaRPr lang="en-AU"/>
          </a:p>
        </p:txBody>
      </p:sp>
    </p:spTree>
    <p:extLst>
      <p:ext uri="{BB962C8B-B14F-4D97-AF65-F5344CB8AC3E}">
        <p14:creationId xmlns:p14="http://schemas.microsoft.com/office/powerpoint/2010/main" val="34809129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dirty="0"/>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dirty="0">
                <a:solidFill>
                  <a:srgbClr val="6D0020"/>
                </a:solidFill>
              </a:rPr>
              <a:t>HEADER INFO</a:t>
            </a:r>
          </a:p>
          <a:p>
            <a:r>
              <a:rPr lang="en-US" dirty="0" err="1">
                <a:latin typeface="Georgia"/>
                <a:cs typeface="Georgia"/>
              </a:rPr>
              <a:t>Consectetur</a:t>
            </a:r>
            <a:r>
              <a:rPr lang="en-US" dirty="0">
                <a:latin typeface="Georgia"/>
                <a:cs typeface="Georgia"/>
              </a:rPr>
              <a:t>  met </a:t>
            </a:r>
            <a:r>
              <a:rPr lang="en-US" dirty="0" err="1">
                <a:latin typeface="Georgia"/>
                <a:cs typeface="Georgia"/>
              </a:rPr>
              <a:t>adipiscing</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Aenean</a:t>
            </a:r>
            <a:r>
              <a:rPr lang="en-US" dirty="0">
                <a:latin typeface="Georgia"/>
                <a:cs typeface="Georgia"/>
              </a:rPr>
              <a:t> ac </a:t>
            </a:r>
            <a:r>
              <a:rPr lang="en-US" dirty="0" err="1">
                <a:latin typeface="Georgia"/>
                <a:cs typeface="Georgia"/>
              </a:rPr>
              <a:t>elit</a:t>
            </a:r>
            <a:r>
              <a:rPr lang="en-US" dirty="0">
                <a:latin typeface="Georgia"/>
                <a:cs typeface="Georgia"/>
              </a:rPr>
              <a:t> a </a:t>
            </a:r>
            <a:r>
              <a:rPr lang="en-US" dirty="0" err="1">
                <a:latin typeface="Georgia"/>
                <a:cs typeface="Georgia"/>
              </a:rPr>
              <a:t>felis</a:t>
            </a:r>
            <a:r>
              <a:rPr lang="en-US" dirty="0">
                <a:latin typeface="Georgia"/>
                <a:cs typeface="Georgia"/>
              </a:rPr>
              <a:t> </a:t>
            </a:r>
            <a:r>
              <a:rPr lang="en-US" dirty="0" err="1">
                <a:latin typeface="Georgia"/>
                <a:cs typeface="Georgia"/>
              </a:rPr>
              <a:t>pharetra</a:t>
            </a:r>
            <a:r>
              <a:rPr lang="en-US" dirty="0">
                <a:latin typeface="Georgia"/>
                <a:cs typeface="Georgia"/>
              </a:rPr>
              <a:t> </a:t>
            </a:r>
            <a:br>
              <a:rPr lang="en-US" dirty="0">
                <a:latin typeface="Georgia"/>
                <a:cs typeface="Georgia"/>
              </a:rPr>
            </a:br>
            <a:r>
              <a:rPr lang="en-US" dirty="0" err="1">
                <a:latin typeface="Georgia"/>
                <a:cs typeface="Georgia"/>
              </a:rPr>
              <a:t>vel</a:t>
            </a:r>
            <a:r>
              <a:rPr lang="en-US" dirty="0">
                <a:latin typeface="Georgia"/>
                <a:cs typeface="Georgia"/>
              </a:rPr>
              <a:t> </a:t>
            </a:r>
            <a:r>
              <a:rPr lang="en-US" dirty="0" err="1">
                <a:latin typeface="Georgia"/>
                <a:cs typeface="Georgia"/>
              </a:rPr>
              <a:t>Fringilla</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Duis</a:t>
            </a:r>
            <a:r>
              <a:rPr lang="en-US" dirty="0">
                <a:latin typeface="Georgia"/>
                <a:cs typeface="Georgia"/>
              </a:rPr>
              <a:t> dui </a:t>
            </a:r>
            <a:r>
              <a:rPr lang="en-US" dirty="0" err="1">
                <a:latin typeface="Georgia"/>
                <a:cs typeface="Georgia"/>
              </a:rPr>
              <a:t>arcu</a:t>
            </a:r>
            <a:r>
              <a:rPr lang="en-US" dirty="0">
                <a:latin typeface="Georgia"/>
                <a:cs typeface="Georgia"/>
              </a:rPr>
              <a:t>, </a:t>
            </a:r>
            <a:r>
              <a:rPr lang="en-US" dirty="0" err="1">
                <a:latin typeface="Georgia"/>
                <a:cs typeface="Georgia"/>
              </a:rPr>
              <a:t>amet</a:t>
            </a:r>
            <a:r>
              <a:rPr lang="en-US" dirty="0">
                <a:latin typeface="Georgia"/>
                <a:cs typeface="Georgia"/>
              </a:rPr>
              <a:t> </a:t>
            </a:r>
            <a:r>
              <a:rPr lang="en-US" dirty="0" err="1">
                <a:latin typeface="Georgia"/>
                <a:cs typeface="Georgia"/>
              </a:rPr>
              <a:t>scelerisque</a:t>
            </a:r>
            <a:r>
              <a:rPr lang="en-US" dirty="0">
                <a:latin typeface="Georgia"/>
                <a:cs typeface="Georgia"/>
              </a:rPr>
              <a:t> </a:t>
            </a:r>
            <a:r>
              <a:rPr lang="en-US" dirty="0" err="1">
                <a:latin typeface="Georgia"/>
                <a:cs typeface="Georgia"/>
              </a:rPr>
              <a:t>nec</a:t>
            </a:r>
            <a:r>
              <a:rPr lang="en-US" dirty="0">
                <a:latin typeface="Georgia"/>
                <a:cs typeface="Georgia"/>
              </a:rPr>
              <a:t> dictum </a:t>
            </a:r>
            <a:br>
              <a:rPr lang="en-US" dirty="0">
                <a:latin typeface="Georgia"/>
                <a:cs typeface="Georgia"/>
              </a:rPr>
            </a:br>
            <a:r>
              <a:rPr lang="en-US" dirty="0">
                <a:latin typeface="Georgia"/>
                <a:cs typeface="Georgia"/>
              </a:rPr>
              <a:t>ac </a:t>
            </a:r>
            <a:r>
              <a:rPr lang="en-US" dirty="0" err="1">
                <a:latin typeface="Georgia"/>
                <a:cs typeface="Georgia"/>
              </a:rPr>
              <a:t>conse</a:t>
            </a:r>
            <a:r>
              <a:rPr lang="en-US" dirty="0">
                <a:latin typeface="Georgia"/>
                <a:cs typeface="Georgia"/>
              </a:rPr>
              <a:t> </a:t>
            </a:r>
            <a:r>
              <a:rPr lang="en-US" dirty="0" err="1">
                <a:latin typeface="Georgia"/>
                <a:cs typeface="Georgia"/>
              </a:rPr>
              <a:t>eu</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Donec</a:t>
            </a:r>
            <a:r>
              <a:rPr lang="en-US" dirty="0">
                <a:latin typeface="Georgia"/>
                <a:cs typeface="Georgia"/>
              </a:rPr>
              <a:t> </a:t>
            </a:r>
            <a:r>
              <a:rPr lang="en-US" dirty="0" err="1">
                <a:latin typeface="Georgia"/>
                <a:cs typeface="Georgia"/>
              </a:rPr>
              <a:t>tincid</a:t>
            </a:r>
            <a:r>
              <a:rPr lang="en-US" dirty="0">
                <a:latin typeface="Georgia"/>
                <a:cs typeface="Georgia"/>
              </a:rPr>
              <a:t> </a:t>
            </a:r>
            <a:r>
              <a:rPr lang="en-US" dirty="0" err="1">
                <a:latin typeface="Georgia"/>
                <a:cs typeface="Georgia"/>
              </a:rPr>
              <a:t>unt</a:t>
            </a:r>
            <a:r>
              <a:rPr lang="en-US" dirty="0">
                <a:latin typeface="Georgia"/>
                <a:cs typeface="Georgia"/>
              </a:rPr>
              <a:t> </a:t>
            </a:r>
            <a:r>
              <a:rPr lang="en-US" dirty="0" err="1">
                <a:latin typeface="Georgia"/>
                <a:cs typeface="Georgia"/>
              </a:rPr>
              <a:t>enim</a:t>
            </a:r>
            <a:r>
              <a:rPr lang="en-US" dirty="0">
                <a:latin typeface="Georgia"/>
                <a:cs typeface="Georgia"/>
              </a:rPr>
              <a:t> sit </a:t>
            </a:r>
            <a:r>
              <a:rPr lang="en-US" dirty="0" err="1">
                <a:latin typeface="Georgia"/>
                <a:cs typeface="Georgia"/>
              </a:rPr>
              <a:t>amet</a:t>
            </a:r>
            <a:r>
              <a:rPr lang="en-US" dirty="0">
                <a:latin typeface="Georgia"/>
                <a:cs typeface="Georgia"/>
              </a:rPr>
              <a:t> </a:t>
            </a:r>
            <a:r>
              <a:rPr lang="en-US" dirty="0" err="1">
                <a:latin typeface="Georgia"/>
                <a:cs typeface="Georgia"/>
              </a:rPr>
              <a:t>consequat</a:t>
            </a:r>
            <a:r>
              <a:rPr lang="en-US" dirty="0">
                <a:latin typeface="Georgia"/>
                <a:cs typeface="Georgia"/>
              </a:rPr>
              <a:t>.</a:t>
            </a:r>
          </a:p>
          <a:p>
            <a:pPr>
              <a:buFont typeface="Arial"/>
              <a:buChar char="•"/>
            </a:pPr>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7"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pPr marL="342900" lvl="7" indent="0"/>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6"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endParaRPr lang="en-US" dirty="0">
              <a:latin typeface="Georgia"/>
              <a:cs typeface="Georgia"/>
            </a:endParaRPr>
          </a:p>
          <a:p>
            <a:endParaRPr lang="en-US" dirty="0"/>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905079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5"/>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20000" y="836784"/>
            <a:ext cx="8544000" cy="648000"/>
          </a:xfrm>
        </p:spPr>
        <p:txBody>
          <a:bodyPr>
            <a:normAutofit fontScale="90000"/>
          </a:bodyPr>
          <a:lstStyle/>
          <a:p>
            <a:pPr algn="ctr"/>
            <a:r>
              <a:rPr lang="en-AU" sz="4000" b="1" dirty="0">
                <a:latin typeface="Times New Roman" panose="02020603050405020304" pitchFamily="18" charset="0"/>
                <a:cs typeface="Times New Roman" panose="02020603050405020304" pitchFamily="18" charset="0"/>
              </a:rPr>
              <a:t>LAWS2400 / LAWS8040 – Torts</a:t>
            </a:r>
            <a:br>
              <a:rPr lang="en-AU" sz="3600" b="1" dirty="0">
                <a:latin typeface="Times New Roman" panose="02020603050405020304" pitchFamily="18" charset="0"/>
                <a:cs typeface="Times New Roman" panose="02020603050405020304" pitchFamily="18" charset="0"/>
              </a:rPr>
            </a:br>
            <a:br>
              <a:rPr lang="en-AU" sz="3600" b="1" dirty="0">
                <a:latin typeface="Times New Roman" panose="02020603050405020304" pitchFamily="18" charset="0"/>
                <a:cs typeface="Times New Roman" panose="02020603050405020304" pitchFamily="18" charset="0"/>
              </a:rPr>
            </a:br>
            <a:r>
              <a:rPr lang="en-AU" sz="3100" b="1" dirty="0">
                <a:latin typeface="Times New Roman" panose="02020603050405020304" pitchFamily="18" charset="0"/>
                <a:cs typeface="Times New Roman" panose="02020603050405020304" pitchFamily="18" charset="0"/>
              </a:rPr>
              <a:t>Week </a:t>
            </a:r>
            <a:r>
              <a:rPr lang="en-AU" sz="3100">
                <a:latin typeface="Times New Roman" panose="02020603050405020304" pitchFamily="18" charset="0"/>
                <a:cs typeface="Times New Roman" panose="02020603050405020304" pitchFamily="18" charset="0"/>
              </a:rPr>
              <a:t>8 – Lecture 2</a:t>
            </a:r>
            <a:br>
              <a:rPr lang="en-AU" sz="3100" b="1" dirty="0">
                <a:latin typeface="Times New Roman" panose="02020603050405020304" pitchFamily="18" charset="0"/>
                <a:cs typeface="Times New Roman" panose="02020603050405020304" pitchFamily="18" charset="0"/>
              </a:rPr>
            </a:br>
            <a:r>
              <a:rPr lang="en-HK" sz="3100" b="1" i="1" dirty="0">
                <a:latin typeface="Times New Roman" panose="02020603050405020304" pitchFamily="18" charset="0"/>
                <a:cs typeface="Times New Roman" panose="02020603050405020304" pitchFamily="18" charset="0"/>
              </a:rPr>
              <a:t>Duty of Care regarding Special Parties </a:t>
            </a:r>
            <a:br>
              <a:rPr lang="en-AU" sz="2900"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E700-BEAF-3248-A54C-F5BEBA340D8C}"/>
              </a:ext>
            </a:extLst>
          </p:cNvPr>
          <p:cNvSpPr>
            <a:spLocks noGrp="1"/>
          </p:cNvSpPr>
          <p:nvPr>
            <p:ph type="title"/>
          </p:nvPr>
        </p:nvSpPr>
        <p:spPr>
          <a:xfrm>
            <a:off x="720000" y="274637"/>
            <a:ext cx="8458276" cy="894943"/>
          </a:xfrm>
        </p:spPr>
        <p:txBody>
          <a:bodyPr>
            <a:normAutofit/>
          </a:bodyPr>
          <a:lstStyle/>
          <a:p>
            <a:r>
              <a:rPr lang="en-US" sz="2800" dirty="0">
                <a:solidFill>
                  <a:schemeClr val="accent3"/>
                </a:solidFill>
                <a:latin typeface="Times New Roman" panose="02020603050405020304" pitchFamily="18" charset="0"/>
                <a:cs typeface="Times New Roman" panose="02020603050405020304" pitchFamily="18" charset="0"/>
              </a:rPr>
              <a:t>Outline</a:t>
            </a:r>
            <a:endParaRPr lang="en-US" sz="28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C9E6F-2A4A-EC4A-903A-6B54DA7E05C6}"/>
              </a:ext>
            </a:extLst>
          </p:cNvPr>
          <p:cNvSpPr>
            <a:spLocks noGrp="1"/>
          </p:cNvSpPr>
          <p:nvPr>
            <p:ph idx="1"/>
          </p:nvPr>
        </p:nvSpPr>
        <p:spPr>
          <a:xfrm>
            <a:off x="720000" y="1509823"/>
            <a:ext cx="11116400" cy="4982417"/>
          </a:xfrm>
        </p:spPr>
        <p:txBody>
          <a:bodyPr>
            <a:noAutofit/>
          </a:bodyPr>
          <a:lstStyle/>
          <a:p>
            <a:pPr marL="971550" lvl="1" indent="-514350">
              <a:buFont typeface="+mj-lt"/>
              <a:buAutoNum type="arabicPeriod"/>
            </a:pPr>
            <a:r>
              <a:rPr lang="en-HK" sz="2800" b="1" dirty="0">
                <a:solidFill>
                  <a:schemeClr val="accent1"/>
                </a:solidFill>
                <a:latin typeface="Times New Roman" panose="02020603050405020304" pitchFamily="18" charset="0"/>
                <a:cs typeface="Times New Roman" panose="02020603050405020304" pitchFamily="18" charset="0"/>
              </a:rPr>
              <a:t>Overview (first lecture)</a:t>
            </a:r>
            <a:endParaRPr lang="en-HK" sz="1200" b="1" dirty="0">
              <a:solidFill>
                <a:schemeClr val="accent1"/>
              </a:solidFill>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solidFill>
                  <a:schemeClr val="accent1"/>
                </a:solidFill>
                <a:latin typeface="Times New Roman" panose="02020603050405020304" pitchFamily="18" charset="0"/>
                <a:cs typeface="Times New Roman" panose="02020603050405020304" pitchFamily="18" charset="0"/>
              </a:rPr>
              <a:t>Public authorities (first lecture)</a:t>
            </a:r>
          </a:p>
          <a:p>
            <a:pPr marL="971550" lvl="1" indent="-514350">
              <a:buFont typeface="+mj-lt"/>
              <a:buAutoNum type="arabicPeriod"/>
            </a:pPr>
            <a:endParaRPr lang="en-HK" sz="12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Landlords </a:t>
            </a:r>
            <a:endParaRPr lang="en-HK" sz="12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Occupiers </a:t>
            </a:r>
            <a:endParaRPr lang="en-HK" sz="12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Immune defendants </a:t>
            </a:r>
            <a:endParaRPr lang="en-HK" sz="12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Children</a:t>
            </a: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Third Parties   </a:t>
            </a:r>
          </a:p>
        </p:txBody>
      </p:sp>
      <p:sp>
        <p:nvSpPr>
          <p:cNvPr id="4" name="Content Placeholder 2">
            <a:extLst>
              <a:ext uri="{FF2B5EF4-FFF2-40B4-BE49-F238E27FC236}">
                <a16:creationId xmlns:a16="http://schemas.microsoft.com/office/drawing/2014/main" id="{E841A502-2C5C-0DB2-4A01-E887AFEE950F}"/>
              </a:ext>
            </a:extLst>
          </p:cNvPr>
          <p:cNvSpPr txBox="1">
            <a:spLocks/>
          </p:cNvSpPr>
          <p:nvPr/>
        </p:nvSpPr>
        <p:spPr>
          <a:xfrm>
            <a:off x="7320939" y="3315955"/>
            <a:ext cx="3714673" cy="1579430"/>
          </a:xfrm>
          <a:prstGeom prst="rect">
            <a:avLst/>
          </a:prstGeom>
          <a:ln w="38100">
            <a:solidFill>
              <a:schemeClr val="accent1"/>
            </a:solidFill>
          </a:ln>
        </p:spPr>
        <p:txBody>
          <a:bodyPr vert="horz" lIns="0" tIns="0" rIns="0" bIns="0" rtlCol="0">
            <a:noAutofit/>
          </a:bodyPr>
          <a:lst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In this week, we will look how the </a:t>
            </a:r>
            <a:r>
              <a:rPr lang="en-US" sz="2000" b="1" dirty="0">
                <a:solidFill>
                  <a:schemeClr val="accent1"/>
                </a:solidFill>
                <a:latin typeface="Times New Roman" panose="02020603050405020304" pitchFamily="18" charset="0"/>
                <a:cs typeface="Times New Roman" panose="02020603050405020304" pitchFamily="18" charset="0"/>
              </a:rPr>
              <a:t>duty of care </a:t>
            </a:r>
            <a:r>
              <a:rPr lang="en-US" sz="2000" dirty="0">
                <a:latin typeface="Times New Roman" panose="02020603050405020304" pitchFamily="18" charset="0"/>
                <a:cs typeface="Times New Roman" panose="02020603050405020304" pitchFamily="18" charset="0"/>
              </a:rPr>
              <a:t>requirements change for certain </a:t>
            </a:r>
            <a:r>
              <a:rPr lang="en-US" sz="2000" b="1" dirty="0">
                <a:latin typeface="Times New Roman" panose="02020603050405020304" pitchFamily="18" charset="0"/>
                <a:cs typeface="Times New Roman" panose="02020603050405020304" pitchFamily="18" charset="0"/>
              </a:rPr>
              <a:t>special parties</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145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3. Landlords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 the past, landlords were held </a:t>
            </a:r>
            <a:r>
              <a:rPr lang="en-US" sz="2800" u="sng" dirty="0">
                <a:latin typeface="Times New Roman" panose="02020603050405020304" pitchFamily="18" charset="0"/>
                <a:cs typeface="Times New Roman" panose="02020603050405020304" pitchFamily="18" charset="0"/>
              </a:rPr>
              <a:t>not</a:t>
            </a:r>
            <a:r>
              <a:rPr lang="en-US" sz="2800" dirty="0">
                <a:latin typeface="Times New Roman" panose="02020603050405020304" pitchFamily="18" charset="0"/>
                <a:cs typeface="Times New Roman" panose="02020603050405020304" pitchFamily="18" charset="0"/>
              </a:rPr>
              <a:t> to have a duty of care – to the tenant or other users of the premises – in respect of defective premises: </a:t>
            </a:r>
            <a:r>
              <a:rPr lang="en-US" sz="2800" i="1" dirty="0">
                <a:solidFill>
                  <a:srgbClr val="0070C0"/>
                </a:solidFill>
                <a:latin typeface="Times New Roman" panose="02020603050405020304" pitchFamily="18" charset="0"/>
                <a:cs typeface="Times New Roman" panose="02020603050405020304" pitchFamily="18" charset="0"/>
              </a:rPr>
              <a:t>Cavalier v Pope</a:t>
            </a:r>
            <a:r>
              <a:rPr lang="en-US" sz="2800" dirty="0">
                <a:solidFill>
                  <a:srgbClr val="0070C0"/>
                </a:solidFill>
                <a:latin typeface="Times New Roman" panose="02020603050405020304" pitchFamily="18" charset="0"/>
                <a:cs typeface="Times New Roman" panose="02020603050405020304" pitchFamily="18" charset="0"/>
              </a:rPr>
              <a:t> (1906)</a:t>
            </a:r>
            <a:r>
              <a:rPr lang="en-US" sz="2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This rule was rejected by the High Court of Australia in </a:t>
            </a:r>
            <a:r>
              <a:rPr lang="en-US" sz="2800" i="1" dirty="0">
                <a:solidFill>
                  <a:srgbClr val="0070C0"/>
                </a:solidFill>
                <a:latin typeface="Times New Roman" panose="02020603050405020304" pitchFamily="18" charset="0"/>
                <a:cs typeface="Times New Roman" panose="02020603050405020304" pitchFamily="18" charset="0"/>
              </a:rPr>
              <a:t>Northern Sandblasting Pty Ltd v Harris</a:t>
            </a:r>
            <a:r>
              <a:rPr lang="en-US" sz="2800" dirty="0">
                <a:solidFill>
                  <a:srgbClr val="0070C0"/>
                </a:solidFill>
                <a:latin typeface="Times New Roman" panose="02020603050405020304" pitchFamily="18" charset="0"/>
                <a:cs typeface="Times New Roman" panose="02020603050405020304" pitchFamily="18" charset="0"/>
              </a:rPr>
              <a:t> (1997) 188 CLR 313</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47723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Landlords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Consider </a:t>
            </a:r>
            <a:r>
              <a:rPr lang="en-US" sz="2800" i="1" dirty="0">
                <a:solidFill>
                  <a:srgbClr val="0070C0"/>
                </a:solidFill>
                <a:latin typeface="Times New Roman" panose="02020603050405020304" pitchFamily="18" charset="0"/>
                <a:cs typeface="Times New Roman" panose="02020603050405020304" pitchFamily="18" charset="0"/>
              </a:rPr>
              <a:t>Jones v Bartlett </a:t>
            </a:r>
            <a:r>
              <a:rPr lang="en-US" sz="2800" dirty="0">
                <a:solidFill>
                  <a:srgbClr val="0070C0"/>
                </a:solidFill>
                <a:latin typeface="Times New Roman" panose="02020603050405020304" pitchFamily="18" charset="0"/>
                <a:cs typeface="Times New Roman" panose="02020603050405020304" pitchFamily="18" charset="0"/>
              </a:rPr>
              <a:t>(2000) 205 CLR 166 </a:t>
            </a:r>
            <a:r>
              <a:rPr lang="en-US" sz="2800" dirty="0">
                <a:solidFill>
                  <a:srgbClr val="7030A0"/>
                </a:solidFill>
                <a:latin typeface="Times New Roman" panose="02020603050405020304" pitchFamily="18" charset="0"/>
                <a:cs typeface="Times New Roman" panose="02020603050405020304" pitchFamily="18" charset="0"/>
              </a:rPr>
              <a:t>(the plaintiff, son of the tenant, injured when he walked through a glass door; the glass door complied with the Australian standards at the time the house was built but not when it was leased; the landlord did not know that the glass door did not comply with the regulations)</a:t>
            </a:r>
            <a:r>
              <a:rPr lang="en-US" sz="2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High Court held that the landlord </a:t>
            </a:r>
            <a:r>
              <a:rPr lang="en-US" sz="2800" b="1" dirty="0">
                <a:latin typeface="Times New Roman" panose="02020603050405020304" pitchFamily="18" charset="0"/>
                <a:cs typeface="Times New Roman" panose="02020603050405020304" pitchFamily="18" charset="0"/>
              </a:rPr>
              <a:t>owed</a:t>
            </a:r>
            <a:r>
              <a:rPr lang="en-US" sz="2800" dirty="0">
                <a:latin typeface="Times New Roman" panose="02020603050405020304" pitchFamily="18" charset="0"/>
                <a:cs typeface="Times New Roman" panose="02020603050405020304" pitchFamily="18" charset="0"/>
              </a:rPr>
              <a:t> a duty of care, but such duty was </a:t>
            </a:r>
            <a:r>
              <a:rPr lang="en-US" sz="2800" b="1" dirty="0">
                <a:latin typeface="Times New Roman" panose="02020603050405020304" pitchFamily="18" charset="0"/>
                <a:cs typeface="Times New Roman" panose="02020603050405020304" pitchFamily="18" charset="0"/>
              </a:rPr>
              <a:t>not breached </a:t>
            </a:r>
            <a:r>
              <a:rPr lang="en-US" sz="2800" dirty="0">
                <a:latin typeface="Times New Roman" panose="02020603050405020304" pitchFamily="18" charset="0"/>
                <a:cs typeface="Times New Roman" panose="02020603050405020304" pitchFamily="18" charset="0"/>
              </a:rPr>
              <a:t>in the circumstances of the case  </a:t>
            </a:r>
          </a:p>
        </p:txBody>
      </p:sp>
    </p:spTree>
    <p:extLst>
      <p:ext uri="{BB962C8B-B14F-4D97-AF65-F5344CB8AC3E}">
        <p14:creationId xmlns:p14="http://schemas.microsoft.com/office/powerpoint/2010/main" val="2954747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Landlords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err="1">
                <a:latin typeface="Times New Roman" panose="02020603050405020304" pitchFamily="18" charset="0"/>
                <a:cs typeface="Times New Roman" panose="02020603050405020304" pitchFamily="18" charset="0"/>
              </a:rPr>
              <a:t>Gummow</a:t>
            </a:r>
            <a:r>
              <a:rPr lang="en-US" sz="2800" dirty="0">
                <a:latin typeface="Times New Roman" panose="02020603050405020304" pitchFamily="18" charset="0"/>
                <a:cs typeface="Times New Roman" panose="02020603050405020304" pitchFamily="18" charset="0"/>
              </a:rPr>
              <a:t> and Hayne JJ noted that the key issue is not whether a duty existed but what was the </a:t>
            </a:r>
            <a:r>
              <a:rPr lang="en-US" sz="2800" b="1" dirty="0">
                <a:latin typeface="Times New Roman" panose="02020603050405020304" pitchFamily="18" charset="0"/>
                <a:cs typeface="Times New Roman" panose="02020603050405020304" pitchFamily="18" charset="0"/>
              </a:rPr>
              <a:t>nature and extent </a:t>
            </a:r>
            <a:r>
              <a:rPr lang="en-US" sz="2800" dirty="0">
                <a:latin typeface="Times New Roman" panose="02020603050405020304" pitchFamily="18" charset="0"/>
                <a:cs typeface="Times New Roman" panose="02020603050405020304" pitchFamily="18" charset="0"/>
              </a:rPr>
              <a:t>of such duty:</a:t>
            </a:r>
          </a:p>
          <a:p>
            <a:pPr marL="0" indent="0">
              <a:buNone/>
            </a:pPr>
            <a:endParaRPr lang="en-US" sz="10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“the content of the landlord’s duty to the tenant will be conterminous with a requirement that the premises be </a:t>
            </a:r>
            <a:r>
              <a:rPr lang="en-US" sz="2800" u="sng" dirty="0">
                <a:latin typeface="Times New Roman" panose="02020603050405020304" pitchFamily="18" charset="0"/>
                <a:cs typeface="Times New Roman" panose="02020603050405020304" pitchFamily="18" charset="0"/>
              </a:rPr>
              <a:t>reasonably fit for</a:t>
            </a:r>
            <a:r>
              <a:rPr lang="en-US" sz="2800" dirty="0">
                <a:latin typeface="Times New Roman" panose="02020603050405020304" pitchFamily="18" charset="0"/>
                <a:cs typeface="Times New Roman" panose="02020603050405020304" pitchFamily="18" charset="0"/>
              </a:rPr>
              <a:t> … </a:t>
            </a:r>
            <a:r>
              <a:rPr lang="en-US" sz="2800" i="1" dirty="0">
                <a:latin typeface="Times New Roman" panose="02020603050405020304" pitchFamily="18" charset="0"/>
                <a:cs typeface="Times New Roman" panose="02020603050405020304" pitchFamily="18" charset="0"/>
              </a:rPr>
              <a:t>habitation as a domestic residence</a:t>
            </a:r>
            <a:r>
              <a:rPr lang="en-US" sz="2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It was observed that the “duty requires a landlord not to let premises that suffer defects which the landlord knows or ought to know make the premises unsafe for the use” </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9163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Landlords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err="1">
                <a:latin typeface="Times New Roman" panose="02020603050405020304" pitchFamily="18" charset="0"/>
                <a:cs typeface="Times New Roman" panose="02020603050405020304" pitchFamily="18" charset="0"/>
              </a:rPr>
              <a:t>Gummow</a:t>
            </a:r>
            <a:r>
              <a:rPr lang="en-US" sz="2800" dirty="0">
                <a:latin typeface="Times New Roman" panose="02020603050405020304" pitchFamily="18" charset="0"/>
                <a:cs typeface="Times New Roman" panose="02020603050405020304" pitchFamily="18" charset="0"/>
              </a:rPr>
              <a:t> and Hayne JJ opined that the duty will be discharged “if the landlord takes </a:t>
            </a:r>
            <a:r>
              <a:rPr lang="en-US" sz="2800" b="1" dirty="0">
                <a:latin typeface="Times New Roman" panose="02020603050405020304" pitchFamily="18" charset="0"/>
                <a:cs typeface="Times New Roman" panose="02020603050405020304" pitchFamily="18" charset="0"/>
              </a:rPr>
              <a:t>reasonable steps </a:t>
            </a:r>
            <a:r>
              <a:rPr lang="en-US" sz="2800" dirty="0">
                <a:latin typeface="Times New Roman" panose="02020603050405020304" pitchFamily="18" charset="0"/>
                <a:cs typeface="Times New Roman" panose="02020603050405020304" pitchFamily="18" charset="0"/>
              </a:rPr>
              <a:t>to ascertain the </a:t>
            </a:r>
            <a:r>
              <a:rPr lang="en-US" sz="2800" u="sng" dirty="0">
                <a:latin typeface="Times New Roman" panose="02020603050405020304" pitchFamily="18" charset="0"/>
                <a:cs typeface="Times New Roman" panose="02020603050405020304" pitchFamily="18" charset="0"/>
              </a:rPr>
              <a:t>existence of any such defects</a:t>
            </a:r>
            <a:r>
              <a:rPr lang="en-US" sz="2800" dirty="0">
                <a:latin typeface="Times New Roman" panose="02020603050405020304" pitchFamily="18" charset="0"/>
                <a:cs typeface="Times New Roman" panose="02020603050405020304" pitchFamily="18" charset="0"/>
              </a:rPr>
              <a:t> and … takes reasonable steps to </a:t>
            </a:r>
            <a:r>
              <a:rPr lang="en-US" sz="2800" u="sng" dirty="0">
                <a:latin typeface="Times New Roman" panose="02020603050405020304" pitchFamily="18" charset="0"/>
                <a:cs typeface="Times New Roman" panose="02020603050405020304" pitchFamily="18" charset="0"/>
              </a:rPr>
              <a:t>remove them</a:t>
            </a:r>
            <a:r>
              <a:rPr lang="en-US" sz="2800" dirty="0">
                <a:latin typeface="Times New Roman" panose="02020603050405020304" pitchFamily="18" charset="0"/>
                <a:cs typeface="Times New Roman" panose="02020603050405020304" pitchFamily="18" charset="0"/>
              </a:rPr>
              <a:t> or make the premises safe”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What constitutes the taking of reasonable steps will depend on all the circumstances of the case </a:t>
            </a:r>
          </a:p>
          <a:p>
            <a:pPr>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 this case, the glass door was </a:t>
            </a:r>
            <a:r>
              <a:rPr lang="en-US" sz="2800" i="1" dirty="0">
                <a:latin typeface="Times New Roman" panose="02020603050405020304" pitchFamily="18" charset="0"/>
                <a:cs typeface="Times New Roman" panose="02020603050405020304" pitchFamily="18" charset="0"/>
              </a:rPr>
              <a:t>not</a:t>
            </a:r>
            <a:r>
              <a:rPr lang="en-US" sz="2800" dirty="0">
                <a:latin typeface="Times New Roman" panose="02020603050405020304" pitchFamily="18" charset="0"/>
                <a:cs typeface="Times New Roman" panose="02020603050405020304" pitchFamily="18" charset="0"/>
              </a:rPr>
              <a:t> held to be a </a:t>
            </a:r>
            <a:r>
              <a:rPr lang="en-US" sz="2800" i="1" dirty="0">
                <a:latin typeface="Times New Roman" panose="02020603050405020304" pitchFamily="18" charset="0"/>
                <a:cs typeface="Times New Roman" panose="02020603050405020304" pitchFamily="18" charset="0"/>
              </a:rPr>
              <a:t>dangerous defect  </a:t>
            </a:r>
          </a:p>
        </p:txBody>
      </p:sp>
    </p:spTree>
    <p:extLst>
      <p:ext uri="{BB962C8B-B14F-4D97-AF65-F5344CB8AC3E}">
        <p14:creationId xmlns:p14="http://schemas.microsoft.com/office/powerpoint/2010/main" val="1004355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Landlords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two judges also clarified that the landlord also owes a duty of care to </a:t>
            </a:r>
            <a:r>
              <a:rPr lang="en-US" sz="2800" b="1" dirty="0">
                <a:latin typeface="Times New Roman" panose="02020603050405020304" pitchFamily="18" charset="0"/>
                <a:cs typeface="Times New Roman" panose="02020603050405020304" pitchFamily="18" charset="0"/>
              </a:rPr>
              <a:t>other entrants</a:t>
            </a:r>
            <a:r>
              <a:rPr lang="en-US" sz="2800" dirty="0">
                <a:latin typeface="Times New Roman" panose="02020603050405020304" pitchFamily="18" charset="0"/>
                <a:cs typeface="Times New Roman" panose="02020603050405020304" pitchFamily="18" charset="0"/>
              </a:rPr>
              <a:t> – though the duty to them will be </a:t>
            </a:r>
            <a:r>
              <a:rPr lang="en-US" sz="2800" i="1" dirty="0">
                <a:latin typeface="Times New Roman" panose="02020603050405020304" pitchFamily="18" charset="0"/>
                <a:cs typeface="Times New Roman" panose="02020603050405020304" pitchFamily="18" charset="0"/>
              </a:rPr>
              <a:t>narrower than owed by an occupier such as a tenant </a:t>
            </a:r>
          </a:p>
        </p:txBody>
      </p:sp>
    </p:spTree>
    <p:extLst>
      <p:ext uri="{BB962C8B-B14F-4D97-AF65-F5344CB8AC3E}">
        <p14:creationId xmlns:p14="http://schemas.microsoft.com/office/powerpoint/2010/main" val="3398749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563526" y="386398"/>
            <a:ext cx="8803758"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4. Occupiers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An occupier is a person/entity who controls the relevant land </a:t>
            </a:r>
          </a:p>
          <a:p>
            <a:pPr marL="0" indent="0">
              <a:buNone/>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Occupiers of land owe a duty of care to people who enter lawfully onto their land. The extent and nature of the duty is subject to different factors such as the relationship between the occupier and entrant, the purpose of entry, and the type of premises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Examples of cases: slipping in supermarkets, injury caused by poor condition of land, guests injured while staying in hotels, commuter injured while using a bus exchange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3290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8A6A3-2A7E-5981-3BB0-265AF6FB8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FA875-B9FB-6C65-0691-CBD3E8E1FFC0}"/>
              </a:ext>
            </a:extLst>
          </p:cNvPr>
          <p:cNvSpPr>
            <a:spLocks noGrp="1"/>
          </p:cNvSpPr>
          <p:nvPr>
            <p:ph type="title"/>
          </p:nvPr>
        </p:nvSpPr>
        <p:spPr>
          <a:xfrm>
            <a:off x="563526" y="386398"/>
            <a:ext cx="8803758"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4. Occupiers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D4A0D6-8B90-ACB0-12AB-5E34A7D692B8}"/>
              </a:ext>
            </a:extLst>
          </p:cNvPr>
          <p:cNvSpPr>
            <a:spLocks noGrp="1"/>
          </p:cNvSpPr>
          <p:nvPr>
            <p:ph idx="1"/>
          </p:nvPr>
        </p:nvSpPr>
        <p:spPr>
          <a:xfrm>
            <a:off x="720000" y="1508426"/>
            <a:ext cx="10800001" cy="5074936"/>
          </a:xfrm>
        </p:spPr>
        <p:txBody>
          <a:bodyPr>
            <a:noAutofit/>
          </a:bodyPr>
          <a:lstStyle/>
          <a:p>
            <a:pPr>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What about a trespasser on land? Are they owed a duty of care? </a:t>
            </a:r>
          </a:p>
          <a:p>
            <a:pPr lvl="1">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‘A person trespasses at their own risk and the occupier is under no duty to him except to refrain from intentional or wanton harm to him….’ </a:t>
            </a:r>
            <a:r>
              <a:rPr lang="en-US" sz="2600" i="1" dirty="0">
                <a:latin typeface="Times New Roman" panose="02020603050405020304" pitchFamily="18" charset="0"/>
                <a:cs typeface="Times New Roman" panose="02020603050405020304" pitchFamily="18" charset="0"/>
              </a:rPr>
              <a:t>Commissioner for Railways v Cardy </a:t>
            </a:r>
            <a:r>
              <a:rPr lang="en-US" sz="2600" dirty="0">
                <a:latin typeface="Times New Roman" panose="02020603050405020304" pitchFamily="18" charset="0"/>
                <a:cs typeface="Times New Roman" panose="02020603050405020304" pitchFamily="18" charset="0"/>
              </a:rPr>
              <a:t>(1960) 104 CLR 274, 286</a:t>
            </a:r>
          </a:p>
          <a:p>
            <a:pPr lvl="1">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But see discussions in our text at 328-329 on cases since then </a:t>
            </a:r>
          </a:p>
          <a:p>
            <a:pPr lvl="1">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The nature of the common law duty of care owed by an occupier to a trespasser remains unresolved but the current trends seem to indicate the High Court is increasingly placing a higher level of responsibility on the plaintiff (</a:t>
            </a:r>
            <a:r>
              <a:rPr lang="en-US" sz="2600" dirty="0" err="1">
                <a:latin typeface="Times New Roman" panose="02020603050405020304" pitchFamily="18" charset="0"/>
                <a:cs typeface="Times New Roman" panose="02020603050405020304" pitchFamily="18" charset="0"/>
              </a:rPr>
              <a:t>ie</a:t>
            </a:r>
            <a:r>
              <a:rPr lang="en-US" sz="2600" dirty="0">
                <a:latin typeface="Times New Roman" panose="02020603050405020304" pitchFamily="18" charset="0"/>
                <a:cs typeface="Times New Roman" panose="02020603050405020304" pitchFamily="18" charset="0"/>
              </a:rPr>
              <a:t> the trespasser) </a:t>
            </a:r>
          </a:p>
          <a:p>
            <a:pPr>
              <a:buFont typeface="Courier New" panose="02070309020205020404" pitchFamily="49" charset="0"/>
              <a:buChar char="o"/>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4760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5. Legal Advocates</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As a matter of public policy, barristers are immune from liability for negligence in relation to:</a:t>
            </a: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 the conduct of cases in court, or </a:t>
            </a: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in relation to such pre-trial matters that are intimately connected with the case at court.</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policy reasons for the immunity were outlined in </a:t>
            </a:r>
            <a:r>
              <a:rPr lang="en-US" sz="2800" i="1" dirty="0">
                <a:latin typeface="Times New Roman" panose="02020603050405020304" pitchFamily="18" charset="0"/>
                <a:cs typeface="Times New Roman" panose="02020603050405020304" pitchFamily="18" charset="0"/>
              </a:rPr>
              <a:t>Giannarelli v Wraith, </a:t>
            </a:r>
            <a:r>
              <a:rPr lang="en-US" sz="2800" dirty="0">
                <a:latin typeface="Times New Roman" panose="02020603050405020304" pitchFamily="18" charset="0"/>
                <a:cs typeface="Times New Roman" panose="02020603050405020304" pitchFamily="18" charset="0"/>
              </a:rPr>
              <a:t>including: </a:t>
            </a: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Advocates duty to court may conflict with duty to client</a:t>
            </a: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Possible waste of court time if advocates present numerous arguments to protect against risk of negligence allegations</a:t>
            </a:r>
          </a:p>
          <a:p>
            <a:pPr lvl="1">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Considerations related to the importance of the finality of judgment </a:t>
            </a:r>
          </a:p>
        </p:txBody>
      </p:sp>
    </p:spTree>
    <p:extLst>
      <p:ext uri="{BB962C8B-B14F-4D97-AF65-F5344CB8AC3E}">
        <p14:creationId xmlns:p14="http://schemas.microsoft.com/office/powerpoint/2010/main" val="1822244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6. Children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Parents may have a duty of care to others to control their child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Consider </a:t>
            </a:r>
            <a:r>
              <a:rPr lang="en-US" sz="2800" i="1" dirty="0">
                <a:solidFill>
                  <a:srgbClr val="0070C0"/>
                </a:solidFill>
                <a:latin typeface="Times New Roman" panose="02020603050405020304" pitchFamily="18" charset="0"/>
                <a:cs typeface="Times New Roman" panose="02020603050405020304" pitchFamily="18" charset="0"/>
              </a:rPr>
              <a:t>Smith v </a:t>
            </a:r>
            <a:r>
              <a:rPr lang="en-US" sz="2800" i="1" dirty="0" err="1">
                <a:solidFill>
                  <a:srgbClr val="0070C0"/>
                </a:solidFill>
                <a:latin typeface="Times New Roman" panose="02020603050405020304" pitchFamily="18" charset="0"/>
                <a:cs typeface="Times New Roman" panose="02020603050405020304" pitchFamily="18" charset="0"/>
              </a:rPr>
              <a:t>Leurs</a:t>
            </a:r>
            <a:r>
              <a:rPr lang="en-US" sz="2800" i="1" dirty="0">
                <a:solidFill>
                  <a:srgbClr val="0070C0"/>
                </a:solidFill>
                <a:latin typeface="Times New Roman" panose="02020603050405020304" pitchFamily="18" charset="0"/>
                <a:cs typeface="Times New Roman" panose="02020603050405020304" pitchFamily="18" charset="0"/>
              </a:rPr>
              <a:t> </a:t>
            </a:r>
            <a:r>
              <a:rPr lang="en-US" sz="2800" dirty="0">
                <a:solidFill>
                  <a:srgbClr val="0070C0"/>
                </a:solidFill>
                <a:latin typeface="Times New Roman" panose="02020603050405020304" pitchFamily="18" charset="0"/>
                <a:cs typeface="Times New Roman" panose="02020603050405020304" pitchFamily="18" charset="0"/>
              </a:rPr>
              <a:t>(1945) 70 CLR 256 </a:t>
            </a:r>
            <a:r>
              <a:rPr lang="en-US" sz="2800" dirty="0">
                <a:solidFill>
                  <a:srgbClr val="7030A0"/>
                </a:solidFill>
                <a:latin typeface="Times New Roman" panose="02020603050405020304" pitchFamily="18" charset="0"/>
                <a:cs typeface="Times New Roman" panose="02020603050405020304" pitchFamily="18" charset="0"/>
              </a:rPr>
              <a:t>(a 13-year-old boy fired a stone from a sling shot, injuring the plaintiff’s eye)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High Court held that a </a:t>
            </a:r>
            <a:r>
              <a:rPr lang="en-US" sz="2800" b="1" dirty="0">
                <a:latin typeface="Times New Roman" panose="02020603050405020304" pitchFamily="18" charset="0"/>
                <a:cs typeface="Times New Roman" panose="02020603050405020304" pitchFamily="18" charset="0"/>
              </a:rPr>
              <a:t>duty was owed</a:t>
            </a:r>
            <a:r>
              <a:rPr lang="en-US" sz="2800" dirty="0">
                <a:latin typeface="Times New Roman" panose="02020603050405020304" pitchFamily="18" charset="0"/>
                <a:cs typeface="Times New Roman" panose="02020603050405020304" pitchFamily="18" charset="0"/>
              </a:rPr>
              <a:t> </a:t>
            </a:r>
            <a:r>
              <a:rPr lang="en-US" sz="2800" u="sng" dirty="0">
                <a:latin typeface="Times New Roman" panose="02020603050405020304" pitchFamily="18" charset="0"/>
                <a:cs typeface="Times New Roman" panose="02020603050405020304" pitchFamily="18" charset="0"/>
              </a:rPr>
              <a:t>but</a:t>
            </a:r>
            <a:r>
              <a:rPr lang="en-US" sz="2800" dirty="0">
                <a:latin typeface="Times New Roman" panose="02020603050405020304" pitchFamily="18" charset="0"/>
                <a:cs typeface="Times New Roman" panose="02020603050405020304" pitchFamily="18" charset="0"/>
              </a:rPr>
              <a:t> it was </a:t>
            </a:r>
            <a:r>
              <a:rPr lang="en-US" sz="2800" b="1" dirty="0">
                <a:latin typeface="Times New Roman" panose="02020603050405020304" pitchFamily="18" charset="0"/>
                <a:cs typeface="Times New Roman" panose="02020603050405020304" pitchFamily="18" charset="0"/>
              </a:rPr>
              <a:t>not breached </a:t>
            </a:r>
            <a:r>
              <a:rPr lang="en-US" sz="2800" dirty="0">
                <a:latin typeface="Times New Roman" panose="02020603050405020304" pitchFamily="18" charset="0"/>
                <a:cs typeface="Times New Roman" panose="02020603050405020304" pitchFamily="18" charset="0"/>
              </a:rPr>
              <a:t>because the parents had taken </a:t>
            </a:r>
            <a:r>
              <a:rPr lang="en-US" sz="2800" i="1" dirty="0">
                <a:latin typeface="Times New Roman" panose="02020603050405020304" pitchFamily="18" charset="0"/>
                <a:cs typeface="Times New Roman" panose="02020603050405020304" pitchFamily="18" charset="0"/>
              </a:rPr>
              <a:t>reasonable steps </a:t>
            </a:r>
            <a:r>
              <a:rPr lang="en-US" sz="2800" dirty="0">
                <a:latin typeface="Times New Roman" panose="02020603050405020304" pitchFamily="18" charset="0"/>
                <a:cs typeface="Times New Roman" panose="02020603050405020304" pitchFamily="18" charset="0"/>
              </a:rPr>
              <a:t>by telling their son not to use sling shot outside their home  </a:t>
            </a:r>
          </a:p>
        </p:txBody>
      </p:sp>
    </p:spTree>
    <p:extLst>
      <p:ext uri="{BB962C8B-B14F-4D97-AF65-F5344CB8AC3E}">
        <p14:creationId xmlns:p14="http://schemas.microsoft.com/office/powerpoint/2010/main" val="1847980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Children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Parents generally owe no duty to a child in respect of feeding, clothing and raising etc.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However, they have a duty to drive carefully so as not to injure a child (or even a </a:t>
            </a:r>
            <a:r>
              <a:rPr lang="en-US" sz="2800" dirty="0" err="1">
                <a:latin typeface="Times New Roman" panose="02020603050405020304" pitchFamily="18" charset="0"/>
                <a:cs typeface="Times New Roman" panose="02020603050405020304" pitchFamily="18" charset="0"/>
              </a:rPr>
              <a:t>foetus</a:t>
            </a:r>
            <a:r>
              <a:rPr lang="en-US" sz="2800"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They should also not create any danger or risk for the child</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7322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Children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Consider </a:t>
            </a:r>
            <a:r>
              <a:rPr lang="en-US" sz="2800" i="1" dirty="0">
                <a:solidFill>
                  <a:srgbClr val="0070C0"/>
                </a:solidFill>
                <a:latin typeface="Times New Roman" panose="02020603050405020304" pitchFamily="18" charset="0"/>
                <a:cs typeface="Times New Roman" panose="02020603050405020304" pitchFamily="18" charset="0"/>
              </a:rPr>
              <a:t>Hahn v Conley </a:t>
            </a:r>
            <a:r>
              <a:rPr lang="en-US" sz="2800" dirty="0">
                <a:solidFill>
                  <a:srgbClr val="0070C0"/>
                </a:solidFill>
                <a:latin typeface="Times New Roman" panose="02020603050405020304" pitchFamily="18" charset="0"/>
                <a:cs typeface="Times New Roman" panose="02020603050405020304" pitchFamily="18" charset="0"/>
              </a:rPr>
              <a:t>(1971) 126 CLR 276 </a:t>
            </a:r>
            <a:r>
              <a:rPr lang="en-US" sz="2800" dirty="0">
                <a:solidFill>
                  <a:srgbClr val="7030A0"/>
                </a:solidFill>
                <a:latin typeface="Times New Roman" panose="02020603050405020304" pitchFamily="18" charset="0"/>
                <a:cs typeface="Times New Roman" panose="02020603050405020304" pitchFamily="18" charset="0"/>
              </a:rPr>
              <a:t>(a grandfather was looking after a child, a 3-year-old girl; she called out from across the road; the grandfather answered the call; the girl crossed the road and was struck by a car; the defendant claimed an indemnity from the grandfather, which was assessed to be 25% of the total damages)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High Court had to consider </a:t>
            </a:r>
            <a:r>
              <a:rPr lang="en-US" sz="2800" u="sng" dirty="0">
                <a:latin typeface="Times New Roman" panose="02020603050405020304" pitchFamily="18" charset="0"/>
                <a:cs typeface="Times New Roman" panose="02020603050405020304" pitchFamily="18" charset="0"/>
              </a:rPr>
              <a:t>whether the girl had a cause of action</a:t>
            </a:r>
            <a:r>
              <a:rPr lang="en-US" sz="2800" dirty="0">
                <a:latin typeface="Times New Roman" panose="02020603050405020304" pitchFamily="18" charset="0"/>
                <a:cs typeface="Times New Roman" panose="02020603050405020304" pitchFamily="18" charset="0"/>
              </a:rPr>
              <a:t> </a:t>
            </a:r>
            <a:r>
              <a:rPr lang="en-US" sz="2800" u="sng" dirty="0">
                <a:latin typeface="Times New Roman" panose="02020603050405020304" pitchFamily="18" charset="0"/>
                <a:cs typeface="Times New Roman" panose="02020603050405020304" pitchFamily="18" charset="0"/>
              </a:rPr>
              <a:t>against her grandfather</a:t>
            </a:r>
            <a:r>
              <a:rPr lang="en-US" sz="2800" dirty="0">
                <a:latin typeface="Times New Roman" panose="02020603050405020304" pitchFamily="18" charset="0"/>
                <a:cs typeface="Times New Roman" panose="02020603050405020304" pitchFamily="18" charset="0"/>
              </a:rPr>
              <a:t> for the injuries </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3984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Children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The Court noted that parents may become liable to the child if the child is led into danger by their actions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However, in the circumstances of the case, the High Court held that the grandfather, as loco parentis, </a:t>
            </a:r>
            <a:r>
              <a:rPr lang="en-US" sz="2800" u="sng" dirty="0">
                <a:latin typeface="Times New Roman" panose="02020603050405020304" pitchFamily="18" charset="0"/>
                <a:cs typeface="Times New Roman" panose="02020603050405020304" pitchFamily="18" charset="0"/>
              </a:rPr>
              <a:t>owed the girl no duty of care</a:t>
            </a:r>
            <a:r>
              <a:rPr lang="en-US" sz="2800" dirty="0">
                <a:latin typeface="Times New Roman" panose="02020603050405020304" pitchFamily="18" charset="0"/>
                <a:cs typeface="Times New Roman" panose="02020603050405020304" pitchFamily="18" charset="0"/>
              </a:rPr>
              <a:t> to protect her against the danger – e.g., </a:t>
            </a:r>
            <a:r>
              <a:rPr lang="en-US" sz="2800" i="1" dirty="0">
                <a:latin typeface="Times New Roman" panose="02020603050405020304" pitchFamily="18" charset="0"/>
                <a:cs typeface="Times New Roman" panose="02020603050405020304" pitchFamily="18" charset="0"/>
              </a:rPr>
              <a:t>he did not call the girl to come to him </a:t>
            </a:r>
          </a:p>
          <a:p>
            <a:pPr marL="0" indent="0">
              <a:buNone/>
            </a:pPr>
            <a:endParaRPr lang="en-US" sz="28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4169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Children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Complex situations </a:t>
            </a:r>
          </a:p>
          <a:p>
            <a:pPr marL="0" indent="0">
              <a:buNone/>
            </a:pPr>
            <a:endParaRPr lang="en-US" sz="10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Unborn children raise a particular difficulty, because until a child is born, she cannot bring an action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However, where a </a:t>
            </a:r>
            <a:r>
              <a:rPr lang="en-US" sz="2800" b="1" dirty="0">
                <a:latin typeface="Times New Roman" panose="02020603050405020304" pitchFamily="18" charset="0"/>
                <a:cs typeface="Times New Roman" panose="02020603050405020304" pitchFamily="18" charset="0"/>
              </a:rPr>
              <a:t>child is injured while in the womb</a:t>
            </a:r>
            <a:r>
              <a:rPr lang="en-US" sz="2800" dirty="0">
                <a:latin typeface="Times New Roman" panose="02020603050405020304" pitchFamily="18" charset="0"/>
                <a:cs typeface="Times New Roman" panose="02020603050405020304" pitchFamily="18" charset="0"/>
              </a:rPr>
              <a:t>, an action for pre-natal injuries may be brought by the child provided the child is later born alive   </a:t>
            </a:r>
          </a:p>
        </p:txBody>
      </p:sp>
    </p:spTree>
    <p:extLst>
      <p:ext uri="{BB962C8B-B14F-4D97-AF65-F5344CB8AC3E}">
        <p14:creationId xmlns:p14="http://schemas.microsoft.com/office/powerpoint/2010/main" val="4178940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Children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r>
              <a:rPr lang="en-US" sz="2800" dirty="0">
                <a:latin typeface="Times New Roman" panose="02020603050405020304" pitchFamily="18" charset="0"/>
                <a:cs typeface="Times New Roman" panose="02020603050405020304" pitchFamily="18" charset="0"/>
              </a:rPr>
              <a:t>Action by </a:t>
            </a:r>
            <a:r>
              <a:rPr lang="en-US" sz="2800" i="1" dirty="0">
                <a:latin typeface="Times New Roman" panose="02020603050405020304" pitchFamily="18" charset="0"/>
                <a:cs typeface="Times New Roman" panose="02020603050405020304" pitchFamily="18" charset="0"/>
              </a:rPr>
              <a:t>parents</a:t>
            </a:r>
            <a:r>
              <a:rPr lang="en-US" sz="2800" dirty="0">
                <a:latin typeface="Times New Roman" panose="02020603050405020304" pitchFamily="18" charset="0"/>
                <a:cs typeface="Times New Roman" panose="02020603050405020304" pitchFamily="18" charset="0"/>
              </a:rPr>
              <a:t> have also been brought for the following:</a:t>
            </a:r>
          </a:p>
          <a:p>
            <a:endParaRPr lang="en-US" sz="800" dirty="0">
              <a:latin typeface="Times New Roman" panose="02020603050405020304" pitchFamily="18" charset="0"/>
              <a:cs typeface="Times New Roman" panose="02020603050405020304" pitchFamily="18" charset="0"/>
            </a:endParaRPr>
          </a:p>
          <a:p>
            <a:pPr marL="1428750" lvl="2" indent="-514350">
              <a:buFont typeface="+mj-lt"/>
              <a:buAutoNum type="arabicPeriod"/>
            </a:pPr>
            <a:r>
              <a:rPr lang="en-US" sz="2800" b="1" dirty="0">
                <a:latin typeface="Times New Roman" panose="02020603050405020304" pitchFamily="18" charset="0"/>
                <a:cs typeface="Times New Roman" panose="02020603050405020304" pitchFamily="18" charset="0"/>
              </a:rPr>
              <a:t>Wrongful conception </a:t>
            </a:r>
            <a:r>
              <a:rPr lang="en-US" sz="2800" dirty="0">
                <a:latin typeface="Times New Roman" panose="02020603050405020304" pitchFamily="18" charset="0"/>
                <a:cs typeface="Times New Roman" panose="02020603050405020304" pitchFamily="18" charset="0"/>
              </a:rPr>
              <a:t>– the mother would not have conceived if not for the negligence </a:t>
            </a:r>
          </a:p>
          <a:p>
            <a:pPr marL="1428750" lvl="2" indent="-514350">
              <a:buFont typeface="+mj-lt"/>
              <a:buAutoNum type="arabicPeriod"/>
            </a:pPr>
            <a:endParaRPr lang="en-US" sz="1000" dirty="0">
              <a:latin typeface="Times New Roman" panose="02020603050405020304" pitchFamily="18" charset="0"/>
              <a:cs typeface="Times New Roman" panose="02020603050405020304" pitchFamily="18" charset="0"/>
            </a:endParaRPr>
          </a:p>
          <a:p>
            <a:pPr marL="1428750" lvl="2" indent="-514350">
              <a:buFont typeface="+mj-lt"/>
              <a:buAutoNum type="arabicPeriod"/>
            </a:pPr>
            <a:r>
              <a:rPr lang="en-US" sz="2800" b="1" dirty="0">
                <a:latin typeface="Times New Roman" panose="02020603050405020304" pitchFamily="18" charset="0"/>
                <a:cs typeface="Times New Roman" panose="02020603050405020304" pitchFamily="18" charset="0"/>
              </a:rPr>
              <a:t>Wrongful birth </a:t>
            </a:r>
            <a:r>
              <a:rPr lang="en-US" sz="2800" dirty="0">
                <a:latin typeface="Times New Roman" panose="02020603050405020304" pitchFamily="18" charset="0"/>
                <a:cs typeface="Times New Roman" panose="02020603050405020304" pitchFamily="18" charset="0"/>
              </a:rPr>
              <a:t>– the pregnancy would have been terminated but for negligence </a:t>
            </a:r>
          </a:p>
          <a:p>
            <a:pPr marL="571500" indent="-514350"/>
            <a:endParaRPr lang="en-US" sz="2000" b="1" dirty="0">
              <a:latin typeface="Times New Roman" panose="02020603050405020304" pitchFamily="18" charset="0"/>
              <a:cs typeface="Times New Roman" panose="02020603050405020304" pitchFamily="18" charset="0"/>
            </a:endParaRPr>
          </a:p>
          <a:p>
            <a:pPr marL="571500" indent="-514350"/>
            <a:r>
              <a:rPr lang="en-US" sz="2800" dirty="0">
                <a:latin typeface="Times New Roman" panose="02020603050405020304" pitchFamily="18" charset="0"/>
                <a:cs typeface="Times New Roman" panose="02020603050405020304" pitchFamily="18" charset="0"/>
              </a:rPr>
              <a:t>Moreover, actions have been brought by the </a:t>
            </a:r>
            <a:r>
              <a:rPr lang="en-US" sz="2800" i="1" dirty="0">
                <a:latin typeface="Times New Roman" panose="02020603050405020304" pitchFamily="18" charset="0"/>
                <a:cs typeface="Times New Roman" panose="02020603050405020304" pitchFamily="18" charset="0"/>
              </a:rPr>
              <a:t>child</a:t>
            </a:r>
            <a:r>
              <a:rPr lang="en-US" sz="2800" dirty="0">
                <a:latin typeface="Times New Roman" panose="02020603050405020304" pitchFamily="18" charset="0"/>
                <a:cs typeface="Times New Roman" panose="02020603050405020304" pitchFamily="18" charset="0"/>
              </a:rPr>
              <a:t> for </a:t>
            </a:r>
            <a:r>
              <a:rPr lang="en-US" sz="2800" b="1" dirty="0">
                <a:latin typeface="Times New Roman" panose="02020603050405020304" pitchFamily="18" charset="0"/>
                <a:cs typeface="Times New Roman" panose="02020603050405020304" pitchFamily="18" charset="0"/>
              </a:rPr>
              <a:t>wrongful life </a:t>
            </a:r>
            <a:r>
              <a:rPr lang="en-US" sz="2800" dirty="0">
                <a:latin typeface="Times New Roman" panose="02020603050405020304" pitchFamily="18" charset="0"/>
                <a:cs typeface="Times New Roman" panose="02020603050405020304" pitchFamily="18" charset="0"/>
              </a:rPr>
              <a:t>– the pregnancy should have been terminated because of handicap </a:t>
            </a:r>
          </a:p>
          <a:p>
            <a:pPr marL="0" indent="0">
              <a:buNone/>
            </a:pPr>
            <a:endParaRPr lang="en-US" sz="20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These actions tend to be controversial for various reasons (</a:t>
            </a:r>
            <a:r>
              <a:rPr lang="en-US" sz="2800" dirty="0" err="1">
                <a:latin typeface="Times New Roman" panose="02020603050405020304" pitchFamily="18" charset="0"/>
                <a:cs typeface="Times New Roman" panose="02020603050405020304" pitchFamily="18" charset="0"/>
              </a:rPr>
              <a:t>eg</a:t>
            </a:r>
            <a:r>
              <a:rPr lang="en-US" sz="2800" dirty="0">
                <a:latin typeface="Times New Roman" panose="02020603050405020304" pitchFamily="18" charset="0"/>
                <a:cs typeface="Times New Roman" panose="02020603050405020304" pitchFamily="18" charset="0"/>
              </a:rPr>
              <a:t> how do you put a value on life?)</a:t>
            </a:r>
          </a:p>
        </p:txBody>
      </p:sp>
    </p:spTree>
    <p:extLst>
      <p:ext uri="{BB962C8B-B14F-4D97-AF65-F5344CB8AC3E}">
        <p14:creationId xmlns:p14="http://schemas.microsoft.com/office/powerpoint/2010/main" val="1323819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7D3ED-0FC0-F5AA-ADE9-3BF679E9D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1884D-7CA8-5C8D-E0F2-CAEFC5169571}"/>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7. Third Parties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A968EBA-9C28-5227-987C-2E2E437631BD}"/>
              </a:ext>
            </a:extLst>
          </p:cNvPr>
          <p:cNvSpPr>
            <a:spLocks noGrp="1"/>
          </p:cNvSpPr>
          <p:nvPr>
            <p:ph idx="1"/>
          </p:nvPr>
        </p:nvSpPr>
        <p:spPr>
          <a:xfrm>
            <a:off x="720001" y="1508426"/>
            <a:ext cx="5892672" cy="5074936"/>
          </a:xfrm>
        </p:spPr>
        <p:txBody>
          <a:bodyPr>
            <a:noAutofit/>
          </a:bodyPr>
          <a:lstStyle/>
          <a:p>
            <a:r>
              <a:rPr lang="en-US" sz="2800" dirty="0">
                <a:latin typeface="Times New Roman" panose="02020603050405020304" pitchFamily="18" charset="0"/>
                <a:cs typeface="Times New Roman" panose="02020603050405020304" pitchFamily="18" charset="0"/>
              </a:rPr>
              <a:t>A duty of care may exist in relation to conduct by third parties causing injury or damage to the plaintiff. </a:t>
            </a:r>
          </a:p>
          <a:p>
            <a:r>
              <a:rPr lang="en-US" sz="2800" dirty="0">
                <a:latin typeface="Times New Roman" panose="02020603050405020304" pitchFamily="18" charset="0"/>
                <a:cs typeface="Times New Roman" panose="02020603050405020304" pitchFamily="18" charset="0"/>
              </a:rPr>
              <a:t>For example, youth detainees (third party) under the control of prison authority (defendant) causes damage to plaintiff – </a:t>
            </a:r>
            <a:r>
              <a:rPr lang="en-US" sz="2800" i="1" dirty="0">
                <a:latin typeface="Times New Roman" panose="02020603050405020304" pitchFamily="18" charset="0"/>
                <a:cs typeface="Times New Roman" panose="02020603050405020304" pitchFamily="18" charset="0"/>
              </a:rPr>
              <a:t>Home Office v Dorset Yacht </a:t>
            </a:r>
            <a:endParaRPr lang="en-US" sz="2800" dirty="0">
              <a:latin typeface="Times New Roman" panose="02020603050405020304" pitchFamily="18" charset="0"/>
              <a:cs typeface="Times New Roman" panose="02020603050405020304" pitchFamily="18" charset="0"/>
            </a:endParaRPr>
          </a:p>
        </p:txBody>
      </p:sp>
      <p:sp>
        <p:nvSpPr>
          <p:cNvPr id="4" name="Right Triangle 3">
            <a:extLst>
              <a:ext uri="{FF2B5EF4-FFF2-40B4-BE49-F238E27FC236}">
                <a16:creationId xmlns:a16="http://schemas.microsoft.com/office/drawing/2014/main" id="{A3C3A80E-B215-64C3-6A22-06E79246B319}"/>
              </a:ext>
            </a:extLst>
          </p:cNvPr>
          <p:cNvSpPr/>
          <p:nvPr/>
        </p:nvSpPr>
        <p:spPr>
          <a:xfrm>
            <a:off x="8419993" y="2408663"/>
            <a:ext cx="2597412" cy="2330605"/>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E56F68D-4C03-3175-97DD-6A04DE471ACE}"/>
              </a:ext>
            </a:extLst>
          </p:cNvPr>
          <p:cNvSpPr txBox="1"/>
          <p:nvPr/>
        </p:nvSpPr>
        <p:spPr>
          <a:xfrm>
            <a:off x="7761249" y="1650819"/>
            <a:ext cx="2129882" cy="646331"/>
          </a:xfrm>
          <a:prstGeom prst="rect">
            <a:avLst/>
          </a:prstGeom>
          <a:noFill/>
        </p:spPr>
        <p:txBody>
          <a:bodyPr wrap="square" rtlCol="0">
            <a:spAutoFit/>
          </a:bodyPr>
          <a:lstStyle/>
          <a:p>
            <a:r>
              <a:rPr lang="en-US" dirty="0"/>
              <a:t>Plaintiff suffers loss/damage </a:t>
            </a:r>
          </a:p>
        </p:txBody>
      </p:sp>
      <p:sp>
        <p:nvSpPr>
          <p:cNvPr id="6" name="TextBox 5">
            <a:extLst>
              <a:ext uri="{FF2B5EF4-FFF2-40B4-BE49-F238E27FC236}">
                <a16:creationId xmlns:a16="http://schemas.microsoft.com/office/drawing/2014/main" id="{442AFA1C-F838-D2CB-F1E7-3BE99C5A8AB7}"/>
              </a:ext>
            </a:extLst>
          </p:cNvPr>
          <p:cNvSpPr txBox="1"/>
          <p:nvPr/>
        </p:nvSpPr>
        <p:spPr>
          <a:xfrm>
            <a:off x="10671717" y="5118410"/>
            <a:ext cx="1371600" cy="923330"/>
          </a:xfrm>
          <a:prstGeom prst="rect">
            <a:avLst/>
          </a:prstGeom>
          <a:noFill/>
        </p:spPr>
        <p:txBody>
          <a:bodyPr wrap="square" rtlCol="0">
            <a:spAutoFit/>
          </a:bodyPr>
          <a:lstStyle/>
          <a:p>
            <a:r>
              <a:rPr lang="en-US" dirty="0"/>
              <a:t>Defendant Owes a Duty to </a:t>
            </a:r>
            <a:r>
              <a:rPr lang="en-US" dirty="0" err="1"/>
              <a:t>Plt</a:t>
            </a:r>
            <a:r>
              <a:rPr lang="en-US" dirty="0"/>
              <a:t> </a:t>
            </a:r>
          </a:p>
        </p:txBody>
      </p:sp>
      <p:sp>
        <p:nvSpPr>
          <p:cNvPr id="11" name="TextBox 10">
            <a:extLst>
              <a:ext uri="{FF2B5EF4-FFF2-40B4-BE49-F238E27FC236}">
                <a16:creationId xmlns:a16="http://schemas.microsoft.com/office/drawing/2014/main" id="{4018964B-2428-C0A5-1E95-1574B8CDB82A}"/>
              </a:ext>
            </a:extLst>
          </p:cNvPr>
          <p:cNvSpPr txBox="1"/>
          <p:nvPr/>
        </p:nvSpPr>
        <p:spPr>
          <a:xfrm>
            <a:off x="7850459" y="4962293"/>
            <a:ext cx="1226634" cy="923330"/>
          </a:xfrm>
          <a:prstGeom prst="rect">
            <a:avLst/>
          </a:prstGeom>
          <a:noFill/>
        </p:spPr>
        <p:txBody>
          <a:bodyPr wrap="square" rtlCol="0">
            <a:spAutoFit/>
          </a:bodyPr>
          <a:lstStyle/>
          <a:p>
            <a:r>
              <a:rPr lang="en-US" dirty="0"/>
              <a:t>Third Party Conduct  </a:t>
            </a:r>
          </a:p>
        </p:txBody>
      </p:sp>
    </p:spTree>
    <p:extLst>
      <p:ext uri="{BB962C8B-B14F-4D97-AF65-F5344CB8AC3E}">
        <p14:creationId xmlns:p14="http://schemas.microsoft.com/office/powerpoint/2010/main" val="3642519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9A412-D578-2F7E-F814-9E6854CFF5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4383E-3A60-329F-DA21-3572F632D1F2}"/>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8. Third Parties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431E0F-5EC3-ED85-A67D-9CDAAACF0478}"/>
              </a:ext>
            </a:extLst>
          </p:cNvPr>
          <p:cNvSpPr>
            <a:spLocks noGrp="1"/>
          </p:cNvSpPr>
          <p:nvPr>
            <p:ph idx="1"/>
          </p:nvPr>
        </p:nvSpPr>
        <p:spPr>
          <a:xfrm>
            <a:off x="720000" y="1508426"/>
            <a:ext cx="10676545" cy="5074936"/>
          </a:xfrm>
        </p:spPr>
        <p:txBody>
          <a:bodyPr>
            <a:noAutofit/>
          </a:bodyPr>
          <a:lstStyle/>
          <a:p>
            <a:r>
              <a:rPr lang="en-US" sz="2800" dirty="0">
                <a:latin typeface="Times New Roman" panose="02020603050405020304" pitchFamily="18" charset="0"/>
                <a:cs typeface="Times New Roman" panose="02020603050405020304" pitchFamily="18" charset="0"/>
              </a:rPr>
              <a:t>A duty of care owed by the defendant in relation to conduct of a third party is only found in certain circumstances, usually when there is:</a:t>
            </a:r>
          </a:p>
          <a:p>
            <a:pPr lvl="1"/>
            <a:r>
              <a:rPr lang="en-US" sz="2600" dirty="0">
                <a:latin typeface="Times New Roman" panose="02020603050405020304" pitchFamily="18" charset="0"/>
                <a:cs typeface="Times New Roman" panose="02020603050405020304" pitchFamily="18" charset="0"/>
              </a:rPr>
              <a:t> a pre-existing relationship (between the defendant and the plaintiff, or between the defendant and the third party), or </a:t>
            </a:r>
          </a:p>
          <a:p>
            <a:pPr lvl="1"/>
            <a:r>
              <a:rPr lang="en-US" sz="2600" dirty="0">
                <a:latin typeface="Times New Roman" panose="02020603050405020304" pitchFamily="18" charset="0"/>
                <a:cs typeface="Times New Roman" panose="02020603050405020304" pitchFamily="18" charset="0"/>
              </a:rPr>
              <a:t>a situation of control</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0021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1579E-6E91-AA6B-16EA-2BF484B01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7D5DD-4A07-2948-2374-FC20F8C0F7CB}"/>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8. Third Parties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647F8E7-6943-51AD-EC91-316C6D49C240}"/>
              </a:ext>
            </a:extLst>
          </p:cNvPr>
          <p:cNvSpPr>
            <a:spLocks noGrp="1"/>
          </p:cNvSpPr>
          <p:nvPr>
            <p:ph idx="1"/>
          </p:nvPr>
        </p:nvSpPr>
        <p:spPr>
          <a:xfrm>
            <a:off x="720000" y="1508426"/>
            <a:ext cx="10676545" cy="5074936"/>
          </a:xfrm>
        </p:spPr>
        <p:txBody>
          <a:bodyPr>
            <a:noAutofit/>
          </a:bodyPr>
          <a:lstStyle/>
          <a:p>
            <a:r>
              <a:rPr lang="en-AU" sz="2000" i="1" dirty="0">
                <a:latin typeface="Times New Roman" panose="02020603050405020304" pitchFamily="18" charset="0"/>
                <a:cs typeface="Times New Roman" panose="02020603050405020304" pitchFamily="18" charset="0"/>
              </a:rPr>
              <a:t>Home Office v Dorset Yacht Co Ltd</a:t>
            </a:r>
            <a:r>
              <a:rPr lang="en-AU" sz="2000" dirty="0">
                <a:latin typeface="Times New Roman" panose="02020603050405020304" pitchFamily="18" charset="0"/>
                <a:cs typeface="Times New Roman" panose="02020603050405020304" pitchFamily="18" charset="0"/>
              </a:rPr>
              <a:t> [1970] established that a duty of care can arise where a defendant has control over a third party who poses a foreseeable risk of harm to others, although policy considerations may limit the scope of the duty.</a:t>
            </a:r>
          </a:p>
          <a:p>
            <a:pPr marL="342900" lvl="0" indent="-342900">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Boys escaped from detention operated by the Home Office and caused significant damage to several yachts in the nearby harbour. The yacht owners sued the Home Office for negligence.</a:t>
            </a:r>
          </a:p>
          <a:p>
            <a:pPr marL="342900" lvl="0" indent="-342900">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The House of Lords held that the Home Office owed the yacht owners a duty of care. It was reasonably foreseeable that the boys might cause damage if they escaped.</a:t>
            </a:r>
          </a:p>
          <a:p>
            <a:pPr marL="342900" lvl="0" indent="-342900">
              <a:buFont typeface="Arial" panose="020B0604020202020204" pitchFamily="34" charset="0"/>
              <a:buChar char="•"/>
            </a:pPr>
            <a:r>
              <a:rPr lang="en-AU" sz="2000" dirty="0">
                <a:latin typeface="Times New Roman" panose="02020603050405020304" pitchFamily="18" charset="0"/>
                <a:cs typeface="Times New Roman" panose="02020603050405020304" pitchFamily="18" charset="0"/>
              </a:rPr>
              <a:t>Key reasoning: The detention officers had control over the boys. The </a:t>
            </a:r>
            <a:r>
              <a:rPr lang="en-US" sz="2000" dirty="0">
                <a:latin typeface="Times New Roman" panose="02020603050405020304" pitchFamily="18" charset="0"/>
                <a:cs typeface="Times New Roman" panose="02020603050405020304" pitchFamily="18" charset="0"/>
              </a:rPr>
              <a:t>duty of care was based on the reasonable foreseeability of the damage caused on escape, but the court limited the scope of the duty to damage caused in the vicinity immediately after escape. For reasons of policy, no duty of care existed as regards further damage inflicted by the escapees while they remained at large.</a:t>
            </a:r>
          </a:p>
        </p:txBody>
      </p:sp>
    </p:spTree>
    <p:extLst>
      <p:ext uri="{BB962C8B-B14F-4D97-AF65-F5344CB8AC3E}">
        <p14:creationId xmlns:p14="http://schemas.microsoft.com/office/powerpoint/2010/main" val="1319677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820C8-5928-7A8E-5AA1-FCA27D2DE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694AC-0787-94B4-02CB-F695231C65F5}"/>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8. Third Parties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C52FBE-2794-078D-2C1E-7C89326AC768}"/>
              </a:ext>
            </a:extLst>
          </p:cNvPr>
          <p:cNvSpPr>
            <a:spLocks noGrp="1"/>
          </p:cNvSpPr>
          <p:nvPr>
            <p:ph idx="1"/>
          </p:nvPr>
        </p:nvSpPr>
        <p:spPr>
          <a:xfrm>
            <a:off x="720000" y="1508426"/>
            <a:ext cx="10676545" cy="5074936"/>
          </a:xfrm>
        </p:spPr>
        <p:txBody>
          <a:bodyPr>
            <a:noAutofit/>
          </a:bodyPr>
          <a:lstStyle/>
          <a:p>
            <a:pPr marL="0" lvl="0" indent="0">
              <a:buNone/>
            </a:pPr>
            <a:r>
              <a:rPr lang="en-AU" sz="2000" dirty="0">
                <a:latin typeface="Times New Roman" panose="02020603050405020304" pitchFamily="18" charset="0"/>
                <a:cs typeface="Times New Roman" panose="02020603050405020304" pitchFamily="18" charset="0"/>
              </a:rPr>
              <a:t>However, compare </a:t>
            </a:r>
            <a:r>
              <a:rPr lang="en-AU" sz="2000" i="1" dirty="0">
                <a:latin typeface="Times New Roman" panose="02020603050405020304" pitchFamily="18" charset="0"/>
                <a:cs typeface="Times New Roman" panose="02020603050405020304" pitchFamily="18" charset="0"/>
              </a:rPr>
              <a:t>Dorset Yacht </a:t>
            </a:r>
            <a:r>
              <a:rPr lang="en-AU" sz="2000" dirty="0">
                <a:latin typeface="Times New Roman" panose="02020603050405020304" pitchFamily="18" charset="0"/>
                <a:cs typeface="Times New Roman" panose="02020603050405020304" pitchFamily="18" charset="0"/>
              </a:rPr>
              <a:t>to </a:t>
            </a:r>
            <a:r>
              <a:rPr lang="en-AU" sz="2000" i="1" dirty="0">
                <a:latin typeface="Times New Roman" panose="02020603050405020304" pitchFamily="18" charset="0"/>
                <a:cs typeface="Times New Roman" panose="02020603050405020304" pitchFamily="18" charset="0"/>
              </a:rPr>
              <a:t>Modbury Triangle Centre Ltd v </a:t>
            </a:r>
            <a:r>
              <a:rPr lang="en-AU" sz="2000" i="1" dirty="0" err="1">
                <a:latin typeface="Times New Roman" panose="02020603050405020304" pitchFamily="18" charset="0"/>
                <a:cs typeface="Times New Roman" panose="02020603050405020304" pitchFamily="18" charset="0"/>
              </a:rPr>
              <a:t>Anzil</a:t>
            </a:r>
            <a:r>
              <a:rPr lang="en-AU" sz="2000" dirty="0">
                <a:latin typeface="Times New Roman" panose="02020603050405020304" pitchFamily="18" charset="0"/>
                <a:cs typeface="Times New Roman" panose="02020603050405020304" pitchFamily="18" charset="0"/>
              </a:rPr>
              <a:t> (2000):</a:t>
            </a:r>
          </a:p>
          <a:p>
            <a:pPr marL="0" lvl="0" indent="0">
              <a:buNone/>
            </a:pPr>
            <a:endParaRPr lang="en-AU" sz="2000" dirty="0">
              <a:latin typeface="Times New Roman" panose="02020603050405020304" pitchFamily="18" charset="0"/>
              <a:cs typeface="Times New Roman" panose="02020603050405020304" pitchFamily="18" charset="0"/>
            </a:endParaRPr>
          </a:p>
          <a:p>
            <a:pPr lvl="0"/>
            <a:r>
              <a:rPr lang="en-AU" sz="2000" dirty="0">
                <a:latin typeface="Times New Roman" panose="02020603050405020304" pitchFamily="18" charset="0"/>
                <a:cs typeface="Times New Roman" panose="02020603050405020304" pitchFamily="18" charset="0"/>
              </a:rPr>
              <a:t>An employee of a video store was attacked by an unknown assailant in the shopping centre car park after the centre’s lights had been switched off. He argued that the shopping centre owner should be liable for failing to provide adequate lighting.</a:t>
            </a:r>
          </a:p>
          <a:p>
            <a:pPr lvl="0"/>
            <a:r>
              <a:rPr lang="en-AU" sz="2000" dirty="0">
                <a:latin typeface="Times New Roman" panose="02020603050405020304" pitchFamily="18" charset="0"/>
                <a:cs typeface="Times New Roman" panose="02020603050405020304" pitchFamily="18" charset="0"/>
              </a:rPr>
              <a:t>The High Court held that the shopping centre owner (occupier) did not owe the employee a duty to protect him from the criminal conduct of a third party.</a:t>
            </a:r>
          </a:p>
          <a:p>
            <a:pPr lvl="0"/>
            <a:r>
              <a:rPr lang="en-AU" sz="2000" dirty="0">
                <a:latin typeface="Times New Roman" panose="02020603050405020304" pitchFamily="18" charset="0"/>
                <a:cs typeface="Times New Roman" panose="02020603050405020304" pitchFamily="18" charset="0"/>
              </a:rPr>
              <a:t>Key reasoning: The court distinguished between creating a risk of harm and merely failing to prevent harm caused by someone else. The defendant had not created the risk of criminal attack, and there was no special relationship giving rise to a duty to protect from that risk.</a:t>
            </a:r>
          </a:p>
          <a:p>
            <a:pPr lvl="0"/>
            <a:r>
              <a:rPr lang="en-AU" sz="2000" dirty="0">
                <a:latin typeface="Times New Roman" panose="02020603050405020304" pitchFamily="18" charset="0"/>
                <a:cs typeface="Times New Roman" panose="02020603050405020304" pitchFamily="18" charset="0"/>
              </a:rPr>
              <a:t>There is a general reluctance of the common law to impose a duty requiring defendants to protect others from the criminal or intentional acts of third parties, particularly where the defendant did not create or control that risk, and where there is no protective relationship between defendant and plaintiff. </a:t>
            </a:r>
          </a:p>
        </p:txBody>
      </p:sp>
    </p:spTree>
    <p:extLst>
      <p:ext uri="{BB962C8B-B14F-4D97-AF65-F5344CB8AC3E}">
        <p14:creationId xmlns:p14="http://schemas.microsoft.com/office/powerpoint/2010/main" val="3203071283"/>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20405</TotalTime>
  <Words>1689</Words>
  <Application>Microsoft Macintosh PowerPoint</Application>
  <PresentationFormat>Widescreen</PresentationFormat>
  <Paragraphs>185</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Courier New</vt:lpstr>
      <vt:lpstr>Georgia</vt:lpstr>
      <vt:lpstr>Times New Roman</vt:lpstr>
      <vt:lpstr>Wingdings</vt:lpstr>
      <vt:lpstr>MAC UNI BASIC_Round 1 Draft for feedback</vt:lpstr>
      <vt:lpstr>LAWS2400 / LAWS8040 – Torts  Week 8 – Lecture 2 Duty of Care regarding Special Parties   </vt:lpstr>
      <vt:lpstr>Outline</vt:lpstr>
      <vt:lpstr>3. Landlords </vt:lpstr>
      <vt:lpstr>Landlords Contd.</vt:lpstr>
      <vt:lpstr>Landlords Contd.</vt:lpstr>
      <vt:lpstr>Landlords Contd.</vt:lpstr>
      <vt:lpstr>Landlords Contd.</vt:lpstr>
      <vt:lpstr>4. Occupiers </vt:lpstr>
      <vt:lpstr>4. Occupiers </vt:lpstr>
      <vt:lpstr>5. Legal Advocates</vt:lpstr>
      <vt:lpstr>6. Children </vt:lpstr>
      <vt:lpstr>Children Contd.</vt:lpstr>
      <vt:lpstr>Children Contd.</vt:lpstr>
      <vt:lpstr>Children Contd.</vt:lpstr>
      <vt:lpstr>Children Contd.</vt:lpstr>
      <vt:lpstr>Children Contd.</vt:lpstr>
      <vt:lpstr>7. Third Parties </vt:lpstr>
      <vt:lpstr>8. Third Parties </vt:lpstr>
      <vt:lpstr>8. Third Parties </vt:lpstr>
      <vt:lpstr>8. Third Parties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Ebony Birchall</cp:lastModifiedBy>
  <cp:revision>2213</cp:revision>
  <cp:lastPrinted>2025-09-15T05:28:09Z</cp:lastPrinted>
  <dcterms:created xsi:type="dcterms:W3CDTF">2019-01-24T02:12:19Z</dcterms:created>
  <dcterms:modified xsi:type="dcterms:W3CDTF">2026-09-14T12:03:45Z</dcterms:modified>
</cp:coreProperties>
</file>