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36"/>
  </p:notesMasterIdLst>
  <p:handoutMasterIdLst>
    <p:handoutMasterId r:id="rId37"/>
  </p:handoutMasterIdLst>
  <p:sldIdLst>
    <p:sldId id="303" r:id="rId2"/>
    <p:sldId id="258" r:id="rId3"/>
    <p:sldId id="333" r:id="rId4"/>
    <p:sldId id="336" r:id="rId5"/>
    <p:sldId id="335" r:id="rId6"/>
    <p:sldId id="445" r:id="rId7"/>
    <p:sldId id="447" r:id="rId8"/>
    <p:sldId id="448" r:id="rId9"/>
    <p:sldId id="449" r:id="rId10"/>
    <p:sldId id="450" r:id="rId11"/>
    <p:sldId id="451" r:id="rId12"/>
    <p:sldId id="452"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 id="466" r:id="rId26"/>
    <p:sldId id="467" r:id="rId27"/>
    <p:sldId id="468" r:id="rId28"/>
    <p:sldId id="477" r:id="rId29"/>
    <p:sldId id="473" r:id="rId30"/>
    <p:sldId id="469" r:id="rId31"/>
    <p:sldId id="470" r:id="rId32"/>
    <p:sldId id="471" r:id="rId33"/>
    <p:sldId id="472" r:id="rId34"/>
    <p:sldId id="47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130" autoAdjust="0"/>
    <p:restoredTop sz="96266" autoAdjust="0"/>
  </p:normalViewPr>
  <p:slideViewPr>
    <p:cSldViewPr snapToGrid="0" snapToObjects="1">
      <p:cViewPr varScale="1">
        <p:scale>
          <a:sx n="109" d="100"/>
          <a:sy n="109" d="100"/>
        </p:scale>
        <p:origin x="216" y="448"/>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Head" userId="3622ac83-72fb-4480-aaff-0580f4ad655a" providerId="ADAL" clId="{26B8ED3C-072C-57B2-8DCA-D1BEC0C6037D}"/>
    <pc:docChg chg="custSel addSld delSld modSld sldOrd">
      <pc:chgData name="Amanda Head" userId="3622ac83-72fb-4480-aaff-0580f4ad655a" providerId="ADAL" clId="{26B8ED3C-072C-57B2-8DCA-D1BEC0C6037D}" dt="2026-09-05T07:45:35.782" v="17" actId="255"/>
      <pc:docMkLst>
        <pc:docMk/>
      </pc:docMkLst>
      <pc:sldChg chg="modSp mod">
        <pc:chgData name="Amanda Head" userId="3622ac83-72fb-4480-aaff-0580f4ad655a" providerId="ADAL" clId="{26B8ED3C-072C-57B2-8DCA-D1BEC0C6037D}" dt="2026-09-05T07:41:38.894" v="3" actId="313"/>
        <pc:sldMkLst>
          <pc:docMk/>
          <pc:sldMk cId="1354301189" sldId="450"/>
        </pc:sldMkLst>
        <pc:spChg chg="mod">
          <ac:chgData name="Amanda Head" userId="3622ac83-72fb-4480-aaff-0580f4ad655a" providerId="ADAL" clId="{26B8ED3C-072C-57B2-8DCA-D1BEC0C6037D}" dt="2026-09-05T07:41:38.894" v="3" actId="313"/>
          <ac:spMkLst>
            <pc:docMk/>
            <pc:sldMk cId="1354301189" sldId="450"/>
            <ac:spMk id="3" creationId="{EEA464B0-4368-47D8-802B-4FB5B5FAD6E7}"/>
          </ac:spMkLst>
        </pc:spChg>
      </pc:sldChg>
      <pc:sldChg chg="modSp mod">
        <pc:chgData name="Amanda Head" userId="3622ac83-72fb-4480-aaff-0580f4ad655a" providerId="ADAL" clId="{26B8ED3C-072C-57B2-8DCA-D1BEC0C6037D}" dt="2026-09-05T07:41:46.317" v="5" actId="313"/>
        <pc:sldMkLst>
          <pc:docMk/>
          <pc:sldMk cId="1033025626" sldId="455"/>
        </pc:sldMkLst>
        <pc:spChg chg="mod">
          <ac:chgData name="Amanda Head" userId="3622ac83-72fb-4480-aaff-0580f4ad655a" providerId="ADAL" clId="{26B8ED3C-072C-57B2-8DCA-D1BEC0C6037D}" dt="2026-09-05T07:41:46.317" v="5" actId="313"/>
          <ac:spMkLst>
            <pc:docMk/>
            <pc:sldMk cId="1033025626" sldId="455"/>
            <ac:spMk id="3" creationId="{EEA464B0-4368-47D8-802B-4FB5B5FAD6E7}"/>
          </ac:spMkLst>
        </pc:spChg>
      </pc:sldChg>
      <pc:sldChg chg="modSp mod">
        <pc:chgData name="Amanda Head" userId="3622ac83-72fb-4480-aaff-0580f4ad655a" providerId="ADAL" clId="{26B8ED3C-072C-57B2-8DCA-D1BEC0C6037D}" dt="2026-09-05T07:42:24.413" v="6" actId="20577"/>
        <pc:sldMkLst>
          <pc:docMk/>
          <pc:sldMk cId="3835097279" sldId="460"/>
        </pc:sldMkLst>
        <pc:spChg chg="mod">
          <ac:chgData name="Amanda Head" userId="3622ac83-72fb-4480-aaff-0580f4ad655a" providerId="ADAL" clId="{26B8ED3C-072C-57B2-8DCA-D1BEC0C6037D}" dt="2026-09-05T07:42:24.413" v="6" actId="20577"/>
          <ac:spMkLst>
            <pc:docMk/>
            <pc:sldMk cId="3835097279" sldId="460"/>
            <ac:spMk id="3" creationId="{EEA464B0-4368-47D8-802B-4FB5B5FAD6E7}"/>
          </ac:spMkLst>
        </pc:spChg>
      </pc:sldChg>
      <pc:sldChg chg="modSp mod">
        <pc:chgData name="Amanda Head" userId="3622ac83-72fb-4480-aaff-0580f4ad655a" providerId="ADAL" clId="{26B8ED3C-072C-57B2-8DCA-D1BEC0C6037D}" dt="2026-09-05T07:45:35.782" v="17" actId="255"/>
        <pc:sldMkLst>
          <pc:docMk/>
          <pc:sldMk cId="4097782395" sldId="473"/>
        </pc:sldMkLst>
        <pc:spChg chg="mod">
          <ac:chgData name="Amanda Head" userId="3622ac83-72fb-4480-aaff-0580f4ad655a" providerId="ADAL" clId="{26B8ED3C-072C-57B2-8DCA-D1BEC0C6037D}" dt="2026-09-05T07:45:35.782" v="17" actId="255"/>
          <ac:spMkLst>
            <pc:docMk/>
            <pc:sldMk cId="4097782395" sldId="473"/>
            <ac:spMk id="3" creationId="{E1152899-9496-E296-D23D-81A129F3E931}"/>
          </ac:spMkLst>
        </pc:spChg>
      </pc:sldChg>
      <pc:sldChg chg="modSp add mod ord">
        <pc:chgData name="Amanda Head" userId="3622ac83-72fb-4480-aaff-0580f4ad655a" providerId="ADAL" clId="{26B8ED3C-072C-57B2-8DCA-D1BEC0C6037D}" dt="2026-09-05T07:45:20.566" v="15" actId="20578"/>
        <pc:sldMkLst>
          <pc:docMk/>
          <pc:sldMk cId="3953360597" sldId="477"/>
        </pc:sldMkLst>
        <pc:spChg chg="mod">
          <ac:chgData name="Amanda Head" userId="3622ac83-72fb-4480-aaff-0580f4ad655a" providerId="ADAL" clId="{26B8ED3C-072C-57B2-8DCA-D1BEC0C6037D}" dt="2026-09-05T07:45:16.968" v="14" actId="255"/>
          <ac:spMkLst>
            <pc:docMk/>
            <pc:sldMk cId="3953360597" sldId="477"/>
            <ac:spMk id="3" creationId="{6BB23DA8-91BF-6A4B-94B4-6D8608DB6119}"/>
          </ac:spMkLst>
        </pc:spChg>
      </pc:sldChg>
    </pc:docChg>
  </pc:docChgLst>
  <pc:docChgLst>
    <pc:chgData name="Amanda Head" userId="3622ac83-72fb-4480-aaff-0580f4ad655a" providerId="ADAL" clId="{6BBF4A71-3A44-5905-A51C-0BDCE69EAF34}"/>
    <pc:docChg chg="delSld modSld">
      <pc:chgData name="Amanda Head" userId="3622ac83-72fb-4480-aaff-0580f4ad655a" providerId="ADAL" clId="{6BBF4A71-3A44-5905-A51C-0BDCE69EAF34}" dt="2026-09-17T04:22:13.083" v="56" actId="20577"/>
      <pc:docMkLst>
        <pc:docMk/>
      </pc:docMkLst>
      <pc:sldChg chg="modSp mod">
        <pc:chgData name="Amanda Head" userId="3622ac83-72fb-4480-aaff-0580f4ad655a" providerId="ADAL" clId="{6BBF4A71-3A44-5905-A51C-0BDCE69EAF34}" dt="2026-09-17T03:01:42.311" v="27" actId="20577"/>
        <pc:sldMkLst>
          <pc:docMk/>
          <pc:sldMk cId="1081458287" sldId="258"/>
        </pc:sldMkLst>
        <pc:spChg chg="mod">
          <ac:chgData name="Amanda Head" userId="3622ac83-72fb-4480-aaff-0580f4ad655a" providerId="ADAL" clId="{6BBF4A71-3A44-5905-A51C-0BDCE69EAF34}" dt="2026-09-17T03:01:42.311" v="27" actId="20577"/>
          <ac:spMkLst>
            <pc:docMk/>
            <pc:sldMk cId="1081458287" sldId="258"/>
            <ac:spMk id="3" creationId="{A40C9E6F-2A4A-EC4A-903A-6B54DA7E05C6}"/>
          </ac:spMkLst>
        </pc:spChg>
      </pc:sldChg>
      <pc:sldChg chg="del">
        <pc:chgData name="Amanda Head" userId="3622ac83-72fb-4480-aaff-0580f4ad655a" providerId="ADAL" clId="{6BBF4A71-3A44-5905-A51C-0BDCE69EAF34}" dt="2026-09-17T03:06:10.499" v="28" actId="2696"/>
        <pc:sldMkLst>
          <pc:docMk/>
          <pc:sldMk cId="877483010" sldId="446"/>
        </pc:sldMkLst>
      </pc:sldChg>
      <pc:sldChg chg="modSp mod">
        <pc:chgData name="Amanda Head" userId="3622ac83-72fb-4480-aaff-0580f4ad655a" providerId="ADAL" clId="{6BBF4A71-3A44-5905-A51C-0BDCE69EAF34}" dt="2026-09-06T23:23:45.821" v="0" actId="1076"/>
        <pc:sldMkLst>
          <pc:docMk/>
          <pc:sldMk cId="2747662504" sldId="447"/>
        </pc:sldMkLst>
        <pc:spChg chg="mod">
          <ac:chgData name="Amanda Head" userId="3622ac83-72fb-4480-aaff-0580f4ad655a" providerId="ADAL" clId="{6BBF4A71-3A44-5905-A51C-0BDCE69EAF34}" dt="2026-09-06T23:23:45.821" v="0" actId="1076"/>
          <ac:spMkLst>
            <pc:docMk/>
            <pc:sldMk cId="2747662504" sldId="447"/>
            <ac:spMk id="3" creationId="{EEA464B0-4368-47D8-802B-4FB5B5FAD6E7}"/>
          </ac:spMkLst>
        </pc:spChg>
      </pc:sldChg>
      <pc:sldChg chg="modSp mod">
        <pc:chgData name="Amanda Head" userId="3622ac83-72fb-4480-aaff-0580f4ad655a" providerId="ADAL" clId="{6BBF4A71-3A44-5905-A51C-0BDCE69EAF34}" dt="2026-09-17T04:22:13.083" v="56" actId="20577"/>
        <pc:sldMkLst>
          <pc:docMk/>
          <pc:sldMk cId="3835097279" sldId="460"/>
        </pc:sldMkLst>
        <pc:spChg chg="mod">
          <ac:chgData name="Amanda Head" userId="3622ac83-72fb-4480-aaff-0580f4ad655a" providerId="ADAL" clId="{6BBF4A71-3A44-5905-A51C-0BDCE69EAF34}" dt="2026-09-17T04:22:13.083" v="56" actId="20577"/>
          <ac:spMkLst>
            <pc:docMk/>
            <pc:sldMk cId="3835097279" sldId="460"/>
            <ac:spMk id="3" creationId="{EEA464B0-4368-47D8-802B-4FB5B5FAD6E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17/9/2026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17/9/2026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dirty="0"/>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dirty="0"/>
          </a:p>
        </p:txBody>
      </p:sp>
    </p:spTree>
    <p:extLst>
      <p:ext uri="{BB962C8B-B14F-4D97-AF65-F5344CB8AC3E}">
        <p14:creationId xmlns:p14="http://schemas.microsoft.com/office/powerpoint/2010/main" val="419729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dirty="0"/>
          </a:p>
        </p:txBody>
      </p:sp>
    </p:spTree>
    <p:extLst>
      <p:ext uri="{BB962C8B-B14F-4D97-AF65-F5344CB8AC3E}">
        <p14:creationId xmlns:p14="http://schemas.microsoft.com/office/powerpoint/2010/main" val="1662796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dirty="0"/>
          </a:p>
        </p:txBody>
      </p:sp>
    </p:spTree>
    <p:extLst>
      <p:ext uri="{BB962C8B-B14F-4D97-AF65-F5344CB8AC3E}">
        <p14:creationId xmlns:p14="http://schemas.microsoft.com/office/powerpoint/2010/main" val="292408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dirty="0"/>
          </a:p>
        </p:txBody>
      </p:sp>
    </p:spTree>
    <p:extLst>
      <p:ext uri="{BB962C8B-B14F-4D97-AF65-F5344CB8AC3E}">
        <p14:creationId xmlns:p14="http://schemas.microsoft.com/office/powerpoint/2010/main" val="298553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dirty="0"/>
          </a:p>
        </p:txBody>
      </p:sp>
    </p:spTree>
    <p:extLst>
      <p:ext uri="{BB962C8B-B14F-4D97-AF65-F5344CB8AC3E}">
        <p14:creationId xmlns:p14="http://schemas.microsoft.com/office/powerpoint/2010/main" val="3978001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dirty="0"/>
          </a:p>
        </p:txBody>
      </p:sp>
    </p:spTree>
    <p:extLst>
      <p:ext uri="{BB962C8B-B14F-4D97-AF65-F5344CB8AC3E}">
        <p14:creationId xmlns:p14="http://schemas.microsoft.com/office/powerpoint/2010/main" val="1189170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dirty="0"/>
          </a:p>
        </p:txBody>
      </p:sp>
    </p:spTree>
    <p:extLst>
      <p:ext uri="{BB962C8B-B14F-4D97-AF65-F5344CB8AC3E}">
        <p14:creationId xmlns:p14="http://schemas.microsoft.com/office/powerpoint/2010/main" val="16871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dirty="0"/>
          </a:p>
        </p:txBody>
      </p:sp>
    </p:spTree>
    <p:extLst>
      <p:ext uri="{BB962C8B-B14F-4D97-AF65-F5344CB8AC3E}">
        <p14:creationId xmlns:p14="http://schemas.microsoft.com/office/powerpoint/2010/main" val="3404983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dirty="0"/>
          </a:p>
        </p:txBody>
      </p:sp>
    </p:spTree>
    <p:extLst>
      <p:ext uri="{BB962C8B-B14F-4D97-AF65-F5344CB8AC3E}">
        <p14:creationId xmlns:p14="http://schemas.microsoft.com/office/powerpoint/2010/main" val="3278294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dirty="0"/>
          </a:p>
        </p:txBody>
      </p:sp>
    </p:spTree>
    <p:extLst>
      <p:ext uri="{BB962C8B-B14F-4D97-AF65-F5344CB8AC3E}">
        <p14:creationId xmlns:p14="http://schemas.microsoft.com/office/powerpoint/2010/main" val="4224938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dirty="0"/>
          </a:p>
        </p:txBody>
      </p:sp>
    </p:spTree>
    <p:extLst>
      <p:ext uri="{BB962C8B-B14F-4D97-AF65-F5344CB8AC3E}">
        <p14:creationId xmlns:p14="http://schemas.microsoft.com/office/powerpoint/2010/main" val="1461839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dirty="0"/>
          </a:p>
        </p:txBody>
      </p:sp>
    </p:spTree>
    <p:extLst>
      <p:ext uri="{BB962C8B-B14F-4D97-AF65-F5344CB8AC3E}">
        <p14:creationId xmlns:p14="http://schemas.microsoft.com/office/powerpoint/2010/main" val="3877546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dirty="0"/>
          </a:p>
        </p:txBody>
      </p:sp>
    </p:spTree>
    <p:extLst>
      <p:ext uri="{BB962C8B-B14F-4D97-AF65-F5344CB8AC3E}">
        <p14:creationId xmlns:p14="http://schemas.microsoft.com/office/powerpoint/2010/main" val="50144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16</a:t>
            </a:fld>
            <a:endParaRPr lang="en-AU" dirty="0"/>
          </a:p>
        </p:txBody>
      </p:sp>
    </p:spTree>
    <p:extLst>
      <p:ext uri="{BB962C8B-B14F-4D97-AF65-F5344CB8AC3E}">
        <p14:creationId xmlns:p14="http://schemas.microsoft.com/office/powerpoint/2010/main" val="4049845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dirty="0"/>
          </a:p>
        </p:txBody>
      </p:sp>
    </p:spTree>
    <p:extLst>
      <p:ext uri="{BB962C8B-B14F-4D97-AF65-F5344CB8AC3E}">
        <p14:creationId xmlns:p14="http://schemas.microsoft.com/office/powerpoint/2010/main" val="38130875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dirty="0"/>
          </a:p>
        </p:txBody>
      </p:sp>
    </p:spTree>
    <p:extLst>
      <p:ext uri="{BB962C8B-B14F-4D97-AF65-F5344CB8AC3E}">
        <p14:creationId xmlns:p14="http://schemas.microsoft.com/office/powerpoint/2010/main" val="1360438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19</a:t>
            </a:fld>
            <a:endParaRPr lang="en-AU" dirty="0"/>
          </a:p>
        </p:txBody>
      </p:sp>
    </p:spTree>
    <p:extLst>
      <p:ext uri="{BB962C8B-B14F-4D97-AF65-F5344CB8AC3E}">
        <p14:creationId xmlns:p14="http://schemas.microsoft.com/office/powerpoint/2010/main" val="41838818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dirty="0"/>
          </a:p>
        </p:txBody>
      </p:sp>
    </p:spTree>
    <p:extLst>
      <p:ext uri="{BB962C8B-B14F-4D97-AF65-F5344CB8AC3E}">
        <p14:creationId xmlns:p14="http://schemas.microsoft.com/office/powerpoint/2010/main" val="28336399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dirty="0"/>
          </a:p>
        </p:txBody>
      </p:sp>
    </p:spTree>
    <p:extLst>
      <p:ext uri="{BB962C8B-B14F-4D97-AF65-F5344CB8AC3E}">
        <p14:creationId xmlns:p14="http://schemas.microsoft.com/office/powerpoint/2010/main" val="30235860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22</a:t>
            </a:fld>
            <a:endParaRPr lang="en-AU" dirty="0"/>
          </a:p>
        </p:txBody>
      </p:sp>
    </p:spTree>
    <p:extLst>
      <p:ext uri="{BB962C8B-B14F-4D97-AF65-F5344CB8AC3E}">
        <p14:creationId xmlns:p14="http://schemas.microsoft.com/office/powerpoint/2010/main" val="22740387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23</a:t>
            </a:fld>
            <a:endParaRPr lang="en-AU" dirty="0"/>
          </a:p>
        </p:txBody>
      </p:sp>
    </p:spTree>
    <p:extLst>
      <p:ext uri="{BB962C8B-B14F-4D97-AF65-F5344CB8AC3E}">
        <p14:creationId xmlns:p14="http://schemas.microsoft.com/office/powerpoint/2010/main" val="1499845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24</a:t>
            </a:fld>
            <a:endParaRPr lang="en-AU" dirty="0"/>
          </a:p>
        </p:txBody>
      </p:sp>
    </p:spTree>
    <p:extLst>
      <p:ext uri="{BB962C8B-B14F-4D97-AF65-F5344CB8AC3E}">
        <p14:creationId xmlns:p14="http://schemas.microsoft.com/office/powerpoint/2010/main" val="1059253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25</a:t>
            </a:fld>
            <a:endParaRPr lang="en-AU" dirty="0"/>
          </a:p>
        </p:txBody>
      </p:sp>
    </p:spTree>
    <p:extLst>
      <p:ext uri="{BB962C8B-B14F-4D97-AF65-F5344CB8AC3E}">
        <p14:creationId xmlns:p14="http://schemas.microsoft.com/office/powerpoint/2010/main" val="34637085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26</a:t>
            </a:fld>
            <a:endParaRPr lang="en-AU" dirty="0"/>
          </a:p>
        </p:txBody>
      </p:sp>
    </p:spTree>
    <p:extLst>
      <p:ext uri="{BB962C8B-B14F-4D97-AF65-F5344CB8AC3E}">
        <p14:creationId xmlns:p14="http://schemas.microsoft.com/office/powerpoint/2010/main" val="1916178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27</a:t>
            </a:fld>
            <a:endParaRPr lang="en-AU" dirty="0"/>
          </a:p>
        </p:txBody>
      </p:sp>
    </p:spTree>
    <p:extLst>
      <p:ext uri="{BB962C8B-B14F-4D97-AF65-F5344CB8AC3E}">
        <p14:creationId xmlns:p14="http://schemas.microsoft.com/office/powerpoint/2010/main" val="34003843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298F3-B9F2-406F-C504-553DBD54E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16699-6331-9C73-385F-070799637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1A28D-1E7D-89AF-2484-2E709089D0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92DFAF9B-6D6E-2856-96BC-DB4F4D72ED4A}"/>
              </a:ext>
            </a:extLst>
          </p:cNvPr>
          <p:cNvSpPr>
            <a:spLocks noGrp="1"/>
          </p:cNvSpPr>
          <p:nvPr>
            <p:ph type="sldNum" sz="quarter" idx="5"/>
          </p:nvPr>
        </p:nvSpPr>
        <p:spPr/>
        <p:txBody>
          <a:bodyPr/>
          <a:lstStyle/>
          <a:p>
            <a:fld id="{639142E5-A706-4C60-B43E-D82CA518B040}" type="slidenum">
              <a:rPr lang="en-AU" smtClean="0"/>
              <a:t>28</a:t>
            </a:fld>
            <a:endParaRPr lang="en-AU" dirty="0"/>
          </a:p>
        </p:txBody>
      </p:sp>
    </p:spTree>
    <p:extLst>
      <p:ext uri="{BB962C8B-B14F-4D97-AF65-F5344CB8AC3E}">
        <p14:creationId xmlns:p14="http://schemas.microsoft.com/office/powerpoint/2010/main" val="13119964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3789-39A0-2EB5-A806-814526C31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0E079-2A1E-856C-6F8B-B2809B409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06F99-A858-6F3C-DB43-978CDDBF0B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6D622575-2D53-A57C-70BF-157CF3EBDA06}"/>
              </a:ext>
            </a:extLst>
          </p:cNvPr>
          <p:cNvSpPr>
            <a:spLocks noGrp="1"/>
          </p:cNvSpPr>
          <p:nvPr>
            <p:ph type="sldNum" sz="quarter" idx="5"/>
          </p:nvPr>
        </p:nvSpPr>
        <p:spPr/>
        <p:txBody>
          <a:bodyPr/>
          <a:lstStyle/>
          <a:p>
            <a:fld id="{639142E5-A706-4C60-B43E-D82CA518B040}" type="slidenum">
              <a:rPr lang="en-AU" smtClean="0"/>
              <a:t>29</a:t>
            </a:fld>
            <a:endParaRPr lang="en-AU" dirty="0"/>
          </a:p>
        </p:txBody>
      </p:sp>
    </p:spTree>
    <p:extLst>
      <p:ext uri="{BB962C8B-B14F-4D97-AF65-F5344CB8AC3E}">
        <p14:creationId xmlns:p14="http://schemas.microsoft.com/office/powerpoint/2010/main" val="2407359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30</a:t>
            </a:fld>
            <a:endParaRPr lang="en-AU" dirty="0"/>
          </a:p>
        </p:txBody>
      </p:sp>
    </p:spTree>
    <p:extLst>
      <p:ext uri="{BB962C8B-B14F-4D97-AF65-F5344CB8AC3E}">
        <p14:creationId xmlns:p14="http://schemas.microsoft.com/office/powerpoint/2010/main" val="9365803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31</a:t>
            </a:fld>
            <a:endParaRPr lang="en-AU" dirty="0"/>
          </a:p>
        </p:txBody>
      </p:sp>
    </p:spTree>
    <p:extLst>
      <p:ext uri="{BB962C8B-B14F-4D97-AF65-F5344CB8AC3E}">
        <p14:creationId xmlns:p14="http://schemas.microsoft.com/office/powerpoint/2010/main" val="20591873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32</a:t>
            </a:fld>
            <a:endParaRPr lang="en-AU" dirty="0"/>
          </a:p>
        </p:txBody>
      </p:sp>
    </p:spTree>
    <p:extLst>
      <p:ext uri="{BB962C8B-B14F-4D97-AF65-F5344CB8AC3E}">
        <p14:creationId xmlns:p14="http://schemas.microsoft.com/office/powerpoint/2010/main" val="29840571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33</a:t>
            </a:fld>
            <a:endParaRPr lang="en-AU" dirty="0"/>
          </a:p>
        </p:txBody>
      </p:sp>
    </p:spTree>
    <p:extLst>
      <p:ext uri="{BB962C8B-B14F-4D97-AF65-F5344CB8AC3E}">
        <p14:creationId xmlns:p14="http://schemas.microsoft.com/office/powerpoint/2010/main" val="18589742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27ED6-659C-F638-5CD4-E4593A5A6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254BC-2335-BF44-5405-0C7A16DA8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34B42-A349-16B5-495B-33435DBD59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AC54183D-326C-F697-C697-E585381F7894}"/>
              </a:ext>
            </a:extLst>
          </p:cNvPr>
          <p:cNvSpPr>
            <a:spLocks noGrp="1"/>
          </p:cNvSpPr>
          <p:nvPr>
            <p:ph type="sldNum" sz="quarter" idx="5"/>
          </p:nvPr>
        </p:nvSpPr>
        <p:spPr/>
        <p:txBody>
          <a:bodyPr/>
          <a:lstStyle/>
          <a:p>
            <a:fld id="{639142E5-A706-4C60-B43E-D82CA518B040}" type="slidenum">
              <a:rPr lang="en-AU" smtClean="0"/>
              <a:t>34</a:t>
            </a:fld>
            <a:endParaRPr lang="en-AU" dirty="0"/>
          </a:p>
        </p:txBody>
      </p:sp>
    </p:spTree>
    <p:extLst>
      <p:ext uri="{BB962C8B-B14F-4D97-AF65-F5344CB8AC3E}">
        <p14:creationId xmlns:p14="http://schemas.microsoft.com/office/powerpoint/2010/main" val="28100034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dirty="0">
                <a:latin typeface="Times New Roman" panose="02020603050405020304" pitchFamily="18" charset="0"/>
                <a:cs typeface="Times New Roman" panose="02020603050405020304" pitchFamily="18" charset="0"/>
              </a:rPr>
              <a:t>Topic</a:t>
            </a:r>
            <a:r>
              <a:rPr lang="en-AU" sz="3100" b="1" dirty="0">
                <a:latin typeface="Times New Roman" panose="02020603050405020304" pitchFamily="18" charset="0"/>
                <a:cs typeface="Times New Roman" panose="02020603050405020304" pitchFamily="18" charset="0"/>
              </a:rPr>
              <a:t> </a:t>
            </a:r>
            <a:r>
              <a:rPr lang="en-AU" sz="3100" dirty="0">
                <a:latin typeface="Times New Roman" panose="02020603050405020304" pitchFamily="18" charset="0"/>
                <a:cs typeface="Times New Roman" panose="02020603050405020304" pitchFamily="18" charset="0"/>
              </a:rPr>
              <a:t>8 – Lecture 1</a:t>
            </a:r>
            <a:br>
              <a:rPr lang="en-AU" sz="3100" b="1" dirty="0">
                <a:latin typeface="Times New Roman" panose="02020603050405020304" pitchFamily="18" charset="0"/>
                <a:cs typeface="Times New Roman" panose="02020603050405020304" pitchFamily="18" charset="0"/>
              </a:rPr>
            </a:br>
            <a:r>
              <a:rPr lang="en-HK" sz="3100" b="1" i="1" dirty="0">
                <a:latin typeface="Times New Roman" panose="02020603050405020304" pitchFamily="18" charset="0"/>
                <a:cs typeface="Times New Roman" panose="02020603050405020304" pitchFamily="18" charset="0"/>
              </a:rPr>
              <a:t>Duty of Care regarding Special Parties </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Outline</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509823"/>
            <a:ext cx="11116400" cy="4982417"/>
          </a:xfrm>
        </p:spPr>
        <p:txBody>
          <a:bodyPr>
            <a:noAutofit/>
          </a:bodyPr>
          <a:lstStyle/>
          <a:p>
            <a:pPr marL="971550" lvl="1" indent="-514350">
              <a:lnSpc>
                <a:spcPct val="150000"/>
              </a:lnSpc>
              <a:buFont typeface="+mj-lt"/>
              <a:buAutoNum type="arabicPeriod"/>
            </a:pPr>
            <a:r>
              <a:rPr lang="en-HK" sz="2500" b="1" dirty="0">
                <a:latin typeface="Times New Roman" panose="02020603050405020304" pitchFamily="18" charset="0"/>
                <a:cs typeface="Times New Roman" panose="02020603050405020304" pitchFamily="18" charset="0"/>
              </a:rPr>
              <a:t>Overview </a:t>
            </a:r>
          </a:p>
          <a:p>
            <a:pPr marL="971550" lvl="1" indent="-514350">
              <a:lnSpc>
                <a:spcPct val="150000"/>
              </a:lnSpc>
              <a:buFont typeface="+mj-lt"/>
              <a:buAutoNum type="arabicPeriod"/>
            </a:pPr>
            <a:r>
              <a:rPr lang="en-HK" sz="2500" b="1" dirty="0">
                <a:latin typeface="Times New Roman" panose="02020603050405020304" pitchFamily="18" charset="0"/>
                <a:cs typeface="Times New Roman" panose="02020603050405020304" pitchFamily="18" charset="0"/>
              </a:rPr>
              <a:t>Public authorities</a:t>
            </a:r>
          </a:p>
          <a:p>
            <a:pPr marL="971550" lvl="1" indent="-514350">
              <a:lnSpc>
                <a:spcPct val="150000"/>
              </a:lnSpc>
              <a:buFont typeface="+mj-lt"/>
              <a:buAutoNum type="arabicPeriod"/>
            </a:pPr>
            <a:r>
              <a:rPr lang="en-HK" sz="2500" b="1" dirty="0">
                <a:latin typeface="Times New Roman" panose="02020603050405020304" pitchFamily="18" charset="0"/>
                <a:cs typeface="Times New Roman" panose="02020603050405020304" pitchFamily="18" charset="0"/>
              </a:rPr>
              <a:t>Landlords (lecture 2)</a:t>
            </a:r>
          </a:p>
          <a:p>
            <a:pPr marL="971550" lvl="1" indent="-514350">
              <a:lnSpc>
                <a:spcPct val="150000"/>
              </a:lnSpc>
              <a:buFont typeface="+mj-lt"/>
              <a:buAutoNum type="arabicPeriod"/>
            </a:pPr>
            <a:r>
              <a:rPr lang="en-HK" sz="2500" b="1" dirty="0">
                <a:latin typeface="Times New Roman" panose="02020603050405020304" pitchFamily="18" charset="0"/>
                <a:cs typeface="Times New Roman" panose="02020603050405020304" pitchFamily="18" charset="0"/>
              </a:rPr>
              <a:t>Occupiers (lecture 2)</a:t>
            </a:r>
          </a:p>
          <a:p>
            <a:pPr marL="971550" lvl="1" indent="-514350">
              <a:lnSpc>
                <a:spcPct val="150000"/>
              </a:lnSpc>
              <a:buFont typeface="+mj-lt"/>
              <a:buAutoNum type="arabicPeriod"/>
            </a:pPr>
            <a:r>
              <a:rPr lang="en-HK" sz="2500" b="1" dirty="0">
                <a:latin typeface="Times New Roman" panose="02020603050405020304" pitchFamily="18" charset="0"/>
                <a:cs typeface="Times New Roman" panose="02020603050405020304" pitchFamily="18" charset="0"/>
              </a:rPr>
              <a:t>Immune defendants (lecture 2)</a:t>
            </a:r>
          </a:p>
          <a:p>
            <a:pPr marL="971550" lvl="1" indent="-514350">
              <a:lnSpc>
                <a:spcPct val="150000"/>
              </a:lnSpc>
              <a:buFont typeface="+mj-lt"/>
              <a:buAutoNum type="arabicPeriod"/>
            </a:pPr>
            <a:r>
              <a:rPr lang="en-HK" sz="2500" b="1" dirty="0">
                <a:latin typeface="Times New Roman" panose="02020603050405020304" pitchFamily="18" charset="0"/>
                <a:cs typeface="Times New Roman" panose="02020603050405020304" pitchFamily="18" charset="0"/>
              </a:rPr>
              <a:t>Children (lecture 2)</a:t>
            </a:r>
          </a:p>
          <a:p>
            <a:pPr marL="971550" lvl="1" indent="-514350">
              <a:lnSpc>
                <a:spcPct val="150000"/>
              </a:lnSpc>
              <a:buFont typeface="+mj-lt"/>
              <a:buAutoNum type="arabicPeriod"/>
            </a:pPr>
            <a:r>
              <a:rPr lang="en-HK" sz="2500" b="1" dirty="0">
                <a:latin typeface="Times New Roman" panose="02020603050405020304" pitchFamily="18" charset="0"/>
                <a:cs typeface="Times New Roman" panose="02020603050405020304" pitchFamily="18" charset="0"/>
              </a:rPr>
              <a:t>Third Parties (lecture 2)</a:t>
            </a:r>
          </a:p>
        </p:txBody>
      </p:sp>
    </p:spTree>
    <p:extLst>
      <p:ext uri="{BB962C8B-B14F-4D97-AF65-F5344CB8AC3E}">
        <p14:creationId xmlns:p14="http://schemas.microsoft.com/office/powerpoint/2010/main" val="108145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1. Overview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538481" y="1508426"/>
            <a:ext cx="11155680" cy="5074936"/>
          </a:xfrm>
        </p:spPr>
        <p:txBody>
          <a:bodyPr>
            <a:noAutofit/>
          </a:bodyPr>
          <a:lstStyle/>
          <a:p>
            <a:pPr>
              <a:lnSpc>
                <a:spcPct val="150000"/>
              </a:lnSpc>
            </a:pPr>
            <a:r>
              <a:rPr lang="en-US" sz="2800" dirty="0">
                <a:latin typeface="Times New Roman" panose="02020603050405020304" pitchFamily="18" charset="0"/>
                <a:cs typeface="Times New Roman" panose="02020603050405020304" pitchFamily="18" charset="0"/>
              </a:rPr>
              <a:t>In this week, we will look how the duty of care requirements change for certain </a:t>
            </a:r>
            <a:r>
              <a:rPr lang="en-US" sz="2800" b="1" dirty="0">
                <a:latin typeface="Times New Roman" panose="02020603050405020304" pitchFamily="18" charset="0"/>
                <a:cs typeface="Times New Roman" panose="02020603050405020304" pitchFamily="18" charset="0"/>
              </a:rPr>
              <a:t>special parties</a:t>
            </a: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dirty="0">
                <a:latin typeface="Times New Roman" panose="02020603050405020304" pitchFamily="18" charset="0"/>
                <a:cs typeface="Times New Roman" panose="02020603050405020304" pitchFamily="18" charset="0"/>
              </a:rPr>
              <a:t>We will also unpack </a:t>
            </a:r>
            <a:r>
              <a:rPr lang="en-US" sz="2800" b="1" dirty="0">
                <a:latin typeface="Times New Roman" panose="02020603050405020304" pitchFamily="18" charset="0"/>
                <a:cs typeface="Times New Roman" panose="02020603050405020304" pitchFamily="18" charset="0"/>
              </a:rPr>
              <a:t>specific rules </a:t>
            </a:r>
            <a:r>
              <a:rPr lang="en-US" sz="2800" dirty="0">
                <a:latin typeface="Times New Roman" panose="02020603050405020304" pitchFamily="18" charset="0"/>
                <a:cs typeface="Times New Roman" panose="02020603050405020304" pitchFamily="18" charset="0"/>
              </a:rPr>
              <a:t>concerning such special parties  </a:t>
            </a:r>
          </a:p>
        </p:txBody>
      </p:sp>
    </p:spTree>
    <p:extLst>
      <p:ext uri="{BB962C8B-B14F-4D97-AF65-F5344CB8AC3E}">
        <p14:creationId xmlns:p14="http://schemas.microsoft.com/office/powerpoint/2010/main" val="255168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2. Public authorities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Public authorities are bodies created </a:t>
            </a:r>
            <a:r>
              <a:rPr lang="en-US" sz="2800" i="1" dirty="0">
                <a:latin typeface="Times New Roman" panose="02020603050405020304" pitchFamily="18" charset="0"/>
                <a:cs typeface="Times New Roman" panose="02020603050405020304" pitchFamily="18" charset="0"/>
              </a:rPr>
              <a:t>by statutes</a:t>
            </a:r>
            <a:r>
              <a:rPr lang="en-US" sz="2800" dirty="0">
                <a:latin typeface="Times New Roman" panose="02020603050405020304" pitchFamily="18" charset="0"/>
                <a:cs typeface="Times New Roman" panose="02020603050405020304" pitchFamily="18" charset="0"/>
              </a:rPr>
              <a:t> to perform certain </a:t>
            </a:r>
            <a:r>
              <a:rPr lang="en-US" sz="2800" i="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functions or act in public interest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Can you think of some public authorities in NSW or Australia? </a:t>
            </a:r>
          </a:p>
        </p:txBody>
      </p:sp>
      <p:sp>
        <p:nvSpPr>
          <p:cNvPr id="4" name="Action Button: Help 3">
            <a:hlinkClick r:id="" action="ppaction://noaction" highlightClick="1"/>
            <a:extLst>
              <a:ext uri="{FF2B5EF4-FFF2-40B4-BE49-F238E27FC236}">
                <a16:creationId xmlns:a16="http://schemas.microsoft.com/office/drawing/2014/main" id="{B0992876-2C2E-D182-4E63-89BBA48D92C3}"/>
              </a:ext>
            </a:extLst>
          </p:cNvPr>
          <p:cNvSpPr/>
          <p:nvPr/>
        </p:nvSpPr>
        <p:spPr>
          <a:xfrm>
            <a:off x="10804844" y="2907792"/>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86528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If a public authority does not act in public interest or abuses its discretion, a remedy can be sought under </a:t>
            </a:r>
            <a:r>
              <a:rPr lang="en-US" sz="2800" b="1" dirty="0">
                <a:latin typeface="Times New Roman" panose="02020603050405020304" pitchFamily="18" charset="0"/>
                <a:cs typeface="Times New Roman" panose="02020603050405020304" pitchFamily="18" charset="0"/>
              </a:rPr>
              <a:t>administrative law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Moreover, as there is </a:t>
            </a:r>
            <a:r>
              <a:rPr lang="en-US" sz="2800" u="sng" dirty="0">
                <a:latin typeface="Times New Roman" panose="02020603050405020304" pitchFamily="18" charset="0"/>
                <a:cs typeface="Times New Roman" panose="02020603050405020304" pitchFamily="18" charset="0"/>
              </a:rPr>
              <a:t>no Crown immunity now</a:t>
            </a:r>
            <a:r>
              <a:rPr lang="en-US" sz="2800" dirty="0">
                <a:latin typeface="Times New Roman" panose="02020603050405020304" pitchFamily="18" charset="0"/>
                <a:cs typeface="Times New Roman" panose="02020603050405020304" pitchFamily="18" charset="0"/>
              </a:rPr>
              <a:t> from tortious liability, public authorities may also be sued for </a:t>
            </a:r>
            <a:r>
              <a:rPr lang="en-US" sz="2800" b="1" dirty="0">
                <a:latin typeface="Times New Roman" panose="02020603050405020304" pitchFamily="18" charset="0"/>
                <a:cs typeface="Times New Roman" panose="02020603050405020304" pitchFamily="18" charset="0"/>
              </a:rPr>
              <a:t>negligence </a:t>
            </a:r>
            <a:r>
              <a:rPr lang="en-US" sz="2800" i="1" dirty="0">
                <a:latin typeface="Times New Roman" panose="02020603050405020304" pitchFamily="18" charset="0"/>
                <a:cs typeface="Times New Roman" panose="02020603050405020304" pitchFamily="18" charset="0"/>
              </a:rPr>
              <a:t>or</a:t>
            </a:r>
            <a:r>
              <a:rPr lang="en-US" sz="2800" b="1" dirty="0">
                <a:latin typeface="Times New Roman" panose="02020603050405020304" pitchFamily="18" charset="0"/>
                <a:cs typeface="Times New Roman" panose="02020603050405020304" pitchFamily="18" charset="0"/>
              </a:rPr>
              <a:t> other torts  </a:t>
            </a:r>
          </a:p>
        </p:txBody>
      </p:sp>
    </p:spTree>
    <p:extLst>
      <p:ext uri="{BB962C8B-B14F-4D97-AF65-F5344CB8AC3E}">
        <p14:creationId xmlns:p14="http://schemas.microsoft.com/office/powerpoint/2010/main" val="114785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Yet, there are differences between a </a:t>
            </a:r>
            <a:r>
              <a:rPr lang="en-US" sz="2800" b="1" dirty="0">
                <a:latin typeface="Times New Roman" panose="02020603050405020304" pitchFamily="18" charset="0"/>
                <a:cs typeface="Times New Roman" panose="02020603050405020304" pitchFamily="18" charset="0"/>
              </a:rPr>
              <a:t>private person </a:t>
            </a:r>
            <a:r>
              <a:rPr lang="en-US" sz="2800" dirty="0">
                <a:latin typeface="Times New Roman" panose="02020603050405020304" pitchFamily="18" charset="0"/>
                <a:cs typeface="Times New Roman" panose="02020603050405020304" pitchFamily="18" charset="0"/>
              </a:rPr>
              <a:t>and a </a:t>
            </a:r>
            <a:r>
              <a:rPr lang="en-US" sz="2800" b="1" dirty="0">
                <a:latin typeface="Times New Roman" panose="02020603050405020304" pitchFamily="18" charset="0"/>
                <a:cs typeface="Times New Roman" panose="02020603050405020304" pitchFamily="18" charset="0"/>
              </a:rPr>
              <a:t>public authority</a:t>
            </a:r>
            <a:r>
              <a:rPr lang="en-US" sz="2800" dirty="0">
                <a:latin typeface="Times New Roman" panose="02020603050405020304" pitchFamily="18" charset="0"/>
                <a:cs typeface="Times New Roman" panose="02020603050405020304" pitchFamily="18" charset="0"/>
              </a:rPr>
              <a:t> as a defendant: </a:t>
            </a:r>
            <a:endParaRPr lang="en-US" sz="1200" dirty="0">
              <a:latin typeface="Times New Roman" panose="02020603050405020304" pitchFamily="18" charset="0"/>
              <a:cs typeface="Times New Roman" panose="02020603050405020304" pitchFamily="18" charset="0"/>
            </a:endParaRP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nature and responsibilities of public authorities </a:t>
            </a: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public authorities exercise their functions as per statutory provisions </a:t>
            </a: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courts take note of public policy considerations relevant to public authorities   </a:t>
            </a:r>
          </a:p>
        </p:txBody>
      </p:sp>
    </p:spTree>
    <p:extLst>
      <p:ext uri="{BB962C8B-B14F-4D97-AF65-F5344CB8AC3E}">
        <p14:creationId xmlns:p14="http://schemas.microsoft.com/office/powerpoint/2010/main" val="126884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39666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Until the decision in </a:t>
            </a:r>
            <a:r>
              <a:rPr lang="en-US" sz="2800" i="1" dirty="0">
                <a:solidFill>
                  <a:srgbClr val="0070C0"/>
                </a:solidFill>
                <a:latin typeface="Times New Roman" panose="02020603050405020304" pitchFamily="18" charset="0"/>
                <a:cs typeface="Times New Roman" panose="02020603050405020304" pitchFamily="18" charset="0"/>
              </a:rPr>
              <a:t>Anns v Merton London Borough Council </a:t>
            </a:r>
            <a:r>
              <a:rPr lang="en-US" sz="2800" dirty="0">
                <a:solidFill>
                  <a:srgbClr val="0070C0"/>
                </a:solidFill>
                <a:latin typeface="Times New Roman" panose="02020603050405020304" pitchFamily="18" charset="0"/>
                <a:cs typeface="Times New Roman" panose="02020603050405020304" pitchFamily="18" charset="0"/>
              </a:rPr>
              <a:t>(1978)</a:t>
            </a:r>
            <a:r>
              <a:rPr lang="en-US" sz="2800" dirty="0">
                <a:latin typeface="Times New Roman" panose="02020603050405020304" pitchFamily="18" charset="0"/>
                <a:cs typeface="Times New Roman" panose="02020603050405020304" pitchFamily="18" charset="0"/>
              </a:rPr>
              <a:t>, public authorities in the UK were </a:t>
            </a:r>
            <a:r>
              <a:rPr lang="en-US" sz="2800" u="sng" dirty="0">
                <a:latin typeface="Times New Roman" panose="02020603050405020304" pitchFamily="18" charset="0"/>
                <a:cs typeface="Times New Roman" panose="02020603050405020304" pitchFamily="18" charset="0"/>
              </a:rPr>
              <a:t>not</a:t>
            </a:r>
            <a:r>
              <a:rPr lang="en-US" sz="2800" dirty="0">
                <a:latin typeface="Times New Roman" panose="02020603050405020304" pitchFamily="18" charset="0"/>
                <a:cs typeface="Times New Roman" panose="02020603050405020304" pitchFamily="18" charset="0"/>
              </a:rPr>
              <a:t> liable for negligence for a failure to exercise a power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Australian courts have employed diverse approaches to determine whether to impose a duty of care on public authorities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For example, in </a:t>
            </a:r>
            <a:r>
              <a:rPr lang="en-US" sz="2800" i="1" dirty="0">
                <a:solidFill>
                  <a:srgbClr val="0070C0"/>
                </a:solidFill>
                <a:latin typeface="Times New Roman" panose="02020603050405020304" pitchFamily="18" charset="0"/>
                <a:cs typeface="Times New Roman" panose="02020603050405020304" pitchFamily="18" charset="0"/>
              </a:rPr>
              <a:t>Sutherland Shire Council v Heyman </a:t>
            </a:r>
            <a:r>
              <a:rPr lang="en-US" sz="2800" dirty="0">
                <a:solidFill>
                  <a:srgbClr val="0070C0"/>
                </a:solidFill>
                <a:latin typeface="Times New Roman" panose="02020603050405020304" pitchFamily="18" charset="0"/>
                <a:cs typeface="Times New Roman" panose="02020603050405020304" pitchFamily="18" charset="0"/>
              </a:rPr>
              <a:t>(1985) 157 CLR 424</a:t>
            </a:r>
            <a:r>
              <a:rPr lang="en-US" sz="2800" dirty="0">
                <a:latin typeface="Times New Roman" panose="02020603050405020304" pitchFamily="18" charset="0"/>
                <a:cs typeface="Times New Roman" panose="02020603050405020304" pitchFamily="18" charset="0"/>
              </a:rPr>
              <a:t>, the High Court considered the </a:t>
            </a:r>
            <a:r>
              <a:rPr lang="en-US" sz="2800" u="sng" dirty="0">
                <a:latin typeface="Times New Roman" panose="02020603050405020304" pitchFamily="18" charset="0"/>
                <a:cs typeface="Times New Roman" panose="02020603050405020304" pitchFamily="18" charset="0"/>
              </a:rPr>
              <a:t>policy vs. operation distinction</a:t>
            </a:r>
            <a:r>
              <a:rPr lang="en-US" sz="2800" dirty="0">
                <a:latin typeface="Times New Roman" panose="02020603050405020304" pitchFamily="18" charset="0"/>
                <a:cs typeface="Times New Roman" panose="02020603050405020304" pitchFamily="18" charset="0"/>
              </a:rPr>
              <a:t> and the concept of </a:t>
            </a:r>
            <a:r>
              <a:rPr lang="en-US" sz="2800" u="sng" dirty="0">
                <a:latin typeface="Times New Roman" panose="02020603050405020304" pitchFamily="18" charset="0"/>
                <a:cs typeface="Times New Roman" panose="02020603050405020304" pitchFamily="18" charset="0"/>
              </a:rPr>
              <a:t>general reliance</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(e.g., fire fighting) </a:t>
            </a:r>
          </a:p>
        </p:txBody>
      </p:sp>
    </p:spTree>
    <p:extLst>
      <p:ext uri="{BB962C8B-B14F-4D97-AF65-F5344CB8AC3E}">
        <p14:creationId xmlns:p14="http://schemas.microsoft.com/office/powerpoint/2010/main" val="2747662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Consider the decision in </a:t>
            </a:r>
            <a:r>
              <a:rPr lang="en-US" sz="2500" i="1" dirty="0">
                <a:solidFill>
                  <a:srgbClr val="0070C0"/>
                </a:solidFill>
                <a:latin typeface="Times New Roman" panose="02020603050405020304" pitchFamily="18" charset="0"/>
                <a:cs typeface="Times New Roman" panose="02020603050405020304" pitchFamily="18" charset="0"/>
              </a:rPr>
              <a:t>Crimmins v Stevedoring Industry Finance Committee </a:t>
            </a:r>
            <a:r>
              <a:rPr lang="en-US" sz="2500" dirty="0">
                <a:solidFill>
                  <a:srgbClr val="0070C0"/>
                </a:solidFill>
                <a:latin typeface="Times New Roman" panose="02020603050405020304" pitchFamily="18" charset="0"/>
                <a:cs typeface="Times New Roman" panose="02020603050405020304" pitchFamily="18" charset="0"/>
              </a:rPr>
              <a:t>(1999) 200 CLR 1</a:t>
            </a:r>
            <a:r>
              <a:rPr lang="en-US" sz="2500" dirty="0">
                <a:latin typeface="Times New Roman" panose="02020603050405020304" pitchFamily="18" charset="0"/>
                <a:cs typeface="Times New Roman" panose="02020603050405020304" pitchFamily="18" charset="0"/>
              </a:rPr>
              <a:t> – in casebook </a:t>
            </a:r>
            <a:r>
              <a:rPr lang="en-US" sz="2500" dirty="0">
                <a:solidFill>
                  <a:srgbClr val="7030A0"/>
                </a:solidFill>
                <a:latin typeface="Times New Roman" panose="02020603050405020304" pitchFamily="18" charset="0"/>
                <a:cs typeface="Times New Roman" panose="02020603050405020304" pitchFamily="18" charset="0"/>
              </a:rPr>
              <a:t>(Crimmins worked as a waterside worker at Port Melbourne 1961–65; stevedoring operations were regulated by the Australian Stevedoring Industry Authority, which directed workers where to work; the Authority was later abolished and the SIFC assumed its liabilities; in 1997 Crimmins was diagnosed with mesothelioma caused by unloading asbestos cargoes) </a:t>
            </a:r>
            <a:endParaRPr lang="en-US" sz="25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The questions before the High Court: did the Authority owe him a duty of care, and did its liability pass to the SIFC?</a:t>
            </a:r>
          </a:p>
        </p:txBody>
      </p:sp>
    </p:spTree>
    <p:extLst>
      <p:ext uri="{BB962C8B-B14F-4D97-AF65-F5344CB8AC3E}">
        <p14:creationId xmlns:p14="http://schemas.microsoft.com/office/powerpoint/2010/main" val="2990954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High Court held that a </a:t>
            </a:r>
            <a:r>
              <a:rPr lang="en-US" sz="2800" b="1" dirty="0">
                <a:latin typeface="Times New Roman" panose="02020603050405020304" pitchFamily="18" charset="0"/>
                <a:cs typeface="Times New Roman" panose="02020603050405020304" pitchFamily="18" charset="0"/>
              </a:rPr>
              <a:t>duty of care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was owed </a:t>
            </a:r>
            <a:r>
              <a:rPr lang="en-US" sz="2800" dirty="0">
                <a:latin typeface="Times New Roman" panose="02020603050405020304" pitchFamily="18" charset="0"/>
                <a:cs typeface="Times New Roman" panose="02020603050405020304" pitchFamily="18" charset="0"/>
              </a:rPr>
              <a:t>to Crimmins because:</a:t>
            </a:r>
          </a:p>
          <a:p>
            <a:pPr marL="0" indent="0">
              <a:lnSpc>
                <a:spcPct val="150000"/>
              </a:lnSpc>
              <a:buNone/>
            </a:pPr>
            <a:endParaRPr lang="en-US" sz="10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Authority / </a:t>
            </a:r>
            <a:r>
              <a:rPr lang="en-US" sz="2800" u="sng" dirty="0">
                <a:latin typeface="Times New Roman" panose="02020603050405020304" pitchFamily="18" charset="0"/>
                <a:cs typeface="Times New Roman" panose="02020603050405020304" pitchFamily="18" charset="0"/>
              </a:rPr>
              <a:t>SIFC</a:t>
            </a:r>
            <a:r>
              <a:rPr lang="en-US" sz="2800" dirty="0">
                <a:latin typeface="Times New Roman" panose="02020603050405020304" pitchFamily="18" charset="0"/>
                <a:cs typeface="Times New Roman" panose="02020603050405020304" pitchFamily="18" charset="0"/>
              </a:rPr>
              <a:t> had an overarching supervisory and regulatory role regarding safety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individual </a:t>
            </a:r>
            <a:r>
              <a:rPr lang="en-US" sz="2800" u="sng" dirty="0">
                <a:latin typeface="Times New Roman" panose="02020603050405020304" pitchFamily="18" charset="0"/>
                <a:cs typeface="Times New Roman" panose="02020603050405020304" pitchFamily="18" charset="0"/>
              </a:rPr>
              <a:t>employers</a:t>
            </a:r>
            <a:r>
              <a:rPr lang="en-US" sz="2800" dirty="0">
                <a:latin typeface="Times New Roman" panose="02020603050405020304" pitchFamily="18" charset="0"/>
                <a:cs typeface="Times New Roman" panose="02020603050405020304" pitchFamily="18" charset="0"/>
              </a:rPr>
              <a:t> were required to supply safety equipment  </a:t>
            </a:r>
          </a:p>
        </p:txBody>
      </p:sp>
    </p:spTree>
    <p:extLst>
      <p:ext uri="{BB962C8B-B14F-4D97-AF65-F5344CB8AC3E}">
        <p14:creationId xmlns:p14="http://schemas.microsoft.com/office/powerpoint/2010/main" val="2362169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McHugh J observed: </a:t>
            </a:r>
            <a:endParaRPr lang="en-US" sz="10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“The statutory authority owed a duty of care to the worker because it directed him to places of work where there were </a:t>
            </a:r>
            <a:r>
              <a:rPr lang="en-US" sz="2600" i="1" dirty="0">
                <a:latin typeface="Times New Roman" panose="02020603050405020304" pitchFamily="18" charset="0"/>
                <a:cs typeface="Times New Roman" panose="02020603050405020304" pitchFamily="18" charset="0"/>
              </a:rPr>
              <a:t>risks of injury </a:t>
            </a:r>
            <a:r>
              <a:rPr lang="en-US" sz="2600" dirty="0">
                <a:latin typeface="Times New Roman" panose="02020603050405020304" pitchFamily="18" charset="0"/>
                <a:cs typeface="Times New Roman" panose="02020603050405020304" pitchFamily="18" charset="0"/>
              </a:rPr>
              <a:t>of which the authority was, or ought to have been, </a:t>
            </a:r>
            <a:r>
              <a:rPr lang="en-US" sz="2600" u="sng" dirty="0">
                <a:latin typeface="Times New Roman" panose="02020603050405020304" pitchFamily="18" charset="0"/>
                <a:cs typeface="Times New Roman" panose="02020603050405020304" pitchFamily="18" charset="0"/>
              </a:rPr>
              <a:t>aware</a:t>
            </a:r>
            <a:r>
              <a:rPr lang="en-US" sz="2600" dirty="0">
                <a:latin typeface="Times New Roman" panose="02020603050405020304" pitchFamily="18" charset="0"/>
                <a:cs typeface="Times New Roman" panose="02020603050405020304" pitchFamily="18" charset="0"/>
              </a:rPr>
              <a:t> and in respect of which, the authority knew or ought to have known that the worker was specially </a:t>
            </a:r>
            <a:r>
              <a:rPr lang="en-US" sz="2600" u="sng" dirty="0">
                <a:latin typeface="Times New Roman" panose="02020603050405020304" pitchFamily="18" charset="0"/>
                <a:cs typeface="Times New Roman" panose="02020603050405020304" pitchFamily="18" charset="0"/>
              </a:rPr>
              <a:t>vulnerable</a:t>
            </a:r>
            <a:r>
              <a:rPr lang="en-US" sz="2600" dirty="0">
                <a:latin typeface="Times New Roman" panose="02020603050405020304" pitchFamily="18" charset="0"/>
                <a:cs typeface="Times New Roman" panose="02020603050405020304" pitchFamily="18" charset="0"/>
              </a:rPr>
              <a:t>. The worker’s vulnerability arose as a result of the casual nature of his employment and his obligation to obey the authority’s directions as to where he worked.” </a:t>
            </a:r>
          </a:p>
        </p:txBody>
      </p:sp>
    </p:spTree>
    <p:extLst>
      <p:ext uri="{BB962C8B-B14F-4D97-AF65-F5344CB8AC3E}">
        <p14:creationId xmlns:p14="http://schemas.microsoft.com/office/powerpoint/2010/main" val="135430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Judges part of the majority though disagreed on how the duty of care issue should be approached</a:t>
            </a:r>
          </a:p>
          <a:p>
            <a:pPr lvl="3">
              <a:lnSpc>
                <a:spcPct val="150000"/>
              </a:lnSpc>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 start with the common law and then look at the statute </a:t>
            </a:r>
          </a:p>
          <a:p>
            <a:pPr marL="1371600" lvl="3" indent="0">
              <a:lnSpc>
                <a:spcPct val="150000"/>
              </a:lnSpc>
              <a:buNone/>
            </a:pPr>
            <a:r>
              <a:rPr lang="en-US" sz="2600" dirty="0">
                <a:latin typeface="Times New Roman" panose="02020603050405020304" pitchFamily="18" charset="0"/>
                <a:cs typeface="Times New Roman" panose="02020603050405020304" pitchFamily="18" charset="0"/>
              </a:rPr>
              <a:t>OR </a:t>
            </a:r>
          </a:p>
          <a:p>
            <a:pPr lvl="3">
              <a:lnSpc>
                <a:spcPct val="150000"/>
              </a:lnSpc>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 begin with an interpretation of the statute </a:t>
            </a:r>
          </a:p>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Let us consider the reasoning of McHugh J who outlined </a:t>
            </a:r>
            <a:r>
              <a:rPr lang="en-US" sz="2600" b="1" dirty="0">
                <a:latin typeface="Times New Roman" panose="02020603050405020304" pitchFamily="18" charset="0"/>
                <a:cs typeface="Times New Roman" panose="02020603050405020304" pitchFamily="18" charset="0"/>
              </a:rPr>
              <a:t>six questions</a:t>
            </a:r>
            <a:r>
              <a:rPr lang="en-US" sz="2600" dirty="0">
                <a:latin typeface="Times New Roman" panose="02020603050405020304" pitchFamily="18" charset="0"/>
                <a:cs typeface="Times New Roman" panose="02020603050405020304" pitchFamily="18" charset="0"/>
              </a:rPr>
              <a:t> which should determine whether an </a:t>
            </a:r>
            <a:r>
              <a:rPr lang="en-US" sz="2600" i="1" dirty="0">
                <a:latin typeface="Times New Roman" panose="02020603050405020304" pitchFamily="18" charset="0"/>
                <a:cs typeface="Times New Roman" panose="02020603050405020304" pitchFamily="18" charset="0"/>
              </a:rPr>
              <a:t>affirmative</a:t>
            </a:r>
            <a:r>
              <a:rPr lang="en-US" sz="2600" dirty="0">
                <a:latin typeface="Times New Roman" panose="02020603050405020304" pitchFamily="18" charset="0"/>
                <a:cs typeface="Times New Roman" panose="02020603050405020304" pitchFamily="18" charset="0"/>
              </a:rPr>
              <a:t> duty of care should be owed by a statutory authority in a novel case </a:t>
            </a:r>
          </a:p>
        </p:txBody>
      </p:sp>
    </p:spTree>
    <p:extLst>
      <p:ext uri="{BB962C8B-B14F-4D97-AF65-F5344CB8AC3E}">
        <p14:creationId xmlns:p14="http://schemas.microsoft.com/office/powerpoint/2010/main" val="117074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six questions are: </a:t>
            </a:r>
          </a:p>
          <a:p>
            <a:pPr marL="1371600" lvl="2" indent="-51435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Was it reasonably </a:t>
            </a:r>
            <a:r>
              <a:rPr lang="en-US" sz="2400" u="sng" dirty="0">
                <a:latin typeface="Times New Roman" panose="02020603050405020304" pitchFamily="18" charset="0"/>
                <a:cs typeface="Times New Roman" panose="02020603050405020304" pitchFamily="18" charset="0"/>
              </a:rPr>
              <a:t>foreseeable</a:t>
            </a:r>
            <a:r>
              <a:rPr lang="en-US" sz="2400" dirty="0">
                <a:latin typeface="Times New Roman" panose="02020603050405020304" pitchFamily="18" charset="0"/>
                <a:cs typeface="Times New Roman" panose="02020603050405020304" pitchFamily="18" charset="0"/>
              </a:rPr>
              <a:t> that an act or omission of the defendant, including a failure to exercise its statutory powers, would result in injury to the plaintiff? </a:t>
            </a:r>
          </a:p>
          <a:p>
            <a:pPr marL="1371600" lvl="2" indent="-51435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By reason of its statutory obligations, did the defendant have the </a:t>
            </a:r>
            <a:r>
              <a:rPr lang="en-US" sz="2400" u="sng" dirty="0">
                <a:latin typeface="Times New Roman" panose="02020603050405020304" pitchFamily="18" charset="0"/>
                <a:cs typeface="Times New Roman" panose="02020603050405020304" pitchFamily="18" charset="0"/>
              </a:rPr>
              <a:t>power to protect</a:t>
            </a:r>
            <a:r>
              <a:rPr lang="en-US" sz="2400" dirty="0">
                <a:latin typeface="Times New Roman" panose="02020603050405020304" pitchFamily="18" charset="0"/>
                <a:cs typeface="Times New Roman" panose="02020603050405020304" pitchFamily="18" charset="0"/>
              </a:rPr>
              <a:t> a specific class including the plaintiff (rather than the public at large) from a risk of harm? </a:t>
            </a:r>
          </a:p>
          <a:p>
            <a:pPr marL="1371600" lvl="2" indent="-51435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Was the plaintiff </a:t>
            </a:r>
            <a:r>
              <a:rPr lang="en-US" sz="2400" u="sng" dirty="0">
                <a:latin typeface="Times New Roman" panose="02020603050405020304" pitchFamily="18" charset="0"/>
                <a:cs typeface="Times New Roman" panose="02020603050405020304" pitchFamily="18" charset="0"/>
              </a:rPr>
              <a:t>vulnerable</a:t>
            </a:r>
            <a:r>
              <a:rPr lang="en-US" sz="2400" dirty="0">
                <a:latin typeface="Times New Roman" panose="02020603050405020304" pitchFamily="18" charset="0"/>
                <a:cs typeface="Times New Roman" panose="02020603050405020304" pitchFamily="18" charset="0"/>
              </a:rPr>
              <a:t>, in the sense that she could not reasonably be expected to adequately safeguard herself from harm? </a:t>
            </a:r>
          </a:p>
        </p:txBody>
      </p:sp>
    </p:spTree>
    <p:extLst>
      <p:ext uri="{BB962C8B-B14F-4D97-AF65-F5344CB8AC3E}">
        <p14:creationId xmlns:p14="http://schemas.microsoft.com/office/powerpoint/2010/main" val="216086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1371600" lvl="2" indent="-514350">
              <a:lnSpc>
                <a:spcPct val="150000"/>
              </a:lnSpc>
              <a:buFont typeface="+mj-lt"/>
              <a:buAutoNum type="arabicPeriod" startAt="4"/>
            </a:pPr>
            <a:r>
              <a:rPr lang="en-US" sz="2600" dirty="0">
                <a:latin typeface="Times New Roman" panose="02020603050405020304" pitchFamily="18" charset="0"/>
                <a:cs typeface="Times New Roman" panose="02020603050405020304" pitchFamily="18" charset="0"/>
              </a:rPr>
              <a:t>Did the defendant </a:t>
            </a:r>
            <a:r>
              <a:rPr lang="en-US" sz="2600" u="sng" dirty="0">
                <a:latin typeface="Times New Roman" panose="02020603050405020304" pitchFamily="18" charset="0"/>
                <a:cs typeface="Times New Roman" panose="02020603050405020304" pitchFamily="18" charset="0"/>
              </a:rPr>
              <a:t>know</a:t>
            </a:r>
            <a:r>
              <a:rPr lang="en-US" sz="2600" dirty="0">
                <a:latin typeface="Times New Roman" panose="02020603050405020304" pitchFamily="18" charset="0"/>
                <a:cs typeface="Times New Roman" panose="02020603050405020304" pitchFamily="18" charset="0"/>
              </a:rPr>
              <a:t>, or ought the defendant to have known, of the </a:t>
            </a:r>
            <a:r>
              <a:rPr lang="en-US" sz="2600" u="sng" dirty="0">
                <a:latin typeface="Times New Roman" panose="02020603050405020304" pitchFamily="18" charset="0"/>
                <a:cs typeface="Times New Roman" panose="02020603050405020304" pitchFamily="18" charset="0"/>
              </a:rPr>
              <a:t>risk of harm</a:t>
            </a:r>
            <a:r>
              <a:rPr lang="en-US" sz="2600" dirty="0">
                <a:latin typeface="Times New Roman" panose="02020603050405020304" pitchFamily="18" charset="0"/>
                <a:cs typeface="Times New Roman" panose="02020603050405020304" pitchFamily="18" charset="0"/>
              </a:rPr>
              <a:t> to the specific class (including the plaintiff) if it did not exercise its powers?</a:t>
            </a:r>
          </a:p>
          <a:p>
            <a:pPr marL="1371600" lvl="2" indent="-514350">
              <a:lnSpc>
                <a:spcPct val="150000"/>
              </a:lnSpc>
              <a:buFont typeface="+mj-lt"/>
              <a:buAutoNum type="arabicPeriod" startAt="4"/>
            </a:pPr>
            <a:r>
              <a:rPr lang="en-US" sz="2600" dirty="0">
                <a:latin typeface="Times New Roman" panose="02020603050405020304" pitchFamily="18" charset="0"/>
                <a:cs typeface="Times New Roman" panose="02020603050405020304" pitchFamily="18" charset="0"/>
              </a:rPr>
              <a:t>Would such a duty impose liability with respect to the defendant’s exercise of “</a:t>
            </a:r>
            <a:r>
              <a:rPr lang="en-US" sz="2600" u="sng" dirty="0">
                <a:latin typeface="Times New Roman" panose="02020603050405020304" pitchFamily="18" charset="0"/>
                <a:cs typeface="Times New Roman" panose="02020603050405020304" pitchFamily="18" charset="0"/>
              </a:rPr>
              <a:t>core policy making</a:t>
            </a:r>
            <a:r>
              <a:rPr lang="en-US" sz="2600" dirty="0">
                <a:latin typeface="Times New Roman" panose="02020603050405020304" pitchFamily="18" charset="0"/>
                <a:cs typeface="Times New Roman" panose="02020603050405020304" pitchFamily="18" charset="0"/>
              </a:rPr>
              <a:t>” or “quasi-legislative” functions?</a:t>
            </a:r>
          </a:p>
          <a:p>
            <a:pPr marL="1371600" lvl="2" indent="-514350">
              <a:lnSpc>
                <a:spcPct val="150000"/>
              </a:lnSpc>
              <a:buFont typeface="+mj-lt"/>
              <a:buAutoNum type="arabicPeriod" startAt="4"/>
            </a:pPr>
            <a:r>
              <a:rPr lang="en-US" sz="2600" dirty="0">
                <a:latin typeface="Times New Roman" panose="02020603050405020304" pitchFamily="18" charset="0"/>
                <a:cs typeface="Times New Roman" panose="02020603050405020304" pitchFamily="18" charset="0"/>
              </a:rPr>
              <a:t>Are there any other supervening </a:t>
            </a:r>
            <a:r>
              <a:rPr lang="en-US" sz="2600" u="sng" dirty="0">
                <a:latin typeface="Times New Roman" panose="02020603050405020304" pitchFamily="18" charset="0"/>
                <a:cs typeface="Times New Roman" panose="02020603050405020304" pitchFamily="18" charset="0"/>
              </a:rPr>
              <a:t>reasons in policy</a:t>
            </a:r>
            <a:r>
              <a:rPr lang="en-US" sz="2600" dirty="0">
                <a:latin typeface="Times New Roman" panose="02020603050405020304" pitchFamily="18" charset="0"/>
                <a:cs typeface="Times New Roman" panose="02020603050405020304" pitchFamily="18" charset="0"/>
              </a:rPr>
              <a:t> to deny the existence of a duty of care?   </a:t>
            </a:r>
          </a:p>
          <a:p>
            <a:pPr marL="1371600" lvl="2" indent="-514350">
              <a:buFont typeface="+mj-lt"/>
              <a:buAutoNum type="arabicPeriod" startAt="4"/>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835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On the other hand, Hayne J (in dissent) </a:t>
            </a:r>
            <a:r>
              <a:rPr lang="en-US" sz="2800" u="sng" dirty="0">
                <a:latin typeface="Times New Roman" panose="02020603050405020304" pitchFamily="18" charset="0"/>
                <a:cs typeface="Times New Roman" panose="02020603050405020304" pitchFamily="18" charset="0"/>
              </a:rPr>
              <a:t>rejected</a:t>
            </a:r>
            <a:r>
              <a:rPr lang="en-US" sz="2800" dirty="0">
                <a:latin typeface="Times New Roman" panose="02020603050405020304" pitchFamily="18" charset="0"/>
                <a:cs typeface="Times New Roman" panose="02020603050405020304" pitchFamily="18" charset="0"/>
              </a:rPr>
              <a:t> that SIFC owed any duty of care:</a:t>
            </a:r>
          </a:p>
          <a:p>
            <a:pPr marL="457200" lvl="1" indent="0">
              <a:lnSpc>
                <a:spcPct val="150000"/>
              </a:lnSpc>
              <a:buNone/>
            </a:pPr>
            <a:r>
              <a:rPr lang="en-US" sz="2600" dirty="0">
                <a:latin typeface="Times New Roman" panose="02020603050405020304" pitchFamily="18" charset="0"/>
                <a:cs typeface="Times New Roman" panose="02020603050405020304" pitchFamily="18" charset="0"/>
              </a:rPr>
              <a:t>“The Authority owed no duty of care to the deceased worker in deciding whether or not to exercise that [i.e., issuing an order requiring the use of  respirators] quasi-legislative power.”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judge reasoned that imposing “such a duty of care on the Authority would have affected the way in which the body went about its task” </a:t>
            </a: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3025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decision in </a:t>
            </a:r>
            <a:r>
              <a:rPr lang="en-US" sz="2800" i="1" dirty="0">
                <a:solidFill>
                  <a:srgbClr val="0070C0"/>
                </a:solidFill>
                <a:latin typeface="Times New Roman" panose="02020603050405020304" pitchFamily="18" charset="0"/>
                <a:cs typeface="Times New Roman" panose="02020603050405020304" pitchFamily="18" charset="0"/>
              </a:rPr>
              <a:t>Graham Barclay Oysters v Ryan </a:t>
            </a:r>
            <a:r>
              <a:rPr lang="en-US" sz="2800" dirty="0">
                <a:solidFill>
                  <a:srgbClr val="0070C0"/>
                </a:solidFill>
                <a:latin typeface="Times New Roman" panose="02020603050405020304" pitchFamily="18" charset="0"/>
                <a:cs typeface="Times New Roman" panose="02020603050405020304" pitchFamily="18" charset="0"/>
              </a:rPr>
              <a:t>(2002) 211 CLR 540 </a:t>
            </a:r>
            <a:r>
              <a:rPr lang="en-US" sz="2800" dirty="0">
                <a:latin typeface="Times New Roman" panose="02020603050405020304" pitchFamily="18" charset="0"/>
                <a:cs typeface="Times New Roman" panose="02020603050405020304" pitchFamily="18" charset="0"/>
              </a:rPr>
              <a:t>– in casebook – is also relevant to the question of a public authority’s duty of care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Do you remember the facts of this case? </a:t>
            </a:r>
          </a:p>
          <a:p>
            <a:pPr marL="0" indent="0">
              <a:lnSpc>
                <a:spcPct val="150000"/>
              </a:lnSpc>
              <a:buNone/>
            </a:pP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Ryan sued Graham Barclay, the Great Lakes Council and the NSW government for negligence</a:t>
            </a:r>
          </a:p>
          <a:p>
            <a:pPr marL="0" indent="0">
              <a:buNone/>
            </a:pPr>
            <a:endParaRPr lang="en-US" sz="2800" dirty="0">
              <a:latin typeface="Times New Roman" panose="02020603050405020304" pitchFamily="18" charset="0"/>
              <a:cs typeface="Times New Roman" panose="02020603050405020304" pitchFamily="18" charset="0"/>
            </a:endParaRPr>
          </a:p>
        </p:txBody>
      </p:sp>
      <p:sp>
        <p:nvSpPr>
          <p:cNvPr id="4" name="Action Button: Help 3">
            <a:hlinkClick r:id="" action="ppaction://noaction" highlightClick="1"/>
            <a:extLst>
              <a:ext uri="{FF2B5EF4-FFF2-40B4-BE49-F238E27FC236}">
                <a16:creationId xmlns:a16="http://schemas.microsoft.com/office/drawing/2014/main" id="{8444F859-1E46-F57F-BF96-70E2F09224B9}"/>
              </a:ext>
            </a:extLst>
          </p:cNvPr>
          <p:cNvSpPr/>
          <p:nvPr/>
        </p:nvSpPr>
        <p:spPr>
          <a:xfrm>
            <a:off x="7561914" y="2907792"/>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1624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High Court by majority held that </a:t>
            </a:r>
            <a:r>
              <a:rPr lang="en-US" sz="2800" u="sng" dirty="0">
                <a:latin typeface="Times New Roman" panose="02020603050405020304" pitchFamily="18" charset="0"/>
                <a:cs typeface="Times New Roman" panose="02020603050405020304" pitchFamily="18" charset="0"/>
              </a:rPr>
              <a:t>no</a:t>
            </a:r>
            <a:r>
              <a:rPr lang="en-US" sz="2800" dirty="0">
                <a:latin typeface="Times New Roman" panose="02020603050405020304" pitchFamily="18" charset="0"/>
                <a:cs typeface="Times New Roman" panose="02020603050405020304" pitchFamily="18" charset="0"/>
              </a:rPr>
              <a:t> duty of care was owed by the Council or the NSW government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Gleeson CJ noted that the complaint was “not about acts, but about omissions” – that is, alleged </a:t>
            </a:r>
            <a:r>
              <a:rPr lang="en-US" sz="2800" b="1" dirty="0">
                <a:latin typeface="Times New Roman" panose="02020603050405020304" pitchFamily="18" charset="0"/>
                <a:cs typeface="Times New Roman" panose="02020603050405020304" pitchFamily="18" charset="0"/>
              </a:rPr>
              <a:t>non-feasance</a:t>
            </a:r>
            <a:r>
              <a:rPr lang="en-US" sz="2800" dirty="0">
                <a:latin typeface="Times New Roman" panose="02020603050405020304" pitchFamily="18" charset="0"/>
                <a:cs typeface="Times New Roman" panose="02020603050405020304" pitchFamily="18" charset="0"/>
              </a:rPr>
              <a:t> on the part of public authorities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tortious liability of governments is different from that of ordinary citizens because of the nature and responsibilities of governments  </a:t>
            </a:r>
          </a:p>
        </p:txBody>
      </p:sp>
    </p:spTree>
    <p:extLst>
      <p:ext uri="{BB962C8B-B14F-4D97-AF65-F5344CB8AC3E}">
        <p14:creationId xmlns:p14="http://schemas.microsoft.com/office/powerpoint/2010/main" val="2735223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Gleeson CJ raised doubts about the State’s </a:t>
            </a:r>
            <a:r>
              <a:rPr lang="en-US" sz="2800" u="sng" dirty="0">
                <a:latin typeface="Times New Roman" panose="02020603050405020304" pitchFamily="18" charset="0"/>
                <a:cs typeface="Times New Roman" panose="02020603050405020304" pitchFamily="18" charset="0"/>
              </a:rPr>
              <a:t>managerial control</a:t>
            </a:r>
            <a:r>
              <a:rPr lang="en-US" sz="2800" dirty="0">
                <a:latin typeface="Times New Roman" panose="02020603050405020304" pitchFamily="18" charset="0"/>
                <a:cs typeface="Times New Roman" panose="02020603050405020304" pitchFamily="18" charset="0"/>
              </a:rPr>
              <a:t> over the oyster industry </a:t>
            </a:r>
            <a:endParaRPr lang="en-US" sz="2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Moreover, he asked: </a:t>
            </a:r>
          </a:p>
          <a:p>
            <a:pPr marL="457200" lvl="1" indent="0">
              <a:lnSpc>
                <a:spcPct val="150000"/>
              </a:lnSpc>
              <a:buNone/>
            </a:pPr>
            <a:r>
              <a:rPr lang="en-US" sz="2600" dirty="0">
                <a:latin typeface="Times New Roman" panose="02020603050405020304" pitchFamily="18" charset="0"/>
                <a:cs typeface="Times New Roman" panose="02020603050405020304" pitchFamily="18" charset="0"/>
              </a:rPr>
              <a:t>Why could not the State have relied on </a:t>
            </a:r>
            <a:r>
              <a:rPr lang="en-US" sz="2600" u="sng" dirty="0">
                <a:latin typeface="Times New Roman" panose="02020603050405020304" pitchFamily="18" charset="0"/>
                <a:cs typeface="Times New Roman" panose="02020603050405020304" pitchFamily="18" charset="0"/>
              </a:rPr>
              <a:t>self-regulation</a:t>
            </a:r>
            <a:r>
              <a:rPr lang="en-US" sz="2600" dirty="0">
                <a:latin typeface="Times New Roman" panose="02020603050405020304" pitchFamily="18" charset="0"/>
                <a:cs typeface="Times New Roman" panose="02020603050405020304" pitchFamily="18" charset="0"/>
              </a:rPr>
              <a:t> by the industry itself? … By what criterion can a court determine the reasonableness of a government’s decision to allow an industry a substantial measure of self-regulation?”   </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575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Regarding the Council, Gleeson CJ noted that the “</a:t>
            </a:r>
            <a:r>
              <a:rPr lang="en-US" sz="2500" u="sng" dirty="0">
                <a:latin typeface="Times New Roman" panose="02020603050405020304" pitchFamily="18" charset="0"/>
                <a:cs typeface="Times New Roman" panose="02020603050405020304" pitchFamily="18" charset="0"/>
              </a:rPr>
              <a:t>content</a:t>
            </a:r>
            <a:r>
              <a:rPr lang="en-US" sz="2500" dirty="0">
                <a:latin typeface="Times New Roman" panose="02020603050405020304" pitchFamily="18" charset="0"/>
                <a:cs typeface="Times New Roman" panose="02020603050405020304" pitchFamily="18" charset="0"/>
              </a:rPr>
              <a:t> of the duty” raises difficulties  </a:t>
            </a:r>
          </a:p>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He reasoned that the “powers conferred upon the Council … were conferred for the benefit of the public generally; </a:t>
            </a:r>
            <a:r>
              <a:rPr lang="en-US" sz="2500" i="1" dirty="0">
                <a:latin typeface="Times New Roman" panose="02020603050405020304" pitchFamily="18" charset="0"/>
                <a:cs typeface="Times New Roman" panose="02020603050405020304" pitchFamily="18" charset="0"/>
              </a:rPr>
              <a:t>not for the protection of a specific class of persons</a:t>
            </a:r>
            <a:r>
              <a:rPr lang="en-US" sz="25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On the other hand, Gummow and Hayne JJ denied a duty on the part of the Council because it exercised a much less significant degree of control over the risk of harm that eventuated – “the factor of control is of fundamental importance”</a:t>
            </a:r>
          </a:p>
        </p:txBody>
      </p:sp>
    </p:spTree>
    <p:extLst>
      <p:ext uri="{BB962C8B-B14F-4D97-AF65-F5344CB8AC3E}">
        <p14:creationId xmlns:p14="http://schemas.microsoft.com/office/powerpoint/2010/main" val="111885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The NSW Court of Appeal considered the duty of care of public authorities in </a:t>
            </a:r>
            <a:r>
              <a:rPr lang="en-US" sz="2500" i="1" dirty="0" err="1">
                <a:solidFill>
                  <a:srgbClr val="0070C0"/>
                </a:solidFill>
                <a:latin typeface="Times New Roman" panose="02020603050405020304" pitchFamily="18" charset="0"/>
                <a:cs typeface="Times New Roman" panose="02020603050405020304" pitchFamily="18" charset="0"/>
              </a:rPr>
              <a:t>Amaca</a:t>
            </a:r>
            <a:r>
              <a:rPr lang="en-US" sz="2500" i="1" dirty="0">
                <a:solidFill>
                  <a:srgbClr val="0070C0"/>
                </a:solidFill>
                <a:latin typeface="Times New Roman" panose="02020603050405020304" pitchFamily="18" charset="0"/>
                <a:cs typeface="Times New Roman" panose="02020603050405020304" pitchFamily="18" charset="0"/>
              </a:rPr>
              <a:t> v NSW</a:t>
            </a:r>
            <a:r>
              <a:rPr lang="en-US" sz="2500" dirty="0">
                <a:solidFill>
                  <a:srgbClr val="0070C0"/>
                </a:solidFill>
                <a:latin typeface="Times New Roman" panose="02020603050405020304" pitchFamily="18" charset="0"/>
                <a:cs typeface="Times New Roman" panose="02020603050405020304" pitchFamily="18" charset="0"/>
              </a:rPr>
              <a:t> [2004] NSWCA 124</a:t>
            </a:r>
            <a:r>
              <a:rPr lang="en-US" sz="2500" dirty="0">
                <a:latin typeface="Times New Roman" panose="02020603050405020304" pitchFamily="18" charset="0"/>
                <a:cs typeface="Times New Roman" panose="02020603050405020304" pitchFamily="18" charset="0"/>
              </a:rPr>
              <a:t> </a:t>
            </a:r>
            <a:r>
              <a:rPr lang="en-US" sz="2500" dirty="0">
                <a:solidFill>
                  <a:srgbClr val="7030A0"/>
                </a:solidFill>
                <a:latin typeface="Times New Roman" panose="02020603050405020304" pitchFamily="18" charset="0"/>
                <a:cs typeface="Times New Roman" panose="02020603050405020304" pitchFamily="18" charset="0"/>
              </a:rPr>
              <a:t>(Hay sued his employer, Rolls Royce, and Pacific Power for exposure to asbestos; both defendants cross-claimed against James Hardie, the manufacturer of asbestos; James Hardie was held liable, but it cross-claimed against the state of NSW) </a:t>
            </a:r>
            <a:endParaRPr lang="en-US" sz="25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The cross-claim against the State was rejected at trial and by the Court of Appeal; the High Court reversed on the principles and remitted; on remitter the Court of Appeal again held no duty was owed: </a:t>
            </a:r>
            <a:r>
              <a:rPr lang="en-US" sz="2500" i="1" dirty="0" err="1">
                <a:latin typeface="Times New Roman" panose="02020603050405020304" pitchFamily="18" charset="0"/>
                <a:cs typeface="Times New Roman" panose="02020603050405020304" pitchFamily="18" charset="0"/>
              </a:rPr>
              <a:t>Amaca</a:t>
            </a:r>
            <a:r>
              <a:rPr lang="en-US" sz="2500" i="1" dirty="0">
                <a:latin typeface="Times New Roman" panose="02020603050405020304" pitchFamily="18" charset="0"/>
                <a:cs typeface="Times New Roman" panose="02020603050405020304" pitchFamily="18" charset="0"/>
              </a:rPr>
              <a:t> v NSW </a:t>
            </a:r>
            <a:r>
              <a:rPr lang="en-US" sz="2500" dirty="0">
                <a:latin typeface="Times New Roman" panose="02020603050405020304" pitchFamily="18" charset="0"/>
                <a:cs typeface="Times New Roman" panose="02020603050405020304" pitchFamily="18" charset="0"/>
              </a:rPr>
              <a:t>(the </a:t>
            </a:r>
            <a:r>
              <a:rPr lang="en-US" sz="2500">
                <a:latin typeface="Times New Roman" panose="02020603050405020304" pitchFamily="18" charset="0"/>
                <a:cs typeface="Times New Roman" panose="02020603050405020304" pitchFamily="18" charset="0"/>
              </a:rPr>
              <a:t>decision in </a:t>
            </a:r>
            <a:r>
              <a:rPr lang="en-US" sz="2500" dirty="0">
                <a:latin typeface="Times New Roman" panose="02020603050405020304" pitchFamily="18" charset="0"/>
                <a:cs typeface="Times New Roman" panose="02020603050405020304" pitchFamily="18" charset="0"/>
              </a:rPr>
              <a:t>S&amp;V </a:t>
            </a:r>
            <a:r>
              <a:rPr lang="en-US" sz="2500">
                <a:latin typeface="Times New Roman" panose="02020603050405020304" pitchFamily="18" charset="0"/>
                <a:cs typeface="Times New Roman" panose="02020603050405020304" pitchFamily="18" charset="0"/>
              </a:rPr>
              <a:t>- optional)</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5097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Court of Appeal </a:t>
            </a:r>
            <a:r>
              <a:rPr lang="en-US" sz="2400" dirty="0" err="1">
                <a:latin typeface="Times New Roman" panose="02020603050405020304" pitchFamily="18" charset="0"/>
                <a:cs typeface="Times New Roman" panose="02020603050405020304" pitchFamily="18" charset="0"/>
              </a:rPr>
              <a:t>synthesised</a:t>
            </a:r>
            <a:r>
              <a:rPr lang="en-US" sz="2400" dirty="0">
                <a:latin typeface="Times New Roman" panose="02020603050405020304" pitchFamily="18" charset="0"/>
                <a:cs typeface="Times New Roman" panose="02020603050405020304" pitchFamily="18" charset="0"/>
              </a:rPr>
              <a:t> the following five propositions from past decisions: </a:t>
            </a:r>
          </a:p>
          <a:p>
            <a:pPr marL="1885950" lvl="3" indent="-514350">
              <a:lnSpc>
                <a:spcPct val="150000"/>
              </a:lnSpc>
              <a:buFont typeface="+mj-lt"/>
              <a:buAutoNum type="alphaLcParenR"/>
            </a:pPr>
            <a:r>
              <a:rPr lang="en-US" sz="2400" dirty="0">
                <a:latin typeface="Times New Roman" panose="02020603050405020304" pitchFamily="18" charset="0"/>
                <a:cs typeface="Times New Roman" panose="02020603050405020304" pitchFamily="18" charset="0"/>
              </a:rPr>
              <a:t>The </a:t>
            </a:r>
            <a:r>
              <a:rPr lang="en-US" sz="2400" u="sng" dirty="0">
                <a:latin typeface="Times New Roman" panose="02020603050405020304" pitchFamily="18" charset="0"/>
                <a:cs typeface="Times New Roman" panose="02020603050405020304" pitchFamily="18" charset="0"/>
              </a:rPr>
              <a:t>totality of the relationship</a:t>
            </a:r>
            <a:r>
              <a:rPr lang="en-US" sz="2400" dirty="0">
                <a:latin typeface="Times New Roman" panose="02020603050405020304" pitchFamily="18" charset="0"/>
                <a:cs typeface="Times New Roman" panose="02020603050405020304" pitchFamily="18" charset="0"/>
              </a:rPr>
              <a:t> between the parties is the proper basis to determine the duty of care </a:t>
            </a:r>
          </a:p>
          <a:p>
            <a:pPr marL="1885950" lvl="3" indent="-514350">
              <a:lnSpc>
                <a:spcPct val="150000"/>
              </a:lnSpc>
              <a:buFont typeface="+mj-lt"/>
              <a:buAutoNum type="alphaLcParenR"/>
            </a:pPr>
            <a:r>
              <a:rPr lang="en-US" sz="2400" dirty="0">
                <a:latin typeface="Times New Roman" panose="02020603050405020304" pitchFamily="18" charset="0"/>
                <a:cs typeface="Times New Roman" panose="02020603050405020304" pitchFamily="18" charset="0"/>
              </a:rPr>
              <a:t>The category of control that may contribute to the existence of duty of care includes </a:t>
            </a:r>
            <a:r>
              <a:rPr lang="en-US" sz="2400" u="sng" dirty="0">
                <a:latin typeface="Times New Roman" panose="02020603050405020304" pitchFamily="18" charset="0"/>
                <a:cs typeface="Times New Roman" panose="02020603050405020304" pitchFamily="18" charset="0"/>
              </a:rPr>
              <a:t>control of any situation that contains a risk of harm</a:t>
            </a:r>
            <a:r>
              <a:rPr lang="en-US" sz="2400" dirty="0">
                <a:latin typeface="Times New Roman" panose="02020603050405020304" pitchFamily="18" charset="0"/>
                <a:cs typeface="Times New Roman" panose="02020603050405020304" pitchFamily="18" charset="0"/>
              </a:rPr>
              <a:t> to others  </a:t>
            </a:r>
          </a:p>
          <a:p>
            <a:pPr marL="1885950" lvl="3" indent="-514350">
              <a:lnSpc>
                <a:spcPct val="150000"/>
              </a:lnSpc>
              <a:buFont typeface="+mj-lt"/>
              <a:buAutoNum type="alphaLcParenR"/>
            </a:pPr>
            <a:r>
              <a:rPr lang="en-US" sz="2400" dirty="0">
                <a:latin typeface="Times New Roman" panose="02020603050405020304" pitchFamily="18" charset="0"/>
                <a:cs typeface="Times New Roman" panose="02020603050405020304" pitchFamily="18" charset="0"/>
              </a:rPr>
              <a:t>A duty of care does not arise </a:t>
            </a:r>
            <a:r>
              <a:rPr lang="en-US" sz="2400" u="sng" dirty="0">
                <a:latin typeface="Times New Roman" panose="02020603050405020304" pitchFamily="18" charset="0"/>
                <a:cs typeface="Times New Roman" panose="02020603050405020304" pitchFamily="18" charset="0"/>
              </a:rPr>
              <a:t>merely because an authority might have prevented harm</a:t>
            </a:r>
            <a:r>
              <a:rPr lang="en-US" sz="2400" dirty="0">
                <a:latin typeface="Times New Roman" panose="02020603050405020304" pitchFamily="18" charset="0"/>
                <a:cs typeface="Times New Roman" panose="02020603050405020304" pitchFamily="18" charset="0"/>
              </a:rPr>
              <a:t> by exercising a statutory power</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43361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1885950" lvl="3" indent="-514350">
              <a:lnSpc>
                <a:spcPct val="150000"/>
              </a:lnSpc>
              <a:buFont typeface="+mj-lt"/>
              <a:buAutoNum type="alphaLcParenR" startAt="4"/>
            </a:pPr>
            <a:r>
              <a:rPr lang="en-US" sz="2500" dirty="0">
                <a:latin typeface="Times New Roman" panose="02020603050405020304" pitchFamily="18" charset="0"/>
                <a:cs typeface="Times New Roman" panose="02020603050405020304" pitchFamily="18" charset="0"/>
              </a:rPr>
              <a:t>The </a:t>
            </a:r>
            <a:r>
              <a:rPr lang="en-US" sz="2500" u="sng" dirty="0">
                <a:latin typeface="Times New Roman" panose="02020603050405020304" pitchFamily="18" charset="0"/>
                <a:cs typeface="Times New Roman" panose="02020603050405020304" pitchFamily="18" charset="0"/>
              </a:rPr>
              <a:t>existence</a:t>
            </a:r>
            <a:r>
              <a:rPr lang="en-US" sz="2500" dirty="0">
                <a:latin typeface="Times New Roman" panose="02020603050405020304" pitchFamily="18" charset="0"/>
                <a:cs typeface="Times New Roman" panose="02020603050405020304" pitchFamily="18" charset="0"/>
              </a:rPr>
              <a:t> of statutory powers and the mere </a:t>
            </a:r>
            <a:r>
              <a:rPr lang="en-US" sz="2500" u="sng" dirty="0">
                <a:latin typeface="Times New Roman" panose="02020603050405020304" pitchFamily="18" charset="0"/>
                <a:cs typeface="Times New Roman" panose="02020603050405020304" pitchFamily="18" charset="0"/>
              </a:rPr>
              <a:t>prior exercise</a:t>
            </a:r>
            <a:r>
              <a:rPr lang="en-US" sz="2500" dirty="0">
                <a:latin typeface="Times New Roman" panose="02020603050405020304" pitchFamily="18" charset="0"/>
                <a:cs typeface="Times New Roman" panose="02020603050405020304" pitchFamily="18" charset="0"/>
              </a:rPr>
              <a:t> of those powers from time to time </a:t>
            </a:r>
            <a:r>
              <a:rPr lang="en-US" sz="2500" u="sng" dirty="0">
                <a:latin typeface="Times New Roman" panose="02020603050405020304" pitchFamily="18" charset="0"/>
                <a:cs typeface="Times New Roman" panose="02020603050405020304" pitchFamily="18" charset="0"/>
              </a:rPr>
              <a:t>do not create a duty to exercise those power in future</a:t>
            </a:r>
            <a:r>
              <a:rPr lang="en-US" sz="2500" dirty="0">
                <a:latin typeface="Times New Roman" panose="02020603050405020304" pitchFamily="18" charset="0"/>
                <a:cs typeface="Times New Roman" panose="02020603050405020304" pitchFamily="18" charset="0"/>
              </a:rPr>
              <a:t> </a:t>
            </a:r>
          </a:p>
          <a:p>
            <a:pPr marL="1885950" lvl="3" indent="-514350">
              <a:lnSpc>
                <a:spcPct val="150000"/>
              </a:lnSpc>
              <a:buFont typeface="+mj-lt"/>
              <a:buAutoNum type="alphaLcParenR" startAt="4"/>
            </a:pPr>
            <a:r>
              <a:rPr lang="en-US" sz="2500" u="sng" dirty="0">
                <a:latin typeface="Times New Roman" panose="02020603050405020304" pitchFamily="18" charset="0"/>
                <a:cs typeface="Times New Roman" panose="02020603050405020304" pitchFamily="18" charset="0"/>
              </a:rPr>
              <a:t>Knowledge that harm may result from a failure</a:t>
            </a:r>
            <a:r>
              <a:rPr lang="en-US" sz="2500" dirty="0">
                <a:latin typeface="Times New Roman" panose="02020603050405020304" pitchFamily="18" charset="0"/>
                <a:cs typeface="Times New Roman" panose="02020603050405020304" pitchFamily="18" charset="0"/>
              </a:rPr>
              <a:t> to exercise statutory power </a:t>
            </a:r>
            <a:r>
              <a:rPr lang="en-US" sz="2500" u="sng" dirty="0">
                <a:latin typeface="Times New Roman" panose="02020603050405020304" pitchFamily="18" charset="0"/>
                <a:cs typeface="Times New Roman" panose="02020603050405020304" pitchFamily="18" charset="0"/>
              </a:rPr>
              <a:t>is not itself sufficient</a:t>
            </a:r>
            <a:r>
              <a:rPr lang="en-US" sz="2500" dirty="0">
                <a:latin typeface="Times New Roman" panose="02020603050405020304" pitchFamily="18" charset="0"/>
                <a:cs typeface="Times New Roman" panose="02020603050405020304" pitchFamily="18" charset="0"/>
              </a:rPr>
              <a:t> to create a duty of care </a:t>
            </a:r>
          </a:p>
        </p:txBody>
      </p:sp>
    </p:spTree>
    <p:extLst>
      <p:ext uri="{BB962C8B-B14F-4D97-AF65-F5344CB8AC3E}">
        <p14:creationId xmlns:p14="http://schemas.microsoft.com/office/powerpoint/2010/main" val="2331008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Court of Appeal held that the state of NSW did </a:t>
            </a:r>
            <a:r>
              <a:rPr lang="en-US" sz="2400" u="sng" dirty="0">
                <a:latin typeface="Times New Roman" panose="02020603050405020304" pitchFamily="18" charset="0"/>
                <a:cs typeface="Times New Roman" panose="02020603050405020304" pitchFamily="18" charset="0"/>
              </a:rPr>
              <a:t>not</a:t>
            </a:r>
            <a:r>
              <a:rPr lang="en-US" sz="2400" dirty="0">
                <a:latin typeface="Times New Roman" panose="02020603050405020304" pitchFamily="18" charset="0"/>
                <a:cs typeface="Times New Roman" panose="02020603050405020304" pitchFamily="18" charset="0"/>
              </a:rPr>
              <a:t> owe a duty of care </a:t>
            </a:r>
          </a:p>
          <a:p>
            <a:pPr lvl="1">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James Hardie and others had no less </a:t>
            </a:r>
            <a:r>
              <a:rPr lang="en-US" sz="2400" i="1" dirty="0">
                <a:latin typeface="Times New Roman" panose="02020603050405020304" pitchFamily="18" charset="0"/>
                <a:cs typeface="Times New Roman" panose="02020603050405020304" pitchFamily="18" charset="0"/>
              </a:rPr>
              <a:t>knowledge</a:t>
            </a:r>
            <a:r>
              <a:rPr lang="en-US" sz="2400" dirty="0">
                <a:latin typeface="Times New Roman" panose="02020603050405020304" pitchFamily="18" charset="0"/>
                <a:cs typeface="Times New Roman" panose="02020603050405020304" pitchFamily="18" charset="0"/>
              </a:rPr>
              <a:t> than the State of potential dangers of the asbestos dust </a:t>
            </a:r>
          </a:p>
          <a:p>
            <a:pPr lvl="1">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i="1" dirty="0">
                <a:latin typeface="Times New Roman" panose="02020603050405020304" pitchFamily="18" charset="0"/>
                <a:cs typeface="Times New Roman" panose="02020603050405020304" pitchFamily="18" charset="0"/>
              </a:rPr>
              <a:t>control</a:t>
            </a:r>
            <a:r>
              <a:rPr lang="en-US" sz="2400" dirty="0">
                <a:latin typeface="Times New Roman" panose="02020603050405020304" pitchFamily="18" charset="0"/>
                <a:cs typeface="Times New Roman" panose="02020603050405020304" pitchFamily="18" charset="0"/>
              </a:rPr>
              <a:t> exercised by the State was also much less than enjoyed by Rolls Royce (employer), Pacific Power (site owner) and James Hardie (supplier)</a:t>
            </a:r>
          </a:p>
          <a:p>
            <a:pPr lvl="1">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Plaintiff’s not </a:t>
            </a:r>
            <a:r>
              <a:rPr lang="en-US" sz="2400" i="1" dirty="0">
                <a:latin typeface="Times New Roman" panose="02020603050405020304" pitchFamily="18" charset="0"/>
                <a:cs typeface="Times New Roman" panose="02020603050405020304" pitchFamily="18" charset="0"/>
              </a:rPr>
              <a:t>vulnerable</a:t>
            </a:r>
            <a:r>
              <a:rPr lang="en-US" sz="2400" dirty="0">
                <a:latin typeface="Times New Roman" panose="02020603050405020304" pitchFamily="18" charset="0"/>
                <a:cs typeface="Times New Roman" panose="02020603050405020304" pitchFamily="18" charset="0"/>
              </a:rPr>
              <a:t> to the State as they could protect themselves by relying on their employers, the suppliers and the owners and occupiers of the property involved</a:t>
            </a:r>
          </a:p>
          <a:p>
            <a:pPr lvl="1">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Imposing a duty of care would impose a </a:t>
            </a:r>
            <a:r>
              <a:rPr lang="en-US" sz="2400" i="1" dirty="0">
                <a:latin typeface="Times New Roman" panose="02020603050405020304" pitchFamily="18" charset="0"/>
                <a:cs typeface="Times New Roman" panose="02020603050405020304" pitchFamily="18" charset="0"/>
              </a:rPr>
              <a:t>massive obligation </a:t>
            </a:r>
            <a:r>
              <a:rPr lang="en-US" sz="2400" dirty="0">
                <a:latin typeface="Times New Roman" panose="02020603050405020304" pitchFamily="18" charset="0"/>
                <a:cs typeface="Times New Roman" panose="02020603050405020304" pitchFamily="18" charset="0"/>
              </a:rPr>
              <a:t>on the State   </a:t>
            </a:r>
          </a:p>
        </p:txBody>
      </p:sp>
    </p:spTree>
    <p:extLst>
      <p:ext uri="{BB962C8B-B14F-4D97-AF65-F5344CB8AC3E}">
        <p14:creationId xmlns:p14="http://schemas.microsoft.com/office/powerpoint/2010/main" val="1512917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marL="0" indent="0">
              <a:lnSpc>
                <a:spcPct val="150000"/>
              </a:lnSpc>
              <a:buNone/>
            </a:pPr>
            <a:r>
              <a:rPr lang="en-US" sz="2800" u="sng" dirty="0">
                <a:solidFill>
                  <a:srgbClr val="008000"/>
                </a:solidFill>
                <a:latin typeface="Times New Roman" panose="02020603050405020304" pitchFamily="18" charset="0"/>
                <a:cs typeface="Times New Roman" panose="02020603050405020304" pitchFamily="18" charset="0"/>
              </a:rPr>
              <a:t>Impact of the Civil Liability Act</a:t>
            </a:r>
            <a:endParaRPr lang="en-US" sz="1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a:t>
            </a:r>
            <a:r>
              <a:rPr lang="en-US" sz="2800" dirty="0" err="1">
                <a:latin typeface="Times New Roman" panose="02020603050405020304" pitchFamily="18" charset="0"/>
                <a:cs typeface="Times New Roman" panose="02020603050405020304" pitchFamily="18" charset="0"/>
              </a:rPr>
              <a:t>Ipp</a:t>
            </a:r>
            <a:r>
              <a:rPr lang="en-US" sz="2800" dirty="0">
                <a:latin typeface="Times New Roman" panose="02020603050405020304" pitchFamily="18" charset="0"/>
                <a:cs typeface="Times New Roman" panose="02020603050405020304" pitchFamily="18" charset="0"/>
              </a:rPr>
              <a:t> Committee’s recommendations were aimed at reducing the liability of public authorities for negligence </a:t>
            </a:r>
            <a:r>
              <a:rPr lang="en-US" sz="2800" u="sng" dirty="0">
                <a:latin typeface="Times New Roman" panose="02020603050405020304" pitchFamily="18" charset="0"/>
                <a:cs typeface="Times New Roman" panose="02020603050405020304" pitchFamily="18" charset="0"/>
              </a:rPr>
              <a:t>only</a:t>
            </a:r>
            <a:r>
              <a:rPr lang="en-US" sz="2800" dirty="0">
                <a:latin typeface="Times New Roman" panose="02020603050405020304" pitchFamily="18" charset="0"/>
                <a:cs typeface="Times New Roman" panose="02020603050405020304" pitchFamily="18" charset="0"/>
              </a:rPr>
              <a:t> to their acts which were </a:t>
            </a:r>
            <a:r>
              <a:rPr lang="en-US" sz="2800" i="1" dirty="0">
                <a:latin typeface="Times New Roman" panose="02020603050405020304" pitchFamily="18" charset="0"/>
                <a:cs typeface="Times New Roman" panose="02020603050405020304" pitchFamily="18" charset="0"/>
              </a:rPr>
              <a:t>so unreasonable that no reasonable public authority would take them</a:t>
            </a:r>
            <a:r>
              <a:rPr lang="en-US" sz="28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This draws from the </a:t>
            </a:r>
            <a:r>
              <a:rPr lang="en-US" sz="2800" b="1" dirty="0" err="1">
                <a:latin typeface="Times New Roman" panose="02020603050405020304" pitchFamily="18" charset="0"/>
                <a:cs typeface="Times New Roman" panose="02020603050405020304" pitchFamily="18" charset="0"/>
              </a:rPr>
              <a:t>Wednesbury</a:t>
            </a:r>
            <a:r>
              <a:rPr lang="en-US" sz="2800" b="1" dirty="0">
                <a:latin typeface="Times New Roman" panose="02020603050405020304" pitchFamily="18" charset="0"/>
                <a:cs typeface="Times New Roman" panose="02020603050405020304" pitchFamily="18" charset="0"/>
              </a:rPr>
              <a:t> unreasonableness</a:t>
            </a:r>
            <a:r>
              <a:rPr lang="en-US" sz="2800" dirty="0">
                <a:latin typeface="Times New Roman" panose="02020603050405020304" pitchFamily="18" charset="0"/>
                <a:cs typeface="Times New Roman" panose="02020603050405020304" pitchFamily="18" charset="0"/>
              </a:rPr>
              <a:t> principle used in administrative law    </a:t>
            </a:r>
          </a:p>
        </p:txBody>
      </p:sp>
    </p:spTree>
    <p:extLst>
      <p:ext uri="{BB962C8B-B14F-4D97-AF65-F5344CB8AC3E}">
        <p14:creationId xmlns:p14="http://schemas.microsoft.com/office/powerpoint/2010/main" val="4064811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Section 41 of the CLA provides the definition of a “public authority” – e.g., Crown, government department, local council, and any public or local authority constituted </a:t>
            </a:r>
            <a:r>
              <a:rPr lang="en-US" sz="2600" i="1" dirty="0">
                <a:latin typeface="Times New Roman" panose="02020603050405020304" pitchFamily="18" charset="0"/>
                <a:cs typeface="Times New Roman" panose="02020603050405020304" pitchFamily="18" charset="0"/>
              </a:rPr>
              <a:t>by</a:t>
            </a:r>
            <a:r>
              <a:rPr lang="en-US" sz="2600" dirty="0">
                <a:latin typeface="Times New Roman" panose="02020603050405020304" pitchFamily="18" charset="0"/>
                <a:cs typeface="Times New Roman" panose="02020603050405020304" pitchFamily="18" charset="0"/>
              </a:rPr>
              <a:t> or </a:t>
            </a:r>
            <a:r>
              <a:rPr lang="en-US" sz="2600" i="1" dirty="0">
                <a:latin typeface="Times New Roman" panose="02020603050405020304" pitchFamily="18" charset="0"/>
                <a:cs typeface="Times New Roman" panose="02020603050405020304" pitchFamily="18" charset="0"/>
              </a:rPr>
              <a:t>under</a:t>
            </a:r>
            <a:r>
              <a:rPr lang="en-US" sz="2600" dirty="0">
                <a:latin typeface="Times New Roman" panose="02020603050405020304" pitchFamily="18" charset="0"/>
                <a:cs typeface="Times New Roman" panose="02020603050405020304" pitchFamily="18" charset="0"/>
              </a:rPr>
              <a:t> an Act etc. </a:t>
            </a:r>
          </a:p>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Moreover, “any person having public official functions or acting in a public official capacity (</a:t>
            </a:r>
            <a:r>
              <a:rPr lang="en-US" sz="2600" i="1" dirty="0">
                <a:latin typeface="Times New Roman" panose="02020603050405020304" pitchFamily="18" charset="0"/>
                <a:cs typeface="Times New Roman" panose="02020603050405020304" pitchFamily="18" charset="0"/>
              </a:rPr>
              <a:t>whether or not employed as a public official</a:t>
            </a:r>
            <a:r>
              <a:rPr lang="en-US" sz="2600" dirty="0">
                <a:latin typeface="Times New Roman" panose="02020603050405020304" pitchFamily="18" charset="0"/>
                <a:cs typeface="Times New Roman" panose="02020603050405020304" pitchFamily="18" charset="0"/>
              </a:rPr>
              <a:t>)” is also regarded as a public authority </a:t>
            </a:r>
          </a:p>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Note: CLA Part 5 (ss 41–46) is not in your textbook – it is covered in the S&amp;V extract on the reading list</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306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This means that a </a:t>
            </a:r>
            <a:r>
              <a:rPr lang="en-US" sz="2800" u="sng" dirty="0">
                <a:latin typeface="Times New Roman" panose="02020603050405020304" pitchFamily="18" charset="0"/>
                <a:cs typeface="Times New Roman" panose="02020603050405020304" pitchFamily="18" charset="0"/>
              </a:rPr>
              <a:t>private body or person</a:t>
            </a:r>
            <a:r>
              <a:rPr lang="en-US" sz="2800" dirty="0">
                <a:latin typeface="Times New Roman" panose="02020603050405020304" pitchFamily="18" charset="0"/>
                <a:cs typeface="Times New Roman" panose="02020603050405020304" pitchFamily="18" charset="0"/>
              </a:rPr>
              <a:t> may also be regarded a public authority: </a:t>
            </a:r>
            <a:endParaRPr lang="en-US" sz="1200" dirty="0">
              <a:latin typeface="Times New Roman" panose="02020603050405020304" pitchFamily="18" charset="0"/>
              <a:cs typeface="Times New Roman" panose="02020603050405020304" pitchFamily="18" charset="0"/>
            </a:endParaRP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psychiatrists operating under the Mental Health Act 2007 </a:t>
            </a: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people putting warning signs by roads  </a:t>
            </a: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prison guards  </a:t>
            </a:r>
          </a:p>
        </p:txBody>
      </p:sp>
    </p:spTree>
    <p:extLst>
      <p:ext uri="{BB962C8B-B14F-4D97-AF65-F5344CB8AC3E}">
        <p14:creationId xmlns:p14="http://schemas.microsoft.com/office/powerpoint/2010/main" val="3200743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Section 42 of the CLA stipulates </a:t>
            </a:r>
            <a:r>
              <a:rPr lang="en-US" sz="2300" u="sng" dirty="0">
                <a:latin typeface="Times New Roman" panose="02020603050405020304" pitchFamily="18" charset="0"/>
                <a:cs typeface="Times New Roman" panose="02020603050405020304" pitchFamily="18" charset="0"/>
              </a:rPr>
              <a:t>principles</a:t>
            </a:r>
            <a:r>
              <a:rPr lang="en-US" sz="2300" dirty="0">
                <a:latin typeface="Times New Roman" panose="02020603050405020304" pitchFamily="18" charset="0"/>
                <a:cs typeface="Times New Roman" panose="02020603050405020304" pitchFamily="18" charset="0"/>
              </a:rPr>
              <a:t> that apply in determining whether a public authority has a duty of care or has breached this duty: </a:t>
            </a:r>
          </a:p>
          <a:p>
            <a:pPr lvl="2">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 “the functions required to be exercised by the authority are </a:t>
            </a:r>
            <a:r>
              <a:rPr lang="en-US" sz="2300" b="1" dirty="0">
                <a:latin typeface="Times New Roman" panose="02020603050405020304" pitchFamily="18" charset="0"/>
                <a:cs typeface="Times New Roman" panose="02020603050405020304" pitchFamily="18" charset="0"/>
              </a:rPr>
              <a:t>limited by the financial and other resources</a:t>
            </a:r>
            <a:r>
              <a:rPr lang="en-US" sz="2300" dirty="0">
                <a:latin typeface="Times New Roman" panose="02020603050405020304" pitchFamily="18" charset="0"/>
                <a:cs typeface="Times New Roman" panose="02020603050405020304" pitchFamily="18" charset="0"/>
              </a:rPr>
              <a:t> that are reasonably available to the authority” to discharge those functions  </a:t>
            </a:r>
          </a:p>
          <a:p>
            <a:pPr lvl="2">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 the general </a:t>
            </a:r>
            <a:r>
              <a:rPr lang="en-US" sz="2300" b="1" dirty="0">
                <a:latin typeface="Times New Roman" panose="02020603050405020304" pitchFamily="18" charset="0"/>
                <a:cs typeface="Times New Roman" panose="02020603050405020304" pitchFamily="18" charset="0"/>
              </a:rPr>
              <a:t>allocation of resources</a:t>
            </a:r>
            <a:r>
              <a:rPr lang="en-US" sz="2300" dirty="0">
                <a:latin typeface="Times New Roman" panose="02020603050405020304" pitchFamily="18" charset="0"/>
                <a:cs typeface="Times New Roman" panose="02020603050405020304" pitchFamily="18" charset="0"/>
              </a:rPr>
              <a:t> by a public authority is not open to challenge</a:t>
            </a:r>
          </a:p>
          <a:p>
            <a:pPr lvl="2">
              <a:lnSpc>
                <a:spcPct val="150000"/>
              </a:lnSpc>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 “the functions required to be exercised by the authority are to be determined by reference to </a:t>
            </a:r>
            <a:r>
              <a:rPr lang="en-US" sz="2300" b="1" dirty="0">
                <a:latin typeface="Times New Roman" panose="02020603050405020304" pitchFamily="18" charset="0"/>
                <a:cs typeface="Times New Roman" panose="02020603050405020304" pitchFamily="18" charset="0"/>
              </a:rPr>
              <a:t>the broad range of its activities </a:t>
            </a:r>
            <a:r>
              <a:rPr lang="en-US" sz="2300" dirty="0">
                <a:latin typeface="Times New Roman" panose="02020603050405020304" pitchFamily="18" charset="0"/>
                <a:cs typeface="Times New Roman" panose="02020603050405020304" pitchFamily="18" charset="0"/>
              </a:rPr>
              <a:t>(and not merely by reference to the matter to which the proceedings relate)”</a:t>
            </a:r>
            <a:r>
              <a:rPr lang="en-US" sz="2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19167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Sections 43 provides that “an act or omission of the authority does not constitute a </a:t>
            </a:r>
            <a:r>
              <a:rPr lang="en-US" sz="2800" i="1" dirty="0">
                <a:latin typeface="Times New Roman" panose="02020603050405020304" pitchFamily="18" charset="0"/>
                <a:cs typeface="Times New Roman" panose="02020603050405020304" pitchFamily="18" charset="0"/>
              </a:rPr>
              <a:t>breach of statutory duty </a:t>
            </a:r>
            <a:r>
              <a:rPr lang="en-US" sz="2800" u="sng" dirty="0">
                <a:latin typeface="Times New Roman" panose="02020603050405020304" pitchFamily="18" charset="0"/>
                <a:cs typeface="Times New Roman" panose="02020603050405020304" pitchFamily="18" charset="0"/>
              </a:rPr>
              <a:t>unless</a:t>
            </a:r>
            <a:r>
              <a:rPr lang="en-US" sz="2800" dirty="0">
                <a:latin typeface="Times New Roman" panose="02020603050405020304" pitchFamily="18" charset="0"/>
                <a:cs typeface="Times New Roman" panose="02020603050405020304" pitchFamily="18" charset="0"/>
              </a:rPr>
              <a:t> the act or omission was in the circumstances </a:t>
            </a:r>
            <a:r>
              <a:rPr lang="en-US" sz="2800" b="1" dirty="0">
                <a:latin typeface="Times New Roman" panose="02020603050405020304" pitchFamily="18" charset="0"/>
                <a:cs typeface="Times New Roman" panose="02020603050405020304" pitchFamily="18" charset="0"/>
              </a:rPr>
              <a:t>so unreasonable</a:t>
            </a:r>
            <a:r>
              <a:rPr lang="en-US" sz="2800" dirty="0">
                <a:latin typeface="Times New Roman" panose="02020603050405020304" pitchFamily="18" charset="0"/>
                <a:cs typeface="Times New Roman" panose="02020603050405020304" pitchFamily="18" charset="0"/>
              </a:rPr>
              <a:t> that no authority having the functions of the authority in question could properly consider the act or omission to be a reasonable exercise of its functions”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Under Section 43A, the same principle applies to the </a:t>
            </a:r>
            <a:r>
              <a:rPr lang="en-US" sz="2800" i="1" dirty="0">
                <a:latin typeface="Times New Roman" panose="02020603050405020304" pitchFamily="18" charset="0"/>
                <a:cs typeface="Times New Roman" panose="02020603050405020304" pitchFamily="18" charset="0"/>
              </a:rPr>
              <a:t>exercise of special statutory powers</a:t>
            </a:r>
            <a:r>
              <a:rPr lang="en-US" sz="2800" dirty="0">
                <a:latin typeface="Times New Roman" panose="02020603050405020304" pitchFamily="18" charset="0"/>
                <a:cs typeface="Times New Roman" panose="02020603050405020304" pitchFamily="18" charset="0"/>
              </a:rPr>
              <a:t> by public authorities </a:t>
            </a:r>
          </a:p>
        </p:txBody>
      </p:sp>
    </p:spTree>
    <p:extLst>
      <p:ext uri="{BB962C8B-B14F-4D97-AF65-F5344CB8AC3E}">
        <p14:creationId xmlns:p14="http://schemas.microsoft.com/office/powerpoint/2010/main" val="3129870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97C55-A70E-CD28-D30B-5799B9CB5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41BB9-71E1-36D0-2BF3-C336E9D25F61}"/>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B23DA8-91BF-6A4B-94B4-6D8608DB6119}"/>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Section 44: When public or other authority not liable for failure to exercise regulatory functions</a:t>
            </a:r>
          </a:p>
          <a:p>
            <a:pPr marL="457200" lvl="1" indent="0">
              <a:lnSpc>
                <a:spcPct val="150000"/>
              </a:lnSpc>
              <a:buNone/>
            </a:pPr>
            <a:r>
              <a:rPr lang="en-US" sz="2100" dirty="0">
                <a:latin typeface="Times New Roman" panose="02020603050405020304" pitchFamily="18" charset="0"/>
                <a:cs typeface="Times New Roman" panose="02020603050405020304" pitchFamily="18" charset="0"/>
              </a:rPr>
              <a:t>(1)  A public or other authority is not liable in proceedings for civil liability to which this Part applies to the extent that the liability is based on the failure of the authority to exercise or to consider exercising any function of the authority to prohibit or regulate an activity if the authority could not have been required to exercise the function in proceedings instituted by the plaintiff</a:t>
            </a:r>
          </a:p>
          <a:p>
            <a:pPr marL="457200" lvl="1" indent="0">
              <a:lnSpc>
                <a:spcPct val="150000"/>
              </a:lnSpc>
              <a:buNone/>
            </a:pPr>
            <a:r>
              <a:rPr lang="en-US" sz="2100" dirty="0">
                <a:latin typeface="Times New Roman" panose="02020603050405020304" pitchFamily="18" charset="0"/>
                <a:cs typeface="Times New Roman" panose="02020603050405020304" pitchFamily="18" charset="0"/>
              </a:rPr>
              <a:t>(2)  Without limiting what constitutes a function to regulate an activity for the purposes of this section, a function to issue a </a:t>
            </a:r>
            <a:r>
              <a:rPr lang="en-US" sz="2100" dirty="0" err="1">
                <a:latin typeface="Times New Roman" panose="02020603050405020304" pitchFamily="18" charset="0"/>
                <a:cs typeface="Times New Roman" panose="02020603050405020304" pitchFamily="18" charset="0"/>
              </a:rPr>
              <a:t>licence</a:t>
            </a:r>
            <a:r>
              <a:rPr lang="en-US" sz="2100" dirty="0">
                <a:latin typeface="Times New Roman" panose="02020603050405020304" pitchFamily="18" charset="0"/>
                <a:cs typeface="Times New Roman" panose="02020603050405020304" pitchFamily="18" charset="0"/>
              </a:rPr>
              <a:t>, permit or other authority in respect of an activity, or to register or otherwise </a:t>
            </a:r>
            <a:r>
              <a:rPr lang="en-US" sz="2100" dirty="0" err="1">
                <a:latin typeface="Times New Roman" panose="02020603050405020304" pitchFamily="18" charset="0"/>
                <a:cs typeface="Times New Roman" panose="02020603050405020304" pitchFamily="18" charset="0"/>
              </a:rPr>
              <a:t>authorise</a:t>
            </a:r>
            <a:r>
              <a:rPr lang="en-US" sz="2100" dirty="0">
                <a:latin typeface="Times New Roman" panose="02020603050405020304" pitchFamily="18" charset="0"/>
                <a:cs typeface="Times New Roman" panose="02020603050405020304" pitchFamily="18" charset="0"/>
              </a:rPr>
              <a:t> a person in connection with an activity, constitutes a function to regulate the activity.</a:t>
            </a:r>
          </a:p>
        </p:txBody>
      </p:sp>
    </p:spTree>
    <p:extLst>
      <p:ext uri="{BB962C8B-B14F-4D97-AF65-F5344CB8AC3E}">
        <p14:creationId xmlns:p14="http://schemas.microsoft.com/office/powerpoint/2010/main" val="3953360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2D448-90B2-7231-D62B-87A80F487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3EEBB-C87F-C46B-E5BE-4D76996F9814}"/>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152899-9496-E296-D23D-81A129F3E931}"/>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Section 46: Exercise of function or decision to exercise does not create duty</a:t>
            </a:r>
          </a:p>
          <a:p>
            <a:pPr marL="457200" lvl="1" indent="0">
              <a:lnSpc>
                <a:spcPct val="150000"/>
              </a:lnSpc>
              <a:buNone/>
            </a:pPr>
            <a:r>
              <a:rPr lang="en-US" sz="2200" dirty="0">
                <a:latin typeface="Times New Roman" panose="02020603050405020304" pitchFamily="18" charset="0"/>
                <a:cs typeface="Times New Roman" panose="02020603050405020304" pitchFamily="18" charset="0"/>
              </a:rPr>
              <a:t>In proceedings to which this Part applies, the fact that a public or other authority exercises or decides to exercise a function does not of itself indicate that the authority is under a duty to exercise the function or that the function should be exercised in particular circumstances or in a particular way.</a:t>
            </a:r>
          </a:p>
        </p:txBody>
      </p:sp>
    </p:spTree>
    <p:extLst>
      <p:ext uri="{BB962C8B-B14F-4D97-AF65-F5344CB8AC3E}">
        <p14:creationId xmlns:p14="http://schemas.microsoft.com/office/powerpoint/2010/main" val="4097782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One may note that the CLA restricts the duty of care for public authorities – this is akin to the approach adopted by the Australian courts</a:t>
            </a:r>
          </a:p>
          <a:p>
            <a:pPr>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The NSW Court of Appeal had an opportunity to consider the interface between the common law and the CLA in </a:t>
            </a:r>
            <a:r>
              <a:rPr lang="en-US" sz="2500" i="1" dirty="0">
                <a:solidFill>
                  <a:srgbClr val="0070C0"/>
                </a:solidFill>
                <a:latin typeface="Times New Roman" panose="02020603050405020304" pitchFamily="18" charset="0"/>
                <a:cs typeface="Times New Roman" panose="02020603050405020304" pitchFamily="18" charset="0"/>
              </a:rPr>
              <a:t>RTA v Refrigerated Roadways </a:t>
            </a:r>
            <a:r>
              <a:rPr lang="en-US" sz="2500" dirty="0">
                <a:solidFill>
                  <a:srgbClr val="0070C0"/>
                </a:solidFill>
                <a:latin typeface="Times New Roman" panose="02020603050405020304" pitchFamily="18" charset="0"/>
                <a:cs typeface="Times New Roman" panose="02020603050405020304" pitchFamily="18" charset="0"/>
              </a:rPr>
              <a:t>[2009] </a:t>
            </a:r>
            <a:r>
              <a:rPr lang="en-US" sz="2500" dirty="0" err="1">
                <a:solidFill>
                  <a:srgbClr val="0070C0"/>
                </a:solidFill>
                <a:latin typeface="Times New Roman" panose="02020603050405020304" pitchFamily="18" charset="0"/>
                <a:cs typeface="Times New Roman" panose="02020603050405020304" pitchFamily="18" charset="0"/>
              </a:rPr>
              <a:t>NSWCA</a:t>
            </a:r>
            <a:r>
              <a:rPr lang="en-US" sz="2500" dirty="0">
                <a:solidFill>
                  <a:srgbClr val="0070C0"/>
                </a:solidFill>
                <a:latin typeface="Times New Roman" panose="02020603050405020304" pitchFamily="18" charset="0"/>
                <a:cs typeface="Times New Roman" panose="02020603050405020304" pitchFamily="18" charset="0"/>
              </a:rPr>
              <a:t> 263</a:t>
            </a:r>
            <a:r>
              <a:rPr lang="en-US" sz="2500" dirty="0">
                <a:latin typeface="Times New Roman" panose="02020603050405020304" pitchFamily="18" charset="0"/>
                <a:cs typeface="Times New Roman" panose="02020603050405020304" pitchFamily="18" charset="0"/>
              </a:rPr>
              <a:t> </a:t>
            </a:r>
            <a:r>
              <a:rPr lang="en-US" sz="2500" dirty="0">
                <a:solidFill>
                  <a:srgbClr val="7030A0"/>
                </a:solidFill>
                <a:latin typeface="Times New Roman" panose="02020603050405020304" pitchFamily="18" charset="0"/>
                <a:cs typeface="Times New Roman" panose="02020603050405020304" pitchFamily="18" charset="0"/>
              </a:rPr>
              <a:t>(while driving a truck on the F5 freeway near Sydney, Evans, an employee of Refrigerated Roadways, was struck by a large piece of concrete dropped by third parties from an overhead bridge; he died as a consequence; RTA knew of the problem of people dropping objects from overhead bridges) </a:t>
            </a:r>
            <a:r>
              <a:rPr lang="en-US" sz="25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85926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question before the Court was </a:t>
            </a:r>
            <a:r>
              <a:rPr lang="en-US" sz="2800" b="1" dirty="0">
                <a:latin typeface="Times New Roman" panose="02020603050405020304" pitchFamily="18" charset="0"/>
                <a:cs typeface="Times New Roman" panose="02020603050405020304" pitchFamily="18" charset="0"/>
              </a:rPr>
              <a:t>whether the RTA owed a duty of care </a:t>
            </a:r>
            <a:r>
              <a:rPr lang="en-US" sz="2800" dirty="0">
                <a:latin typeface="Times New Roman" panose="02020603050405020304" pitchFamily="18" charset="0"/>
                <a:cs typeface="Times New Roman" panose="02020603050405020304" pitchFamily="18" charset="0"/>
              </a:rPr>
              <a:t>in respect of erecting a structure to prevent objects from being thrown off the bridge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RTA </a:t>
            </a:r>
            <a:r>
              <a:rPr lang="en-US" sz="2800" u="sng" dirty="0">
                <a:latin typeface="Times New Roman" panose="02020603050405020304" pitchFamily="18" charset="0"/>
                <a:cs typeface="Times New Roman" panose="02020603050405020304" pitchFamily="18" charset="0"/>
              </a:rPr>
              <a:t>argued</a:t>
            </a:r>
            <a:r>
              <a:rPr lang="en-US" sz="2800" dirty="0">
                <a:latin typeface="Times New Roman" panose="02020603050405020304" pitchFamily="18" charset="0"/>
                <a:cs typeface="Times New Roman" panose="02020603050405020304" pitchFamily="18" charset="0"/>
              </a:rPr>
              <a:t> that its duty of care did not extend to exercising reasonable care to prevent road users from injury caused by objects thrown off the bridge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reliance was placed on </a:t>
            </a:r>
            <a:r>
              <a:rPr lang="en-US" sz="2800" i="1" dirty="0" err="1">
                <a:solidFill>
                  <a:srgbClr val="0070C0"/>
                </a:solidFill>
                <a:latin typeface="Times New Roman" panose="02020603050405020304" pitchFamily="18" charset="0"/>
                <a:cs typeface="Times New Roman" panose="02020603050405020304" pitchFamily="18" charset="0"/>
              </a:rPr>
              <a:t>Modbury</a:t>
            </a:r>
            <a:r>
              <a:rPr lang="en-US" sz="2800" i="1" dirty="0">
                <a:solidFill>
                  <a:srgbClr val="0070C0"/>
                </a:solidFill>
                <a:latin typeface="Times New Roman" panose="02020603050405020304" pitchFamily="18" charset="0"/>
                <a:cs typeface="Times New Roman" panose="02020603050405020304" pitchFamily="18" charset="0"/>
              </a:rPr>
              <a:t> Triangle Shopping Centre v </a:t>
            </a:r>
            <a:r>
              <a:rPr lang="en-US" sz="2800" i="1" dirty="0" err="1">
                <a:solidFill>
                  <a:srgbClr val="0070C0"/>
                </a:solidFill>
                <a:latin typeface="Times New Roman" panose="02020603050405020304" pitchFamily="18" charset="0"/>
                <a:cs typeface="Times New Roman" panose="02020603050405020304" pitchFamily="18" charset="0"/>
              </a:rPr>
              <a:t>Anzil</a:t>
            </a:r>
            <a:r>
              <a:rPr lang="en-US" sz="2800" i="1" dirty="0">
                <a:solidFill>
                  <a:srgbClr val="0070C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97753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NSW Court of Appeal held that the RTA </a:t>
            </a:r>
            <a:r>
              <a:rPr lang="en-US" sz="2800" b="1" dirty="0">
                <a:latin typeface="Times New Roman" panose="02020603050405020304" pitchFamily="18" charset="0"/>
                <a:cs typeface="Times New Roman" panose="02020603050405020304" pitchFamily="18" charset="0"/>
              </a:rPr>
              <a:t>owed</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such a duty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distinguished the decision in </a:t>
            </a:r>
            <a:r>
              <a:rPr lang="en-US" sz="2800" i="1" dirty="0" err="1">
                <a:solidFill>
                  <a:srgbClr val="0070C0"/>
                </a:solidFill>
                <a:latin typeface="Times New Roman" panose="02020603050405020304" pitchFamily="18" charset="0"/>
                <a:cs typeface="Times New Roman" panose="02020603050405020304" pitchFamily="18" charset="0"/>
              </a:rPr>
              <a:t>Modbury</a:t>
            </a:r>
            <a:r>
              <a:rPr lang="en-US" sz="2800" i="1" dirty="0">
                <a:solidFill>
                  <a:srgbClr val="0070C0"/>
                </a:solidFill>
                <a:latin typeface="Times New Roman" panose="02020603050405020304" pitchFamily="18" charset="0"/>
                <a:cs typeface="Times New Roman" panose="02020603050405020304" pitchFamily="18" charset="0"/>
              </a:rPr>
              <a:t> Triangle </a:t>
            </a:r>
            <a:r>
              <a:rPr lang="en-US" sz="2800" dirty="0">
                <a:latin typeface="Times New Roman" panose="02020603050405020304" pitchFamily="18" charset="0"/>
                <a:cs typeface="Times New Roman" panose="02020603050405020304" pitchFamily="18" charset="0"/>
              </a:rPr>
              <a:t>– in that case, the type of harm suffered could </a:t>
            </a:r>
            <a:r>
              <a:rPr lang="en-US" sz="2800" i="1" dirty="0">
                <a:latin typeface="Times New Roman" panose="02020603050405020304" pitchFamily="18" charset="0"/>
                <a:cs typeface="Times New Roman" panose="02020603050405020304" pitchFamily="18" charset="0"/>
              </a:rPr>
              <a:t>only arise </a:t>
            </a:r>
            <a:r>
              <a:rPr lang="en-US" sz="2800" dirty="0">
                <a:latin typeface="Times New Roman" panose="02020603050405020304" pitchFamily="18" charset="0"/>
                <a:cs typeface="Times New Roman" panose="02020603050405020304" pitchFamily="18" charset="0"/>
              </a:rPr>
              <a:t>through criminal conduct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RTA has “a </a:t>
            </a:r>
            <a:r>
              <a:rPr lang="en-US" sz="2800" u="sng" dirty="0">
                <a:latin typeface="Times New Roman" panose="02020603050405020304" pitchFamily="18" charset="0"/>
                <a:cs typeface="Times New Roman" panose="02020603050405020304" pitchFamily="18" charset="0"/>
              </a:rPr>
              <a:t>unique role </a:t>
            </a:r>
            <a:r>
              <a:rPr lang="en-US" sz="2800" dirty="0">
                <a:latin typeface="Times New Roman" panose="02020603050405020304" pitchFamily="18" charset="0"/>
                <a:cs typeface="Times New Roman" panose="02020603050405020304" pitchFamily="18" charset="0"/>
              </a:rPr>
              <a:t>to play concerning any dangers of objects falling from an overpass onto cars on a freeway below”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People driving on the freeway are </a:t>
            </a:r>
            <a:r>
              <a:rPr lang="en-US" sz="2800" u="sng" dirty="0">
                <a:latin typeface="Times New Roman" panose="02020603050405020304" pitchFamily="18" charset="0"/>
                <a:cs typeface="Times New Roman" panose="02020603050405020304" pitchFamily="18" charset="0"/>
              </a:rPr>
              <a:t>vulnerable</a:t>
            </a:r>
            <a:r>
              <a:rPr lang="en-US" sz="2800" dirty="0">
                <a:latin typeface="Times New Roman" panose="02020603050405020304" pitchFamily="18" charset="0"/>
                <a:cs typeface="Times New Roman" panose="02020603050405020304" pitchFamily="18" charset="0"/>
              </a:rPr>
              <a:t> and many serious road accidents </a:t>
            </a:r>
            <a:r>
              <a:rPr lang="en-US" sz="2800" u="sng" dirty="0">
                <a:latin typeface="Times New Roman" panose="02020603050405020304" pitchFamily="18" charset="0"/>
                <a:cs typeface="Times New Roman" panose="02020603050405020304" pitchFamily="18" charset="0"/>
              </a:rPr>
              <a:t>involve a criminal conduct</a:t>
            </a:r>
            <a:r>
              <a:rPr lang="en-US" sz="2800" dirty="0">
                <a:latin typeface="Times New Roman" panose="02020603050405020304" pitchFamily="18" charset="0"/>
                <a:cs typeface="Times New Roman" panose="02020603050405020304" pitchFamily="18" charset="0"/>
              </a:rPr>
              <a:t> on the part of one party     </a:t>
            </a:r>
          </a:p>
        </p:txBody>
      </p:sp>
    </p:spTree>
    <p:extLst>
      <p:ext uri="{BB962C8B-B14F-4D97-AF65-F5344CB8AC3E}">
        <p14:creationId xmlns:p14="http://schemas.microsoft.com/office/powerpoint/2010/main" val="1375212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2"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Court of Appeal also ruled that: </a:t>
            </a:r>
          </a:p>
          <a:p>
            <a:pPr lvl="1">
              <a:lnSpc>
                <a:spcPct val="150000"/>
              </a:lnSpc>
              <a:buFont typeface="Wingdings" panose="05000000000000000000" pitchFamily="2" charset="2"/>
              <a:buChar char="Ø"/>
            </a:pPr>
            <a:r>
              <a:rPr lang="en-US" sz="2600" u="sng" dirty="0">
                <a:latin typeface="Times New Roman" panose="02020603050405020304" pitchFamily="18" charset="0"/>
                <a:cs typeface="Times New Roman" panose="02020603050405020304" pitchFamily="18" charset="0"/>
              </a:rPr>
              <a:t>s 43A would not have helped the RTA</a:t>
            </a:r>
            <a:r>
              <a:rPr lang="en-US" sz="2600" dirty="0">
                <a:latin typeface="Times New Roman" panose="02020603050405020304" pitchFamily="18" charset="0"/>
                <a:cs typeface="Times New Roman" panose="02020603050405020304" pitchFamily="18" charset="0"/>
              </a:rPr>
              <a:t> because the erection of protective screens would not be an exercise of a special statutory power</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However, the Court held that the RTA </a:t>
            </a:r>
            <a:r>
              <a:rPr lang="en-US" sz="2800" b="1" dirty="0">
                <a:latin typeface="Times New Roman" panose="02020603050405020304" pitchFamily="18" charset="0"/>
                <a:cs typeface="Times New Roman" panose="02020603050405020304" pitchFamily="18" charset="0"/>
              </a:rPr>
              <a:t>did not breach the duty of care </a:t>
            </a:r>
            <a:r>
              <a:rPr lang="en-US" sz="2800" dirty="0">
                <a:latin typeface="Times New Roman" panose="02020603050405020304" pitchFamily="18" charset="0"/>
                <a:cs typeface="Times New Roman" panose="02020603050405020304" pitchFamily="18" charset="0"/>
              </a:rPr>
              <a:t>– it had </a:t>
            </a:r>
            <a:r>
              <a:rPr lang="en-US" sz="2800" i="1" dirty="0">
                <a:latin typeface="Times New Roman" panose="02020603050405020304" pitchFamily="18" charset="0"/>
                <a:cs typeface="Times New Roman" panose="02020603050405020304" pitchFamily="18" charset="0"/>
              </a:rPr>
              <a:t>not</a:t>
            </a:r>
            <a:r>
              <a:rPr lang="en-US" sz="2800" dirty="0">
                <a:latin typeface="Times New Roman" panose="02020603050405020304" pitchFamily="18" charset="0"/>
                <a:cs typeface="Times New Roman" panose="02020603050405020304" pitchFamily="18" charset="0"/>
              </a:rPr>
              <a:t> been shown that the RTA failed to take </a:t>
            </a:r>
            <a:r>
              <a:rPr lang="en-US" sz="2800" u="sng" dirty="0">
                <a:latin typeface="Times New Roman" panose="02020603050405020304" pitchFamily="18" charset="0"/>
                <a:cs typeface="Times New Roman" panose="02020603050405020304" pitchFamily="18" charset="0"/>
              </a:rPr>
              <a:t>reasonable steps</a:t>
            </a:r>
            <a:r>
              <a:rPr lang="en-US" sz="2800" dirty="0">
                <a:latin typeface="Times New Roman" panose="02020603050405020304" pitchFamily="18" charset="0"/>
                <a:cs typeface="Times New Roman" panose="02020603050405020304" pitchFamily="18" charset="0"/>
              </a:rPr>
              <a:t> to prevent the risk of harm. </a:t>
            </a:r>
          </a:p>
        </p:txBody>
      </p:sp>
    </p:spTree>
    <p:extLst>
      <p:ext uri="{BB962C8B-B14F-4D97-AF65-F5344CB8AC3E}">
        <p14:creationId xmlns:p14="http://schemas.microsoft.com/office/powerpoint/2010/main" val="124118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DC066-A895-A504-6982-2CF532AA5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52EEC-38AB-E543-F9FE-F73D59DF2E0C}"/>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Public authorities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025EE1-77D3-9E1D-EA6B-26EE5CEA651C}"/>
              </a:ext>
            </a:extLst>
          </p:cNvPr>
          <p:cNvSpPr>
            <a:spLocks noGrp="1"/>
          </p:cNvSpPr>
          <p:nvPr>
            <p:ph idx="1"/>
          </p:nvPr>
        </p:nvSpPr>
        <p:spPr>
          <a:xfrm>
            <a:off x="720000" y="1508426"/>
            <a:ext cx="10800002" cy="5074936"/>
          </a:xfrm>
        </p:spPr>
        <p:txBody>
          <a:bodyPr>
            <a:no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Police</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Starting point: no duty of care owed to individual members of the public in the investigation and suppression of crime: </a:t>
            </a:r>
            <a:r>
              <a:rPr lang="en-US" sz="2200" i="1" dirty="0">
                <a:solidFill>
                  <a:srgbClr val="0070C0"/>
                </a:solidFill>
                <a:latin typeface="Times New Roman" panose="02020603050405020304" pitchFamily="18" charset="0"/>
                <a:cs typeface="Times New Roman" panose="02020603050405020304" pitchFamily="18" charset="0"/>
              </a:rPr>
              <a:t>Hill v Chief Constable of West Yorkshire </a:t>
            </a:r>
            <a:r>
              <a:rPr lang="en-US" sz="2200" dirty="0">
                <a:solidFill>
                  <a:srgbClr val="0070C0"/>
                </a:solidFill>
                <a:latin typeface="Times New Roman" panose="02020603050405020304" pitchFamily="18" charset="0"/>
                <a:cs typeface="Times New Roman" panose="02020603050405020304" pitchFamily="18" charset="0"/>
              </a:rPr>
              <a:t>[1989] AC 53</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Why: conflicting responsibilities, resource allocation, risk of defensive policing</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But not an immunity – negligent operational conduct can attract a duty: </a:t>
            </a:r>
            <a:r>
              <a:rPr lang="en-US" sz="2200" i="1" dirty="0">
                <a:solidFill>
                  <a:srgbClr val="0070C0"/>
                </a:solidFill>
                <a:latin typeface="Times New Roman" panose="02020603050405020304" pitchFamily="18" charset="0"/>
                <a:cs typeface="Times New Roman" panose="02020603050405020304" pitchFamily="18" charset="0"/>
              </a:rPr>
              <a:t>Zalewski v </a:t>
            </a:r>
            <a:r>
              <a:rPr lang="en-US" sz="2200" i="1" dirty="0" err="1">
                <a:solidFill>
                  <a:srgbClr val="0070C0"/>
                </a:solidFill>
                <a:latin typeface="Times New Roman" panose="02020603050405020304" pitchFamily="18" charset="0"/>
                <a:cs typeface="Times New Roman" panose="02020603050405020304" pitchFamily="18" charset="0"/>
              </a:rPr>
              <a:t>Turcarolo</a:t>
            </a:r>
            <a:r>
              <a:rPr lang="en-US" sz="2200" i="1" dirty="0">
                <a:solidFill>
                  <a:srgbClr val="0070C0"/>
                </a:solidFill>
                <a:latin typeface="Times New Roman" panose="02020603050405020304" pitchFamily="18" charset="0"/>
                <a:cs typeface="Times New Roman" panose="02020603050405020304" pitchFamily="18" charset="0"/>
              </a:rPr>
              <a:t> </a:t>
            </a:r>
            <a:r>
              <a:rPr lang="en-US" sz="2200" dirty="0">
                <a:solidFill>
                  <a:srgbClr val="0070C0"/>
                </a:solidFill>
                <a:latin typeface="Times New Roman" panose="02020603050405020304" pitchFamily="18" charset="0"/>
                <a:cs typeface="Times New Roman" panose="02020603050405020304" pitchFamily="18" charset="0"/>
              </a:rPr>
              <a:t>[1994] Aust Torts Reports 81-280</a:t>
            </a:r>
            <a:r>
              <a:rPr lang="en-US" sz="2200" dirty="0">
                <a:latin typeface="Times New Roman" panose="02020603050405020304" pitchFamily="18" charset="0"/>
                <a:cs typeface="Times New Roman" panose="02020603050405020304" pitchFamily="18" charset="0"/>
              </a:rPr>
              <a:t> (police shooting during an operational response; duty owed)</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Recall </a:t>
            </a:r>
            <a:r>
              <a:rPr lang="en-US" sz="2200" i="1" dirty="0">
                <a:solidFill>
                  <a:srgbClr val="0070C0"/>
                </a:solidFill>
                <a:latin typeface="Times New Roman" panose="02020603050405020304" pitchFamily="18" charset="0"/>
                <a:cs typeface="Times New Roman" panose="02020603050405020304" pitchFamily="18" charset="0"/>
              </a:rPr>
              <a:t>Stuart v Kirkland-Veenstra </a:t>
            </a:r>
            <a:r>
              <a:rPr lang="en-US" sz="2200" dirty="0">
                <a:latin typeface="Times New Roman" panose="02020603050405020304" pitchFamily="18" charset="0"/>
                <a:cs typeface="Times New Roman" panose="02020603050405020304" pitchFamily="18" charset="0"/>
              </a:rPr>
              <a:t>(Topic 6): a statutory power to intervene is not of itself a duty to exercise it</a:t>
            </a:r>
          </a:p>
        </p:txBody>
      </p:sp>
    </p:spTree>
    <p:extLst>
      <p:ext uri="{BB962C8B-B14F-4D97-AF65-F5344CB8AC3E}">
        <p14:creationId xmlns:p14="http://schemas.microsoft.com/office/powerpoint/2010/main" val="1660708842"/>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emplate/>
  <TotalTime>21089</TotalTime>
  <Words>2650</Words>
  <Application>Microsoft Macintosh PowerPoint</Application>
  <PresentationFormat>Widescreen</PresentationFormat>
  <Paragraphs>272</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Courier New</vt:lpstr>
      <vt:lpstr>Georgia</vt:lpstr>
      <vt:lpstr>Times New Roman</vt:lpstr>
      <vt:lpstr>Wingdings</vt:lpstr>
      <vt:lpstr>MAC UNI BASIC_Round 1 Draft for feedback</vt:lpstr>
      <vt:lpstr>LAWS2400 / LAWS8040 – Torts  Topic 8 – Lecture 1 Duty of Care regarding Special Parties   </vt:lpstr>
      <vt:lpstr>Outline</vt:lpstr>
      <vt:lpstr>1. Overview </vt:lpstr>
      <vt:lpstr>2. Public authorities </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lpstr>Public authorities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Amanda Head</cp:lastModifiedBy>
  <cp:revision>2209</cp:revision>
  <cp:lastPrinted>2025-09-15T00:58:00Z</cp:lastPrinted>
  <dcterms:created xsi:type="dcterms:W3CDTF">2019-01-24T02:12:19Z</dcterms:created>
  <dcterms:modified xsi:type="dcterms:W3CDTF">2026-09-17T04:22:18Z</dcterms:modified>
</cp:coreProperties>
</file>