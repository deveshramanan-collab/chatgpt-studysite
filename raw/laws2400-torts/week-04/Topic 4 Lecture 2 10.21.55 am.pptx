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638" r:id="rId1"/>
  </p:sldMasterIdLst>
  <p:notesMasterIdLst>
    <p:notesMasterId r:id="rId18"/>
  </p:notesMasterIdLst>
  <p:handoutMasterIdLst>
    <p:handoutMasterId r:id="rId19"/>
  </p:handoutMasterIdLst>
  <p:sldIdLst>
    <p:sldId id="303" r:id="rId2"/>
    <p:sldId id="258" r:id="rId3"/>
    <p:sldId id="340" r:id="rId4"/>
    <p:sldId id="341" r:id="rId5"/>
    <p:sldId id="369" r:id="rId6"/>
    <p:sldId id="424" r:id="rId7"/>
    <p:sldId id="400" r:id="rId8"/>
    <p:sldId id="402" r:id="rId9"/>
    <p:sldId id="426" r:id="rId10"/>
    <p:sldId id="425" r:id="rId11"/>
    <p:sldId id="427" r:id="rId12"/>
    <p:sldId id="428" r:id="rId13"/>
    <p:sldId id="429" r:id="rId14"/>
    <p:sldId id="430" r:id="rId15"/>
    <p:sldId id="431" r:id="rId16"/>
    <p:sldId id="43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nnah Harris" initials="HH" lastIdx="8" clrIdx="0">
    <p:extLst>
      <p:ext uri="{19B8F6BF-5375-455C-9EA6-DF929625EA0E}">
        <p15:presenceInfo xmlns:p15="http://schemas.microsoft.com/office/powerpoint/2012/main" userId="S::hannah.harris@mq.edu.au::6810d1df-3b5d-4428-9867-3b286e5d46c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398" autoAdjust="0"/>
    <p:restoredTop sz="93447" autoAdjust="0"/>
  </p:normalViewPr>
  <p:slideViewPr>
    <p:cSldViewPr snapToGrid="0" snapToObjects="1">
      <p:cViewPr varScale="1">
        <p:scale>
          <a:sx n="102" d="100"/>
          <a:sy n="102" d="100"/>
        </p:scale>
        <p:origin x="224" y="456"/>
      </p:cViewPr>
      <p:guideLst/>
    </p:cSldViewPr>
  </p:slideViewPr>
  <p:outlineViewPr>
    <p:cViewPr>
      <p:scale>
        <a:sx n="33" d="100"/>
        <a:sy n="33" d="100"/>
      </p:scale>
      <p:origin x="0" y="-523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2544" y="-19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 Deva" userId="7fc89188-b279-4464-aad4-6bcc30702912" providerId="ADAL" clId="{8E3CF5D9-F752-4568-A815-5EA78A0FE0A1}"/>
    <pc:docChg chg="modSld">
      <pc:chgData name="Surya Deva" userId="7fc89188-b279-4464-aad4-6bcc30702912" providerId="ADAL" clId="{8E3CF5D9-F752-4568-A815-5EA78A0FE0A1}" dt="2024-07-27T02:25:59.182" v="0" actId="20577"/>
      <pc:docMkLst>
        <pc:docMk/>
      </pc:docMkLst>
      <pc:sldChg chg="modSp mod">
        <pc:chgData name="Surya Deva" userId="7fc89188-b279-4464-aad4-6bcc30702912" providerId="ADAL" clId="{8E3CF5D9-F752-4568-A815-5EA78A0FE0A1}" dt="2024-07-27T02:25:59.182" v="0" actId="20577"/>
        <pc:sldMkLst>
          <pc:docMk/>
          <pc:sldMk cId="461067129" sldId="422"/>
        </pc:sldMkLst>
        <pc:spChg chg="mod">
          <ac:chgData name="Surya Deva" userId="7fc89188-b279-4464-aad4-6bcc30702912" providerId="ADAL" clId="{8E3CF5D9-F752-4568-A815-5EA78A0FE0A1}" dt="2024-07-27T02:25:59.182" v="0" actId="20577"/>
          <ac:spMkLst>
            <pc:docMk/>
            <pc:sldMk cId="461067129" sldId="422"/>
            <ac:spMk id="3" creationId="{EEA464B0-4368-47D8-802B-4FB5B5FAD6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8761F64-24A3-47F5-8A3C-C1A55F2765F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F9FD7-5F19-4302-897E-687657C26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FBBB-0FE0-4C79-99F2-94106FE31639}" type="datetimeFigureOut">
              <a:rPr lang="en-AU" smtClean="0"/>
              <a:t>18/8/2026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09924-3CCC-4429-B913-306C3F0A09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EEA83F-F2DC-46D7-B696-662122F59A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C4DC0-EA1F-4BE8-BE5B-D0247039CF2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410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BC296-011A-4286-8D88-FBCD11477F2B}" type="datetimeFigureOut">
              <a:rPr lang="en-AU" smtClean="0"/>
              <a:t>18/8/2026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142E5-A706-4C60-B43E-D82CA518B0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8740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0AC98-8E30-490D-A639-38DF0F70C274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8902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7539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789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858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3510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480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664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0972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1096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487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489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7964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42979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55267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80198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9142E5-A706-4C60-B43E-D82CA518B04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706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63"/>
          <a:stretch/>
        </p:blipFill>
        <p:spPr>
          <a:xfrm>
            <a:off x="241904" y="3067670"/>
            <a:ext cx="11710747" cy="36112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52CFF-C49E-FB47-9FC2-54AD48C78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89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1904" y="181429"/>
            <a:ext cx="1171074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720000" y="2754276"/>
            <a:ext cx="617582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15" name="Title 14"/>
          <p:cNvSpPr>
            <a:spLocks noGrp="1"/>
          </p:cNvSpPr>
          <p:nvPr>
            <p:ph type="title" hasCustomPrompt="1"/>
          </p:nvPr>
        </p:nvSpPr>
        <p:spPr>
          <a:xfrm>
            <a:off x="720000" y="1484784"/>
            <a:ext cx="8544000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133600"/>
            <a:ext cx="8542867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2" name="Rectangle 1"/>
          <p:cNvSpPr/>
          <p:nvPr/>
        </p:nvSpPr>
        <p:spPr>
          <a:xfrm>
            <a:off x="241904" y="3062172"/>
            <a:ext cx="4722971" cy="36330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Placeholder 9" descr="Section_Image.jpg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3" t="15468" r="100" b="1049"/>
          <a:stretch/>
        </p:blipFill>
        <p:spPr>
          <a:xfrm>
            <a:off x="4964875" y="3062172"/>
            <a:ext cx="6987287" cy="3632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6959" y="3448840"/>
            <a:ext cx="1943987" cy="323997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96" y="5910035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A9269F-011F-4649-845C-08AE05BE9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06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1428" y="181429"/>
            <a:ext cx="11703337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pic>
        <p:nvPicPr>
          <p:cNvPr id="9" name="Picture Placeholder 9" descr="Section_Imag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" t="15597" r="462" b="1605"/>
          <a:stretch/>
        </p:blipFill>
        <p:spPr>
          <a:xfrm>
            <a:off x="251429" y="1257301"/>
            <a:ext cx="11706850" cy="5419724"/>
          </a:xfrm>
          <a:prstGeom prst="rect">
            <a:avLst/>
          </a:prstGeom>
          <a:ln>
            <a:noFill/>
          </a:ln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720000" y="2863019"/>
            <a:ext cx="8045752" cy="60831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13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3485114"/>
            <a:ext cx="6407150" cy="503238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05" y="5842000"/>
            <a:ext cx="3591442" cy="655675"/>
          </a:xfrm>
          <a:prstGeom prst="rect">
            <a:avLst/>
          </a:prstGeom>
          <a:solidFill>
            <a:schemeClr val="accent1"/>
          </a:solidFill>
        </p:spPr>
        <p:txBody>
          <a:bodyPr wrap="square" rtlCol="0" anchor="ctr" anchorCtr="0">
            <a:normAutofit fontScale="77500" lnSpcReduction="20000"/>
          </a:bodyPr>
          <a:lstStyle/>
          <a:p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Note to user: Replace this image with your own.</a:t>
            </a: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Right click on this Placeholder box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Replace image</a:t>
            </a:r>
          </a:p>
          <a:p>
            <a:pPr marL="266700" lvl="2" indent="-266700">
              <a:buFont typeface="Wingdings" panose="05000000000000000000" pitchFamily="2" charset="2"/>
              <a:buChar char="§"/>
            </a:pPr>
            <a:r>
              <a:rPr lang="en-AU" sz="1200" dirty="0">
                <a:solidFill>
                  <a:schemeClr val="bg1"/>
                </a:solidFill>
                <a:latin typeface="Arial"/>
                <a:cs typeface="Arial"/>
              </a:rPr>
              <a:t>Select image and click ‘Resize image to fit in placeholder’)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457" y="3502203"/>
            <a:ext cx="3174822" cy="31748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9B8C79-07FC-2444-B397-BBCDB3F9F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05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41904" y="181429"/>
            <a:ext cx="11710800" cy="6504214"/>
          </a:xfrm>
          <a:prstGeom prst="rect">
            <a:avLst/>
          </a:prstGeom>
          <a:solidFill>
            <a:srgbClr val="E6E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 noProof="0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5608410" y="6183276"/>
            <a:ext cx="5772668" cy="275580"/>
          </a:xfrm>
          <a:prstGeom prst="rect">
            <a:avLst/>
          </a:prstGeom>
          <a:ln>
            <a:noFill/>
          </a:ln>
        </p:spPr>
        <p:txBody>
          <a:bodyPr anchor="t" anchorCtr="0"/>
          <a:lstStyle>
            <a:lvl1pPr marL="0" indent="0" algn="l">
              <a:buNone/>
              <a:defRPr sz="1100" b="0">
                <a:solidFill>
                  <a:schemeClr val="tx1"/>
                </a:solidFill>
                <a:latin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noProof="0" dirty="0"/>
              <a:t>DATE: 3 October 2014</a:t>
            </a:r>
          </a:p>
        </p:txBody>
      </p:sp>
      <p:sp>
        <p:nvSpPr>
          <p:cNvPr id="21" name="Title 20"/>
          <p:cNvSpPr>
            <a:spLocks noGrp="1"/>
          </p:cNvSpPr>
          <p:nvPr>
            <p:ph type="title" hasCustomPrompt="1"/>
          </p:nvPr>
        </p:nvSpPr>
        <p:spPr>
          <a:xfrm>
            <a:off x="5639120" y="2708920"/>
            <a:ext cx="5665556" cy="648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AU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 hasCustomPrompt="1"/>
          </p:nvPr>
        </p:nvSpPr>
        <p:spPr>
          <a:xfrm>
            <a:off x="5638360" y="3357564"/>
            <a:ext cx="5666316" cy="503237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pic>
        <p:nvPicPr>
          <p:cNvPr id="9" name="Picture 8" descr="MAC21_190.5x254_PowerPoint_Images_Cov v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" y="0"/>
            <a:ext cx="4383024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F0B494-A7A4-6F4C-8E15-141F578E0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10800001" cy="4525963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04664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914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1625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6"/>
          </p:nvPr>
        </p:nvSpPr>
        <p:spPr>
          <a:xfrm>
            <a:off x="720000" y="1620000"/>
            <a:ext cx="10776675" cy="452437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3392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759075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38668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28980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 lIns="0" tIns="0" rIns="0" bIns="0"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200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25430"/>
          </a:xfrm>
        </p:spPr>
        <p:txBody>
          <a:bodyPr lIns="0" tIns="0" rIns="0" bIns="0"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6" hasCustomPrompt="1"/>
          </p:nvPr>
        </p:nvSpPr>
        <p:spPr>
          <a:xfrm>
            <a:off x="6248400" y="1620000"/>
            <a:ext cx="5220000" cy="4525963"/>
          </a:xfrm>
        </p:spPr>
        <p:txBody>
          <a:bodyPr lIns="0" tIns="0" rIns="0" bIns="0" numCol="1" spcCol="144000"/>
          <a:lstStyle>
            <a:lvl1pPr marL="0" indent="0">
              <a:buNone/>
              <a:defRPr baseline="0"/>
            </a:lvl1pPr>
          </a:lstStyle>
          <a:p>
            <a:pPr lvl="0"/>
            <a:r>
              <a:rPr lang="en-AU" dirty="0"/>
              <a:t>Two Column content no bullets</a:t>
            </a:r>
          </a:p>
        </p:txBody>
      </p:sp>
    </p:spTree>
    <p:extLst>
      <p:ext uri="{BB962C8B-B14F-4D97-AF65-F5344CB8AC3E}">
        <p14:creationId xmlns:p14="http://schemas.microsoft.com/office/powerpoint/2010/main" val="264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6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>
            <a:lvl1pPr>
              <a:defRPr sz="1050"/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7200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362400" y="1620000"/>
            <a:ext cx="5220000" cy="452913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29029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43830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012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0000" y="6381329"/>
            <a:ext cx="5376597" cy="365125"/>
          </a:xfrm>
        </p:spPr>
        <p:txBody>
          <a:bodyPr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81329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542867" cy="475151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720000" y="1620000"/>
            <a:ext cx="10752000" cy="45252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998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3392" y="6309321"/>
            <a:ext cx="547260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09321"/>
            <a:ext cx="2844800" cy="365125"/>
          </a:xfrm>
        </p:spPr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7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01277" y="5715016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2186930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720000" y="1620000"/>
            <a:ext cx="8507963" cy="4490720"/>
          </a:xfrm>
        </p:spPr>
        <p:txBody>
          <a:bodyPr>
            <a:noAutofit/>
          </a:bodyPr>
          <a:lstStyle>
            <a:lvl7pPr>
              <a:buNone/>
              <a:defRPr/>
            </a:lvl7pPr>
            <a:lvl8pPr>
              <a:buNone/>
              <a:defRPr/>
            </a:lvl8pPr>
          </a:lstStyle>
          <a:p>
            <a:r>
              <a:rPr lang="en-US" b="1" dirty="0">
                <a:solidFill>
                  <a:srgbClr val="6D0020"/>
                </a:solidFill>
              </a:rPr>
              <a:t>HEADER INFO</a:t>
            </a:r>
          </a:p>
          <a:p>
            <a:r>
              <a:rPr lang="en-US" dirty="0" err="1">
                <a:latin typeface="Georgia"/>
                <a:cs typeface="Georgia"/>
              </a:rPr>
              <a:t>Consectetur</a:t>
            </a:r>
            <a:r>
              <a:rPr lang="en-US" dirty="0">
                <a:latin typeface="Georgia"/>
                <a:cs typeface="Georgia"/>
              </a:rPr>
              <a:t>  met </a:t>
            </a:r>
            <a:r>
              <a:rPr lang="en-US" dirty="0" err="1">
                <a:latin typeface="Georgia"/>
                <a:cs typeface="Georgia"/>
              </a:rPr>
              <a:t>adipiscing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. </a:t>
            </a:r>
            <a:r>
              <a:rPr lang="en-US" dirty="0" err="1">
                <a:latin typeface="Georgia"/>
                <a:cs typeface="Georgia"/>
              </a:rPr>
              <a:t>Aenean</a:t>
            </a:r>
            <a:r>
              <a:rPr lang="en-US" dirty="0">
                <a:latin typeface="Georgia"/>
                <a:cs typeface="Georgia"/>
              </a:rPr>
              <a:t> ac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a </a:t>
            </a:r>
            <a:r>
              <a:rPr lang="en-US" dirty="0" err="1">
                <a:latin typeface="Georgia"/>
                <a:cs typeface="Georgia"/>
              </a:rPr>
              <a:t>felis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pharetra</a:t>
            </a:r>
            <a:r>
              <a:rPr lang="en-US" dirty="0">
                <a:latin typeface="Georgia"/>
                <a:cs typeface="Georgia"/>
              </a:rPr>
              <a:t>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 err="1">
                <a:latin typeface="Georgia"/>
                <a:cs typeface="Georgia"/>
              </a:rPr>
              <a:t>vel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Fringilla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Duis</a:t>
            </a:r>
            <a:r>
              <a:rPr lang="en-US" dirty="0">
                <a:latin typeface="Georgia"/>
                <a:cs typeface="Georgia"/>
              </a:rPr>
              <a:t> dui </a:t>
            </a:r>
            <a:r>
              <a:rPr lang="en-US" dirty="0" err="1">
                <a:latin typeface="Georgia"/>
                <a:cs typeface="Georgia"/>
              </a:rPr>
              <a:t>arcu</a:t>
            </a:r>
            <a:r>
              <a:rPr lang="en-US" dirty="0">
                <a:latin typeface="Georgia"/>
                <a:cs typeface="Georgia"/>
              </a:rPr>
              <a:t>,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scelerisque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nec</a:t>
            </a:r>
            <a:r>
              <a:rPr lang="en-US" dirty="0">
                <a:latin typeface="Georgia"/>
                <a:cs typeface="Georgia"/>
              </a:rPr>
              <a:t> dictum </a:t>
            </a:r>
            <a:br>
              <a:rPr lang="en-US" dirty="0">
                <a:latin typeface="Georgia"/>
                <a:cs typeface="Georgia"/>
              </a:rPr>
            </a:br>
            <a:r>
              <a:rPr lang="en-US" dirty="0">
                <a:latin typeface="Georgia"/>
                <a:cs typeface="Georgia"/>
              </a:rPr>
              <a:t>ac </a:t>
            </a:r>
            <a:r>
              <a:rPr lang="en-US" dirty="0" err="1">
                <a:latin typeface="Georgia"/>
                <a:cs typeface="Georgia"/>
              </a:rPr>
              <a:t>conse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eu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elit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Donec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tincid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unt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enim</a:t>
            </a:r>
            <a:r>
              <a:rPr lang="en-US" dirty="0">
                <a:latin typeface="Georgia"/>
                <a:cs typeface="Georgia"/>
              </a:rPr>
              <a:t> sit </a:t>
            </a:r>
            <a:r>
              <a:rPr lang="en-US" dirty="0" err="1">
                <a:latin typeface="Georgia"/>
                <a:cs typeface="Georgia"/>
              </a:rPr>
              <a:t>amet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consequat</a:t>
            </a:r>
            <a:r>
              <a:rPr lang="en-US" dirty="0">
                <a:latin typeface="Georgia"/>
                <a:cs typeface="Georgia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7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pPr marL="342900" lvl="7" indent="0"/>
            <a:endParaRPr lang="en-US" dirty="0">
              <a:latin typeface="Georgia"/>
              <a:cs typeface="Georgia"/>
            </a:endParaRPr>
          </a:p>
          <a:p>
            <a:pPr>
              <a:buFont typeface="Arial"/>
              <a:buChar char="•"/>
            </a:pPr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r>
              <a:rPr lang="en-US" dirty="0">
                <a:latin typeface="Georgia"/>
                <a:cs typeface="Georgia"/>
              </a:rPr>
              <a:t> velum</a:t>
            </a:r>
          </a:p>
          <a:p>
            <a:pPr marL="342900" lvl="6" indent="0"/>
            <a:r>
              <a:rPr lang="en-US" dirty="0" err="1">
                <a:latin typeface="Georgia"/>
                <a:cs typeface="Georgia"/>
              </a:rPr>
              <a:t>Lorum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ipsum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dolore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melior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nonne</a:t>
            </a:r>
            <a:r>
              <a:rPr lang="en-US" dirty="0">
                <a:latin typeface="Georgia"/>
                <a:cs typeface="Georgia"/>
              </a:rPr>
              <a:t> </a:t>
            </a:r>
            <a:r>
              <a:rPr lang="en-US" dirty="0" err="1">
                <a:latin typeface="Georgia"/>
                <a:cs typeface="Georgia"/>
              </a:rPr>
              <a:t>tutte</a:t>
            </a:r>
            <a:r>
              <a:rPr lang="en-US" dirty="0">
                <a:latin typeface="Georgia"/>
                <a:cs typeface="Georgia"/>
              </a:rPr>
              <a:t> san </a:t>
            </a:r>
            <a:r>
              <a:rPr lang="en-US" dirty="0" err="1">
                <a:latin typeface="Georgia"/>
                <a:cs typeface="Georgia"/>
              </a:rPr>
              <a:t>toro</a:t>
            </a:r>
            <a:endParaRPr lang="en-US" dirty="0">
              <a:latin typeface="Georgia"/>
              <a:cs typeface="Georgia"/>
            </a:endParaRPr>
          </a:p>
          <a:p>
            <a:endParaRPr lang="en-US" dirty="0">
              <a:latin typeface="Georgia"/>
              <a:cs typeface="Georgia"/>
            </a:endParaRPr>
          </a:p>
          <a:p>
            <a:endParaRPr lang="en-US" dirty="0"/>
          </a:p>
        </p:txBody>
      </p:sp>
      <p:sp>
        <p:nvSpPr>
          <p:cNvPr id="7" name="Text Placeholder 16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908720"/>
            <a:ext cx="8458276" cy="434305"/>
          </a:xfrm>
        </p:spPr>
        <p:txBody>
          <a:bodyPr/>
          <a:lstStyle>
            <a:lvl1pPr marL="0" indent="0">
              <a:buNone/>
              <a:defRPr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AU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05079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329F5C7-1EDD-4D4F-B3EB-31F227D9F4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3174" y="217272"/>
            <a:ext cx="2037600" cy="80476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27463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620000"/>
            <a:ext cx="10800001" cy="452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0000" y="6309321"/>
            <a:ext cx="540067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1875" y="6309321"/>
            <a:ext cx="284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59BBE-8B91-6A4A-80E8-2EE021604ECB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/>
          <p:cNvPicPr preferRelativeResize="0"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368000"/>
            <a:ext cx="10800000" cy="12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00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39" r:id="rId1"/>
    <p:sldLayoutId id="2147484640" r:id="rId2"/>
    <p:sldLayoutId id="2147484641" r:id="rId3"/>
    <p:sldLayoutId id="2147484642" r:id="rId4"/>
    <p:sldLayoutId id="2147484643" r:id="rId5"/>
    <p:sldLayoutId id="2147484644" r:id="rId6"/>
    <p:sldLayoutId id="2147484645" r:id="rId7"/>
    <p:sldLayoutId id="2147484646" r:id="rId8"/>
    <p:sldLayoutId id="2147484647" r:id="rId9"/>
    <p:sldLayoutId id="2147484648" r:id="rId10"/>
    <p:sldLayoutId id="2147484649" r:id="rId11"/>
    <p:sldLayoutId id="2147484650" r:id="rId12"/>
    <p:sldLayoutId id="2147484651" r:id="rId1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Georgia" panose="02040502050405020303" pitchFamily="18" charset="0"/>
        <a:buChar char="―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4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20000" y="836784"/>
            <a:ext cx="8544000" cy="648000"/>
          </a:xfrm>
        </p:spPr>
        <p:txBody>
          <a:bodyPr>
            <a:normAutofit fontScale="90000"/>
          </a:bodyPr>
          <a:lstStyle/>
          <a:p>
            <a:pPr algn="ctr"/>
            <a:r>
              <a:rPr lang="en-A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LAWS2400 / LAWS8040 – Torts</a:t>
            </a: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– Lecture 2 </a:t>
            </a:r>
            <a:br>
              <a:rPr lang="en-A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sz="3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Defences to Intentional Torts</a:t>
            </a:r>
            <a:br>
              <a:rPr lang="en-AU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A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A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476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E700-BEAF-3248-A54C-F5BEBA34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74637"/>
            <a:ext cx="8458276" cy="89494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– </a:t>
            </a:r>
            <a:r>
              <a:rPr lang="en-US" sz="2800" dirty="0" err="1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Defences</a:t>
            </a:r>
            <a:r>
              <a:rPr lang="en-US" sz="28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Intentional Torts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E6F-2A4A-EC4A-903A-6B54DA7E0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669311"/>
            <a:ext cx="11116400" cy="4822929"/>
          </a:xfrm>
        </p:spPr>
        <p:txBody>
          <a:bodyPr>
            <a:noAutofit/>
          </a:bodyPr>
          <a:lstStyle/>
          <a:p>
            <a:pPr marL="971550" lvl="1" indent="-514350">
              <a:spcBef>
                <a:spcPts val="0"/>
              </a:spcBef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</a:t>
            </a:r>
          </a:p>
          <a:p>
            <a:pPr marL="971550" lvl="1" indent="-514350">
              <a:spcBef>
                <a:spcPts val="0"/>
              </a:spcBef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spcBef>
                <a:spcPts val="0"/>
              </a:spcBef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Consent </a:t>
            </a:r>
          </a:p>
          <a:p>
            <a:pPr marL="971550" lvl="1" indent="-514350">
              <a:spcBef>
                <a:spcPts val="0"/>
              </a:spcBef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spcBef>
                <a:spcPts val="0"/>
              </a:spcBef>
              <a:buFont typeface="+mj-lt"/>
              <a:buAutoNum type="arabicPeriod"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Self-defence </a:t>
            </a:r>
          </a:p>
          <a:p>
            <a:pPr marL="457200" lvl="1" indent="0">
              <a:buNone/>
            </a:pPr>
            <a:endParaRPr lang="en-HK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HK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Two: </a:t>
            </a:r>
          </a:p>
          <a:p>
            <a:pPr marL="457200" lvl="1" indent="0">
              <a:buNone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Provocation 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Contributory negligence </a:t>
            </a:r>
          </a:p>
          <a:p>
            <a:pPr marL="971550" lvl="1" indent="-514350">
              <a:buFont typeface="+mj-lt"/>
              <a:buAutoNum type="arabicPeriod"/>
            </a:pPr>
            <a:endParaRPr lang="en-H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Necessity </a:t>
            </a:r>
          </a:p>
        </p:txBody>
      </p:sp>
    </p:spTree>
    <p:extLst>
      <p:ext uri="{BB962C8B-B14F-4D97-AF65-F5344CB8AC3E}">
        <p14:creationId xmlns:p14="http://schemas.microsoft.com/office/powerpoint/2010/main" val="108145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26" y="386398"/>
            <a:ext cx="8803758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Provocation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Provocation is a defence to a criminal charge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BUT, it is generally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as a defence to tort action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Fontin v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Katapodis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Katapodis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injured in an argument and Fontin argued he was provoked):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provocation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award of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compensatory damages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may though assist to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or prevent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award of </a:t>
            </a:r>
            <a:r>
              <a:rPr lang="en-US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exemplary damages </a:t>
            </a:r>
          </a:p>
          <a:p>
            <a:pPr>
              <a:buFont typeface="Courier New" panose="02070309020205020404" pitchFamily="49" charset="0"/>
              <a:buChar char="o"/>
            </a:pPr>
            <a:endParaRPr lang="en-US" sz="2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E8A7D63-FB9C-85D9-D91F-1F2F36758F3E}"/>
              </a:ext>
            </a:extLst>
          </p:cNvPr>
          <p:cNvSpPr/>
          <p:nvPr/>
        </p:nvSpPr>
        <p:spPr>
          <a:xfrm>
            <a:off x="7250563" y="4588507"/>
            <a:ext cx="4269438" cy="1522134"/>
          </a:xfrm>
          <a:prstGeom prst="wedgeRoundRectCallout">
            <a:avLst>
              <a:gd name="adj1" fmla="val -24321"/>
              <a:gd name="adj2" fmla="val 7985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Queensland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Western Australia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an exception: provocation may be pleaded as a defence there! </a:t>
            </a:r>
          </a:p>
        </p:txBody>
      </p:sp>
    </p:spTree>
    <p:extLst>
      <p:ext uri="{BB962C8B-B14F-4D97-AF65-F5344CB8AC3E}">
        <p14:creationId xmlns:p14="http://schemas.microsoft.com/office/powerpoint/2010/main" val="164329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Contributory negligence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Contributory negligence has been rejected several times as a defence to intentional torts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the policy reasons behind this…. Typically this is a situation where the plaintiff (the person injured or impacted) has been careless in some way – but should that allow the defendant who has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intentionally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interfered with another to escape consequences? </a:t>
            </a:r>
          </a:p>
        </p:txBody>
      </p:sp>
    </p:spTree>
    <p:extLst>
      <p:ext uri="{BB962C8B-B14F-4D97-AF65-F5344CB8AC3E}">
        <p14:creationId xmlns:p14="http://schemas.microsoft.com/office/powerpoint/2010/main" val="473225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Contributory negligence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800" i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Horkin</a:t>
            </a:r>
            <a:r>
              <a:rPr lang="en-US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 North Melbourne Football Club </a:t>
            </a: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[1993] VR 153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Horkin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asked to leave the club as he had too much to drink; when he did not leave, club employees threw him out with more force than necessary, resulting in injury to </a:t>
            </a:r>
            <a:r>
              <a:rPr lang="en-US" sz="2800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Horkin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trial judge reduced the defendant’s liability by 30% due to contributory negligence (e.g., intoxication, failure to leave when requested to do so)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Victorian Supreme Court held that it will be unfair and unjust to reduce liability for intentional torts: intentional battery vs plaintiff’s carelessness - ‘the difference is not merely in degree but in kind, and the social condemnation attached to the fault differs markedly’   </a:t>
            </a:r>
          </a:p>
        </p:txBody>
      </p:sp>
    </p:spTree>
    <p:extLst>
      <p:ext uri="{BB962C8B-B14F-4D97-AF65-F5344CB8AC3E}">
        <p14:creationId xmlns:p14="http://schemas.microsoft.com/office/powerpoint/2010/main" val="2440430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Contributory negligence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contributory negligence apply as a defence to </a:t>
            </a:r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example, if a car, which was left unlocked with keys in the ignition, is stolen?  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 you think?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could argue that if a plaintiff has been careless with their vehicle, they created an opportunity for theft and allowing 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would result in more personal responsibility in society.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Alternatively, plaintiff’s carelessness doesn’t justify theft.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636A0086-DCB9-D1DC-7AA9-67B92072D385}"/>
              </a:ext>
            </a:extLst>
          </p:cNvPr>
          <p:cNvSpPr/>
          <p:nvPr/>
        </p:nvSpPr>
        <p:spPr>
          <a:xfrm>
            <a:off x="4741378" y="3189556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46973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defence of necessity may arise in varied situations: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public necessity (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ship is sinking you may</a:t>
            </a:r>
          </a:p>
          <a:p>
            <a:pPr marL="914400" lvl="2" indent="0">
              <a:buNone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throw luggage out of the ship to save lives)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necessity to protect one’s property  (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trespassing on neighbour’s land to rescue your cat)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action to preserve life or health of a person who is unable to consent (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doctor treats unconscious patient without consent to save their life)</a:t>
            </a:r>
          </a:p>
        </p:txBody>
      </p:sp>
      <p:sp>
        <p:nvSpPr>
          <p:cNvPr id="4" name="Thought Bubble: Cloud 3">
            <a:extLst>
              <a:ext uri="{FF2B5EF4-FFF2-40B4-BE49-F238E27FC236}">
                <a16:creationId xmlns:a16="http://schemas.microsoft.com/office/drawing/2014/main" id="{FB868DAA-61EA-30B5-AB3A-6266541A8248}"/>
              </a:ext>
            </a:extLst>
          </p:cNvPr>
          <p:cNvSpPr/>
          <p:nvPr/>
        </p:nvSpPr>
        <p:spPr>
          <a:xfrm>
            <a:off x="9178276" y="1387324"/>
            <a:ext cx="3125971" cy="1584253"/>
          </a:xfrm>
          <a:prstGeom prst="cloudCallout">
            <a:avLst>
              <a:gd name="adj1" fmla="val -42488"/>
              <a:gd name="adj2" fmla="val 871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you think of other examples?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7FAE44-EC56-6D11-1295-D0D9CD40A851}"/>
              </a:ext>
            </a:extLst>
          </p:cNvPr>
          <p:cNvSpPr txBox="1">
            <a:spLocks/>
          </p:cNvSpPr>
          <p:nvPr/>
        </p:nvSpPr>
        <p:spPr>
          <a:xfrm>
            <a:off x="872400" y="538798"/>
            <a:ext cx="8458276" cy="648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Necessity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893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Necessity </a:t>
            </a:r>
            <a:endParaRPr lang="en-AU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defence of necessity may be available if the following two conditions are satisfied: 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 was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to prevent serious harm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person or property; 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marL="1428750" lvl="2" indent="-514350">
              <a:buFont typeface="+mj-lt"/>
              <a:buAutoNum type="arabicPeriod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 was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circumstances and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proportionate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risk posed  </a:t>
            </a:r>
          </a:p>
        </p:txBody>
      </p:sp>
    </p:spTree>
    <p:extLst>
      <p:ext uri="{BB962C8B-B14F-4D97-AF65-F5344CB8AC3E}">
        <p14:creationId xmlns:p14="http://schemas.microsoft.com/office/powerpoint/2010/main" val="1822244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reasonableness of the defendant’s act will be assessed on the facts of each case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Southwark London Borough Council v Williams </a:t>
            </a:r>
            <a:r>
              <a:rPr lang="en-HK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[1971] Ch 734 </a:t>
            </a:r>
            <a:r>
              <a:rPr lang="en-HK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(the defendants, who were squatters, pleaded necessity when the Council sought a court order for immediate possession)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Denning rejected the defence in the given facts: if homelessness is admitted as a defence to trespass, no one’s house would be safe!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‘The doctrine [must] be carefully circumscribed’ </a:t>
            </a:r>
          </a:p>
        </p:txBody>
      </p:sp>
    </p:spTree>
    <p:extLst>
      <p:ext uri="{BB962C8B-B14F-4D97-AF65-F5344CB8AC3E}">
        <p14:creationId xmlns:p14="http://schemas.microsoft.com/office/powerpoint/2010/main" val="3972696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defence of necessity is available to the defendant who acts to protect property and by doing so inflicts damage to the plaintiff’s property</a:t>
            </a: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Proudman v Allen </a:t>
            </a:r>
            <a:r>
              <a:rPr lang="en-HK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[1954] SASR 336 – def saw a rouge car running driverless down a slope in the direction of another car. Def turned the car’s steering wheel to avoid </a:t>
            </a:r>
            <a:r>
              <a:rPr lang="en-HK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collison</a:t>
            </a:r>
            <a:r>
              <a:rPr lang="en-HK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This caused the rouge car to roll into the sea. </a:t>
            </a:r>
            <a:r>
              <a:rPr lang="en-HK" sz="28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Plt</a:t>
            </a:r>
            <a:r>
              <a:rPr lang="en-HK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(owner of rouge car) sued. Def successfully used defence of necessity.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volunteers or strangers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who act to protect the property of others can use this defence </a:t>
            </a:r>
            <a:endParaRPr lang="en-HK" sz="2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1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Necessity may be pleaded as a defence in trespass to the person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defence was successful in </a:t>
            </a: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NSW v McMaster (violent home invasion, brother ran at police officers holding metal curtain rod yelling looking for his sister, police shot him mistakenly thinking he was the violent intruder)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there was a situation of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imminent danger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steps taken were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reasonably necessary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ward off the danger   </a:t>
            </a:r>
            <a:endParaRPr lang="en-HK" sz="2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120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defence of necessity may also arise in the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context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 doctor plead necessity where the treatment is for the benefit of the patient who is unable to give consent? (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unconscious patient or patient is a child or under another incapacity)</a:t>
            </a:r>
            <a:endParaRPr lang="en-HK" sz="2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07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 F (Mental Patient Sterilisation) </a:t>
            </a:r>
            <a:r>
              <a:rPr lang="en-HK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[1990] 2 AC 1</a:t>
            </a:r>
            <a:r>
              <a:rPr lang="en-HK" sz="28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HK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(F, a 36-year old woman with a serious mental disability, developed a sexual relation with a fellow patient; as the doctors felt that F would not be able to cope up with pregnancy and childbirth and there were no other viable alternatives, F’s mother sought a court declaration that sterilisation will be lawful)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Goff granted the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that it would be lawful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doctors to perform sterilisation in the given circumstances   </a:t>
            </a:r>
            <a:endParaRPr lang="en-HK" sz="28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975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Lord Goff laid down </a:t>
            </a:r>
            <a:r>
              <a:rPr lang="en-H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requirements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the necessity principle:</a:t>
            </a:r>
          </a:p>
          <a:p>
            <a:pPr marL="0" indent="0">
              <a:buNone/>
            </a:pPr>
            <a:endParaRPr lang="en-HK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Clr>
                <a:schemeClr val="tx1"/>
              </a:buClr>
              <a:buFont typeface="+mj-lt"/>
              <a:buAutoNum type="arabicPeriod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be a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necessity to act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is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practicable to communicate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assisted person</a:t>
            </a:r>
          </a:p>
          <a:p>
            <a:pPr marL="1428750" lvl="2" indent="-514350">
              <a:buClr>
                <a:schemeClr val="tx1"/>
              </a:buClr>
              <a:buFont typeface="+mj-lt"/>
              <a:buAutoNum type="arabicPeriod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8750" lvl="2" indent="-514350">
              <a:buClr>
                <a:schemeClr val="tx1"/>
              </a:buClr>
              <a:buFont typeface="+mj-lt"/>
              <a:buAutoNum type="arabicPeriod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 taken must be such as a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reasonable person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in all the circumstances take, acting in the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interests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assisted person  </a:t>
            </a:r>
          </a:p>
        </p:txBody>
      </p:sp>
    </p:spTree>
    <p:extLst>
      <p:ext uri="{BB962C8B-B14F-4D97-AF65-F5344CB8AC3E}">
        <p14:creationId xmlns:p14="http://schemas.microsoft.com/office/powerpoint/2010/main" val="728317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necessity principle will apply both in cases of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treatment of an unconscious person) and in cases with a </a:t>
            </a:r>
            <a:r>
              <a:rPr lang="en-HK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permanent state of affairs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(e.g., treatment of a mentally disabled patient)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HK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However, Lord Goff also drew a distinction between these two types of cases – 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HK" sz="2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patient is temporarily incapacitated, the doctor should do no more than is necessary before patient recovers consciousness 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kumimoji="0" lang="en-HK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patient permanently incapacitated, there is no point in waiting to obtain the patient’s consent, the doctor must act in the best interests of the patient </a:t>
            </a:r>
          </a:p>
          <a:p>
            <a:pPr marL="0" indent="0">
              <a:buNone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794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87AE-4C67-4250-9E5A-19FF9723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86398"/>
            <a:ext cx="8458276" cy="64800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Necessity </a:t>
            </a:r>
            <a:r>
              <a:rPr lang="en-US" sz="20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Contd.</a:t>
            </a:r>
            <a:endParaRPr lang="en-AU" sz="20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464B0-4368-47D8-802B-4FB5B5FA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0" y="1508426"/>
            <a:ext cx="10800001" cy="507493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worth noting that legislation often exists to govern certain medical situations including medical treatment of children or medical treatment for intellectually disable adults – see [7.35]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force-feeding prisoners or political activists? </a:t>
            </a:r>
          </a:p>
          <a:p>
            <a:pPr>
              <a:buFont typeface="Wingdings" panose="05000000000000000000" pitchFamily="2" charset="2"/>
              <a:buChar char="§"/>
            </a:pPr>
            <a:endParaRPr lang="en-H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 Australia, the </a:t>
            </a:r>
            <a:r>
              <a:rPr lang="en-HK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Regulations 1994 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HK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Cth</a:t>
            </a:r>
            <a:r>
              <a:rPr lang="en-HK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permit the force-feeding of asylum seekers </a:t>
            </a:r>
          </a:p>
        </p:txBody>
      </p:sp>
      <p:sp>
        <p:nvSpPr>
          <p:cNvPr id="4" name="Action Button: Help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7C9A90F-5351-D34C-51B4-2421D2C842BB}"/>
              </a:ext>
            </a:extLst>
          </p:cNvPr>
          <p:cNvSpPr/>
          <p:nvPr/>
        </p:nvSpPr>
        <p:spPr>
          <a:xfrm>
            <a:off x="10185248" y="2742989"/>
            <a:ext cx="1042416" cy="1042416"/>
          </a:xfrm>
          <a:prstGeom prst="actionButtonHelp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01508966"/>
      </p:ext>
    </p:extLst>
  </p:cSld>
  <p:clrMapOvr>
    <a:masterClrMapping/>
  </p:clrMapOvr>
</p:sld>
</file>

<file path=ppt/theme/theme1.xml><?xml version="1.0" encoding="utf-8"?>
<a:theme xmlns:a="http://schemas.openxmlformats.org/drawingml/2006/main" name="MAC UNI BASIC_Round 1 Draft for feedback">
  <a:themeElements>
    <a:clrScheme name="MQU Colours">
      <a:dk1>
        <a:sysClr val="windowText" lastClr="000000"/>
      </a:dk1>
      <a:lt1>
        <a:sysClr val="window" lastClr="FFFFFF"/>
      </a:lt1>
      <a:dk2>
        <a:srgbClr val="D6D2C4"/>
      </a:dk2>
      <a:lt2>
        <a:srgbClr val="E6E4DC"/>
      </a:lt2>
      <a:accent1>
        <a:srgbClr val="A6192E"/>
      </a:accent1>
      <a:accent2>
        <a:srgbClr val="76232F"/>
      </a:accent2>
      <a:accent3>
        <a:srgbClr val="D6001C"/>
      </a:accent3>
      <a:accent4>
        <a:srgbClr val="C6007E"/>
      </a:accent4>
      <a:accent5>
        <a:srgbClr val="80225F"/>
      </a:accent5>
      <a:accent6>
        <a:srgbClr val="373A36"/>
      </a:accent6>
      <a:hlink>
        <a:srgbClr val="A6192E"/>
      </a:hlink>
      <a:folHlink>
        <a:srgbClr val="954F72"/>
      </a:folHlink>
    </a:clrScheme>
    <a:fontScheme name="MQ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U-INT 16x9 Template _2016" id="{260B2EA1-E29E-8F43-8CD0-19C5943E9B3E}" vid="{17EFAF55-AA0F-074F-B88C-D92FD2EB11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15631</TotalTime>
  <Words>1189</Words>
  <Application>Microsoft Macintosh PowerPoint</Application>
  <PresentationFormat>Widescreen</PresentationFormat>
  <Paragraphs>156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Times New Roman</vt:lpstr>
      <vt:lpstr>Wingdings</vt:lpstr>
      <vt:lpstr>MAC UNI BASIC_Round 1 Draft for feedback</vt:lpstr>
      <vt:lpstr>LAWS2400 / LAWS8040 – Torts  Week 4 – Lecture 2  Defences to Intentional Torts  </vt:lpstr>
      <vt:lpstr>Outline – Defences to Intentional Torts</vt:lpstr>
      <vt:lpstr>4. Provocation </vt:lpstr>
      <vt:lpstr>5. Contributory negligence </vt:lpstr>
      <vt:lpstr>Contributory negligence Contd.</vt:lpstr>
      <vt:lpstr>Contributory negligence Contd.</vt:lpstr>
      <vt:lpstr>PowerPoint Presentation</vt:lpstr>
      <vt:lpstr>6. Necessity </vt:lpstr>
      <vt:lpstr>Necessity Contd.</vt:lpstr>
      <vt:lpstr>Necessity Contd.</vt:lpstr>
      <vt:lpstr>Necessity Contd.</vt:lpstr>
      <vt:lpstr>Necessity Contd.</vt:lpstr>
      <vt:lpstr>Necessity Contd.</vt:lpstr>
      <vt:lpstr>Necessity Contd.</vt:lpstr>
      <vt:lpstr>Necessity Contd.</vt:lpstr>
      <vt:lpstr>Necessity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Ebony Birchall</cp:lastModifiedBy>
  <cp:revision>1288</cp:revision>
  <dcterms:created xsi:type="dcterms:W3CDTF">2019-01-24T02:12:19Z</dcterms:created>
  <dcterms:modified xsi:type="dcterms:W3CDTF">2026-08-18T01:41:21Z</dcterms:modified>
</cp:coreProperties>
</file>